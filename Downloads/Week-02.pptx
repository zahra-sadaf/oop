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66"/>
  </p:notesMasterIdLst>
  <p:sldIdLst>
    <p:sldId id="257" r:id="rId2"/>
    <p:sldId id="452" r:id="rId3"/>
    <p:sldId id="453" r:id="rId4"/>
    <p:sldId id="454" r:id="rId5"/>
    <p:sldId id="455" r:id="rId6"/>
    <p:sldId id="480" r:id="rId7"/>
    <p:sldId id="481" r:id="rId8"/>
    <p:sldId id="519" r:id="rId9"/>
    <p:sldId id="513" r:id="rId10"/>
    <p:sldId id="457" r:id="rId11"/>
    <p:sldId id="456" r:id="rId12"/>
    <p:sldId id="514" r:id="rId13"/>
    <p:sldId id="459" r:id="rId14"/>
    <p:sldId id="515" r:id="rId15"/>
    <p:sldId id="460" r:id="rId16"/>
    <p:sldId id="516" r:id="rId17"/>
    <p:sldId id="461" r:id="rId18"/>
    <p:sldId id="517" r:id="rId19"/>
    <p:sldId id="462" r:id="rId20"/>
    <p:sldId id="518" r:id="rId21"/>
    <p:sldId id="463" r:id="rId22"/>
    <p:sldId id="449" r:id="rId23"/>
    <p:sldId id="450" r:id="rId24"/>
    <p:sldId id="464" r:id="rId25"/>
    <p:sldId id="465" r:id="rId26"/>
    <p:sldId id="466" r:id="rId27"/>
    <p:sldId id="467" r:id="rId28"/>
    <p:sldId id="468" r:id="rId29"/>
    <p:sldId id="469" r:id="rId30"/>
    <p:sldId id="470" r:id="rId31"/>
    <p:sldId id="471" r:id="rId32"/>
    <p:sldId id="472" r:id="rId33"/>
    <p:sldId id="473" r:id="rId34"/>
    <p:sldId id="474" r:id="rId35"/>
    <p:sldId id="475" r:id="rId36"/>
    <p:sldId id="476" r:id="rId37"/>
    <p:sldId id="478" r:id="rId38"/>
    <p:sldId id="483" r:id="rId39"/>
    <p:sldId id="484" r:id="rId40"/>
    <p:sldId id="485" r:id="rId41"/>
    <p:sldId id="486" r:id="rId42"/>
    <p:sldId id="487" r:id="rId43"/>
    <p:sldId id="488" r:id="rId44"/>
    <p:sldId id="489" r:id="rId45"/>
    <p:sldId id="482" r:id="rId46"/>
    <p:sldId id="490" r:id="rId47"/>
    <p:sldId id="491" r:id="rId48"/>
    <p:sldId id="492" r:id="rId49"/>
    <p:sldId id="493" r:id="rId50"/>
    <p:sldId id="494" r:id="rId51"/>
    <p:sldId id="534" r:id="rId52"/>
    <p:sldId id="535" r:id="rId53"/>
    <p:sldId id="536" r:id="rId54"/>
    <p:sldId id="537" r:id="rId55"/>
    <p:sldId id="538" r:id="rId56"/>
    <p:sldId id="539" r:id="rId57"/>
    <p:sldId id="496" r:id="rId58"/>
    <p:sldId id="497" r:id="rId59"/>
    <p:sldId id="501" r:id="rId60"/>
    <p:sldId id="510" r:id="rId61"/>
    <p:sldId id="511" r:id="rId62"/>
    <p:sldId id="533" r:id="rId63"/>
    <p:sldId id="500" r:id="rId64"/>
    <p:sldId id="499" r:id="rId6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2044" autoAdjust="0"/>
  </p:normalViewPr>
  <p:slideViewPr>
    <p:cSldViewPr snapToGrid="0">
      <p:cViewPr>
        <p:scale>
          <a:sx n="57" d="100"/>
          <a:sy n="57" d="100"/>
        </p:scale>
        <p:origin x="384"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diagrams/colors1.xml><?xml version="1.0" encoding="utf-8"?>
<dgm:colorsDef xmlns:dgm="http://schemas.openxmlformats.org/drawingml/2006/diagram" xmlns:a="http://schemas.openxmlformats.org/drawingml/2006/main" uniqueId="urn:microsoft.com/office/officeart/2005/8/colors/accent1_4">
  <dgm:title val=""/>
  <dgm:desc val=""/>
  <dgm:catLst>
    <dgm:cat type="accent1" pri="11400"/>
  </dgm:catLst>
  <dgm:styleLbl name="node0">
    <dgm:fillClrLst meth="cycle">
      <a:schemeClr val="accent1">
        <a:shade val="60000"/>
      </a:schemeClr>
    </dgm:fillClrLst>
    <dgm:linClrLst meth="repeat">
      <a:schemeClr val="lt1"/>
    </dgm:linClrLst>
    <dgm:effectClrLst/>
    <dgm:txLinClrLst/>
    <dgm:txFillClrLst/>
    <dgm:txEffectClrLst/>
  </dgm:styleLbl>
  <dgm:styleLbl name="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alignNode1">
    <dgm:fillClrLst meth="cycle">
      <a:schemeClr val="accent1">
        <a:shade val="50000"/>
      </a:schemeClr>
      <a:schemeClr val="accent1">
        <a:tint val="55000"/>
      </a:schemeClr>
    </dgm:fillClrLst>
    <dgm:linClrLst meth="cycle">
      <a:schemeClr val="accent1">
        <a:shade val="50000"/>
      </a:schemeClr>
      <a:schemeClr val="accent1">
        <a:tint val="55000"/>
      </a:schemeClr>
    </dgm:linClrLst>
    <dgm:effectClrLst/>
    <dgm:txLinClrLst/>
    <dgm:txFillClrLst/>
    <dgm:txEffectClrLst/>
  </dgm:styleLbl>
  <dgm:styleLbl name="ln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vennNode1">
    <dgm:fillClrLst meth="cycle">
      <a:schemeClr val="accent1">
        <a:shade val="80000"/>
        <a:alpha val="50000"/>
      </a:schemeClr>
      <a:schemeClr val="accent1">
        <a:tint val="50000"/>
        <a:alpha val="50000"/>
      </a:schemeClr>
    </dgm:fillClrLst>
    <dgm:linClrLst meth="repeat">
      <a:schemeClr val="lt1"/>
    </dgm:linClrLst>
    <dgm:effectClrLst/>
    <dgm:txLinClrLst/>
    <dgm:txFillClrLst/>
    <dgm:txEffectClrLst/>
  </dgm:styleLbl>
  <dgm:styleLbl name="node2">
    <dgm:fillClrLst>
      <a:schemeClr val="accent1">
        <a:shade val="80000"/>
      </a:schemeClr>
    </dgm:fillClrLst>
    <dgm:linClrLst meth="repeat">
      <a:schemeClr val="lt1"/>
    </dgm:linClrLst>
    <dgm:effectClrLst/>
    <dgm:txLinClrLst/>
    <dgm:txFillClrLst/>
    <dgm:txEffectClrLst/>
  </dgm:styleLbl>
  <dgm:styleLbl name="node3">
    <dgm:fillClrLst>
      <a:schemeClr val="accent1">
        <a:tint val="99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f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b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sibTrans1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0000"/>
      </a:schemeClr>
    </dgm:fillClrLst>
    <dgm:linClrLst meth="repeat">
      <a:schemeClr val="lt1"/>
    </dgm:linClrLst>
    <dgm:effectClrLst/>
    <dgm:txLinClrLst/>
    <dgm:txFillClrLst/>
    <dgm:txEffectClrLst/>
  </dgm:styleLbl>
  <dgm:styleLbl name="asst3">
    <dgm:fillClrLst>
      <a:schemeClr val="accent1">
        <a:tint val="70000"/>
      </a:schemeClr>
    </dgm:fillClrLst>
    <dgm:linClrLst meth="repeat">
      <a:schemeClr val="lt1"/>
    </dgm:linClrLst>
    <dgm:effectClrLst/>
    <dgm:txLinClrLst/>
    <dgm:txFillClrLst/>
    <dgm:txEffectClrLst/>
  </dgm:styleLbl>
  <dgm:styleLbl name="asst4">
    <dgm:fillClrLst>
      <a:schemeClr val="accent1">
        <a:tint val="5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align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bgAccFollowNode1">
    <dgm:fillClrLst meth="repeat">
      <a:schemeClr val="accent1">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55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5A9EF66-0544-4BF1-8547-10A0141C811E}" type="doc">
      <dgm:prSet loTypeId="urn:microsoft.com/office/officeart/2005/8/layout/vList2" loCatId="list" qsTypeId="urn:microsoft.com/office/officeart/2005/8/quickstyle/simple1" qsCatId="simple" csTypeId="urn:microsoft.com/office/officeart/2005/8/colors/accent1_4" csCatId="accent1"/>
      <dgm:spPr/>
      <dgm:t>
        <a:bodyPr/>
        <a:lstStyle/>
        <a:p>
          <a:endParaRPr lang="en-PK"/>
        </a:p>
      </dgm:t>
    </dgm:pt>
    <dgm:pt modelId="{53FAEC7E-0E43-4213-B655-770BC7F8D667}">
      <dgm:prSet/>
      <dgm:spPr/>
      <dgm:t>
        <a:bodyPr/>
        <a:lstStyle/>
        <a:p>
          <a:r>
            <a:rPr lang="en-GB" dirty="0"/>
            <a:t>A </a:t>
          </a:r>
          <a:r>
            <a:rPr lang="en-GB" b="1" dirty="0"/>
            <a:t>data model</a:t>
          </a:r>
          <a:r>
            <a:rPr lang="en-GB" dirty="0"/>
            <a:t> is a collection of concepts used to describe:</a:t>
          </a:r>
          <a:endParaRPr lang="en-PK" dirty="0"/>
        </a:p>
      </dgm:t>
    </dgm:pt>
    <dgm:pt modelId="{041FC877-63B3-47AF-9E8F-6958D95069F9}" type="parTrans" cxnId="{DC9F2F8D-9528-407E-A56F-CF002F6CAC49}">
      <dgm:prSet/>
      <dgm:spPr/>
      <dgm:t>
        <a:bodyPr/>
        <a:lstStyle/>
        <a:p>
          <a:endParaRPr lang="en-PK"/>
        </a:p>
      </dgm:t>
    </dgm:pt>
    <dgm:pt modelId="{01395C81-0E10-4694-B662-7D1E25A2994C}" type="sibTrans" cxnId="{DC9F2F8D-9528-407E-A56F-CF002F6CAC49}">
      <dgm:prSet/>
      <dgm:spPr/>
      <dgm:t>
        <a:bodyPr/>
        <a:lstStyle/>
        <a:p>
          <a:endParaRPr lang="en-PK"/>
        </a:p>
      </dgm:t>
    </dgm:pt>
    <dgm:pt modelId="{D321D75C-F2B6-4725-B1B6-3F33487408DB}">
      <dgm:prSet/>
      <dgm:spPr/>
      <dgm:t>
        <a:bodyPr/>
        <a:lstStyle/>
        <a:p>
          <a:r>
            <a:rPr lang="en-GB"/>
            <a:t>Data structure </a:t>
          </a:r>
          <a:endParaRPr lang="en-PK"/>
        </a:p>
      </dgm:t>
    </dgm:pt>
    <dgm:pt modelId="{5903769B-D3B7-484B-A7E4-B037B6C90918}" type="parTrans" cxnId="{05D8A469-4AE0-4E9A-BC4F-F5EB7C716CC3}">
      <dgm:prSet/>
      <dgm:spPr/>
      <dgm:t>
        <a:bodyPr/>
        <a:lstStyle/>
        <a:p>
          <a:endParaRPr lang="en-PK"/>
        </a:p>
      </dgm:t>
    </dgm:pt>
    <dgm:pt modelId="{AE19A239-B14F-470F-BE5D-C3C29BE26161}" type="sibTrans" cxnId="{05D8A469-4AE0-4E9A-BC4F-F5EB7C716CC3}">
      <dgm:prSet/>
      <dgm:spPr/>
      <dgm:t>
        <a:bodyPr/>
        <a:lstStyle/>
        <a:p>
          <a:endParaRPr lang="en-PK"/>
        </a:p>
      </dgm:t>
    </dgm:pt>
    <dgm:pt modelId="{1E0D57B5-4729-42D4-A879-FA7CF8513484}">
      <dgm:prSet/>
      <dgm:spPr/>
      <dgm:t>
        <a:bodyPr/>
        <a:lstStyle/>
        <a:p>
          <a:r>
            <a:rPr lang="en-GB"/>
            <a:t>Relationships between data </a:t>
          </a:r>
          <a:endParaRPr lang="en-PK"/>
        </a:p>
      </dgm:t>
    </dgm:pt>
    <dgm:pt modelId="{09402EFF-1A8D-455C-B74C-3890F92E81CC}" type="parTrans" cxnId="{A9340085-90D9-45F2-A3D1-5874C7C104FB}">
      <dgm:prSet/>
      <dgm:spPr/>
      <dgm:t>
        <a:bodyPr/>
        <a:lstStyle/>
        <a:p>
          <a:endParaRPr lang="en-PK"/>
        </a:p>
      </dgm:t>
    </dgm:pt>
    <dgm:pt modelId="{E6220EDE-D69E-482B-AC8A-CF04FF359581}" type="sibTrans" cxnId="{A9340085-90D9-45F2-A3D1-5874C7C104FB}">
      <dgm:prSet/>
      <dgm:spPr/>
      <dgm:t>
        <a:bodyPr/>
        <a:lstStyle/>
        <a:p>
          <a:endParaRPr lang="en-PK"/>
        </a:p>
      </dgm:t>
    </dgm:pt>
    <dgm:pt modelId="{E5A01D2F-E8C9-4CB4-AE25-2FEB9C0814CA}">
      <dgm:prSet/>
      <dgm:spPr/>
      <dgm:t>
        <a:bodyPr/>
        <a:lstStyle/>
        <a:p>
          <a:r>
            <a:rPr lang="en-GB"/>
            <a:t>Data constraints </a:t>
          </a:r>
          <a:endParaRPr lang="en-PK"/>
        </a:p>
      </dgm:t>
    </dgm:pt>
    <dgm:pt modelId="{951C906B-2CC2-474A-8D21-016E32A7C023}" type="parTrans" cxnId="{5AE32F0A-8182-46DC-9BEC-0FA862F3C05F}">
      <dgm:prSet/>
      <dgm:spPr/>
      <dgm:t>
        <a:bodyPr/>
        <a:lstStyle/>
        <a:p>
          <a:endParaRPr lang="en-PK"/>
        </a:p>
      </dgm:t>
    </dgm:pt>
    <dgm:pt modelId="{329BC29F-2DC2-4D87-AC78-935A9F8C2525}" type="sibTrans" cxnId="{5AE32F0A-8182-46DC-9BEC-0FA862F3C05F}">
      <dgm:prSet/>
      <dgm:spPr/>
      <dgm:t>
        <a:bodyPr/>
        <a:lstStyle/>
        <a:p>
          <a:endParaRPr lang="en-PK"/>
        </a:p>
      </dgm:t>
    </dgm:pt>
    <dgm:pt modelId="{3A7F5D6D-C54E-49B4-936E-3D4425841FF2}">
      <dgm:prSet/>
      <dgm:spPr/>
      <dgm:t>
        <a:bodyPr/>
        <a:lstStyle/>
        <a:p>
          <a:r>
            <a:rPr lang="en-GB"/>
            <a:t>Permitted operations </a:t>
          </a:r>
          <a:endParaRPr lang="en-PK"/>
        </a:p>
      </dgm:t>
    </dgm:pt>
    <dgm:pt modelId="{D4F24C44-D6E3-4A20-81DA-C19533E84AE4}" type="parTrans" cxnId="{8964EA12-0434-4336-A9F3-33BAEAFC34BF}">
      <dgm:prSet/>
      <dgm:spPr/>
      <dgm:t>
        <a:bodyPr/>
        <a:lstStyle/>
        <a:p>
          <a:endParaRPr lang="en-PK"/>
        </a:p>
      </dgm:t>
    </dgm:pt>
    <dgm:pt modelId="{E79CBD27-16E6-4176-9693-61BE72F3567B}" type="sibTrans" cxnId="{8964EA12-0434-4336-A9F3-33BAEAFC34BF}">
      <dgm:prSet/>
      <dgm:spPr/>
      <dgm:t>
        <a:bodyPr/>
        <a:lstStyle/>
        <a:p>
          <a:endParaRPr lang="en-PK"/>
        </a:p>
      </dgm:t>
    </dgm:pt>
    <dgm:pt modelId="{08FB4FDD-38FF-4F8A-AB64-86498188E445}">
      <dgm:prSet/>
      <dgm:spPr/>
      <dgm:t>
        <a:bodyPr/>
        <a:lstStyle/>
        <a:p>
          <a:r>
            <a:rPr lang="en-GB" dirty="0">
              <a:solidFill>
                <a:schemeClr val="tx1"/>
              </a:solidFill>
            </a:rPr>
            <a:t>It provides a blueprint for organizing and representing real-world information inside a database.</a:t>
          </a:r>
          <a:endParaRPr lang="en-PK" dirty="0">
            <a:solidFill>
              <a:schemeClr val="tx1"/>
            </a:solidFill>
          </a:endParaRPr>
        </a:p>
      </dgm:t>
    </dgm:pt>
    <dgm:pt modelId="{9449F263-341A-4A2D-A472-53A5EE32F9EE}" type="parTrans" cxnId="{9A521FB8-025D-4F91-BEFB-23D8787D732B}">
      <dgm:prSet/>
      <dgm:spPr/>
      <dgm:t>
        <a:bodyPr/>
        <a:lstStyle/>
        <a:p>
          <a:endParaRPr lang="en-PK"/>
        </a:p>
      </dgm:t>
    </dgm:pt>
    <dgm:pt modelId="{791B50E2-1A86-4D38-AEFF-8B5ACDF5A300}" type="sibTrans" cxnId="{9A521FB8-025D-4F91-BEFB-23D8787D732B}">
      <dgm:prSet/>
      <dgm:spPr/>
      <dgm:t>
        <a:bodyPr/>
        <a:lstStyle/>
        <a:p>
          <a:endParaRPr lang="en-PK"/>
        </a:p>
      </dgm:t>
    </dgm:pt>
    <dgm:pt modelId="{1F7E80BB-3965-40F2-9205-A7E497706874}" type="pres">
      <dgm:prSet presAssocID="{25A9EF66-0544-4BF1-8547-10A0141C811E}" presName="linear" presStyleCnt="0">
        <dgm:presLayoutVars>
          <dgm:animLvl val="lvl"/>
          <dgm:resizeHandles val="exact"/>
        </dgm:presLayoutVars>
      </dgm:prSet>
      <dgm:spPr/>
    </dgm:pt>
    <dgm:pt modelId="{6E3B27BC-2199-483C-8ACC-80EE53A8CE3D}" type="pres">
      <dgm:prSet presAssocID="{53FAEC7E-0E43-4213-B655-770BC7F8D667}" presName="parentText" presStyleLbl="node1" presStyleIdx="0" presStyleCnt="2">
        <dgm:presLayoutVars>
          <dgm:chMax val="0"/>
          <dgm:bulletEnabled val="1"/>
        </dgm:presLayoutVars>
      </dgm:prSet>
      <dgm:spPr/>
    </dgm:pt>
    <dgm:pt modelId="{05BE917B-9193-4EA8-AD74-7BF9DB168DE3}" type="pres">
      <dgm:prSet presAssocID="{53FAEC7E-0E43-4213-B655-770BC7F8D667}" presName="childText" presStyleLbl="revTx" presStyleIdx="0" presStyleCnt="1">
        <dgm:presLayoutVars>
          <dgm:bulletEnabled val="1"/>
        </dgm:presLayoutVars>
      </dgm:prSet>
      <dgm:spPr/>
    </dgm:pt>
    <dgm:pt modelId="{1A3D9AC9-09C7-40B2-ABF4-5CD384377873}" type="pres">
      <dgm:prSet presAssocID="{08FB4FDD-38FF-4F8A-AB64-86498188E445}" presName="parentText" presStyleLbl="node1" presStyleIdx="1" presStyleCnt="2">
        <dgm:presLayoutVars>
          <dgm:chMax val="0"/>
          <dgm:bulletEnabled val="1"/>
        </dgm:presLayoutVars>
      </dgm:prSet>
      <dgm:spPr/>
    </dgm:pt>
  </dgm:ptLst>
  <dgm:cxnLst>
    <dgm:cxn modelId="{A2126403-3BDC-480B-B7BB-B92682BCF1E5}" type="presOf" srcId="{E5A01D2F-E8C9-4CB4-AE25-2FEB9C0814CA}" destId="{05BE917B-9193-4EA8-AD74-7BF9DB168DE3}" srcOrd="0" destOrd="2" presId="urn:microsoft.com/office/officeart/2005/8/layout/vList2"/>
    <dgm:cxn modelId="{5AE32F0A-8182-46DC-9BEC-0FA862F3C05F}" srcId="{53FAEC7E-0E43-4213-B655-770BC7F8D667}" destId="{E5A01D2F-E8C9-4CB4-AE25-2FEB9C0814CA}" srcOrd="2" destOrd="0" parTransId="{951C906B-2CC2-474A-8D21-016E32A7C023}" sibTransId="{329BC29F-2DC2-4D87-AC78-935A9F8C2525}"/>
    <dgm:cxn modelId="{8964EA12-0434-4336-A9F3-33BAEAFC34BF}" srcId="{53FAEC7E-0E43-4213-B655-770BC7F8D667}" destId="{3A7F5D6D-C54E-49B4-936E-3D4425841FF2}" srcOrd="3" destOrd="0" parTransId="{D4F24C44-D6E3-4A20-81DA-C19533E84AE4}" sibTransId="{E79CBD27-16E6-4176-9693-61BE72F3567B}"/>
    <dgm:cxn modelId="{A7AA8938-A1FE-4B95-A3D2-4B72CE199032}" type="presOf" srcId="{D321D75C-F2B6-4725-B1B6-3F33487408DB}" destId="{05BE917B-9193-4EA8-AD74-7BF9DB168DE3}" srcOrd="0" destOrd="0" presId="urn:microsoft.com/office/officeart/2005/8/layout/vList2"/>
    <dgm:cxn modelId="{FF032E68-6CCE-450F-9929-30734026C858}" type="presOf" srcId="{3A7F5D6D-C54E-49B4-936E-3D4425841FF2}" destId="{05BE917B-9193-4EA8-AD74-7BF9DB168DE3}" srcOrd="0" destOrd="3" presId="urn:microsoft.com/office/officeart/2005/8/layout/vList2"/>
    <dgm:cxn modelId="{05D8A469-4AE0-4E9A-BC4F-F5EB7C716CC3}" srcId="{53FAEC7E-0E43-4213-B655-770BC7F8D667}" destId="{D321D75C-F2B6-4725-B1B6-3F33487408DB}" srcOrd="0" destOrd="0" parTransId="{5903769B-D3B7-484B-A7E4-B037B6C90918}" sibTransId="{AE19A239-B14F-470F-BE5D-C3C29BE26161}"/>
    <dgm:cxn modelId="{EC60D977-829D-42CB-BFC3-B48AC4EEC5DC}" type="presOf" srcId="{08FB4FDD-38FF-4F8A-AB64-86498188E445}" destId="{1A3D9AC9-09C7-40B2-ABF4-5CD384377873}" srcOrd="0" destOrd="0" presId="urn:microsoft.com/office/officeart/2005/8/layout/vList2"/>
    <dgm:cxn modelId="{A9340085-90D9-45F2-A3D1-5874C7C104FB}" srcId="{53FAEC7E-0E43-4213-B655-770BC7F8D667}" destId="{1E0D57B5-4729-42D4-A879-FA7CF8513484}" srcOrd="1" destOrd="0" parTransId="{09402EFF-1A8D-455C-B74C-3890F92E81CC}" sibTransId="{E6220EDE-D69E-482B-AC8A-CF04FF359581}"/>
    <dgm:cxn modelId="{DC9F2F8D-9528-407E-A56F-CF002F6CAC49}" srcId="{25A9EF66-0544-4BF1-8547-10A0141C811E}" destId="{53FAEC7E-0E43-4213-B655-770BC7F8D667}" srcOrd="0" destOrd="0" parTransId="{041FC877-63B3-47AF-9E8F-6958D95069F9}" sibTransId="{01395C81-0E10-4694-B662-7D1E25A2994C}"/>
    <dgm:cxn modelId="{9A521FB8-025D-4F91-BEFB-23D8787D732B}" srcId="{25A9EF66-0544-4BF1-8547-10A0141C811E}" destId="{08FB4FDD-38FF-4F8A-AB64-86498188E445}" srcOrd="1" destOrd="0" parTransId="{9449F263-341A-4A2D-A472-53A5EE32F9EE}" sibTransId="{791B50E2-1A86-4D38-AEFF-8B5ACDF5A300}"/>
    <dgm:cxn modelId="{A64056EC-6B3F-442E-BABE-777970368529}" type="presOf" srcId="{53FAEC7E-0E43-4213-B655-770BC7F8D667}" destId="{6E3B27BC-2199-483C-8ACC-80EE53A8CE3D}" srcOrd="0" destOrd="0" presId="urn:microsoft.com/office/officeart/2005/8/layout/vList2"/>
    <dgm:cxn modelId="{C56C37F0-05C7-4445-9E56-D1C6ABE68B64}" type="presOf" srcId="{1E0D57B5-4729-42D4-A879-FA7CF8513484}" destId="{05BE917B-9193-4EA8-AD74-7BF9DB168DE3}" srcOrd="0" destOrd="1" presId="urn:microsoft.com/office/officeart/2005/8/layout/vList2"/>
    <dgm:cxn modelId="{15D171F1-EE9C-4FF6-A47B-728C0DE9369D}" type="presOf" srcId="{25A9EF66-0544-4BF1-8547-10A0141C811E}" destId="{1F7E80BB-3965-40F2-9205-A7E497706874}" srcOrd="0" destOrd="0" presId="urn:microsoft.com/office/officeart/2005/8/layout/vList2"/>
    <dgm:cxn modelId="{09AC37CB-0E0B-42A8-B072-CCB3FC203093}" type="presParOf" srcId="{1F7E80BB-3965-40F2-9205-A7E497706874}" destId="{6E3B27BC-2199-483C-8ACC-80EE53A8CE3D}" srcOrd="0" destOrd="0" presId="urn:microsoft.com/office/officeart/2005/8/layout/vList2"/>
    <dgm:cxn modelId="{BDD8877F-31D8-4AC1-9FA2-7499AA9AAA07}" type="presParOf" srcId="{1F7E80BB-3965-40F2-9205-A7E497706874}" destId="{05BE917B-9193-4EA8-AD74-7BF9DB168DE3}" srcOrd="1" destOrd="0" presId="urn:microsoft.com/office/officeart/2005/8/layout/vList2"/>
    <dgm:cxn modelId="{0E9F6EE8-1AE2-4A8F-87A4-7ABDCB20F950}" type="presParOf" srcId="{1F7E80BB-3965-40F2-9205-A7E497706874}" destId="{1A3D9AC9-09C7-40B2-ABF4-5CD384377873}"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B5402E6-B890-45BA-A134-8A33C18E61E2}" type="doc">
      <dgm:prSet loTypeId="urn:microsoft.com/office/officeart/2005/8/layout/default" loCatId="list" qsTypeId="urn:microsoft.com/office/officeart/2005/8/quickstyle/simple3" qsCatId="simple" csTypeId="urn:microsoft.com/office/officeart/2005/8/colors/colorful1" csCatId="colorful"/>
      <dgm:spPr/>
      <dgm:t>
        <a:bodyPr/>
        <a:lstStyle/>
        <a:p>
          <a:endParaRPr lang="en-PK"/>
        </a:p>
      </dgm:t>
    </dgm:pt>
    <dgm:pt modelId="{52570D5B-5C3A-4A65-AC02-E024393BCF41}">
      <dgm:prSet/>
      <dgm:spPr/>
      <dgm:t>
        <a:bodyPr/>
        <a:lstStyle/>
        <a:p>
          <a:r>
            <a:rPr lang="en-GB" b="1" dirty="0"/>
            <a:t>DDL Processor</a:t>
          </a:r>
          <a:br>
            <a:rPr lang="en-GB" dirty="0"/>
          </a:br>
          <a:r>
            <a:rPr lang="en-GB" dirty="0"/>
            <a:t>Processes database definitions, structures, and constraints.</a:t>
          </a:r>
          <a:endParaRPr lang="en-PK" dirty="0"/>
        </a:p>
      </dgm:t>
    </dgm:pt>
    <dgm:pt modelId="{2E972281-E50C-4F8C-8E8D-D97AC03E3BCE}" type="parTrans" cxnId="{9A07E58B-B4C9-4FBC-B380-0E7A1DBBEE2A}">
      <dgm:prSet/>
      <dgm:spPr/>
      <dgm:t>
        <a:bodyPr/>
        <a:lstStyle/>
        <a:p>
          <a:endParaRPr lang="en-PK"/>
        </a:p>
      </dgm:t>
    </dgm:pt>
    <dgm:pt modelId="{992F6075-2877-4A42-A169-F8B53AEFA4BB}" type="sibTrans" cxnId="{9A07E58B-B4C9-4FBC-B380-0E7A1DBBEE2A}">
      <dgm:prSet/>
      <dgm:spPr/>
      <dgm:t>
        <a:bodyPr/>
        <a:lstStyle/>
        <a:p>
          <a:endParaRPr lang="en-PK"/>
        </a:p>
      </dgm:t>
    </dgm:pt>
    <dgm:pt modelId="{C9D5D2B6-70A6-43FC-8049-A2F55BCAA81B}">
      <dgm:prSet/>
      <dgm:spPr/>
      <dgm:t>
        <a:bodyPr/>
        <a:lstStyle/>
        <a:p>
          <a:r>
            <a:rPr lang="en-GB" b="1"/>
            <a:t>Query Processor</a:t>
          </a:r>
          <a:br>
            <a:rPr lang="en-GB"/>
          </a:br>
          <a:r>
            <a:rPr lang="en-GB"/>
            <a:t>Interprets queries and helps determine an execution strategy.</a:t>
          </a:r>
          <a:endParaRPr lang="en-PK"/>
        </a:p>
      </dgm:t>
    </dgm:pt>
    <dgm:pt modelId="{D747516D-54CA-4D6E-97AC-245DA4728345}" type="parTrans" cxnId="{A2DDFB75-DBE2-48E8-9023-292365BF2D1F}">
      <dgm:prSet/>
      <dgm:spPr/>
      <dgm:t>
        <a:bodyPr/>
        <a:lstStyle/>
        <a:p>
          <a:endParaRPr lang="en-PK"/>
        </a:p>
      </dgm:t>
    </dgm:pt>
    <dgm:pt modelId="{BF584C45-CD69-48FC-AFD5-6900A1D59EFF}" type="sibTrans" cxnId="{A2DDFB75-DBE2-48E8-9023-292365BF2D1F}">
      <dgm:prSet/>
      <dgm:spPr/>
      <dgm:t>
        <a:bodyPr/>
        <a:lstStyle/>
        <a:p>
          <a:endParaRPr lang="en-PK"/>
        </a:p>
      </dgm:t>
    </dgm:pt>
    <dgm:pt modelId="{564D3719-AA05-445A-9A66-5666C14D39ED}">
      <dgm:prSet/>
      <dgm:spPr/>
      <dgm:t>
        <a:bodyPr/>
        <a:lstStyle/>
        <a:p>
          <a:r>
            <a:rPr lang="en-GB" b="1"/>
            <a:t>Execution Engine</a:t>
          </a:r>
          <a:br>
            <a:rPr lang="en-GB"/>
          </a:br>
          <a:r>
            <a:rPr lang="en-GB"/>
            <a:t>Performs the operations required by the selected plan.</a:t>
          </a:r>
          <a:endParaRPr lang="en-PK"/>
        </a:p>
      </dgm:t>
    </dgm:pt>
    <dgm:pt modelId="{ADD25978-8CD0-4060-82E6-B8FF0356476E}" type="parTrans" cxnId="{B4DE7F3A-9AFB-449D-B5A3-D1070F8AE1CF}">
      <dgm:prSet/>
      <dgm:spPr/>
      <dgm:t>
        <a:bodyPr/>
        <a:lstStyle/>
        <a:p>
          <a:endParaRPr lang="en-PK"/>
        </a:p>
      </dgm:t>
    </dgm:pt>
    <dgm:pt modelId="{2E94CA6C-46F4-4B19-8594-FFB5469E5D2E}" type="sibTrans" cxnId="{B4DE7F3A-9AFB-449D-B5A3-D1070F8AE1CF}">
      <dgm:prSet/>
      <dgm:spPr/>
      <dgm:t>
        <a:bodyPr/>
        <a:lstStyle/>
        <a:p>
          <a:endParaRPr lang="en-PK"/>
        </a:p>
      </dgm:t>
    </dgm:pt>
    <dgm:pt modelId="{CBED349E-5315-43D1-819A-0BD8059E1EEB}">
      <dgm:prSet/>
      <dgm:spPr/>
      <dgm:t>
        <a:bodyPr/>
        <a:lstStyle/>
        <a:p>
          <a:r>
            <a:rPr lang="en-GB" b="1"/>
            <a:t>Buffer Manager</a:t>
          </a:r>
          <a:br>
            <a:rPr lang="en-GB"/>
          </a:br>
          <a:r>
            <a:rPr lang="en-GB"/>
            <a:t>Moves database pages between storage and memory.</a:t>
          </a:r>
          <a:endParaRPr lang="en-PK"/>
        </a:p>
      </dgm:t>
    </dgm:pt>
    <dgm:pt modelId="{2441E559-8517-4748-B18D-DFDD0AF62A65}" type="parTrans" cxnId="{565F223E-A59B-448B-A53A-29F9E68517AF}">
      <dgm:prSet/>
      <dgm:spPr/>
      <dgm:t>
        <a:bodyPr/>
        <a:lstStyle/>
        <a:p>
          <a:endParaRPr lang="en-PK"/>
        </a:p>
      </dgm:t>
    </dgm:pt>
    <dgm:pt modelId="{4DDD92A8-F77A-4D12-9BE3-5D2D1AE33CCD}" type="sibTrans" cxnId="{565F223E-A59B-448B-A53A-29F9E68517AF}">
      <dgm:prSet/>
      <dgm:spPr/>
      <dgm:t>
        <a:bodyPr/>
        <a:lstStyle/>
        <a:p>
          <a:endParaRPr lang="en-PK"/>
        </a:p>
      </dgm:t>
    </dgm:pt>
    <dgm:pt modelId="{C1C71214-978D-415E-8100-196BF0BD6C43}">
      <dgm:prSet/>
      <dgm:spPr/>
      <dgm:t>
        <a:bodyPr/>
        <a:lstStyle/>
        <a:p>
          <a:r>
            <a:rPr lang="en-GB" b="1"/>
            <a:t>Storage Manager</a:t>
          </a:r>
          <a:br>
            <a:rPr lang="en-GB"/>
          </a:br>
          <a:r>
            <a:rPr lang="en-GB"/>
            <a:t>Organizes and retrieves persistent data.</a:t>
          </a:r>
          <a:endParaRPr lang="en-PK"/>
        </a:p>
      </dgm:t>
    </dgm:pt>
    <dgm:pt modelId="{B36626AF-3D79-4921-BF22-2A8E4D83F67F}" type="parTrans" cxnId="{13C51A9A-9744-4C82-B8C2-E4824E884041}">
      <dgm:prSet/>
      <dgm:spPr/>
      <dgm:t>
        <a:bodyPr/>
        <a:lstStyle/>
        <a:p>
          <a:endParaRPr lang="en-PK"/>
        </a:p>
      </dgm:t>
    </dgm:pt>
    <dgm:pt modelId="{CFE6C4F0-260B-4234-8C9C-C144D4FDE61F}" type="sibTrans" cxnId="{13C51A9A-9744-4C82-B8C2-E4824E884041}">
      <dgm:prSet/>
      <dgm:spPr/>
      <dgm:t>
        <a:bodyPr/>
        <a:lstStyle/>
        <a:p>
          <a:endParaRPr lang="en-PK"/>
        </a:p>
      </dgm:t>
    </dgm:pt>
    <dgm:pt modelId="{146425BF-9A84-4F2E-AB8D-FCE7DC21154A}">
      <dgm:prSet/>
      <dgm:spPr/>
      <dgm:t>
        <a:bodyPr/>
        <a:lstStyle/>
        <a:p>
          <a:r>
            <a:rPr lang="en-GB" b="1"/>
            <a:t>Transaction Manager</a:t>
          </a:r>
          <a:br>
            <a:rPr lang="en-GB"/>
          </a:br>
          <a:r>
            <a:rPr lang="en-GB"/>
            <a:t>Coordinates concurrent operations and maintains correctness.</a:t>
          </a:r>
          <a:endParaRPr lang="en-PK"/>
        </a:p>
      </dgm:t>
    </dgm:pt>
    <dgm:pt modelId="{F5A07B14-09C7-4B97-A32A-19A455F6DAC7}" type="parTrans" cxnId="{1272EBEC-895F-48D8-825F-E9A7099B6293}">
      <dgm:prSet/>
      <dgm:spPr/>
      <dgm:t>
        <a:bodyPr/>
        <a:lstStyle/>
        <a:p>
          <a:endParaRPr lang="en-PK"/>
        </a:p>
      </dgm:t>
    </dgm:pt>
    <dgm:pt modelId="{7C110C7D-139A-433C-A515-ACFAFE3B2E08}" type="sibTrans" cxnId="{1272EBEC-895F-48D8-825F-E9A7099B6293}">
      <dgm:prSet/>
      <dgm:spPr/>
      <dgm:t>
        <a:bodyPr/>
        <a:lstStyle/>
        <a:p>
          <a:endParaRPr lang="en-PK"/>
        </a:p>
      </dgm:t>
    </dgm:pt>
    <dgm:pt modelId="{8A26E2EA-7C35-4C5F-920F-0B72C33AEEF9}" type="pres">
      <dgm:prSet presAssocID="{8B5402E6-B890-45BA-A134-8A33C18E61E2}" presName="diagram" presStyleCnt="0">
        <dgm:presLayoutVars>
          <dgm:dir/>
          <dgm:resizeHandles val="exact"/>
        </dgm:presLayoutVars>
      </dgm:prSet>
      <dgm:spPr/>
    </dgm:pt>
    <dgm:pt modelId="{EC636B1B-B711-42F6-AE37-92EB34234F72}" type="pres">
      <dgm:prSet presAssocID="{52570D5B-5C3A-4A65-AC02-E024393BCF41}" presName="node" presStyleLbl="node1" presStyleIdx="0" presStyleCnt="6">
        <dgm:presLayoutVars>
          <dgm:bulletEnabled val="1"/>
        </dgm:presLayoutVars>
      </dgm:prSet>
      <dgm:spPr/>
    </dgm:pt>
    <dgm:pt modelId="{D429DAC5-3987-4B34-A79F-01DAEB1C1531}" type="pres">
      <dgm:prSet presAssocID="{992F6075-2877-4A42-A169-F8B53AEFA4BB}" presName="sibTrans" presStyleCnt="0"/>
      <dgm:spPr/>
    </dgm:pt>
    <dgm:pt modelId="{EFD11F6D-8909-4854-BC4A-F7CC0501AE34}" type="pres">
      <dgm:prSet presAssocID="{C9D5D2B6-70A6-43FC-8049-A2F55BCAA81B}" presName="node" presStyleLbl="node1" presStyleIdx="1" presStyleCnt="6">
        <dgm:presLayoutVars>
          <dgm:bulletEnabled val="1"/>
        </dgm:presLayoutVars>
      </dgm:prSet>
      <dgm:spPr/>
    </dgm:pt>
    <dgm:pt modelId="{06045DEC-B035-49BA-8A51-39C426FE0FA6}" type="pres">
      <dgm:prSet presAssocID="{BF584C45-CD69-48FC-AFD5-6900A1D59EFF}" presName="sibTrans" presStyleCnt="0"/>
      <dgm:spPr/>
    </dgm:pt>
    <dgm:pt modelId="{79E6B866-4EAD-4655-888D-DE8FB7CFAD17}" type="pres">
      <dgm:prSet presAssocID="{564D3719-AA05-445A-9A66-5666C14D39ED}" presName="node" presStyleLbl="node1" presStyleIdx="2" presStyleCnt="6">
        <dgm:presLayoutVars>
          <dgm:bulletEnabled val="1"/>
        </dgm:presLayoutVars>
      </dgm:prSet>
      <dgm:spPr/>
    </dgm:pt>
    <dgm:pt modelId="{90264B9A-8D0C-4736-9415-6AE234C66E27}" type="pres">
      <dgm:prSet presAssocID="{2E94CA6C-46F4-4B19-8594-FFB5469E5D2E}" presName="sibTrans" presStyleCnt="0"/>
      <dgm:spPr/>
    </dgm:pt>
    <dgm:pt modelId="{1EEA17D1-DAF2-47F9-8BD5-D469C19E9FC1}" type="pres">
      <dgm:prSet presAssocID="{CBED349E-5315-43D1-819A-0BD8059E1EEB}" presName="node" presStyleLbl="node1" presStyleIdx="3" presStyleCnt="6">
        <dgm:presLayoutVars>
          <dgm:bulletEnabled val="1"/>
        </dgm:presLayoutVars>
      </dgm:prSet>
      <dgm:spPr/>
    </dgm:pt>
    <dgm:pt modelId="{ADB8EA95-3AB5-478D-964A-BF144CA3E06C}" type="pres">
      <dgm:prSet presAssocID="{4DDD92A8-F77A-4D12-9BE3-5D2D1AE33CCD}" presName="sibTrans" presStyleCnt="0"/>
      <dgm:spPr/>
    </dgm:pt>
    <dgm:pt modelId="{E20B9230-3C92-492B-85B1-609636AA01C1}" type="pres">
      <dgm:prSet presAssocID="{C1C71214-978D-415E-8100-196BF0BD6C43}" presName="node" presStyleLbl="node1" presStyleIdx="4" presStyleCnt="6">
        <dgm:presLayoutVars>
          <dgm:bulletEnabled val="1"/>
        </dgm:presLayoutVars>
      </dgm:prSet>
      <dgm:spPr/>
    </dgm:pt>
    <dgm:pt modelId="{AF912908-9C0E-4F54-83E6-BEE21FBD55DB}" type="pres">
      <dgm:prSet presAssocID="{CFE6C4F0-260B-4234-8C9C-C144D4FDE61F}" presName="sibTrans" presStyleCnt="0"/>
      <dgm:spPr/>
    </dgm:pt>
    <dgm:pt modelId="{0F0ED457-3F28-4781-B03E-9BFA53451DF0}" type="pres">
      <dgm:prSet presAssocID="{146425BF-9A84-4F2E-AB8D-FCE7DC21154A}" presName="node" presStyleLbl="node1" presStyleIdx="5" presStyleCnt="6">
        <dgm:presLayoutVars>
          <dgm:bulletEnabled val="1"/>
        </dgm:presLayoutVars>
      </dgm:prSet>
      <dgm:spPr/>
    </dgm:pt>
  </dgm:ptLst>
  <dgm:cxnLst>
    <dgm:cxn modelId="{B4DE7F3A-9AFB-449D-B5A3-D1070F8AE1CF}" srcId="{8B5402E6-B890-45BA-A134-8A33C18E61E2}" destId="{564D3719-AA05-445A-9A66-5666C14D39ED}" srcOrd="2" destOrd="0" parTransId="{ADD25978-8CD0-4060-82E6-B8FF0356476E}" sibTransId="{2E94CA6C-46F4-4B19-8594-FFB5469E5D2E}"/>
    <dgm:cxn modelId="{565F223E-A59B-448B-A53A-29F9E68517AF}" srcId="{8B5402E6-B890-45BA-A134-8A33C18E61E2}" destId="{CBED349E-5315-43D1-819A-0BD8059E1EEB}" srcOrd="3" destOrd="0" parTransId="{2441E559-8517-4748-B18D-DFDD0AF62A65}" sibTransId="{4DDD92A8-F77A-4D12-9BE3-5D2D1AE33CCD}"/>
    <dgm:cxn modelId="{E092194D-EBFB-4D9C-80BD-95D93EBEC467}" type="presOf" srcId="{C9D5D2B6-70A6-43FC-8049-A2F55BCAA81B}" destId="{EFD11F6D-8909-4854-BC4A-F7CC0501AE34}" srcOrd="0" destOrd="0" presId="urn:microsoft.com/office/officeart/2005/8/layout/default"/>
    <dgm:cxn modelId="{C20EF772-E7B2-4F43-ABBE-94B689F23779}" type="presOf" srcId="{CBED349E-5315-43D1-819A-0BD8059E1EEB}" destId="{1EEA17D1-DAF2-47F9-8BD5-D469C19E9FC1}" srcOrd="0" destOrd="0" presId="urn:microsoft.com/office/officeart/2005/8/layout/default"/>
    <dgm:cxn modelId="{A2DDFB75-DBE2-48E8-9023-292365BF2D1F}" srcId="{8B5402E6-B890-45BA-A134-8A33C18E61E2}" destId="{C9D5D2B6-70A6-43FC-8049-A2F55BCAA81B}" srcOrd="1" destOrd="0" parTransId="{D747516D-54CA-4D6E-97AC-245DA4728345}" sibTransId="{BF584C45-CD69-48FC-AFD5-6900A1D59EFF}"/>
    <dgm:cxn modelId="{9A07E58B-B4C9-4FBC-B380-0E7A1DBBEE2A}" srcId="{8B5402E6-B890-45BA-A134-8A33C18E61E2}" destId="{52570D5B-5C3A-4A65-AC02-E024393BCF41}" srcOrd="0" destOrd="0" parTransId="{2E972281-E50C-4F8C-8E8D-D97AC03E3BCE}" sibTransId="{992F6075-2877-4A42-A169-F8B53AEFA4BB}"/>
    <dgm:cxn modelId="{7FE83198-2E62-484B-9758-C6360948A996}" type="presOf" srcId="{146425BF-9A84-4F2E-AB8D-FCE7DC21154A}" destId="{0F0ED457-3F28-4781-B03E-9BFA53451DF0}" srcOrd="0" destOrd="0" presId="urn:microsoft.com/office/officeart/2005/8/layout/default"/>
    <dgm:cxn modelId="{13C51A9A-9744-4C82-B8C2-E4824E884041}" srcId="{8B5402E6-B890-45BA-A134-8A33C18E61E2}" destId="{C1C71214-978D-415E-8100-196BF0BD6C43}" srcOrd="4" destOrd="0" parTransId="{B36626AF-3D79-4921-BF22-2A8E4D83F67F}" sibTransId="{CFE6C4F0-260B-4234-8C9C-C144D4FDE61F}"/>
    <dgm:cxn modelId="{46567EBD-5691-4B77-A065-099AA5E1B43B}" type="presOf" srcId="{52570D5B-5C3A-4A65-AC02-E024393BCF41}" destId="{EC636B1B-B711-42F6-AE37-92EB34234F72}" srcOrd="0" destOrd="0" presId="urn:microsoft.com/office/officeart/2005/8/layout/default"/>
    <dgm:cxn modelId="{F3CE9CD8-9B15-4FAF-9CA2-1E7924003FAB}" type="presOf" srcId="{C1C71214-978D-415E-8100-196BF0BD6C43}" destId="{E20B9230-3C92-492B-85B1-609636AA01C1}" srcOrd="0" destOrd="0" presId="urn:microsoft.com/office/officeart/2005/8/layout/default"/>
    <dgm:cxn modelId="{89608CE9-4F0D-47C7-BF45-B1790066C018}" type="presOf" srcId="{8B5402E6-B890-45BA-A134-8A33C18E61E2}" destId="{8A26E2EA-7C35-4C5F-920F-0B72C33AEEF9}" srcOrd="0" destOrd="0" presId="urn:microsoft.com/office/officeart/2005/8/layout/default"/>
    <dgm:cxn modelId="{1272EBEC-895F-48D8-825F-E9A7099B6293}" srcId="{8B5402E6-B890-45BA-A134-8A33C18E61E2}" destId="{146425BF-9A84-4F2E-AB8D-FCE7DC21154A}" srcOrd="5" destOrd="0" parTransId="{F5A07B14-09C7-4B97-A32A-19A455F6DAC7}" sibTransId="{7C110C7D-139A-433C-A515-ACFAFE3B2E08}"/>
    <dgm:cxn modelId="{D0BE9EF3-9E6C-4947-B997-D44994D8DF5F}" type="presOf" srcId="{564D3719-AA05-445A-9A66-5666C14D39ED}" destId="{79E6B866-4EAD-4655-888D-DE8FB7CFAD17}" srcOrd="0" destOrd="0" presId="urn:microsoft.com/office/officeart/2005/8/layout/default"/>
    <dgm:cxn modelId="{92A4711B-2B2A-4BE0-A378-27D276CA4067}" type="presParOf" srcId="{8A26E2EA-7C35-4C5F-920F-0B72C33AEEF9}" destId="{EC636B1B-B711-42F6-AE37-92EB34234F72}" srcOrd="0" destOrd="0" presId="urn:microsoft.com/office/officeart/2005/8/layout/default"/>
    <dgm:cxn modelId="{2F082A06-A71B-4551-81BF-08F67E891044}" type="presParOf" srcId="{8A26E2EA-7C35-4C5F-920F-0B72C33AEEF9}" destId="{D429DAC5-3987-4B34-A79F-01DAEB1C1531}" srcOrd="1" destOrd="0" presId="urn:microsoft.com/office/officeart/2005/8/layout/default"/>
    <dgm:cxn modelId="{719DA79E-025B-4319-B112-6558B1E8BB21}" type="presParOf" srcId="{8A26E2EA-7C35-4C5F-920F-0B72C33AEEF9}" destId="{EFD11F6D-8909-4854-BC4A-F7CC0501AE34}" srcOrd="2" destOrd="0" presId="urn:microsoft.com/office/officeart/2005/8/layout/default"/>
    <dgm:cxn modelId="{3713CDEF-DAB3-4653-96F4-63DA552FC368}" type="presParOf" srcId="{8A26E2EA-7C35-4C5F-920F-0B72C33AEEF9}" destId="{06045DEC-B035-49BA-8A51-39C426FE0FA6}" srcOrd="3" destOrd="0" presId="urn:microsoft.com/office/officeart/2005/8/layout/default"/>
    <dgm:cxn modelId="{1D2B4CE7-F1B7-427A-9C10-A92017FD5034}" type="presParOf" srcId="{8A26E2EA-7C35-4C5F-920F-0B72C33AEEF9}" destId="{79E6B866-4EAD-4655-888D-DE8FB7CFAD17}" srcOrd="4" destOrd="0" presId="urn:microsoft.com/office/officeart/2005/8/layout/default"/>
    <dgm:cxn modelId="{6D8EDAFA-9590-4669-AA52-40307CAF2473}" type="presParOf" srcId="{8A26E2EA-7C35-4C5F-920F-0B72C33AEEF9}" destId="{90264B9A-8D0C-4736-9415-6AE234C66E27}" srcOrd="5" destOrd="0" presId="urn:microsoft.com/office/officeart/2005/8/layout/default"/>
    <dgm:cxn modelId="{C9D1E9C7-6E22-46C0-B6B5-41FB4263F982}" type="presParOf" srcId="{8A26E2EA-7C35-4C5F-920F-0B72C33AEEF9}" destId="{1EEA17D1-DAF2-47F9-8BD5-D469C19E9FC1}" srcOrd="6" destOrd="0" presId="urn:microsoft.com/office/officeart/2005/8/layout/default"/>
    <dgm:cxn modelId="{5E1C8D51-3A9A-4720-B620-C9344DFCCFBC}" type="presParOf" srcId="{8A26E2EA-7C35-4C5F-920F-0B72C33AEEF9}" destId="{ADB8EA95-3AB5-478D-964A-BF144CA3E06C}" srcOrd="7" destOrd="0" presId="urn:microsoft.com/office/officeart/2005/8/layout/default"/>
    <dgm:cxn modelId="{60A323B3-9835-4E04-B743-5F84BDE09160}" type="presParOf" srcId="{8A26E2EA-7C35-4C5F-920F-0B72C33AEEF9}" destId="{E20B9230-3C92-492B-85B1-609636AA01C1}" srcOrd="8" destOrd="0" presId="urn:microsoft.com/office/officeart/2005/8/layout/default"/>
    <dgm:cxn modelId="{81C096F0-A543-4614-9566-2E92E0A9284D}" type="presParOf" srcId="{8A26E2EA-7C35-4C5F-920F-0B72C33AEEF9}" destId="{AF912908-9C0E-4F54-83E6-BEE21FBD55DB}" srcOrd="9" destOrd="0" presId="urn:microsoft.com/office/officeart/2005/8/layout/default"/>
    <dgm:cxn modelId="{8F306A56-088F-45C9-90D3-9DF44B36C1F0}" type="presParOf" srcId="{8A26E2EA-7C35-4C5F-920F-0B72C33AEEF9}" destId="{0F0ED457-3F28-4781-B03E-9BFA53451DF0}" srcOrd="10"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7B97B73-F2F1-4916-89B9-958FA3FEB852}" type="doc">
      <dgm:prSet loTypeId="urn:microsoft.com/office/officeart/2005/8/layout/process4" loCatId="list" qsTypeId="urn:microsoft.com/office/officeart/2005/8/quickstyle/simple3" qsCatId="simple" csTypeId="urn:microsoft.com/office/officeart/2005/8/colors/colorful1" csCatId="colorful"/>
      <dgm:spPr/>
      <dgm:t>
        <a:bodyPr/>
        <a:lstStyle/>
        <a:p>
          <a:endParaRPr lang="en-PK"/>
        </a:p>
      </dgm:t>
    </dgm:pt>
    <dgm:pt modelId="{2B0071A8-1BCF-4692-97A6-427C5329B96D}">
      <dgm:prSet custT="1"/>
      <dgm:spPr/>
      <dgm:t>
        <a:bodyPr/>
        <a:lstStyle/>
        <a:p>
          <a:r>
            <a:rPr lang="en-GB" sz="3200"/>
            <a:t>Real-world system</a:t>
          </a:r>
          <a:endParaRPr lang="en-PK" sz="3200"/>
        </a:p>
      </dgm:t>
    </dgm:pt>
    <dgm:pt modelId="{F0C9911B-CA24-43E5-ACB7-8E107D5EE03A}" type="parTrans" cxnId="{1851115F-28B8-471C-BAEF-60AC1ED6FCF7}">
      <dgm:prSet/>
      <dgm:spPr/>
      <dgm:t>
        <a:bodyPr/>
        <a:lstStyle/>
        <a:p>
          <a:endParaRPr lang="en-PK"/>
        </a:p>
      </dgm:t>
    </dgm:pt>
    <dgm:pt modelId="{E4B1B0FC-1532-4043-9189-ED1194C3ADDE}" type="sibTrans" cxnId="{1851115F-28B8-471C-BAEF-60AC1ED6FCF7}">
      <dgm:prSet/>
      <dgm:spPr/>
      <dgm:t>
        <a:bodyPr/>
        <a:lstStyle/>
        <a:p>
          <a:endParaRPr lang="en-PK"/>
        </a:p>
      </dgm:t>
    </dgm:pt>
    <dgm:pt modelId="{2511F3B6-76A7-471A-B562-D1B3BAE0BC29}">
      <dgm:prSet custT="1"/>
      <dgm:spPr/>
      <dgm:t>
        <a:bodyPr/>
        <a:lstStyle/>
        <a:p>
          <a:r>
            <a:rPr lang="en-GB" sz="3200"/>
            <a:t>E/R design</a:t>
          </a:r>
          <a:endParaRPr lang="en-PK" sz="3200"/>
        </a:p>
      </dgm:t>
    </dgm:pt>
    <dgm:pt modelId="{24169999-7774-4C4E-8B19-5B2714C80460}" type="parTrans" cxnId="{27D6C4D8-35CE-45AF-862D-651F8E3D376E}">
      <dgm:prSet/>
      <dgm:spPr/>
      <dgm:t>
        <a:bodyPr/>
        <a:lstStyle/>
        <a:p>
          <a:endParaRPr lang="en-PK"/>
        </a:p>
      </dgm:t>
    </dgm:pt>
    <dgm:pt modelId="{05EAFF40-EDBD-4F4F-9377-91559DD2B561}" type="sibTrans" cxnId="{27D6C4D8-35CE-45AF-862D-651F8E3D376E}">
      <dgm:prSet/>
      <dgm:spPr/>
      <dgm:t>
        <a:bodyPr/>
        <a:lstStyle/>
        <a:p>
          <a:endParaRPr lang="en-PK"/>
        </a:p>
      </dgm:t>
    </dgm:pt>
    <dgm:pt modelId="{C3866C01-9CE9-4ACE-8CC4-D0FA5A6A6DF3}">
      <dgm:prSet custT="1"/>
      <dgm:spPr/>
      <dgm:t>
        <a:bodyPr/>
        <a:lstStyle/>
        <a:p>
          <a:r>
            <a:rPr lang="en-GB" sz="3200"/>
            <a:t>Relational schema</a:t>
          </a:r>
          <a:endParaRPr lang="en-PK" sz="3200"/>
        </a:p>
      </dgm:t>
    </dgm:pt>
    <dgm:pt modelId="{101E5050-103D-45AF-B062-2639F63F9860}" type="parTrans" cxnId="{58B9395C-54EF-4FE1-9C35-32DBD9FC193E}">
      <dgm:prSet/>
      <dgm:spPr/>
      <dgm:t>
        <a:bodyPr/>
        <a:lstStyle/>
        <a:p>
          <a:endParaRPr lang="en-PK"/>
        </a:p>
      </dgm:t>
    </dgm:pt>
    <dgm:pt modelId="{94527383-9B94-430D-844C-0B8F4603565C}" type="sibTrans" cxnId="{58B9395C-54EF-4FE1-9C35-32DBD9FC193E}">
      <dgm:prSet/>
      <dgm:spPr/>
      <dgm:t>
        <a:bodyPr/>
        <a:lstStyle/>
        <a:p>
          <a:endParaRPr lang="en-PK"/>
        </a:p>
      </dgm:t>
    </dgm:pt>
    <dgm:pt modelId="{3D13AB8B-73D3-4C47-8E05-4E11F0D59FCB}">
      <dgm:prSet custT="1"/>
      <dgm:spPr/>
      <dgm:t>
        <a:bodyPr/>
        <a:lstStyle/>
        <a:p>
          <a:r>
            <a:rPr lang="en-GB" sz="3200"/>
            <a:t>Database tables</a:t>
          </a:r>
          <a:endParaRPr lang="en-PK" sz="3200"/>
        </a:p>
      </dgm:t>
    </dgm:pt>
    <dgm:pt modelId="{750681E1-059D-420F-B9DF-71E50A1E60A4}" type="parTrans" cxnId="{8C3F73F8-2313-41C5-BEBA-EBEC863AB54C}">
      <dgm:prSet/>
      <dgm:spPr/>
      <dgm:t>
        <a:bodyPr/>
        <a:lstStyle/>
        <a:p>
          <a:endParaRPr lang="en-PK"/>
        </a:p>
      </dgm:t>
    </dgm:pt>
    <dgm:pt modelId="{95D725B0-81B0-4E85-AD3E-5502523276BD}" type="sibTrans" cxnId="{8C3F73F8-2313-41C5-BEBA-EBEC863AB54C}">
      <dgm:prSet/>
      <dgm:spPr/>
      <dgm:t>
        <a:bodyPr/>
        <a:lstStyle/>
        <a:p>
          <a:endParaRPr lang="en-PK"/>
        </a:p>
      </dgm:t>
    </dgm:pt>
    <dgm:pt modelId="{C4E2B014-541E-4919-8105-0D301AD32015}" type="pres">
      <dgm:prSet presAssocID="{57B97B73-F2F1-4916-89B9-958FA3FEB852}" presName="Name0" presStyleCnt="0">
        <dgm:presLayoutVars>
          <dgm:dir/>
          <dgm:animLvl val="lvl"/>
          <dgm:resizeHandles val="exact"/>
        </dgm:presLayoutVars>
      </dgm:prSet>
      <dgm:spPr/>
    </dgm:pt>
    <dgm:pt modelId="{47608548-BF10-4A67-B7E9-EB444C94A706}" type="pres">
      <dgm:prSet presAssocID="{3D13AB8B-73D3-4C47-8E05-4E11F0D59FCB}" presName="boxAndChildren" presStyleCnt="0"/>
      <dgm:spPr/>
    </dgm:pt>
    <dgm:pt modelId="{ED120D49-491C-4698-AA2E-511825D67BA5}" type="pres">
      <dgm:prSet presAssocID="{3D13AB8B-73D3-4C47-8E05-4E11F0D59FCB}" presName="parentTextBox" presStyleLbl="node1" presStyleIdx="0" presStyleCnt="4"/>
      <dgm:spPr/>
    </dgm:pt>
    <dgm:pt modelId="{34D00908-C9D5-43FE-9A0F-591494893DBB}" type="pres">
      <dgm:prSet presAssocID="{94527383-9B94-430D-844C-0B8F4603565C}" presName="sp" presStyleCnt="0"/>
      <dgm:spPr/>
    </dgm:pt>
    <dgm:pt modelId="{230C0D50-C219-48F4-B009-3F5BB306BC91}" type="pres">
      <dgm:prSet presAssocID="{C3866C01-9CE9-4ACE-8CC4-D0FA5A6A6DF3}" presName="arrowAndChildren" presStyleCnt="0"/>
      <dgm:spPr/>
    </dgm:pt>
    <dgm:pt modelId="{0B4A9729-FD49-4FF6-BD08-B24DB95A86A1}" type="pres">
      <dgm:prSet presAssocID="{C3866C01-9CE9-4ACE-8CC4-D0FA5A6A6DF3}" presName="parentTextArrow" presStyleLbl="node1" presStyleIdx="1" presStyleCnt="4"/>
      <dgm:spPr/>
    </dgm:pt>
    <dgm:pt modelId="{23C555EE-DE8A-484B-B2FB-F5FFE7BF2216}" type="pres">
      <dgm:prSet presAssocID="{05EAFF40-EDBD-4F4F-9377-91559DD2B561}" presName="sp" presStyleCnt="0"/>
      <dgm:spPr/>
    </dgm:pt>
    <dgm:pt modelId="{74872B6B-A5EE-41BD-AF5F-B2DA744779F7}" type="pres">
      <dgm:prSet presAssocID="{2511F3B6-76A7-471A-B562-D1B3BAE0BC29}" presName="arrowAndChildren" presStyleCnt="0"/>
      <dgm:spPr/>
    </dgm:pt>
    <dgm:pt modelId="{E2FC6FF8-6F18-45A7-8803-6BD2979A873D}" type="pres">
      <dgm:prSet presAssocID="{2511F3B6-76A7-471A-B562-D1B3BAE0BC29}" presName="parentTextArrow" presStyleLbl="node1" presStyleIdx="2" presStyleCnt="4"/>
      <dgm:spPr/>
    </dgm:pt>
    <dgm:pt modelId="{29015521-9FF6-4704-84C1-EDE42FB0C7A9}" type="pres">
      <dgm:prSet presAssocID="{E4B1B0FC-1532-4043-9189-ED1194C3ADDE}" presName="sp" presStyleCnt="0"/>
      <dgm:spPr/>
    </dgm:pt>
    <dgm:pt modelId="{990A425F-B701-4946-822B-B65878D1647C}" type="pres">
      <dgm:prSet presAssocID="{2B0071A8-1BCF-4692-97A6-427C5329B96D}" presName="arrowAndChildren" presStyleCnt="0"/>
      <dgm:spPr/>
    </dgm:pt>
    <dgm:pt modelId="{FA883AA1-05E5-4528-89CD-52B658AD0211}" type="pres">
      <dgm:prSet presAssocID="{2B0071A8-1BCF-4692-97A6-427C5329B96D}" presName="parentTextArrow" presStyleLbl="node1" presStyleIdx="3" presStyleCnt="4"/>
      <dgm:spPr/>
    </dgm:pt>
  </dgm:ptLst>
  <dgm:cxnLst>
    <dgm:cxn modelId="{C4558107-1AA2-4832-ABC2-8A8FD9245DEC}" type="presOf" srcId="{2511F3B6-76A7-471A-B562-D1B3BAE0BC29}" destId="{E2FC6FF8-6F18-45A7-8803-6BD2979A873D}" srcOrd="0" destOrd="0" presId="urn:microsoft.com/office/officeart/2005/8/layout/process4"/>
    <dgm:cxn modelId="{9C139F13-3BE8-4B1B-8E9A-536F5F983C2B}" type="presOf" srcId="{57B97B73-F2F1-4916-89B9-958FA3FEB852}" destId="{C4E2B014-541E-4919-8105-0D301AD32015}" srcOrd="0" destOrd="0" presId="urn:microsoft.com/office/officeart/2005/8/layout/process4"/>
    <dgm:cxn modelId="{F200DD1D-1758-45D7-A588-A220F411847D}" type="presOf" srcId="{3D13AB8B-73D3-4C47-8E05-4E11F0D59FCB}" destId="{ED120D49-491C-4698-AA2E-511825D67BA5}" srcOrd="0" destOrd="0" presId="urn:microsoft.com/office/officeart/2005/8/layout/process4"/>
    <dgm:cxn modelId="{D698E928-6145-4E94-8EE8-AC61664C1B71}" type="presOf" srcId="{2B0071A8-1BCF-4692-97A6-427C5329B96D}" destId="{FA883AA1-05E5-4528-89CD-52B658AD0211}" srcOrd="0" destOrd="0" presId="urn:microsoft.com/office/officeart/2005/8/layout/process4"/>
    <dgm:cxn modelId="{58B9395C-54EF-4FE1-9C35-32DBD9FC193E}" srcId="{57B97B73-F2F1-4916-89B9-958FA3FEB852}" destId="{C3866C01-9CE9-4ACE-8CC4-D0FA5A6A6DF3}" srcOrd="2" destOrd="0" parTransId="{101E5050-103D-45AF-B062-2639F63F9860}" sibTransId="{94527383-9B94-430D-844C-0B8F4603565C}"/>
    <dgm:cxn modelId="{1851115F-28B8-471C-BAEF-60AC1ED6FCF7}" srcId="{57B97B73-F2F1-4916-89B9-958FA3FEB852}" destId="{2B0071A8-1BCF-4692-97A6-427C5329B96D}" srcOrd="0" destOrd="0" parTransId="{F0C9911B-CA24-43E5-ACB7-8E107D5EE03A}" sibTransId="{E4B1B0FC-1532-4043-9189-ED1194C3ADDE}"/>
    <dgm:cxn modelId="{84CE68B5-21AE-464E-BEE8-6F904F89FBA5}" type="presOf" srcId="{C3866C01-9CE9-4ACE-8CC4-D0FA5A6A6DF3}" destId="{0B4A9729-FD49-4FF6-BD08-B24DB95A86A1}" srcOrd="0" destOrd="0" presId="urn:microsoft.com/office/officeart/2005/8/layout/process4"/>
    <dgm:cxn modelId="{27D6C4D8-35CE-45AF-862D-651F8E3D376E}" srcId="{57B97B73-F2F1-4916-89B9-958FA3FEB852}" destId="{2511F3B6-76A7-471A-B562-D1B3BAE0BC29}" srcOrd="1" destOrd="0" parTransId="{24169999-7774-4C4E-8B19-5B2714C80460}" sibTransId="{05EAFF40-EDBD-4F4F-9377-91559DD2B561}"/>
    <dgm:cxn modelId="{8C3F73F8-2313-41C5-BEBA-EBEC863AB54C}" srcId="{57B97B73-F2F1-4916-89B9-958FA3FEB852}" destId="{3D13AB8B-73D3-4C47-8E05-4E11F0D59FCB}" srcOrd="3" destOrd="0" parTransId="{750681E1-059D-420F-B9DF-71E50A1E60A4}" sibTransId="{95D725B0-81B0-4E85-AD3E-5502523276BD}"/>
    <dgm:cxn modelId="{D14978F6-BBF9-48FF-81C6-7999711C6304}" type="presParOf" srcId="{C4E2B014-541E-4919-8105-0D301AD32015}" destId="{47608548-BF10-4A67-B7E9-EB444C94A706}" srcOrd="0" destOrd="0" presId="urn:microsoft.com/office/officeart/2005/8/layout/process4"/>
    <dgm:cxn modelId="{8861D8DC-5CA6-4DBD-8869-297582325B9D}" type="presParOf" srcId="{47608548-BF10-4A67-B7E9-EB444C94A706}" destId="{ED120D49-491C-4698-AA2E-511825D67BA5}" srcOrd="0" destOrd="0" presId="urn:microsoft.com/office/officeart/2005/8/layout/process4"/>
    <dgm:cxn modelId="{0BC7B683-8388-4E2D-9ABC-9BBBEA49FF1E}" type="presParOf" srcId="{C4E2B014-541E-4919-8105-0D301AD32015}" destId="{34D00908-C9D5-43FE-9A0F-591494893DBB}" srcOrd="1" destOrd="0" presId="urn:microsoft.com/office/officeart/2005/8/layout/process4"/>
    <dgm:cxn modelId="{BEB1C564-09ED-4A19-9774-EF1D926B7C11}" type="presParOf" srcId="{C4E2B014-541E-4919-8105-0D301AD32015}" destId="{230C0D50-C219-48F4-B009-3F5BB306BC91}" srcOrd="2" destOrd="0" presId="urn:microsoft.com/office/officeart/2005/8/layout/process4"/>
    <dgm:cxn modelId="{45D3EBCA-BC7B-451F-8ACD-069D8EC18230}" type="presParOf" srcId="{230C0D50-C219-48F4-B009-3F5BB306BC91}" destId="{0B4A9729-FD49-4FF6-BD08-B24DB95A86A1}" srcOrd="0" destOrd="0" presId="urn:microsoft.com/office/officeart/2005/8/layout/process4"/>
    <dgm:cxn modelId="{A20EBA97-4DF8-42DC-8A9D-4A1C890D27AB}" type="presParOf" srcId="{C4E2B014-541E-4919-8105-0D301AD32015}" destId="{23C555EE-DE8A-484B-B2FB-F5FFE7BF2216}" srcOrd="3" destOrd="0" presId="urn:microsoft.com/office/officeart/2005/8/layout/process4"/>
    <dgm:cxn modelId="{80C841ED-CB97-4189-B588-41FF888B2468}" type="presParOf" srcId="{C4E2B014-541E-4919-8105-0D301AD32015}" destId="{74872B6B-A5EE-41BD-AF5F-B2DA744779F7}" srcOrd="4" destOrd="0" presId="urn:microsoft.com/office/officeart/2005/8/layout/process4"/>
    <dgm:cxn modelId="{8271EF64-2460-4378-AB2E-E968C2D359A9}" type="presParOf" srcId="{74872B6B-A5EE-41BD-AF5F-B2DA744779F7}" destId="{E2FC6FF8-6F18-45A7-8803-6BD2979A873D}" srcOrd="0" destOrd="0" presId="urn:microsoft.com/office/officeart/2005/8/layout/process4"/>
    <dgm:cxn modelId="{D5E74AB8-9D08-46F3-8075-57BE9B4F9174}" type="presParOf" srcId="{C4E2B014-541E-4919-8105-0D301AD32015}" destId="{29015521-9FF6-4704-84C1-EDE42FB0C7A9}" srcOrd="5" destOrd="0" presId="urn:microsoft.com/office/officeart/2005/8/layout/process4"/>
    <dgm:cxn modelId="{58335F10-5837-4387-B513-896F1571A2F2}" type="presParOf" srcId="{C4E2B014-541E-4919-8105-0D301AD32015}" destId="{990A425F-B701-4946-822B-B65878D1647C}" srcOrd="6" destOrd="0" presId="urn:microsoft.com/office/officeart/2005/8/layout/process4"/>
    <dgm:cxn modelId="{D3F63314-B952-4B92-AA5C-951D63F260FA}" type="presParOf" srcId="{990A425F-B701-4946-822B-B65878D1647C}" destId="{FA883AA1-05E5-4528-89CD-52B658AD0211}"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E3B27BC-2199-483C-8ACC-80EE53A8CE3D}">
      <dsp:nvSpPr>
        <dsp:cNvPr id="0" name=""/>
        <dsp:cNvSpPr/>
      </dsp:nvSpPr>
      <dsp:spPr>
        <a:xfrm>
          <a:off x="0" y="65843"/>
          <a:ext cx="9520237" cy="980533"/>
        </a:xfrm>
        <a:prstGeom prst="roundRect">
          <a:avLst/>
        </a:prstGeom>
        <a:solidFill>
          <a:schemeClr val="accent1">
            <a:shade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GB" sz="2300" kern="1200" dirty="0"/>
            <a:t>A </a:t>
          </a:r>
          <a:r>
            <a:rPr lang="en-GB" sz="2300" b="1" kern="1200" dirty="0"/>
            <a:t>data model</a:t>
          </a:r>
          <a:r>
            <a:rPr lang="en-GB" sz="2300" kern="1200" dirty="0"/>
            <a:t> is a collection of concepts used to describe:</a:t>
          </a:r>
          <a:endParaRPr lang="en-PK" sz="2300" kern="1200" dirty="0"/>
        </a:p>
      </dsp:txBody>
      <dsp:txXfrm>
        <a:off x="47866" y="113709"/>
        <a:ext cx="9424505" cy="884801"/>
      </dsp:txXfrm>
    </dsp:sp>
    <dsp:sp modelId="{05BE917B-9193-4EA8-AD74-7BF9DB168DE3}">
      <dsp:nvSpPr>
        <dsp:cNvPr id="0" name=""/>
        <dsp:cNvSpPr/>
      </dsp:nvSpPr>
      <dsp:spPr>
        <a:xfrm>
          <a:off x="0" y="1046376"/>
          <a:ext cx="9520237" cy="13568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2268" tIns="29210" rIns="163576" bIns="29210" numCol="1" spcCol="1270" anchor="t" anchorCtr="0">
          <a:noAutofit/>
        </a:bodyPr>
        <a:lstStyle/>
        <a:p>
          <a:pPr marL="171450" lvl="1" indent="-171450" algn="l" defTabSz="800100">
            <a:lnSpc>
              <a:spcPct val="90000"/>
            </a:lnSpc>
            <a:spcBef>
              <a:spcPct val="0"/>
            </a:spcBef>
            <a:spcAft>
              <a:spcPct val="20000"/>
            </a:spcAft>
            <a:buChar char="•"/>
          </a:pPr>
          <a:r>
            <a:rPr lang="en-GB" sz="1800" kern="1200"/>
            <a:t>Data structure </a:t>
          </a:r>
          <a:endParaRPr lang="en-PK" sz="1800" kern="1200"/>
        </a:p>
        <a:p>
          <a:pPr marL="171450" lvl="1" indent="-171450" algn="l" defTabSz="800100">
            <a:lnSpc>
              <a:spcPct val="90000"/>
            </a:lnSpc>
            <a:spcBef>
              <a:spcPct val="0"/>
            </a:spcBef>
            <a:spcAft>
              <a:spcPct val="20000"/>
            </a:spcAft>
            <a:buChar char="•"/>
          </a:pPr>
          <a:r>
            <a:rPr lang="en-GB" sz="1800" kern="1200"/>
            <a:t>Relationships between data </a:t>
          </a:r>
          <a:endParaRPr lang="en-PK" sz="1800" kern="1200"/>
        </a:p>
        <a:p>
          <a:pPr marL="171450" lvl="1" indent="-171450" algn="l" defTabSz="800100">
            <a:lnSpc>
              <a:spcPct val="90000"/>
            </a:lnSpc>
            <a:spcBef>
              <a:spcPct val="0"/>
            </a:spcBef>
            <a:spcAft>
              <a:spcPct val="20000"/>
            </a:spcAft>
            <a:buChar char="•"/>
          </a:pPr>
          <a:r>
            <a:rPr lang="en-GB" sz="1800" kern="1200"/>
            <a:t>Data constraints </a:t>
          </a:r>
          <a:endParaRPr lang="en-PK" sz="1800" kern="1200"/>
        </a:p>
        <a:p>
          <a:pPr marL="171450" lvl="1" indent="-171450" algn="l" defTabSz="800100">
            <a:lnSpc>
              <a:spcPct val="90000"/>
            </a:lnSpc>
            <a:spcBef>
              <a:spcPct val="0"/>
            </a:spcBef>
            <a:spcAft>
              <a:spcPct val="20000"/>
            </a:spcAft>
            <a:buChar char="•"/>
          </a:pPr>
          <a:r>
            <a:rPr lang="en-GB" sz="1800" kern="1200"/>
            <a:t>Permitted operations </a:t>
          </a:r>
          <a:endParaRPr lang="en-PK" sz="1800" kern="1200"/>
        </a:p>
      </dsp:txBody>
      <dsp:txXfrm>
        <a:off x="0" y="1046376"/>
        <a:ext cx="9520237" cy="1356885"/>
      </dsp:txXfrm>
    </dsp:sp>
    <dsp:sp modelId="{1A3D9AC9-09C7-40B2-ABF4-5CD384377873}">
      <dsp:nvSpPr>
        <dsp:cNvPr id="0" name=""/>
        <dsp:cNvSpPr/>
      </dsp:nvSpPr>
      <dsp:spPr>
        <a:xfrm>
          <a:off x="0" y="2403261"/>
          <a:ext cx="9520237" cy="980533"/>
        </a:xfrm>
        <a:prstGeom prst="roundRect">
          <a:avLst/>
        </a:prstGeom>
        <a:solidFill>
          <a:schemeClr val="accent1">
            <a:shade val="50000"/>
            <a:hueOff val="460279"/>
            <a:satOff val="-28913"/>
            <a:lumOff val="46756"/>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GB" sz="2300" kern="1200" dirty="0">
              <a:solidFill>
                <a:schemeClr val="tx1"/>
              </a:solidFill>
            </a:rPr>
            <a:t>It provides a blueprint for organizing and representing real-world information inside a database.</a:t>
          </a:r>
          <a:endParaRPr lang="en-PK" sz="2300" kern="1200" dirty="0">
            <a:solidFill>
              <a:schemeClr val="tx1"/>
            </a:solidFill>
          </a:endParaRPr>
        </a:p>
      </dsp:txBody>
      <dsp:txXfrm>
        <a:off x="47866" y="2451127"/>
        <a:ext cx="9424505" cy="88480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636B1B-B711-42F6-AE37-92EB34234F72}">
      <dsp:nvSpPr>
        <dsp:cNvPr id="0" name=""/>
        <dsp:cNvSpPr/>
      </dsp:nvSpPr>
      <dsp:spPr>
        <a:xfrm>
          <a:off x="520637" y="2530"/>
          <a:ext cx="2649675" cy="1589805"/>
        </a:xfrm>
        <a:prstGeom prst="rect">
          <a:avLst/>
        </a:prstGeom>
        <a:gradFill rotWithShape="0">
          <a:gsLst>
            <a:gs pos="0">
              <a:schemeClr val="accent2">
                <a:hueOff val="0"/>
                <a:satOff val="0"/>
                <a:lumOff val="0"/>
                <a:alphaOff val="0"/>
                <a:tint val="54000"/>
                <a:alpha val="100000"/>
                <a:satMod val="105000"/>
                <a:lumMod val="110000"/>
              </a:schemeClr>
            </a:gs>
            <a:gs pos="100000">
              <a:schemeClr val="accent2">
                <a:hueOff val="0"/>
                <a:satOff val="0"/>
                <a:lumOff val="0"/>
                <a:alphaOff val="0"/>
                <a:tint val="78000"/>
                <a:alpha val="92000"/>
                <a:satMod val="109000"/>
                <a:lumMod val="100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b="1" kern="1200" dirty="0"/>
            <a:t>DDL Processor</a:t>
          </a:r>
          <a:br>
            <a:rPr lang="en-GB" sz="1800" kern="1200" dirty="0"/>
          </a:br>
          <a:r>
            <a:rPr lang="en-GB" sz="1800" kern="1200" dirty="0"/>
            <a:t>Processes database definitions, structures, and constraints.</a:t>
          </a:r>
          <a:endParaRPr lang="en-PK" sz="1800" kern="1200" dirty="0"/>
        </a:p>
      </dsp:txBody>
      <dsp:txXfrm>
        <a:off x="520637" y="2530"/>
        <a:ext cx="2649675" cy="1589805"/>
      </dsp:txXfrm>
    </dsp:sp>
    <dsp:sp modelId="{EFD11F6D-8909-4854-BC4A-F7CC0501AE34}">
      <dsp:nvSpPr>
        <dsp:cNvPr id="0" name=""/>
        <dsp:cNvSpPr/>
      </dsp:nvSpPr>
      <dsp:spPr>
        <a:xfrm>
          <a:off x="3435280" y="2530"/>
          <a:ext cx="2649675" cy="1589805"/>
        </a:xfrm>
        <a:prstGeom prst="rect">
          <a:avLst/>
        </a:prstGeom>
        <a:gradFill rotWithShape="0">
          <a:gsLst>
            <a:gs pos="0">
              <a:schemeClr val="accent3">
                <a:hueOff val="0"/>
                <a:satOff val="0"/>
                <a:lumOff val="0"/>
                <a:alphaOff val="0"/>
                <a:tint val="54000"/>
                <a:alpha val="100000"/>
                <a:satMod val="105000"/>
                <a:lumMod val="110000"/>
              </a:schemeClr>
            </a:gs>
            <a:gs pos="100000">
              <a:schemeClr val="accent3">
                <a:hueOff val="0"/>
                <a:satOff val="0"/>
                <a:lumOff val="0"/>
                <a:alphaOff val="0"/>
                <a:tint val="78000"/>
                <a:alpha val="92000"/>
                <a:satMod val="109000"/>
                <a:lumMod val="100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b="1" kern="1200"/>
            <a:t>Query Processor</a:t>
          </a:r>
          <a:br>
            <a:rPr lang="en-GB" sz="1800" kern="1200"/>
          </a:br>
          <a:r>
            <a:rPr lang="en-GB" sz="1800" kern="1200"/>
            <a:t>Interprets queries and helps determine an execution strategy.</a:t>
          </a:r>
          <a:endParaRPr lang="en-PK" sz="1800" kern="1200"/>
        </a:p>
      </dsp:txBody>
      <dsp:txXfrm>
        <a:off x="3435280" y="2530"/>
        <a:ext cx="2649675" cy="1589805"/>
      </dsp:txXfrm>
    </dsp:sp>
    <dsp:sp modelId="{79E6B866-4EAD-4655-888D-DE8FB7CFAD17}">
      <dsp:nvSpPr>
        <dsp:cNvPr id="0" name=""/>
        <dsp:cNvSpPr/>
      </dsp:nvSpPr>
      <dsp:spPr>
        <a:xfrm>
          <a:off x="6349923" y="2530"/>
          <a:ext cx="2649675" cy="1589805"/>
        </a:xfrm>
        <a:prstGeom prst="rect">
          <a:avLst/>
        </a:prstGeom>
        <a:gradFill rotWithShape="0">
          <a:gsLst>
            <a:gs pos="0">
              <a:schemeClr val="accent4">
                <a:hueOff val="0"/>
                <a:satOff val="0"/>
                <a:lumOff val="0"/>
                <a:alphaOff val="0"/>
                <a:tint val="54000"/>
                <a:alpha val="100000"/>
                <a:satMod val="105000"/>
                <a:lumMod val="110000"/>
              </a:schemeClr>
            </a:gs>
            <a:gs pos="100000">
              <a:schemeClr val="accent4">
                <a:hueOff val="0"/>
                <a:satOff val="0"/>
                <a:lumOff val="0"/>
                <a:alphaOff val="0"/>
                <a:tint val="78000"/>
                <a:alpha val="92000"/>
                <a:satMod val="109000"/>
                <a:lumMod val="100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b="1" kern="1200"/>
            <a:t>Execution Engine</a:t>
          </a:r>
          <a:br>
            <a:rPr lang="en-GB" sz="1800" kern="1200"/>
          </a:br>
          <a:r>
            <a:rPr lang="en-GB" sz="1800" kern="1200"/>
            <a:t>Performs the operations required by the selected plan.</a:t>
          </a:r>
          <a:endParaRPr lang="en-PK" sz="1800" kern="1200"/>
        </a:p>
      </dsp:txBody>
      <dsp:txXfrm>
        <a:off x="6349923" y="2530"/>
        <a:ext cx="2649675" cy="1589805"/>
      </dsp:txXfrm>
    </dsp:sp>
    <dsp:sp modelId="{1EEA17D1-DAF2-47F9-8BD5-D469C19E9FC1}">
      <dsp:nvSpPr>
        <dsp:cNvPr id="0" name=""/>
        <dsp:cNvSpPr/>
      </dsp:nvSpPr>
      <dsp:spPr>
        <a:xfrm>
          <a:off x="520637" y="1857302"/>
          <a:ext cx="2649675" cy="1589805"/>
        </a:xfrm>
        <a:prstGeom prst="rect">
          <a:avLst/>
        </a:prstGeom>
        <a:gradFill rotWithShape="0">
          <a:gsLst>
            <a:gs pos="0">
              <a:schemeClr val="accent5">
                <a:hueOff val="0"/>
                <a:satOff val="0"/>
                <a:lumOff val="0"/>
                <a:alphaOff val="0"/>
                <a:tint val="54000"/>
                <a:alpha val="100000"/>
                <a:satMod val="105000"/>
                <a:lumMod val="110000"/>
              </a:schemeClr>
            </a:gs>
            <a:gs pos="100000">
              <a:schemeClr val="accent5">
                <a:hueOff val="0"/>
                <a:satOff val="0"/>
                <a:lumOff val="0"/>
                <a:alphaOff val="0"/>
                <a:tint val="78000"/>
                <a:alpha val="92000"/>
                <a:satMod val="109000"/>
                <a:lumMod val="100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b="1" kern="1200"/>
            <a:t>Buffer Manager</a:t>
          </a:r>
          <a:br>
            <a:rPr lang="en-GB" sz="1800" kern="1200"/>
          </a:br>
          <a:r>
            <a:rPr lang="en-GB" sz="1800" kern="1200"/>
            <a:t>Moves database pages between storage and memory.</a:t>
          </a:r>
          <a:endParaRPr lang="en-PK" sz="1800" kern="1200"/>
        </a:p>
      </dsp:txBody>
      <dsp:txXfrm>
        <a:off x="520637" y="1857302"/>
        <a:ext cx="2649675" cy="1589805"/>
      </dsp:txXfrm>
    </dsp:sp>
    <dsp:sp modelId="{E20B9230-3C92-492B-85B1-609636AA01C1}">
      <dsp:nvSpPr>
        <dsp:cNvPr id="0" name=""/>
        <dsp:cNvSpPr/>
      </dsp:nvSpPr>
      <dsp:spPr>
        <a:xfrm>
          <a:off x="3435280" y="1857302"/>
          <a:ext cx="2649675" cy="1589805"/>
        </a:xfrm>
        <a:prstGeom prst="rect">
          <a:avLst/>
        </a:prstGeom>
        <a:gradFill rotWithShape="0">
          <a:gsLst>
            <a:gs pos="0">
              <a:schemeClr val="accent6">
                <a:hueOff val="0"/>
                <a:satOff val="0"/>
                <a:lumOff val="0"/>
                <a:alphaOff val="0"/>
                <a:tint val="54000"/>
                <a:alpha val="100000"/>
                <a:satMod val="105000"/>
                <a:lumMod val="110000"/>
              </a:schemeClr>
            </a:gs>
            <a:gs pos="100000">
              <a:schemeClr val="accent6">
                <a:hueOff val="0"/>
                <a:satOff val="0"/>
                <a:lumOff val="0"/>
                <a:alphaOff val="0"/>
                <a:tint val="78000"/>
                <a:alpha val="92000"/>
                <a:satMod val="109000"/>
                <a:lumMod val="100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b="1" kern="1200"/>
            <a:t>Storage Manager</a:t>
          </a:r>
          <a:br>
            <a:rPr lang="en-GB" sz="1800" kern="1200"/>
          </a:br>
          <a:r>
            <a:rPr lang="en-GB" sz="1800" kern="1200"/>
            <a:t>Organizes and retrieves persistent data.</a:t>
          </a:r>
          <a:endParaRPr lang="en-PK" sz="1800" kern="1200"/>
        </a:p>
      </dsp:txBody>
      <dsp:txXfrm>
        <a:off x="3435280" y="1857302"/>
        <a:ext cx="2649675" cy="1589805"/>
      </dsp:txXfrm>
    </dsp:sp>
    <dsp:sp modelId="{0F0ED457-3F28-4781-B03E-9BFA53451DF0}">
      <dsp:nvSpPr>
        <dsp:cNvPr id="0" name=""/>
        <dsp:cNvSpPr/>
      </dsp:nvSpPr>
      <dsp:spPr>
        <a:xfrm>
          <a:off x="6349923" y="1857302"/>
          <a:ext cx="2649675" cy="1589805"/>
        </a:xfrm>
        <a:prstGeom prst="rect">
          <a:avLst/>
        </a:prstGeom>
        <a:gradFill rotWithShape="0">
          <a:gsLst>
            <a:gs pos="0">
              <a:schemeClr val="accent2">
                <a:hueOff val="0"/>
                <a:satOff val="0"/>
                <a:lumOff val="0"/>
                <a:alphaOff val="0"/>
                <a:tint val="54000"/>
                <a:alpha val="100000"/>
                <a:satMod val="105000"/>
                <a:lumMod val="110000"/>
              </a:schemeClr>
            </a:gs>
            <a:gs pos="100000">
              <a:schemeClr val="accent2">
                <a:hueOff val="0"/>
                <a:satOff val="0"/>
                <a:lumOff val="0"/>
                <a:alphaOff val="0"/>
                <a:tint val="78000"/>
                <a:alpha val="92000"/>
                <a:satMod val="109000"/>
                <a:lumMod val="100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b="1" kern="1200"/>
            <a:t>Transaction Manager</a:t>
          </a:r>
          <a:br>
            <a:rPr lang="en-GB" sz="1800" kern="1200"/>
          </a:br>
          <a:r>
            <a:rPr lang="en-GB" sz="1800" kern="1200"/>
            <a:t>Coordinates concurrent operations and maintains correctness.</a:t>
          </a:r>
          <a:endParaRPr lang="en-PK" sz="1800" kern="1200"/>
        </a:p>
      </dsp:txBody>
      <dsp:txXfrm>
        <a:off x="6349923" y="1857302"/>
        <a:ext cx="2649675" cy="158980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D120D49-491C-4698-AA2E-511825D67BA5}">
      <dsp:nvSpPr>
        <dsp:cNvPr id="0" name=""/>
        <dsp:cNvSpPr/>
      </dsp:nvSpPr>
      <dsp:spPr>
        <a:xfrm>
          <a:off x="0" y="2829450"/>
          <a:ext cx="9520237" cy="619014"/>
        </a:xfrm>
        <a:prstGeom prst="rect">
          <a:avLst/>
        </a:prstGeom>
        <a:gradFill rotWithShape="0">
          <a:gsLst>
            <a:gs pos="0">
              <a:schemeClr val="accent2">
                <a:hueOff val="0"/>
                <a:satOff val="0"/>
                <a:lumOff val="0"/>
                <a:alphaOff val="0"/>
                <a:tint val="54000"/>
                <a:alpha val="100000"/>
                <a:satMod val="105000"/>
                <a:lumMod val="110000"/>
              </a:schemeClr>
            </a:gs>
            <a:gs pos="100000">
              <a:schemeClr val="accent2">
                <a:hueOff val="0"/>
                <a:satOff val="0"/>
                <a:lumOff val="0"/>
                <a:alphaOff val="0"/>
                <a:tint val="78000"/>
                <a:alpha val="92000"/>
                <a:satMod val="109000"/>
                <a:lumMod val="100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27584" tIns="227584" rIns="227584" bIns="227584" numCol="1" spcCol="1270" anchor="ctr" anchorCtr="0">
          <a:noAutofit/>
        </a:bodyPr>
        <a:lstStyle/>
        <a:p>
          <a:pPr marL="0" lvl="0" indent="0" algn="ctr" defTabSz="1422400">
            <a:lnSpc>
              <a:spcPct val="90000"/>
            </a:lnSpc>
            <a:spcBef>
              <a:spcPct val="0"/>
            </a:spcBef>
            <a:spcAft>
              <a:spcPct val="35000"/>
            </a:spcAft>
            <a:buNone/>
          </a:pPr>
          <a:r>
            <a:rPr lang="en-GB" sz="3200" kern="1200"/>
            <a:t>Database tables</a:t>
          </a:r>
          <a:endParaRPr lang="en-PK" sz="3200" kern="1200"/>
        </a:p>
      </dsp:txBody>
      <dsp:txXfrm>
        <a:off x="0" y="2829450"/>
        <a:ext cx="9520237" cy="619014"/>
      </dsp:txXfrm>
    </dsp:sp>
    <dsp:sp modelId="{0B4A9729-FD49-4FF6-BD08-B24DB95A86A1}">
      <dsp:nvSpPr>
        <dsp:cNvPr id="0" name=""/>
        <dsp:cNvSpPr/>
      </dsp:nvSpPr>
      <dsp:spPr>
        <a:xfrm rot="10800000">
          <a:off x="0" y="1886691"/>
          <a:ext cx="9520237" cy="952044"/>
        </a:xfrm>
        <a:prstGeom prst="upArrowCallout">
          <a:avLst/>
        </a:prstGeom>
        <a:gradFill rotWithShape="0">
          <a:gsLst>
            <a:gs pos="0">
              <a:schemeClr val="accent3">
                <a:hueOff val="0"/>
                <a:satOff val="0"/>
                <a:lumOff val="0"/>
                <a:alphaOff val="0"/>
                <a:tint val="54000"/>
                <a:alpha val="100000"/>
                <a:satMod val="105000"/>
                <a:lumMod val="110000"/>
              </a:schemeClr>
            </a:gs>
            <a:gs pos="100000">
              <a:schemeClr val="accent3">
                <a:hueOff val="0"/>
                <a:satOff val="0"/>
                <a:lumOff val="0"/>
                <a:alphaOff val="0"/>
                <a:tint val="78000"/>
                <a:alpha val="92000"/>
                <a:satMod val="109000"/>
                <a:lumMod val="100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27584" tIns="227584" rIns="227584" bIns="227584" numCol="1" spcCol="1270" anchor="ctr" anchorCtr="0">
          <a:noAutofit/>
        </a:bodyPr>
        <a:lstStyle/>
        <a:p>
          <a:pPr marL="0" lvl="0" indent="0" algn="ctr" defTabSz="1422400">
            <a:lnSpc>
              <a:spcPct val="90000"/>
            </a:lnSpc>
            <a:spcBef>
              <a:spcPct val="0"/>
            </a:spcBef>
            <a:spcAft>
              <a:spcPct val="35000"/>
            </a:spcAft>
            <a:buNone/>
          </a:pPr>
          <a:r>
            <a:rPr lang="en-GB" sz="3200" kern="1200"/>
            <a:t>Relational schema</a:t>
          </a:r>
          <a:endParaRPr lang="en-PK" sz="3200" kern="1200"/>
        </a:p>
      </dsp:txBody>
      <dsp:txXfrm rot="10800000">
        <a:off x="0" y="1886691"/>
        <a:ext cx="9520237" cy="618610"/>
      </dsp:txXfrm>
    </dsp:sp>
    <dsp:sp modelId="{E2FC6FF8-6F18-45A7-8803-6BD2979A873D}">
      <dsp:nvSpPr>
        <dsp:cNvPr id="0" name=""/>
        <dsp:cNvSpPr/>
      </dsp:nvSpPr>
      <dsp:spPr>
        <a:xfrm rot="10800000">
          <a:off x="0" y="943932"/>
          <a:ext cx="9520237" cy="952044"/>
        </a:xfrm>
        <a:prstGeom prst="upArrowCallout">
          <a:avLst/>
        </a:prstGeom>
        <a:gradFill rotWithShape="0">
          <a:gsLst>
            <a:gs pos="0">
              <a:schemeClr val="accent4">
                <a:hueOff val="0"/>
                <a:satOff val="0"/>
                <a:lumOff val="0"/>
                <a:alphaOff val="0"/>
                <a:tint val="54000"/>
                <a:alpha val="100000"/>
                <a:satMod val="105000"/>
                <a:lumMod val="110000"/>
              </a:schemeClr>
            </a:gs>
            <a:gs pos="100000">
              <a:schemeClr val="accent4">
                <a:hueOff val="0"/>
                <a:satOff val="0"/>
                <a:lumOff val="0"/>
                <a:alphaOff val="0"/>
                <a:tint val="78000"/>
                <a:alpha val="92000"/>
                <a:satMod val="109000"/>
                <a:lumMod val="100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27584" tIns="227584" rIns="227584" bIns="227584" numCol="1" spcCol="1270" anchor="ctr" anchorCtr="0">
          <a:noAutofit/>
        </a:bodyPr>
        <a:lstStyle/>
        <a:p>
          <a:pPr marL="0" lvl="0" indent="0" algn="ctr" defTabSz="1422400">
            <a:lnSpc>
              <a:spcPct val="90000"/>
            </a:lnSpc>
            <a:spcBef>
              <a:spcPct val="0"/>
            </a:spcBef>
            <a:spcAft>
              <a:spcPct val="35000"/>
            </a:spcAft>
            <a:buNone/>
          </a:pPr>
          <a:r>
            <a:rPr lang="en-GB" sz="3200" kern="1200"/>
            <a:t>E/R design</a:t>
          </a:r>
          <a:endParaRPr lang="en-PK" sz="3200" kern="1200"/>
        </a:p>
      </dsp:txBody>
      <dsp:txXfrm rot="10800000">
        <a:off x="0" y="943932"/>
        <a:ext cx="9520237" cy="618610"/>
      </dsp:txXfrm>
    </dsp:sp>
    <dsp:sp modelId="{FA883AA1-05E5-4528-89CD-52B658AD0211}">
      <dsp:nvSpPr>
        <dsp:cNvPr id="0" name=""/>
        <dsp:cNvSpPr/>
      </dsp:nvSpPr>
      <dsp:spPr>
        <a:xfrm rot="10800000">
          <a:off x="0" y="1172"/>
          <a:ext cx="9520237" cy="952044"/>
        </a:xfrm>
        <a:prstGeom prst="upArrowCallout">
          <a:avLst/>
        </a:prstGeom>
        <a:gradFill rotWithShape="0">
          <a:gsLst>
            <a:gs pos="0">
              <a:schemeClr val="accent5">
                <a:hueOff val="0"/>
                <a:satOff val="0"/>
                <a:lumOff val="0"/>
                <a:alphaOff val="0"/>
                <a:tint val="54000"/>
                <a:alpha val="100000"/>
                <a:satMod val="105000"/>
                <a:lumMod val="110000"/>
              </a:schemeClr>
            </a:gs>
            <a:gs pos="100000">
              <a:schemeClr val="accent5">
                <a:hueOff val="0"/>
                <a:satOff val="0"/>
                <a:lumOff val="0"/>
                <a:alphaOff val="0"/>
                <a:tint val="78000"/>
                <a:alpha val="92000"/>
                <a:satMod val="109000"/>
                <a:lumMod val="100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27584" tIns="227584" rIns="227584" bIns="227584" numCol="1" spcCol="1270" anchor="ctr" anchorCtr="0">
          <a:noAutofit/>
        </a:bodyPr>
        <a:lstStyle/>
        <a:p>
          <a:pPr marL="0" lvl="0" indent="0" algn="ctr" defTabSz="1422400">
            <a:lnSpc>
              <a:spcPct val="90000"/>
            </a:lnSpc>
            <a:spcBef>
              <a:spcPct val="0"/>
            </a:spcBef>
            <a:spcAft>
              <a:spcPct val="35000"/>
            </a:spcAft>
            <a:buNone/>
          </a:pPr>
          <a:r>
            <a:rPr lang="en-GB" sz="3200" kern="1200"/>
            <a:t>Real-world system</a:t>
          </a:r>
          <a:endParaRPr lang="en-PK" sz="3200" kern="1200"/>
        </a:p>
      </dsp:txBody>
      <dsp:txXfrm rot="10800000">
        <a:off x="0" y="1172"/>
        <a:ext cx="9520237" cy="61861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CE1640C-42D4-4FE5-89B2-C27E24289FC2}" type="datetimeFigureOut">
              <a:rPr lang="en-PK" smtClean="0"/>
              <a:t>18/09/2026</a:t>
            </a:fld>
            <a:endParaRPr lang="en-P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023DDD-95AC-433F-B39F-818E1F246C82}" type="slidenum">
              <a:rPr lang="en-PK" smtClean="0"/>
              <a:t>‹#›</a:t>
            </a:fld>
            <a:endParaRPr lang="en-PK"/>
          </a:p>
        </p:txBody>
      </p:sp>
    </p:spTree>
    <p:extLst>
      <p:ext uri="{BB962C8B-B14F-4D97-AF65-F5344CB8AC3E}">
        <p14:creationId xmlns:p14="http://schemas.microsoft.com/office/powerpoint/2010/main" val="36178919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dirty="0">
                <a:solidFill>
                  <a:srgbClr val="1F2937"/>
                </a:solidFill>
                <a:latin typeface="Aptos"/>
              </a:rPr>
              <a:t>Product catalogue where different product categories have different attributes. (Document)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b="0" dirty="0">
              <a:solidFill>
                <a:srgbClr val="1F2937"/>
              </a:solidFill>
              <a:latin typeface="Aptos"/>
            </a:endParaRPr>
          </a:p>
          <a:p>
            <a:endParaRPr lang="en-PK" dirty="0"/>
          </a:p>
        </p:txBody>
      </p:sp>
      <p:sp>
        <p:nvSpPr>
          <p:cNvPr id="4" name="Slide Number Placeholder 3"/>
          <p:cNvSpPr>
            <a:spLocks noGrp="1"/>
          </p:cNvSpPr>
          <p:nvPr>
            <p:ph type="sldNum" sz="quarter" idx="5"/>
          </p:nvPr>
        </p:nvSpPr>
        <p:spPr/>
        <p:txBody>
          <a:bodyPr/>
          <a:lstStyle/>
          <a:p>
            <a:fld id="{74023DDD-95AC-433F-B39F-818E1F246C82}" type="slidenum">
              <a:rPr lang="en-PK" smtClean="0"/>
              <a:t>21</a:t>
            </a:fld>
            <a:endParaRPr lang="en-PK"/>
          </a:p>
        </p:txBody>
      </p:sp>
    </p:spTree>
    <p:extLst>
      <p:ext uri="{BB962C8B-B14F-4D97-AF65-F5344CB8AC3E}">
        <p14:creationId xmlns:p14="http://schemas.microsoft.com/office/powerpoint/2010/main" val="35871024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Answers to the Questions</a:t>
            </a:r>
          </a:p>
          <a:p>
            <a:pPr>
              <a:buFont typeface="+mj-lt"/>
              <a:buAutoNum type="arabicPeriod"/>
            </a:pPr>
            <a:r>
              <a:rPr lang="en-GB" b="1" dirty="0"/>
              <a:t>Who defines the schema?</a:t>
            </a:r>
            <a:br>
              <a:rPr lang="en-GB" dirty="0"/>
            </a:br>
            <a:r>
              <a:rPr lang="en-GB" dirty="0"/>
              <a:t>The </a:t>
            </a:r>
            <a:r>
              <a:rPr lang="en-GB" b="1" dirty="0"/>
              <a:t>DDL Processor</a:t>
            </a:r>
            <a:r>
              <a:rPr lang="en-GB" dirty="0"/>
              <a:t> processes schema definitions such as tables, columns, keys and constraints. </a:t>
            </a:r>
          </a:p>
          <a:p>
            <a:pPr>
              <a:buFont typeface="+mj-lt"/>
              <a:buAutoNum type="arabicPeriod"/>
            </a:pPr>
            <a:r>
              <a:rPr lang="en-GB" b="1" dirty="0"/>
              <a:t>Where are database pages held temporarily?</a:t>
            </a:r>
            <a:br>
              <a:rPr lang="en-GB" dirty="0"/>
            </a:br>
            <a:r>
              <a:rPr lang="en-GB" dirty="0"/>
              <a:t>The </a:t>
            </a:r>
            <a:r>
              <a:rPr lang="en-GB" b="1" dirty="0"/>
              <a:t>Buffer Manager</a:t>
            </a:r>
            <a:r>
              <a:rPr lang="en-GB" dirty="0"/>
              <a:t> holds them in the </a:t>
            </a:r>
            <a:r>
              <a:rPr lang="en-GB" b="1" dirty="0"/>
              <a:t>buffer pool in main memory (RAM)</a:t>
            </a:r>
            <a:r>
              <a:rPr lang="en-GB" dirty="0"/>
              <a:t>. </a:t>
            </a:r>
          </a:p>
          <a:p>
            <a:pPr>
              <a:buFont typeface="+mj-lt"/>
              <a:buAutoNum type="arabicPeriod"/>
            </a:pPr>
            <a:r>
              <a:rPr lang="en-GB" b="1" dirty="0"/>
              <a:t>Who controls concurrency?</a:t>
            </a:r>
            <a:br>
              <a:rPr lang="en-GB" dirty="0"/>
            </a:br>
            <a:r>
              <a:rPr lang="en-GB" dirty="0"/>
              <a:t>The </a:t>
            </a:r>
            <a:r>
              <a:rPr lang="en-GB" b="1" dirty="0"/>
              <a:t>Transaction Manager</a:t>
            </a:r>
            <a:r>
              <a:rPr lang="en-GB" dirty="0"/>
              <a:t> coordinates simultaneous operations and prevents conflicting updates. </a:t>
            </a:r>
          </a:p>
          <a:p>
            <a:pPr>
              <a:buFont typeface="+mj-lt"/>
              <a:buAutoNum type="arabicPeriod"/>
            </a:pPr>
            <a:r>
              <a:rPr lang="en-GB" b="1" dirty="0"/>
              <a:t>Two students request the final seat—who succeeds?</a:t>
            </a:r>
            <a:br>
              <a:rPr lang="en-GB" dirty="0"/>
            </a:br>
            <a:r>
              <a:rPr lang="en-GB" dirty="0"/>
              <a:t>Only one transaction is permitted to commit, typically the one that obtains the required lock first. The other registration is rejected or rolled back, preventing overbooking.</a:t>
            </a:r>
          </a:p>
          <a:p>
            <a:endParaRPr lang="en-PK" dirty="0"/>
          </a:p>
        </p:txBody>
      </p:sp>
      <p:sp>
        <p:nvSpPr>
          <p:cNvPr id="4" name="Slide Number Placeholder 3"/>
          <p:cNvSpPr>
            <a:spLocks noGrp="1"/>
          </p:cNvSpPr>
          <p:nvPr>
            <p:ph type="sldNum" sz="quarter" idx="5"/>
          </p:nvPr>
        </p:nvSpPr>
        <p:spPr/>
        <p:txBody>
          <a:bodyPr/>
          <a:lstStyle/>
          <a:p>
            <a:fld id="{4471AFF7-9EFC-4804-AEA7-C7F3C0F33EC3}" type="slidenum">
              <a:rPr lang="en-PK" smtClean="0"/>
              <a:t>33</a:t>
            </a:fld>
            <a:endParaRPr lang="en-PK"/>
          </a:p>
        </p:txBody>
      </p:sp>
    </p:spTree>
    <p:extLst>
      <p:ext uri="{BB962C8B-B14F-4D97-AF65-F5344CB8AC3E}">
        <p14:creationId xmlns:p14="http://schemas.microsoft.com/office/powerpoint/2010/main" val="35146581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93105" y="802298"/>
            <a:ext cx="8561747"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93106" y="3531204"/>
            <a:ext cx="8561746"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FAE4557-C1F8-427D-9300-1ACFB15DAB0A}" type="datetimeFigureOut">
              <a:rPr lang="en-PK" smtClean="0"/>
              <a:t>18/09/2026</a:t>
            </a:fld>
            <a:endParaRPr lang="en-PK"/>
          </a:p>
        </p:txBody>
      </p:sp>
      <p:sp>
        <p:nvSpPr>
          <p:cNvPr id="5" name="Footer Placeholder 4"/>
          <p:cNvSpPr>
            <a:spLocks noGrp="1"/>
          </p:cNvSpPr>
          <p:nvPr>
            <p:ph type="ftr" sz="quarter" idx="11"/>
          </p:nvPr>
        </p:nvSpPr>
        <p:spPr>
          <a:xfrm>
            <a:off x="2493105" y="329307"/>
            <a:ext cx="4897310" cy="309201"/>
          </a:xfrm>
        </p:spPr>
        <p:txBody>
          <a:bodyPr/>
          <a:lstStyle/>
          <a:p>
            <a:endParaRPr lang="en-PK"/>
          </a:p>
        </p:txBody>
      </p:sp>
      <p:sp>
        <p:nvSpPr>
          <p:cNvPr id="6" name="Slide Number Placeholder 5"/>
          <p:cNvSpPr>
            <a:spLocks noGrp="1"/>
          </p:cNvSpPr>
          <p:nvPr>
            <p:ph type="sldNum" sz="quarter" idx="12"/>
          </p:nvPr>
        </p:nvSpPr>
        <p:spPr>
          <a:xfrm>
            <a:off x="1437664" y="798973"/>
            <a:ext cx="811019" cy="503578"/>
          </a:xfrm>
        </p:spPr>
        <p:txBody>
          <a:bodyPr/>
          <a:lstStyle/>
          <a:p>
            <a:fld id="{55F6106F-C284-4293-84AF-145FADCB6176}" type="slidenum">
              <a:rPr lang="en-PK" smtClean="0"/>
              <a:t>‹#›</a:t>
            </a:fld>
            <a:endParaRPr lang="en-PK"/>
          </a:p>
        </p:txBody>
      </p:sp>
      <p:cxnSp>
        <p:nvCxnSpPr>
          <p:cNvPr id="8" name="Straight Connector 7"/>
          <p:cNvCxnSpPr/>
          <p:nvPr/>
        </p:nvCxnSpPr>
        <p:spPr>
          <a:xfrm>
            <a:off x="2334637" y="798973"/>
            <a:ext cx="0" cy="2544756"/>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6651398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FAE4557-C1F8-427D-9300-1ACFB15DAB0A}" type="datetimeFigureOut">
              <a:rPr lang="en-PK" smtClean="0"/>
              <a:t>18/09/2026</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55F6106F-C284-4293-84AF-145FADCB6176}" type="slidenum">
              <a:rPr lang="en-PK" smtClean="0"/>
              <a:t>‹#›</a:t>
            </a:fld>
            <a:endParaRPr lang="en-PK"/>
          </a:p>
        </p:txBody>
      </p:sp>
      <p:cxnSp>
        <p:nvCxnSpPr>
          <p:cNvPr id="8" name="Straight Connector 7"/>
          <p:cNvCxnSpPr/>
          <p:nvPr/>
        </p:nvCxnSpPr>
        <p:spPr>
          <a:xfrm>
            <a:off x="1371687" y="798973"/>
            <a:ext cx="0" cy="1067168"/>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9196132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534813" y="1756130"/>
            <a:ext cx="8562580"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534695" y="3806195"/>
            <a:ext cx="8549990"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FAE4557-C1F8-427D-9300-1ACFB15DAB0A}" type="datetimeFigureOut">
              <a:rPr lang="en-PK" smtClean="0"/>
              <a:t>18/09/2026</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55F6106F-C284-4293-84AF-145FADCB6176}" type="slidenum">
              <a:rPr lang="en-PK" smtClean="0"/>
              <a:t>‹#›</a:t>
            </a:fld>
            <a:endParaRPr lang="en-PK"/>
          </a:p>
        </p:txBody>
      </p:sp>
      <p:cxnSp>
        <p:nvCxnSpPr>
          <p:cNvPr id="8" name="Straight Connector 7"/>
          <p:cNvCxnSpPr/>
          <p:nvPr/>
        </p:nvCxnSpPr>
        <p:spPr>
          <a:xfrm>
            <a:off x="1371687" y="798973"/>
            <a:ext cx="0" cy="2845107"/>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5779394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534695" y="804889"/>
            <a:ext cx="9520157"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534695" y="2010878"/>
            <a:ext cx="4608576" cy="34381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54793" y="2017343"/>
            <a:ext cx="4604130"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FAE4557-C1F8-427D-9300-1ACFB15DAB0A}" type="datetimeFigureOut">
              <a:rPr lang="en-PK" smtClean="0"/>
              <a:t>18/09/2026</a:t>
            </a:fld>
            <a:endParaRPr lang="en-PK"/>
          </a:p>
        </p:txBody>
      </p:sp>
      <p:sp>
        <p:nvSpPr>
          <p:cNvPr id="6" name="Footer Placeholder 5"/>
          <p:cNvSpPr>
            <a:spLocks noGrp="1"/>
          </p:cNvSpPr>
          <p:nvPr>
            <p:ph type="ftr" sz="quarter" idx="11"/>
          </p:nvPr>
        </p:nvSpPr>
        <p:spPr/>
        <p:txBody>
          <a:bodyPr/>
          <a:lstStyle/>
          <a:p>
            <a:endParaRPr lang="en-PK"/>
          </a:p>
        </p:txBody>
      </p:sp>
      <p:sp>
        <p:nvSpPr>
          <p:cNvPr id="7" name="Slide Number Placeholder 6"/>
          <p:cNvSpPr>
            <a:spLocks noGrp="1"/>
          </p:cNvSpPr>
          <p:nvPr>
            <p:ph type="sldNum" sz="quarter" idx="12"/>
          </p:nvPr>
        </p:nvSpPr>
        <p:spPr/>
        <p:txBody>
          <a:bodyPr/>
          <a:lstStyle/>
          <a:p>
            <a:fld id="{55F6106F-C284-4293-84AF-145FADCB6176}" type="slidenum">
              <a:rPr lang="en-PK" smtClean="0"/>
              <a:t>‹#›</a:t>
            </a:fld>
            <a:endParaRPr lang="en-PK"/>
          </a:p>
        </p:txBody>
      </p:sp>
      <p:cxnSp>
        <p:nvCxnSpPr>
          <p:cNvPr id="9" name="Straight Connector 8"/>
          <p:cNvCxnSpPr/>
          <p:nvPr/>
        </p:nvCxnSpPr>
        <p:spPr>
          <a:xfrm>
            <a:off x="1371687" y="798973"/>
            <a:ext cx="0" cy="1067168"/>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5087527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534695" y="804163"/>
            <a:ext cx="9520157"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534695" y="2019549"/>
            <a:ext cx="4608576"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34695" y="2824269"/>
            <a:ext cx="4608576"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54791" y="2023003"/>
            <a:ext cx="4608576"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54792" y="2821491"/>
            <a:ext cx="4608576"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FAE4557-C1F8-427D-9300-1ACFB15DAB0A}" type="datetimeFigureOut">
              <a:rPr lang="en-PK" smtClean="0"/>
              <a:t>18/09/2026</a:t>
            </a:fld>
            <a:endParaRPr lang="en-PK"/>
          </a:p>
        </p:txBody>
      </p:sp>
      <p:sp>
        <p:nvSpPr>
          <p:cNvPr id="8" name="Footer Placeholder 7"/>
          <p:cNvSpPr>
            <a:spLocks noGrp="1"/>
          </p:cNvSpPr>
          <p:nvPr>
            <p:ph type="ftr" sz="quarter" idx="11"/>
          </p:nvPr>
        </p:nvSpPr>
        <p:spPr/>
        <p:txBody>
          <a:bodyPr/>
          <a:lstStyle/>
          <a:p>
            <a:endParaRPr lang="en-PK"/>
          </a:p>
        </p:txBody>
      </p:sp>
      <p:sp>
        <p:nvSpPr>
          <p:cNvPr id="9" name="Slide Number Placeholder 8"/>
          <p:cNvSpPr>
            <a:spLocks noGrp="1"/>
          </p:cNvSpPr>
          <p:nvPr>
            <p:ph type="sldNum" sz="quarter" idx="12"/>
          </p:nvPr>
        </p:nvSpPr>
        <p:spPr/>
        <p:txBody>
          <a:bodyPr/>
          <a:lstStyle/>
          <a:p>
            <a:fld id="{55F6106F-C284-4293-84AF-145FADCB6176}" type="slidenum">
              <a:rPr lang="en-PK" smtClean="0"/>
              <a:t>‹#›</a:t>
            </a:fld>
            <a:endParaRPr lang="en-PK"/>
          </a:p>
        </p:txBody>
      </p:sp>
      <p:cxnSp>
        <p:nvCxnSpPr>
          <p:cNvPr id="11" name="Straight Connector 10"/>
          <p:cNvCxnSpPr/>
          <p:nvPr/>
        </p:nvCxnSpPr>
        <p:spPr>
          <a:xfrm>
            <a:off x="1371687" y="798973"/>
            <a:ext cx="0" cy="1067168"/>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1644454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FAE4557-C1F8-427D-9300-1ACFB15DAB0A}" type="datetimeFigureOut">
              <a:rPr lang="en-PK" smtClean="0"/>
              <a:t>18/09/2026</a:t>
            </a:fld>
            <a:endParaRPr lang="en-PK"/>
          </a:p>
        </p:txBody>
      </p:sp>
      <p:sp>
        <p:nvSpPr>
          <p:cNvPr id="4" name="Footer Placeholder 3"/>
          <p:cNvSpPr>
            <a:spLocks noGrp="1"/>
          </p:cNvSpPr>
          <p:nvPr>
            <p:ph type="ftr" sz="quarter" idx="11"/>
          </p:nvPr>
        </p:nvSpPr>
        <p:spPr/>
        <p:txBody>
          <a:bodyPr/>
          <a:lstStyle/>
          <a:p>
            <a:endParaRPr lang="en-PK"/>
          </a:p>
        </p:txBody>
      </p:sp>
      <p:sp>
        <p:nvSpPr>
          <p:cNvPr id="5" name="Slide Number Placeholder 4"/>
          <p:cNvSpPr>
            <a:spLocks noGrp="1"/>
          </p:cNvSpPr>
          <p:nvPr>
            <p:ph type="sldNum" sz="quarter" idx="12"/>
          </p:nvPr>
        </p:nvSpPr>
        <p:spPr/>
        <p:txBody>
          <a:bodyPr/>
          <a:lstStyle/>
          <a:p>
            <a:fld id="{55F6106F-C284-4293-84AF-145FADCB6176}" type="slidenum">
              <a:rPr lang="en-PK" smtClean="0"/>
              <a:t>‹#›</a:t>
            </a:fld>
            <a:endParaRPr lang="en-PK"/>
          </a:p>
        </p:txBody>
      </p:sp>
      <p:cxnSp>
        <p:nvCxnSpPr>
          <p:cNvPr id="7" name="Straight Connector 6"/>
          <p:cNvCxnSpPr/>
          <p:nvPr/>
        </p:nvCxnSpPr>
        <p:spPr>
          <a:xfrm>
            <a:off x="1371687" y="798973"/>
            <a:ext cx="0" cy="1067168"/>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4291104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FAE4557-C1F8-427D-9300-1ACFB15DAB0A}" type="datetimeFigureOut">
              <a:rPr lang="en-PK" smtClean="0"/>
              <a:t>18/09/2026</a:t>
            </a:fld>
            <a:endParaRPr lang="en-PK"/>
          </a:p>
        </p:txBody>
      </p:sp>
      <p:sp>
        <p:nvSpPr>
          <p:cNvPr id="3" name="Footer Placeholder 2"/>
          <p:cNvSpPr>
            <a:spLocks noGrp="1"/>
          </p:cNvSpPr>
          <p:nvPr>
            <p:ph type="ftr" sz="quarter" idx="11"/>
          </p:nvPr>
        </p:nvSpPr>
        <p:spPr/>
        <p:txBody>
          <a:bodyPr/>
          <a:lstStyle/>
          <a:p>
            <a:endParaRPr lang="en-PK"/>
          </a:p>
        </p:txBody>
      </p:sp>
      <p:sp>
        <p:nvSpPr>
          <p:cNvPr id="4" name="Slide Number Placeholder 3"/>
          <p:cNvSpPr>
            <a:spLocks noGrp="1"/>
          </p:cNvSpPr>
          <p:nvPr>
            <p:ph type="sldNum" sz="quarter" idx="12"/>
          </p:nvPr>
        </p:nvSpPr>
        <p:spPr/>
        <p:txBody>
          <a:bodyPr/>
          <a:lstStyle/>
          <a:p>
            <a:fld id="{55F6106F-C284-4293-84AF-145FADCB6176}" type="slidenum">
              <a:rPr lang="en-PK" smtClean="0"/>
              <a:t>‹#›</a:t>
            </a:fld>
            <a:endParaRPr lang="en-PK"/>
          </a:p>
        </p:txBody>
      </p:sp>
    </p:spTree>
    <p:extLst>
      <p:ext uri="{BB962C8B-B14F-4D97-AF65-F5344CB8AC3E}">
        <p14:creationId xmlns:p14="http://schemas.microsoft.com/office/powerpoint/2010/main" val="35647465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34642" y="798973"/>
            <a:ext cx="3183128"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534695" y="3205491"/>
            <a:ext cx="3184989"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FAE4557-C1F8-427D-9300-1ACFB15DAB0A}" type="datetimeFigureOut">
              <a:rPr lang="en-PK" smtClean="0"/>
              <a:t>18/09/2026</a:t>
            </a:fld>
            <a:endParaRPr lang="en-PK"/>
          </a:p>
        </p:txBody>
      </p:sp>
      <p:sp>
        <p:nvSpPr>
          <p:cNvPr id="6" name="Footer Placeholder 5"/>
          <p:cNvSpPr>
            <a:spLocks noGrp="1"/>
          </p:cNvSpPr>
          <p:nvPr>
            <p:ph type="ftr" sz="quarter" idx="11"/>
          </p:nvPr>
        </p:nvSpPr>
        <p:spPr/>
        <p:txBody>
          <a:bodyPr/>
          <a:lstStyle/>
          <a:p>
            <a:endParaRPr lang="en-PK"/>
          </a:p>
        </p:txBody>
      </p:sp>
      <p:sp>
        <p:nvSpPr>
          <p:cNvPr id="7" name="Slide Number Placeholder 6"/>
          <p:cNvSpPr>
            <a:spLocks noGrp="1"/>
          </p:cNvSpPr>
          <p:nvPr>
            <p:ph type="sldNum" sz="quarter" idx="12"/>
          </p:nvPr>
        </p:nvSpPr>
        <p:spPr/>
        <p:txBody>
          <a:bodyPr/>
          <a:lstStyle/>
          <a:p>
            <a:fld id="{55F6106F-C284-4293-84AF-145FADCB6176}" type="slidenum">
              <a:rPr lang="en-PK" smtClean="0"/>
              <a:t>‹#›</a:t>
            </a:fld>
            <a:endParaRPr lang="en-PK"/>
          </a:p>
        </p:txBody>
      </p:sp>
      <p:cxnSp>
        <p:nvCxnSpPr>
          <p:cNvPr id="9" name="Straight Connector 8"/>
          <p:cNvCxnSpPr/>
          <p:nvPr/>
        </p:nvCxnSpPr>
        <p:spPr>
          <a:xfrm>
            <a:off x="1371687" y="798973"/>
            <a:ext cx="0" cy="2247117"/>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1115068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a:xfrm>
              <a:off x="7477387" y="482170"/>
              <a:ext cx="4074533" cy="5149101"/>
            </a:xfrm>
            <a:prstGeom prst="rect">
              <a:avLst/>
            </a:prstGeom>
            <a:gradFill>
              <a:gsLst>
                <a:gs pos="0">
                  <a:schemeClr val="bg2">
                    <a:lumMod val="10000"/>
                  </a:schemeClr>
                </a:gs>
                <a:gs pos="100000">
                  <a:schemeClr val="bg2">
                    <a:lumMod val="10000"/>
                  </a:schemeClr>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prstMaterial="matte">
              <a:bevelT w="133350" h="50800" prst="divot"/>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535694" y="1129513"/>
            <a:ext cx="5447840"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534695" y="3145992"/>
            <a:ext cx="5440037"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534695" y="5469856"/>
            <a:ext cx="5440038" cy="320123"/>
          </a:xfrm>
        </p:spPr>
        <p:txBody>
          <a:bodyPr/>
          <a:lstStyle>
            <a:lvl1pPr algn="l">
              <a:defRPr/>
            </a:lvl1pPr>
          </a:lstStyle>
          <a:p>
            <a:fld id="{9FAE4557-C1F8-427D-9300-1ACFB15DAB0A}" type="datetimeFigureOut">
              <a:rPr lang="en-PK" smtClean="0"/>
              <a:t>18/09/2026</a:t>
            </a:fld>
            <a:endParaRPr lang="en-PK"/>
          </a:p>
        </p:txBody>
      </p:sp>
      <p:sp>
        <p:nvSpPr>
          <p:cNvPr id="6" name="Footer Placeholder 5"/>
          <p:cNvSpPr>
            <a:spLocks noGrp="1"/>
          </p:cNvSpPr>
          <p:nvPr>
            <p:ph type="ftr" sz="quarter" idx="11"/>
          </p:nvPr>
        </p:nvSpPr>
        <p:spPr>
          <a:xfrm>
            <a:off x="1534910" y="318640"/>
            <a:ext cx="5453475" cy="320931"/>
          </a:xfrm>
        </p:spPr>
        <p:txBody>
          <a:bodyPr/>
          <a:lstStyle/>
          <a:p>
            <a:endParaRPr lang="en-PK"/>
          </a:p>
        </p:txBody>
      </p:sp>
      <p:sp>
        <p:nvSpPr>
          <p:cNvPr id="7" name="Slide Number Placeholder 6"/>
          <p:cNvSpPr>
            <a:spLocks noGrp="1"/>
          </p:cNvSpPr>
          <p:nvPr>
            <p:ph type="sldNum" sz="quarter" idx="12"/>
          </p:nvPr>
        </p:nvSpPr>
        <p:spPr/>
        <p:txBody>
          <a:bodyPr/>
          <a:lstStyle/>
          <a:p>
            <a:fld id="{55F6106F-C284-4293-84AF-145FADCB6176}" type="slidenum">
              <a:rPr lang="en-PK" smtClean="0"/>
              <a:t>‹#›</a:t>
            </a:fld>
            <a:endParaRPr lang="en-PK"/>
          </a:p>
        </p:txBody>
      </p:sp>
      <p:cxnSp>
        <p:nvCxnSpPr>
          <p:cNvPr id="14" name="Straight Connector 13"/>
          <p:cNvCxnSpPr/>
          <p:nvPr/>
        </p:nvCxnSpPr>
        <p:spPr>
          <a:xfrm>
            <a:off x="1371687" y="798973"/>
            <a:ext cx="0" cy="2161124"/>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3197855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FAE4557-C1F8-427D-9300-1ACFB15DAB0A}" type="datetimeFigureOut">
              <a:rPr lang="en-PK" smtClean="0"/>
              <a:t>18/09/2026</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55F6106F-C284-4293-84AF-145FADCB6176}" type="slidenum">
              <a:rPr lang="en-PK" smtClean="0"/>
              <a:t>‹#›</a:t>
            </a:fld>
            <a:endParaRPr lang="en-PK"/>
          </a:p>
        </p:txBody>
      </p:sp>
      <p:cxnSp>
        <p:nvCxnSpPr>
          <p:cNvPr id="8" name="Straight Connector 7"/>
          <p:cNvCxnSpPr/>
          <p:nvPr/>
        </p:nvCxnSpPr>
        <p:spPr>
          <a:xfrm>
            <a:off x="1371687" y="798973"/>
            <a:ext cx="0" cy="1067168"/>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747833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883863"/>
            <a:ext cx="1615742" cy="457499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534694" y="883863"/>
            <a:ext cx="7738807" cy="45749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FAE4557-C1F8-427D-9300-1ACFB15DAB0A}" type="datetimeFigureOut">
              <a:rPr lang="en-PK" smtClean="0"/>
              <a:t>18/09/2026</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55F6106F-C284-4293-84AF-145FADCB6176}" type="slidenum">
              <a:rPr lang="en-PK" smtClean="0"/>
              <a:t>‹#›</a:t>
            </a:fld>
            <a:endParaRPr lang="en-PK"/>
          </a:p>
        </p:txBody>
      </p:sp>
      <p:cxnSp>
        <p:nvCxnSpPr>
          <p:cNvPr id="8" name="Straight Connector 7"/>
          <p:cNvCxnSpPr/>
          <p:nvPr/>
        </p:nvCxnSpPr>
        <p:spPr>
          <a:xfrm flipH="1">
            <a:off x="9439111" y="719272"/>
            <a:ext cx="1615742" cy="0"/>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9816299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9" name="Rectangle 8"/>
          <p:cNvSpPr/>
          <p:nvPr/>
        </p:nvSpPr>
        <p:spPr>
          <a:xfrm>
            <a:off x="0" y="2015732"/>
            <a:ext cx="12192000" cy="4118829"/>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srcRect t="2769" b="-2769"/>
          <a:stretch/>
        </p:blipFill>
        <p:spPr>
          <a:xfrm>
            <a:off x="0" y="6135624"/>
            <a:ext cx="12192000" cy="742950"/>
          </a:xfrm>
          <a:prstGeom prst="rect">
            <a:avLst/>
          </a:prstGeom>
        </p:spPr>
      </p:pic>
      <p:sp>
        <p:nvSpPr>
          <p:cNvPr id="2" name="Title Placeholder 1"/>
          <p:cNvSpPr>
            <a:spLocks noGrp="1"/>
          </p:cNvSpPr>
          <p:nvPr>
            <p:ph type="title"/>
          </p:nvPr>
        </p:nvSpPr>
        <p:spPr>
          <a:xfrm>
            <a:off x="1534696" y="804519"/>
            <a:ext cx="9520158" cy="1049235"/>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534696" y="2015732"/>
            <a:ext cx="9520158"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9FAE4557-C1F8-427D-9300-1ACFB15DAB0A}" type="datetimeFigureOut">
              <a:rPr lang="en-PK" smtClean="0"/>
              <a:t>18/09/2026</a:t>
            </a:fld>
            <a:endParaRPr lang="en-PK"/>
          </a:p>
        </p:txBody>
      </p:sp>
      <p:sp>
        <p:nvSpPr>
          <p:cNvPr id="5" name="Footer Placeholder 4"/>
          <p:cNvSpPr>
            <a:spLocks noGrp="1"/>
          </p:cNvSpPr>
          <p:nvPr>
            <p:ph type="ftr" sz="quarter" idx="3"/>
          </p:nvPr>
        </p:nvSpPr>
        <p:spPr>
          <a:xfrm>
            <a:off x="1534695" y="329307"/>
            <a:ext cx="5855719"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PK"/>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55F6106F-C284-4293-84AF-145FADCB6176}" type="slidenum">
              <a:rPr lang="en-PK" smtClean="0"/>
              <a:t>‹#›</a:t>
            </a:fld>
            <a:endParaRPr lang="en-PK"/>
          </a:p>
        </p:txBody>
      </p:sp>
      <p:cxnSp>
        <p:nvCxnSpPr>
          <p:cNvPr id="12" name="Straight Connector 11"/>
          <p:cNvCxnSpPr/>
          <p:nvPr/>
        </p:nvCxnSpPr>
        <p:spPr>
          <a:xfrm>
            <a:off x="0" y="6141705"/>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50629934"/>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3200" b="0" i="0" kern="1200" cap="none">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BE4827-845A-490C-9689-8EE424EA04B9}"/>
              </a:ext>
            </a:extLst>
          </p:cNvPr>
          <p:cNvSpPr>
            <a:spLocks noGrp="1"/>
          </p:cNvSpPr>
          <p:nvPr>
            <p:ph type="ctrTitle"/>
          </p:nvPr>
        </p:nvSpPr>
        <p:spPr/>
        <p:txBody>
          <a:bodyPr>
            <a:normAutofit/>
          </a:bodyPr>
          <a:lstStyle/>
          <a:p>
            <a:r>
              <a:rPr lang="en-GB" dirty="0"/>
              <a:t>Database Management System </a:t>
            </a:r>
            <a:endParaRPr lang="en-PK" dirty="0"/>
          </a:p>
        </p:txBody>
      </p:sp>
      <p:sp>
        <p:nvSpPr>
          <p:cNvPr id="3" name="Subtitle 2">
            <a:extLst>
              <a:ext uri="{FF2B5EF4-FFF2-40B4-BE49-F238E27FC236}">
                <a16:creationId xmlns:a16="http://schemas.microsoft.com/office/drawing/2014/main" id="{13947FEF-25FC-48A2-AAFA-257C23BC9FA0}"/>
              </a:ext>
            </a:extLst>
          </p:cNvPr>
          <p:cNvSpPr>
            <a:spLocks noGrp="1"/>
          </p:cNvSpPr>
          <p:nvPr>
            <p:ph type="subTitle" idx="1"/>
          </p:nvPr>
        </p:nvSpPr>
        <p:spPr>
          <a:xfrm>
            <a:off x="2493106" y="3531204"/>
            <a:ext cx="8561746" cy="1877137"/>
          </a:xfrm>
        </p:spPr>
        <p:txBody>
          <a:bodyPr>
            <a:normAutofit/>
          </a:bodyPr>
          <a:lstStyle/>
          <a:p>
            <a:pPr algn="ctr"/>
            <a:r>
              <a:rPr lang="en-GB" sz="2400" b="1" dirty="0"/>
              <a:t>Course Instructor: </a:t>
            </a:r>
            <a:r>
              <a:rPr lang="en-GB" sz="2400" b="1" dirty="0" err="1"/>
              <a:t>Dr.</a:t>
            </a:r>
            <a:r>
              <a:rPr lang="en-GB" sz="2400" b="1" dirty="0"/>
              <a:t> Rabeeya Saleem</a:t>
            </a:r>
          </a:p>
          <a:p>
            <a:pPr algn="ctr"/>
            <a:r>
              <a:rPr lang="en-GB" sz="2400" b="1" dirty="0"/>
              <a:t>Spring 2026</a:t>
            </a:r>
          </a:p>
          <a:p>
            <a:pPr algn="ctr"/>
            <a:r>
              <a:rPr lang="en-GB" sz="2400" b="1" dirty="0"/>
              <a:t>Week-02</a:t>
            </a:r>
            <a:endParaRPr lang="en-PK" sz="2400" b="1" dirty="0"/>
          </a:p>
        </p:txBody>
      </p:sp>
    </p:spTree>
    <p:extLst>
      <p:ext uri="{BB962C8B-B14F-4D97-AF65-F5344CB8AC3E}">
        <p14:creationId xmlns:p14="http://schemas.microsoft.com/office/powerpoint/2010/main" val="14938617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A58D26-4A74-4EF7-BB51-287AB2B2985E}"/>
              </a:ext>
            </a:extLst>
          </p:cNvPr>
          <p:cNvSpPr>
            <a:spLocks noGrp="1"/>
          </p:cNvSpPr>
          <p:nvPr>
            <p:ph type="title"/>
          </p:nvPr>
        </p:nvSpPr>
        <p:spPr/>
        <p:txBody>
          <a:bodyPr/>
          <a:lstStyle/>
          <a:p>
            <a:r>
              <a:rPr lang="en-GB" dirty="0"/>
              <a:t>Levels of Database Abstraction</a:t>
            </a:r>
            <a:endParaRPr lang="en-PK" dirty="0"/>
          </a:p>
        </p:txBody>
      </p:sp>
      <p:sp>
        <p:nvSpPr>
          <p:cNvPr id="6" name="Shape 4">
            <a:extLst>
              <a:ext uri="{FF2B5EF4-FFF2-40B4-BE49-F238E27FC236}">
                <a16:creationId xmlns:a16="http://schemas.microsoft.com/office/drawing/2014/main" id="{B430D68D-93FE-4DBE-802D-5FE0268CE493}"/>
              </a:ext>
            </a:extLst>
          </p:cNvPr>
          <p:cNvSpPr/>
          <p:nvPr/>
        </p:nvSpPr>
        <p:spPr>
          <a:xfrm>
            <a:off x="1219855" y="1989301"/>
            <a:ext cx="10149840" cy="1078992"/>
          </a:xfrm>
          <a:prstGeom prst="roundRect">
            <a:avLst>
              <a:gd name="adj" fmla="val 5932"/>
            </a:avLst>
          </a:prstGeom>
          <a:solidFill>
            <a:srgbClr val="EAF2FF"/>
          </a:solidFill>
          <a:ln w="12700">
            <a:solidFill>
              <a:srgbClr val="FFFFFF">
                <a:alpha val="0"/>
              </a:srgbClr>
            </a:solidFill>
            <a:prstDash val="solid"/>
          </a:ln>
        </p:spPr>
      </p:sp>
      <p:sp>
        <p:nvSpPr>
          <p:cNvPr id="8" name="Text 5">
            <a:extLst>
              <a:ext uri="{FF2B5EF4-FFF2-40B4-BE49-F238E27FC236}">
                <a16:creationId xmlns:a16="http://schemas.microsoft.com/office/drawing/2014/main" id="{AD0A9ACB-FFA5-4D57-8298-3F55E2B3BBCE}"/>
              </a:ext>
            </a:extLst>
          </p:cNvPr>
          <p:cNvSpPr/>
          <p:nvPr/>
        </p:nvSpPr>
        <p:spPr>
          <a:xfrm>
            <a:off x="2198263" y="2181325"/>
            <a:ext cx="2331720" cy="237744"/>
          </a:xfrm>
          <a:prstGeom prst="rect">
            <a:avLst/>
          </a:prstGeom>
          <a:noFill/>
          <a:ln/>
        </p:spPr>
        <p:txBody>
          <a:bodyPr wrap="square" lIns="0" tIns="0" rIns="0" bIns="0" rtlCol="0" anchor="ctr"/>
          <a:lstStyle/>
          <a:p>
            <a:pPr marL="0" indent="0">
              <a:buNone/>
            </a:pPr>
            <a:r>
              <a:rPr lang="en-US" b="1" dirty="0">
                <a:solidFill>
                  <a:srgbClr val="172033"/>
                </a:solidFill>
              </a:rPr>
              <a:t>EXTERNAL / VIEW</a:t>
            </a:r>
            <a:endParaRPr lang="en-US" dirty="0"/>
          </a:p>
        </p:txBody>
      </p:sp>
      <p:sp>
        <p:nvSpPr>
          <p:cNvPr id="9" name="Text 6">
            <a:extLst>
              <a:ext uri="{FF2B5EF4-FFF2-40B4-BE49-F238E27FC236}">
                <a16:creationId xmlns:a16="http://schemas.microsoft.com/office/drawing/2014/main" id="{C42EE31B-5618-495F-BB18-7C040E83EB33}"/>
              </a:ext>
            </a:extLst>
          </p:cNvPr>
          <p:cNvSpPr/>
          <p:nvPr/>
        </p:nvSpPr>
        <p:spPr>
          <a:xfrm>
            <a:off x="4557415" y="2172181"/>
            <a:ext cx="2743200" cy="256032"/>
          </a:xfrm>
          <a:prstGeom prst="rect">
            <a:avLst/>
          </a:prstGeom>
          <a:noFill/>
          <a:ln/>
        </p:spPr>
        <p:txBody>
          <a:bodyPr wrap="square" lIns="0" tIns="0" rIns="0" bIns="0" rtlCol="0" anchor="ctr"/>
          <a:lstStyle/>
          <a:p>
            <a:pPr marL="0" indent="0">
              <a:buNone/>
            </a:pPr>
            <a:r>
              <a:rPr lang="en-US" sz="1600" dirty="0">
                <a:solidFill>
                  <a:srgbClr val="5B677A"/>
                </a:solidFill>
              </a:rPr>
              <a:t>What an individual user sees</a:t>
            </a:r>
            <a:endParaRPr lang="en-US" sz="1600" dirty="0"/>
          </a:p>
        </p:txBody>
      </p:sp>
      <p:sp>
        <p:nvSpPr>
          <p:cNvPr id="10" name="Text 7">
            <a:extLst>
              <a:ext uri="{FF2B5EF4-FFF2-40B4-BE49-F238E27FC236}">
                <a16:creationId xmlns:a16="http://schemas.microsoft.com/office/drawing/2014/main" id="{7DFD0E53-1E55-4523-821C-7EC07E9C7FF5}"/>
              </a:ext>
            </a:extLst>
          </p:cNvPr>
          <p:cNvSpPr/>
          <p:nvPr/>
        </p:nvSpPr>
        <p:spPr>
          <a:xfrm>
            <a:off x="7574935" y="2172181"/>
            <a:ext cx="3383280" cy="502920"/>
          </a:xfrm>
          <a:prstGeom prst="rect">
            <a:avLst/>
          </a:prstGeom>
          <a:noFill/>
          <a:ln/>
        </p:spPr>
        <p:txBody>
          <a:bodyPr wrap="square" lIns="0" tIns="0" rIns="0" bIns="0" rtlCol="0" anchor="ctr"/>
          <a:lstStyle/>
          <a:p>
            <a:pPr marL="0" indent="0">
              <a:buNone/>
            </a:pPr>
            <a:r>
              <a:rPr lang="en-US" sz="1400" dirty="0">
                <a:solidFill>
                  <a:srgbClr val="172033"/>
                </a:solidFill>
              </a:rPr>
              <a:t>Customer sees balance, not pin_hash</a:t>
            </a:r>
            <a:endParaRPr lang="en-US" sz="1400" dirty="0"/>
          </a:p>
        </p:txBody>
      </p:sp>
      <p:sp>
        <p:nvSpPr>
          <p:cNvPr id="11" name="Shape 8">
            <a:extLst>
              <a:ext uri="{FF2B5EF4-FFF2-40B4-BE49-F238E27FC236}">
                <a16:creationId xmlns:a16="http://schemas.microsoft.com/office/drawing/2014/main" id="{F6F39C5A-2FE2-4A92-BE45-E7366B060A2F}"/>
              </a:ext>
            </a:extLst>
          </p:cNvPr>
          <p:cNvSpPr/>
          <p:nvPr/>
        </p:nvSpPr>
        <p:spPr>
          <a:xfrm>
            <a:off x="6294775" y="3086581"/>
            <a:ext cx="0" cy="320040"/>
          </a:xfrm>
          <a:prstGeom prst="line">
            <a:avLst/>
          </a:prstGeom>
          <a:noFill/>
          <a:ln w="15240">
            <a:solidFill>
              <a:srgbClr val="16A6A1"/>
            </a:solidFill>
            <a:prstDash val="solid"/>
            <a:headEnd type="none"/>
            <a:tailEnd type="triangle"/>
          </a:ln>
        </p:spPr>
      </p:sp>
      <p:sp>
        <p:nvSpPr>
          <p:cNvPr id="12" name="Shape 9">
            <a:extLst>
              <a:ext uri="{FF2B5EF4-FFF2-40B4-BE49-F238E27FC236}">
                <a16:creationId xmlns:a16="http://schemas.microsoft.com/office/drawing/2014/main" id="{531912E1-6AA7-45B0-9BA1-F29634DCF2CC}"/>
              </a:ext>
            </a:extLst>
          </p:cNvPr>
          <p:cNvSpPr/>
          <p:nvPr/>
        </p:nvSpPr>
        <p:spPr>
          <a:xfrm>
            <a:off x="1219855" y="3488917"/>
            <a:ext cx="10149840" cy="1078992"/>
          </a:xfrm>
          <a:prstGeom prst="roundRect">
            <a:avLst>
              <a:gd name="adj" fmla="val 5932"/>
            </a:avLst>
          </a:prstGeom>
          <a:solidFill>
            <a:srgbClr val="E7F7F6"/>
          </a:solidFill>
          <a:ln w="12700">
            <a:solidFill>
              <a:srgbClr val="FFFFFF">
                <a:alpha val="0"/>
              </a:srgbClr>
            </a:solidFill>
            <a:prstDash val="solid"/>
          </a:ln>
        </p:spPr>
      </p:sp>
      <p:sp>
        <p:nvSpPr>
          <p:cNvPr id="14" name="Text 10">
            <a:extLst>
              <a:ext uri="{FF2B5EF4-FFF2-40B4-BE49-F238E27FC236}">
                <a16:creationId xmlns:a16="http://schemas.microsoft.com/office/drawing/2014/main" id="{DF493ACD-6641-43FC-89A9-8285BBF9B92E}"/>
              </a:ext>
            </a:extLst>
          </p:cNvPr>
          <p:cNvSpPr/>
          <p:nvPr/>
        </p:nvSpPr>
        <p:spPr>
          <a:xfrm>
            <a:off x="2198263" y="3680941"/>
            <a:ext cx="2331720" cy="237744"/>
          </a:xfrm>
          <a:prstGeom prst="rect">
            <a:avLst/>
          </a:prstGeom>
          <a:noFill/>
          <a:ln/>
        </p:spPr>
        <p:txBody>
          <a:bodyPr wrap="square" lIns="0" tIns="0" rIns="0" bIns="0" rtlCol="0" anchor="ctr"/>
          <a:lstStyle/>
          <a:p>
            <a:pPr marL="0" indent="0">
              <a:buNone/>
            </a:pPr>
            <a:r>
              <a:rPr lang="en-US" b="1" dirty="0">
                <a:solidFill>
                  <a:srgbClr val="172033"/>
                </a:solidFill>
              </a:rPr>
              <a:t>CONCEPTUAL / LOGICAL</a:t>
            </a:r>
            <a:endParaRPr lang="en-US" dirty="0"/>
          </a:p>
        </p:txBody>
      </p:sp>
      <p:sp>
        <p:nvSpPr>
          <p:cNvPr id="15" name="Text 11">
            <a:extLst>
              <a:ext uri="{FF2B5EF4-FFF2-40B4-BE49-F238E27FC236}">
                <a16:creationId xmlns:a16="http://schemas.microsoft.com/office/drawing/2014/main" id="{1FE16DD3-567A-4DA1-A414-21099D0A64A4}"/>
              </a:ext>
            </a:extLst>
          </p:cNvPr>
          <p:cNvSpPr/>
          <p:nvPr/>
        </p:nvSpPr>
        <p:spPr>
          <a:xfrm>
            <a:off x="4557414" y="3671797"/>
            <a:ext cx="3179025" cy="274320"/>
          </a:xfrm>
          <a:prstGeom prst="rect">
            <a:avLst/>
          </a:prstGeom>
          <a:noFill/>
          <a:ln/>
        </p:spPr>
        <p:txBody>
          <a:bodyPr wrap="square" lIns="0" tIns="0" rIns="0" bIns="0" rtlCol="0" anchor="ctr"/>
          <a:lstStyle/>
          <a:p>
            <a:pPr marL="0" indent="0">
              <a:buNone/>
            </a:pPr>
            <a:r>
              <a:rPr lang="en-US" sz="1600" dirty="0">
                <a:solidFill>
                  <a:srgbClr val="5B677A"/>
                </a:solidFill>
              </a:rPr>
              <a:t>What data exists and how it is related</a:t>
            </a:r>
            <a:endParaRPr lang="en-US" sz="1600" dirty="0"/>
          </a:p>
        </p:txBody>
      </p:sp>
      <p:sp>
        <p:nvSpPr>
          <p:cNvPr id="16" name="Text 12">
            <a:extLst>
              <a:ext uri="{FF2B5EF4-FFF2-40B4-BE49-F238E27FC236}">
                <a16:creationId xmlns:a16="http://schemas.microsoft.com/office/drawing/2014/main" id="{A2E2B5B9-7A9A-4388-A836-1B01D4F3D856}"/>
              </a:ext>
            </a:extLst>
          </p:cNvPr>
          <p:cNvSpPr/>
          <p:nvPr/>
        </p:nvSpPr>
        <p:spPr>
          <a:xfrm>
            <a:off x="7736439" y="4005553"/>
            <a:ext cx="3383280" cy="502920"/>
          </a:xfrm>
          <a:prstGeom prst="rect">
            <a:avLst/>
          </a:prstGeom>
          <a:noFill/>
          <a:ln/>
        </p:spPr>
        <p:txBody>
          <a:bodyPr wrap="square" lIns="0" tIns="0" rIns="0" bIns="0" rtlCol="0" anchor="ctr"/>
          <a:lstStyle/>
          <a:p>
            <a:pPr marL="0" indent="0">
              <a:buNone/>
            </a:pPr>
            <a:r>
              <a:rPr lang="en-US" sz="1400" dirty="0">
                <a:solidFill>
                  <a:srgbClr val="172033"/>
                </a:solidFill>
              </a:rPr>
              <a:t>Customer → Account → Card → Transaction</a:t>
            </a:r>
            <a:endParaRPr lang="en-US" sz="1400" dirty="0"/>
          </a:p>
        </p:txBody>
      </p:sp>
      <p:sp>
        <p:nvSpPr>
          <p:cNvPr id="17" name="Shape 13">
            <a:extLst>
              <a:ext uri="{FF2B5EF4-FFF2-40B4-BE49-F238E27FC236}">
                <a16:creationId xmlns:a16="http://schemas.microsoft.com/office/drawing/2014/main" id="{275E074C-184F-486D-B834-8262716DF9D0}"/>
              </a:ext>
            </a:extLst>
          </p:cNvPr>
          <p:cNvSpPr/>
          <p:nvPr/>
        </p:nvSpPr>
        <p:spPr>
          <a:xfrm>
            <a:off x="6294775" y="4586197"/>
            <a:ext cx="0" cy="320040"/>
          </a:xfrm>
          <a:prstGeom prst="line">
            <a:avLst/>
          </a:prstGeom>
          <a:noFill/>
          <a:ln w="15240">
            <a:solidFill>
              <a:srgbClr val="16A6A1"/>
            </a:solidFill>
            <a:prstDash val="solid"/>
            <a:headEnd type="none"/>
            <a:tailEnd type="triangle"/>
          </a:ln>
        </p:spPr>
      </p:sp>
      <p:sp>
        <p:nvSpPr>
          <p:cNvPr id="18" name="Shape 14">
            <a:extLst>
              <a:ext uri="{FF2B5EF4-FFF2-40B4-BE49-F238E27FC236}">
                <a16:creationId xmlns:a16="http://schemas.microsoft.com/office/drawing/2014/main" id="{985010E1-4899-4DE5-BE0E-59F5C2AFD18C}"/>
              </a:ext>
            </a:extLst>
          </p:cNvPr>
          <p:cNvSpPr/>
          <p:nvPr/>
        </p:nvSpPr>
        <p:spPr>
          <a:xfrm>
            <a:off x="1219855" y="4988533"/>
            <a:ext cx="10149840" cy="1078992"/>
          </a:xfrm>
          <a:prstGeom prst="roundRect">
            <a:avLst>
              <a:gd name="adj" fmla="val 5932"/>
            </a:avLst>
          </a:prstGeom>
          <a:solidFill>
            <a:srgbClr val="F0ECFD"/>
          </a:solidFill>
          <a:ln w="12700">
            <a:solidFill>
              <a:srgbClr val="FFFFFF">
                <a:alpha val="0"/>
              </a:srgbClr>
            </a:solidFill>
            <a:prstDash val="solid"/>
          </a:ln>
        </p:spPr>
      </p:sp>
      <p:sp>
        <p:nvSpPr>
          <p:cNvPr id="20" name="Text 15">
            <a:extLst>
              <a:ext uri="{FF2B5EF4-FFF2-40B4-BE49-F238E27FC236}">
                <a16:creationId xmlns:a16="http://schemas.microsoft.com/office/drawing/2014/main" id="{F5566B0B-FEB0-4E87-A94F-C6A7A9B4B35B}"/>
              </a:ext>
            </a:extLst>
          </p:cNvPr>
          <p:cNvSpPr/>
          <p:nvPr/>
        </p:nvSpPr>
        <p:spPr>
          <a:xfrm>
            <a:off x="2198263" y="5180557"/>
            <a:ext cx="2331720" cy="237744"/>
          </a:xfrm>
          <a:prstGeom prst="rect">
            <a:avLst/>
          </a:prstGeom>
          <a:noFill/>
          <a:ln/>
        </p:spPr>
        <p:txBody>
          <a:bodyPr wrap="square" lIns="0" tIns="0" rIns="0" bIns="0" rtlCol="0" anchor="ctr"/>
          <a:lstStyle/>
          <a:p>
            <a:pPr marL="0" indent="0">
              <a:buNone/>
            </a:pPr>
            <a:r>
              <a:rPr lang="en-US" b="1" dirty="0">
                <a:solidFill>
                  <a:srgbClr val="172033"/>
                </a:solidFill>
              </a:rPr>
              <a:t>INTERNAL / PHYSICAL</a:t>
            </a:r>
            <a:endParaRPr lang="en-US" dirty="0"/>
          </a:p>
        </p:txBody>
      </p:sp>
      <p:sp>
        <p:nvSpPr>
          <p:cNvPr id="21" name="Text 16">
            <a:extLst>
              <a:ext uri="{FF2B5EF4-FFF2-40B4-BE49-F238E27FC236}">
                <a16:creationId xmlns:a16="http://schemas.microsoft.com/office/drawing/2014/main" id="{224B30AD-882F-4945-BBF0-14658DF651CB}"/>
              </a:ext>
            </a:extLst>
          </p:cNvPr>
          <p:cNvSpPr/>
          <p:nvPr/>
        </p:nvSpPr>
        <p:spPr>
          <a:xfrm>
            <a:off x="4557415" y="5171413"/>
            <a:ext cx="2743200" cy="256032"/>
          </a:xfrm>
          <a:prstGeom prst="rect">
            <a:avLst/>
          </a:prstGeom>
          <a:noFill/>
          <a:ln/>
        </p:spPr>
        <p:txBody>
          <a:bodyPr wrap="square" lIns="0" tIns="0" rIns="0" bIns="0" rtlCol="0" anchor="ctr"/>
          <a:lstStyle/>
          <a:p>
            <a:pPr marL="0" indent="0">
              <a:buNone/>
            </a:pPr>
            <a:r>
              <a:rPr lang="en-US" sz="1600" dirty="0">
                <a:solidFill>
                  <a:srgbClr val="5B677A"/>
                </a:solidFill>
              </a:rPr>
              <a:t>How data is stored and accessed</a:t>
            </a:r>
            <a:endParaRPr lang="en-US" sz="1600" dirty="0"/>
          </a:p>
        </p:txBody>
      </p:sp>
      <p:sp>
        <p:nvSpPr>
          <p:cNvPr id="22" name="Text 17">
            <a:extLst>
              <a:ext uri="{FF2B5EF4-FFF2-40B4-BE49-F238E27FC236}">
                <a16:creationId xmlns:a16="http://schemas.microsoft.com/office/drawing/2014/main" id="{7FD72A7F-0EE0-477C-AA80-2A156B502D7B}"/>
              </a:ext>
            </a:extLst>
          </p:cNvPr>
          <p:cNvSpPr/>
          <p:nvPr/>
        </p:nvSpPr>
        <p:spPr>
          <a:xfrm>
            <a:off x="7970520" y="5451505"/>
            <a:ext cx="3383280" cy="502920"/>
          </a:xfrm>
          <a:prstGeom prst="rect">
            <a:avLst/>
          </a:prstGeom>
          <a:noFill/>
          <a:ln/>
        </p:spPr>
        <p:txBody>
          <a:bodyPr wrap="square" lIns="0" tIns="0" rIns="0" bIns="0" rtlCol="0" anchor="ctr"/>
          <a:lstStyle/>
          <a:p>
            <a:pPr marL="0" indent="0">
              <a:buNone/>
            </a:pPr>
            <a:r>
              <a:rPr lang="en-US" sz="1400" dirty="0">
                <a:solidFill>
                  <a:srgbClr val="172033"/>
                </a:solidFill>
              </a:rPr>
              <a:t>Pages • files • indexes • devices</a:t>
            </a:r>
            <a:endParaRPr lang="en-US" sz="1400" dirty="0"/>
          </a:p>
        </p:txBody>
      </p:sp>
      <p:sp>
        <p:nvSpPr>
          <p:cNvPr id="3" name="TextBox 2">
            <a:extLst>
              <a:ext uri="{FF2B5EF4-FFF2-40B4-BE49-F238E27FC236}">
                <a16:creationId xmlns:a16="http://schemas.microsoft.com/office/drawing/2014/main" id="{6241CCA0-9621-409D-91DB-E73BF6E66AB2}"/>
              </a:ext>
            </a:extLst>
          </p:cNvPr>
          <p:cNvSpPr txBox="1"/>
          <p:nvPr/>
        </p:nvSpPr>
        <p:spPr>
          <a:xfrm>
            <a:off x="2619910" y="6246688"/>
            <a:ext cx="6369978" cy="369332"/>
          </a:xfrm>
          <a:prstGeom prst="rect">
            <a:avLst/>
          </a:prstGeom>
          <a:noFill/>
        </p:spPr>
        <p:txBody>
          <a:bodyPr wrap="square" rtlCol="0">
            <a:spAutoFit/>
          </a:bodyPr>
          <a:lstStyle/>
          <a:p>
            <a:r>
              <a:rPr lang="en-GB" dirty="0"/>
              <a:t>Abstraction Supports to Simplicity and Security of Data</a:t>
            </a:r>
            <a:endParaRPr lang="en-PK" dirty="0"/>
          </a:p>
        </p:txBody>
      </p:sp>
      <p:cxnSp>
        <p:nvCxnSpPr>
          <p:cNvPr id="5" name="Straight Arrow Connector 4">
            <a:extLst>
              <a:ext uri="{FF2B5EF4-FFF2-40B4-BE49-F238E27FC236}">
                <a16:creationId xmlns:a16="http://schemas.microsoft.com/office/drawing/2014/main" id="{7803A80E-3FD5-49BC-99F9-3362F6DBD938}"/>
              </a:ext>
            </a:extLst>
          </p:cNvPr>
          <p:cNvCxnSpPr/>
          <p:nvPr/>
        </p:nvCxnSpPr>
        <p:spPr>
          <a:xfrm flipV="1">
            <a:off x="838200" y="2068225"/>
            <a:ext cx="0" cy="388620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5B1E3A1E-732F-44EA-92B6-48A0D7550443}"/>
              </a:ext>
            </a:extLst>
          </p:cNvPr>
          <p:cNvSpPr txBox="1"/>
          <p:nvPr/>
        </p:nvSpPr>
        <p:spPr>
          <a:xfrm>
            <a:off x="768313" y="4619201"/>
            <a:ext cx="1457655" cy="369332"/>
          </a:xfrm>
          <a:prstGeom prst="rect">
            <a:avLst/>
          </a:prstGeom>
          <a:noFill/>
        </p:spPr>
        <p:txBody>
          <a:bodyPr wrap="square" rtlCol="0">
            <a:spAutoFit/>
          </a:bodyPr>
          <a:lstStyle/>
          <a:p>
            <a:r>
              <a:rPr lang="en-GB" dirty="0"/>
              <a:t>Abstraction</a:t>
            </a:r>
            <a:endParaRPr lang="en-PK" dirty="0"/>
          </a:p>
        </p:txBody>
      </p:sp>
      <p:cxnSp>
        <p:nvCxnSpPr>
          <p:cNvPr id="24" name="Straight Arrow Connector 23">
            <a:extLst>
              <a:ext uri="{FF2B5EF4-FFF2-40B4-BE49-F238E27FC236}">
                <a16:creationId xmlns:a16="http://schemas.microsoft.com/office/drawing/2014/main" id="{3BFC697A-B9F8-4495-9AB7-018853E86D97}"/>
              </a:ext>
            </a:extLst>
          </p:cNvPr>
          <p:cNvCxnSpPr>
            <a:cxnSpLocks/>
          </p:cNvCxnSpPr>
          <p:nvPr/>
        </p:nvCxnSpPr>
        <p:spPr>
          <a:xfrm>
            <a:off x="11599524" y="1869467"/>
            <a:ext cx="0" cy="419805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33BF8F12-B541-4233-A3A7-B39BD570B9CF}"/>
              </a:ext>
            </a:extLst>
          </p:cNvPr>
          <p:cNvSpPr txBox="1"/>
          <p:nvPr/>
        </p:nvSpPr>
        <p:spPr>
          <a:xfrm>
            <a:off x="10381786" y="3143595"/>
            <a:ext cx="2030659" cy="369332"/>
          </a:xfrm>
          <a:prstGeom prst="rect">
            <a:avLst/>
          </a:prstGeom>
          <a:noFill/>
        </p:spPr>
        <p:txBody>
          <a:bodyPr wrap="square" rtlCol="0">
            <a:spAutoFit/>
          </a:bodyPr>
          <a:lstStyle/>
          <a:p>
            <a:r>
              <a:rPr lang="en-GB" dirty="0"/>
              <a:t>Implementation</a:t>
            </a:r>
            <a:endParaRPr lang="en-PK" dirty="0"/>
          </a:p>
        </p:txBody>
      </p:sp>
    </p:spTree>
    <p:extLst>
      <p:ext uri="{BB962C8B-B14F-4D97-AF65-F5344CB8AC3E}">
        <p14:creationId xmlns:p14="http://schemas.microsoft.com/office/powerpoint/2010/main" val="40837633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1000"/>
                                        <p:tgtEl>
                                          <p:spTgt spid="9"/>
                                        </p:tgtEl>
                                      </p:cBhvr>
                                    </p:animEffect>
                                    <p:anim calcmode="lin" valueType="num">
                                      <p:cBhvr>
                                        <p:cTn id="13" dur="1000" fill="hold"/>
                                        <p:tgtEl>
                                          <p:spTgt spid="9"/>
                                        </p:tgtEl>
                                        <p:attrNameLst>
                                          <p:attrName>ppt_x</p:attrName>
                                        </p:attrNameLst>
                                      </p:cBhvr>
                                      <p:tavLst>
                                        <p:tav tm="0">
                                          <p:val>
                                            <p:strVal val="#ppt_x"/>
                                          </p:val>
                                        </p:tav>
                                        <p:tav tm="100000">
                                          <p:val>
                                            <p:strVal val="#ppt_x"/>
                                          </p:val>
                                        </p:tav>
                                      </p:tavLst>
                                    </p:anim>
                                    <p:anim calcmode="lin" valueType="num">
                                      <p:cBhvr>
                                        <p:cTn id="14" dur="1000" fill="hold"/>
                                        <p:tgtEl>
                                          <p:spTgt spid="9"/>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1000"/>
                                        <p:tgtEl>
                                          <p:spTgt spid="10"/>
                                        </p:tgtEl>
                                      </p:cBhvr>
                                    </p:animEffect>
                                    <p:anim calcmode="lin" valueType="num">
                                      <p:cBhvr>
                                        <p:cTn id="18" dur="1000" fill="hold"/>
                                        <p:tgtEl>
                                          <p:spTgt spid="10"/>
                                        </p:tgtEl>
                                        <p:attrNameLst>
                                          <p:attrName>ppt_x</p:attrName>
                                        </p:attrNameLst>
                                      </p:cBhvr>
                                      <p:tavLst>
                                        <p:tav tm="0">
                                          <p:val>
                                            <p:strVal val="#ppt_x"/>
                                          </p:val>
                                        </p:tav>
                                        <p:tav tm="100000">
                                          <p:val>
                                            <p:strVal val="#ppt_x"/>
                                          </p:val>
                                        </p:tav>
                                      </p:tavLst>
                                    </p:anim>
                                    <p:anim calcmode="lin" valueType="num">
                                      <p:cBhvr>
                                        <p:cTn id="19" dur="1000" fill="hold"/>
                                        <p:tgtEl>
                                          <p:spTgt spid="10"/>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1000"/>
                                        <p:tgtEl>
                                          <p:spTgt spid="6"/>
                                        </p:tgtEl>
                                      </p:cBhvr>
                                    </p:animEffect>
                                    <p:anim calcmode="lin" valueType="num">
                                      <p:cBhvr>
                                        <p:cTn id="23" dur="1000" fill="hold"/>
                                        <p:tgtEl>
                                          <p:spTgt spid="6"/>
                                        </p:tgtEl>
                                        <p:attrNameLst>
                                          <p:attrName>ppt_x</p:attrName>
                                        </p:attrNameLst>
                                      </p:cBhvr>
                                      <p:tavLst>
                                        <p:tav tm="0">
                                          <p:val>
                                            <p:strVal val="#ppt_x"/>
                                          </p:val>
                                        </p:tav>
                                        <p:tav tm="100000">
                                          <p:val>
                                            <p:strVal val="#ppt_x"/>
                                          </p:val>
                                        </p:tav>
                                      </p:tavLst>
                                    </p:anim>
                                    <p:anim calcmode="lin" valueType="num">
                                      <p:cBhvr>
                                        <p:cTn id="24"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1000"/>
                                        <p:tgtEl>
                                          <p:spTgt spid="12"/>
                                        </p:tgtEl>
                                      </p:cBhvr>
                                    </p:animEffect>
                                    <p:anim calcmode="lin" valueType="num">
                                      <p:cBhvr>
                                        <p:cTn id="30" dur="1000" fill="hold"/>
                                        <p:tgtEl>
                                          <p:spTgt spid="12"/>
                                        </p:tgtEl>
                                        <p:attrNameLst>
                                          <p:attrName>ppt_x</p:attrName>
                                        </p:attrNameLst>
                                      </p:cBhvr>
                                      <p:tavLst>
                                        <p:tav tm="0">
                                          <p:val>
                                            <p:strVal val="#ppt_x"/>
                                          </p:val>
                                        </p:tav>
                                        <p:tav tm="100000">
                                          <p:val>
                                            <p:strVal val="#ppt_x"/>
                                          </p:val>
                                        </p:tav>
                                      </p:tavLst>
                                    </p:anim>
                                    <p:anim calcmode="lin" valueType="num">
                                      <p:cBhvr>
                                        <p:cTn id="31" dur="1000" fill="hold"/>
                                        <p:tgtEl>
                                          <p:spTgt spid="12"/>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1000"/>
                                        <p:tgtEl>
                                          <p:spTgt spid="14"/>
                                        </p:tgtEl>
                                      </p:cBhvr>
                                    </p:animEffect>
                                    <p:anim calcmode="lin" valueType="num">
                                      <p:cBhvr>
                                        <p:cTn id="35" dur="1000" fill="hold"/>
                                        <p:tgtEl>
                                          <p:spTgt spid="14"/>
                                        </p:tgtEl>
                                        <p:attrNameLst>
                                          <p:attrName>ppt_x</p:attrName>
                                        </p:attrNameLst>
                                      </p:cBhvr>
                                      <p:tavLst>
                                        <p:tav tm="0">
                                          <p:val>
                                            <p:strVal val="#ppt_x"/>
                                          </p:val>
                                        </p:tav>
                                        <p:tav tm="100000">
                                          <p:val>
                                            <p:strVal val="#ppt_x"/>
                                          </p:val>
                                        </p:tav>
                                      </p:tavLst>
                                    </p:anim>
                                    <p:anim calcmode="lin" valueType="num">
                                      <p:cBhvr>
                                        <p:cTn id="36" dur="1000" fill="hold"/>
                                        <p:tgtEl>
                                          <p:spTgt spid="14"/>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fade">
                                      <p:cBhvr>
                                        <p:cTn id="39" dur="1000"/>
                                        <p:tgtEl>
                                          <p:spTgt spid="15"/>
                                        </p:tgtEl>
                                      </p:cBhvr>
                                    </p:animEffect>
                                    <p:anim calcmode="lin" valueType="num">
                                      <p:cBhvr>
                                        <p:cTn id="40" dur="1000" fill="hold"/>
                                        <p:tgtEl>
                                          <p:spTgt spid="15"/>
                                        </p:tgtEl>
                                        <p:attrNameLst>
                                          <p:attrName>ppt_x</p:attrName>
                                        </p:attrNameLst>
                                      </p:cBhvr>
                                      <p:tavLst>
                                        <p:tav tm="0">
                                          <p:val>
                                            <p:strVal val="#ppt_x"/>
                                          </p:val>
                                        </p:tav>
                                        <p:tav tm="100000">
                                          <p:val>
                                            <p:strVal val="#ppt_x"/>
                                          </p:val>
                                        </p:tav>
                                      </p:tavLst>
                                    </p:anim>
                                    <p:anim calcmode="lin" valueType="num">
                                      <p:cBhvr>
                                        <p:cTn id="41" dur="1000" fill="hold"/>
                                        <p:tgtEl>
                                          <p:spTgt spid="15"/>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1000"/>
                                        <p:tgtEl>
                                          <p:spTgt spid="16"/>
                                        </p:tgtEl>
                                      </p:cBhvr>
                                    </p:animEffect>
                                    <p:anim calcmode="lin" valueType="num">
                                      <p:cBhvr>
                                        <p:cTn id="45" dur="1000" fill="hold"/>
                                        <p:tgtEl>
                                          <p:spTgt spid="16"/>
                                        </p:tgtEl>
                                        <p:attrNameLst>
                                          <p:attrName>ppt_x</p:attrName>
                                        </p:attrNameLst>
                                      </p:cBhvr>
                                      <p:tavLst>
                                        <p:tav tm="0">
                                          <p:val>
                                            <p:strVal val="#ppt_x"/>
                                          </p:val>
                                        </p:tav>
                                        <p:tav tm="100000">
                                          <p:val>
                                            <p:strVal val="#ppt_x"/>
                                          </p:val>
                                        </p:tav>
                                      </p:tavLst>
                                    </p:anim>
                                    <p:anim calcmode="lin" valueType="num">
                                      <p:cBhvr>
                                        <p:cTn id="46" dur="1000" fill="hold"/>
                                        <p:tgtEl>
                                          <p:spTgt spid="16"/>
                                        </p:tgtEl>
                                        <p:attrNameLst>
                                          <p:attrName>ppt_y</p:attrName>
                                        </p:attrNameLst>
                                      </p:cBhvr>
                                      <p:tavLst>
                                        <p:tav tm="0">
                                          <p:val>
                                            <p:strVal val="#ppt_y+.1"/>
                                          </p:val>
                                        </p:tav>
                                        <p:tav tm="100000">
                                          <p:val>
                                            <p:strVal val="#ppt_y"/>
                                          </p:val>
                                        </p:tav>
                                      </p:tavLst>
                                    </p:anim>
                                  </p:childTnLst>
                                </p:cTn>
                              </p:par>
                              <p:par>
                                <p:cTn id="47" presetID="42" presetClass="entr" presetSubtype="0" fill="hold" nodeType="withEffect">
                                  <p:stCondLst>
                                    <p:cond delay="0"/>
                                  </p:stCondLst>
                                  <p:childTnLst>
                                    <p:set>
                                      <p:cBhvr>
                                        <p:cTn id="48" dur="1" fill="hold">
                                          <p:stCondLst>
                                            <p:cond delay="0"/>
                                          </p:stCondLst>
                                        </p:cTn>
                                        <p:tgtEl>
                                          <p:spTgt spid="11"/>
                                        </p:tgtEl>
                                        <p:attrNameLst>
                                          <p:attrName>style.visibility</p:attrName>
                                        </p:attrNameLst>
                                      </p:cBhvr>
                                      <p:to>
                                        <p:strVal val="visible"/>
                                      </p:to>
                                    </p:set>
                                    <p:animEffect transition="in" filter="fade">
                                      <p:cBhvr>
                                        <p:cTn id="49" dur="1000"/>
                                        <p:tgtEl>
                                          <p:spTgt spid="11"/>
                                        </p:tgtEl>
                                      </p:cBhvr>
                                    </p:animEffect>
                                    <p:anim calcmode="lin" valueType="num">
                                      <p:cBhvr>
                                        <p:cTn id="50" dur="1000" fill="hold"/>
                                        <p:tgtEl>
                                          <p:spTgt spid="11"/>
                                        </p:tgtEl>
                                        <p:attrNameLst>
                                          <p:attrName>ppt_x</p:attrName>
                                        </p:attrNameLst>
                                      </p:cBhvr>
                                      <p:tavLst>
                                        <p:tav tm="0">
                                          <p:val>
                                            <p:strVal val="#ppt_x"/>
                                          </p:val>
                                        </p:tav>
                                        <p:tav tm="100000">
                                          <p:val>
                                            <p:strVal val="#ppt_x"/>
                                          </p:val>
                                        </p:tav>
                                      </p:tavLst>
                                    </p:anim>
                                    <p:anim calcmode="lin" valueType="num">
                                      <p:cBhvr>
                                        <p:cTn id="51"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18"/>
                                        </p:tgtEl>
                                        <p:attrNameLst>
                                          <p:attrName>style.visibility</p:attrName>
                                        </p:attrNameLst>
                                      </p:cBhvr>
                                      <p:to>
                                        <p:strVal val="visible"/>
                                      </p:to>
                                    </p:set>
                                    <p:animEffect transition="in" filter="fade">
                                      <p:cBhvr>
                                        <p:cTn id="56" dur="1000"/>
                                        <p:tgtEl>
                                          <p:spTgt spid="18"/>
                                        </p:tgtEl>
                                      </p:cBhvr>
                                    </p:animEffect>
                                    <p:anim calcmode="lin" valueType="num">
                                      <p:cBhvr>
                                        <p:cTn id="57" dur="1000" fill="hold"/>
                                        <p:tgtEl>
                                          <p:spTgt spid="18"/>
                                        </p:tgtEl>
                                        <p:attrNameLst>
                                          <p:attrName>ppt_x</p:attrName>
                                        </p:attrNameLst>
                                      </p:cBhvr>
                                      <p:tavLst>
                                        <p:tav tm="0">
                                          <p:val>
                                            <p:strVal val="#ppt_x"/>
                                          </p:val>
                                        </p:tav>
                                        <p:tav tm="100000">
                                          <p:val>
                                            <p:strVal val="#ppt_x"/>
                                          </p:val>
                                        </p:tav>
                                      </p:tavLst>
                                    </p:anim>
                                    <p:anim calcmode="lin" valueType="num">
                                      <p:cBhvr>
                                        <p:cTn id="58" dur="1000" fill="hold"/>
                                        <p:tgtEl>
                                          <p:spTgt spid="18"/>
                                        </p:tgtEl>
                                        <p:attrNameLst>
                                          <p:attrName>ppt_y</p:attrName>
                                        </p:attrNameLst>
                                      </p:cBhvr>
                                      <p:tavLst>
                                        <p:tav tm="0">
                                          <p:val>
                                            <p:strVal val="#ppt_y+.1"/>
                                          </p:val>
                                        </p:tav>
                                        <p:tav tm="100000">
                                          <p:val>
                                            <p:strVal val="#ppt_y"/>
                                          </p:val>
                                        </p:tav>
                                      </p:tavLst>
                                    </p:anim>
                                  </p:childTnLst>
                                </p:cTn>
                              </p:par>
                              <p:par>
                                <p:cTn id="59" presetID="42" presetClass="entr" presetSubtype="0" fill="hold" nodeType="withEffect">
                                  <p:stCondLst>
                                    <p:cond delay="0"/>
                                  </p:stCondLst>
                                  <p:childTnLst>
                                    <p:set>
                                      <p:cBhvr>
                                        <p:cTn id="60" dur="1" fill="hold">
                                          <p:stCondLst>
                                            <p:cond delay="0"/>
                                          </p:stCondLst>
                                        </p:cTn>
                                        <p:tgtEl>
                                          <p:spTgt spid="17"/>
                                        </p:tgtEl>
                                        <p:attrNameLst>
                                          <p:attrName>style.visibility</p:attrName>
                                        </p:attrNameLst>
                                      </p:cBhvr>
                                      <p:to>
                                        <p:strVal val="visible"/>
                                      </p:to>
                                    </p:set>
                                    <p:animEffect transition="in" filter="fade">
                                      <p:cBhvr>
                                        <p:cTn id="61" dur="1000"/>
                                        <p:tgtEl>
                                          <p:spTgt spid="17"/>
                                        </p:tgtEl>
                                      </p:cBhvr>
                                    </p:animEffect>
                                    <p:anim calcmode="lin" valueType="num">
                                      <p:cBhvr>
                                        <p:cTn id="62" dur="1000" fill="hold"/>
                                        <p:tgtEl>
                                          <p:spTgt spid="17"/>
                                        </p:tgtEl>
                                        <p:attrNameLst>
                                          <p:attrName>ppt_x</p:attrName>
                                        </p:attrNameLst>
                                      </p:cBhvr>
                                      <p:tavLst>
                                        <p:tav tm="0">
                                          <p:val>
                                            <p:strVal val="#ppt_x"/>
                                          </p:val>
                                        </p:tav>
                                        <p:tav tm="100000">
                                          <p:val>
                                            <p:strVal val="#ppt_x"/>
                                          </p:val>
                                        </p:tav>
                                      </p:tavLst>
                                    </p:anim>
                                    <p:anim calcmode="lin" valueType="num">
                                      <p:cBhvr>
                                        <p:cTn id="63" dur="1000" fill="hold"/>
                                        <p:tgtEl>
                                          <p:spTgt spid="17"/>
                                        </p:tgtEl>
                                        <p:attrNameLst>
                                          <p:attrName>ppt_y</p:attrName>
                                        </p:attrNameLst>
                                      </p:cBhvr>
                                      <p:tavLst>
                                        <p:tav tm="0">
                                          <p:val>
                                            <p:strVal val="#ppt_y+.1"/>
                                          </p:val>
                                        </p:tav>
                                        <p:tav tm="100000">
                                          <p:val>
                                            <p:strVal val="#ppt_y"/>
                                          </p:val>
                                        </p:tav>
                                      </p:tavLst>
                                    </p:anim>
                                  </p:childTnLst>
                                </p:cTn>
                              </p:par>
                              <p:par>
                                <p:cTn id="64" presetID="42" presetClass="entr" presetSubtype="0" fill="hold" grpId="0" nodeType="withEffect">
                                  <p:stCondLst>
                                    <p:cond delay="0"/>
                                  </p:stCondLst>
                                  <p:childTnLst>
                                    <p:set>
                                      <p:cBhvr>
                                        <p:cTn id="65" dur="1" fill="hold">
                                          <p:stCondLst>
                                            <p:cond delay="0"/>
                                          </p:stCondLst>
                                        </p:cTn>
                                        <p:tgtEl>
                                          <p:spTgt spid="20"/>
                                        </p:tgtEl>
                                        <p:attrNameLst>
                                          <p:attrName>style.visibility</p:attrName>
                                        </p:attrNameLst>
                                      </p:cBhvr>
                                      <p:to>
                                        <p:strVal val="visible"/>
                                      </p:to>
                                    </p:set>
                                    <p:animEffect transition="in" filter="fade">
                                      <p:cBhvr>
                                        <p:cTn id="66" dur="1000"/>
                                        <p:tgtEl>
                                          <p:spTgt spid="20"/>
                                        </p:tgtEl>
                                      </p:cBhvr>
                                    </p:animEffect>
                                    <p:anim calcmode="lin" valueType="num">
                                      <p:cBhvr>
                                        <p:cTn id="67" dur="1000" fill="hold"/>
                                        <p:tgtEl>
                                          <p:spTgt spid="20"/>
                                        </p:tgtEl>
                                        <p:attrNameLst>
                                          <p:attrName>ppt_x</p:attrName>
                                        </p:attrNameLst>
                                      </p:cBhvr>
                                      <p:tavLst>
                                        <p:tav tm="0">
                                          <p:val>
                                            <p:strVal val="#ppt_x"/>
                                          </p:val>
                                        </p:tav>
                                        <p:tav tm="100000">
                                          <p:val>
                                            <p:strVal val="#ppt_x"/>
                                          </p:val>
                                        </p:tav>
                                      </p:tavLst>
                                    </p:anim>
                                    <p:anim calcmode="lin" valueType="num">
                                      <p:cBhvr>
                                        <p:cTn id="68" dur="1000" fill="hold"/>
                                        <p:tgtEl>
                                          <p:spTgt spid="20"/>
                                        </p:tgtEl>
                                        <p:attrNameLst>
                                          <p:attrName>ppt_y</p:attrName>
                                        </p:attrNameLst>
                                      </p:cBhvr>
                                      <p:tavLst>
                                        <p:tav tm="0">
                                          <p:val>
                                            <p:strVal val="#ppt_y+.1"/>
                                          </p:val>
                                        </p:tav>
                                        <p:tav tm="100000">
                                          <p:val>
                                            <p:strVal val="#ppt_y"/>
                                          </p:val>
                                        </p:tav>
                                      </p:tavLst>
                                    </p:anim>
                                  </p:childTnLst>
                                </p:cTn>
                              </p:par>
                              <p:par>
                                <p:cTn id="69" presetID="42" presetClass="entr" presetSubtype="0" fill="hold" grpId="0" nodeType="withEffect">
                                  <p:stCondLst>
                                    <p:cond delay="0"/>
                                  </p:stCondLst>
                                  <p:childTnLst>
                                    <p:set>
                                      <p:cBhvr>
                                        <p:cTn id="70" dur="1" fill="hold">
                                          <p:stCondLst>
                                            <p:cond delay="0"/>
                                          </p:stCondLst>
                                        </p:cTn>
                                        <p:tgtEl>
                                          <p:spTgt spid="21"/>
                                        </p:tgtEl>
                                        <p:attrNameLst>
                                          <p:attrName>style.visibility</p:attrName>
                                        </p:attrNameLst>
                                      </p:cBhvr>
                                      <p:to>
                                        <p:strVal val="visible"/>
                                      </p:to>
                                    </p:set>
                                    <p:animEffect transition="in" filter="fade">
                                      <p:cBhvr>
                                        <p:cTn id="71" dur="1000"/>
                                        <p:tgtEl>
                                          <p:spTgt spid="21"/>
                                        </p:tgtEl>
                                      </p:cBhvr>
                                    </p:animEffect>
                                    <p:anim calcmode="lin" valueType="num">
                                      <p:cBhvr>
                                        <p:cTn id="72" dur="1000" fill="hold"/>
                                        <p:tgtEl>
                                          <p:spTgt spid="21"/>
                                        </p:tgtEl>
                                        <p:attrNameLst>
                                          <p:attrName>ppt_x</p:attrName>
                                        </p:attrNameLst>
                                      </p:cBhvr>
                                      <p:tavLst>
                                        <p:tav tm="0">
                                          <p:val>
                                            <p:strVal val="#ppt_x"/>
                                          </p:val>
                                        </p:tav>
                                        <p:tav tm="100000">
                                          <p:val>
                                            <p:strVal val="#ppt_x"/>
                                          </p:val>
                                        </p:tav>
                                      </p:tavLst>
                                    </p:anim>
                                    <p:anim calcmode="lin" valueType="num">
                                      <p:cBhvr>
                                        <p:cTn id="73" dur="1000" fill="hold"/>
                                        <p:tgtEl>
                                          <p:spTgt spid="21"/>
                                        </p:tgtEl>
                                        <p:attrNameLst>
                                          <p:attrName>ppt_y</p:attrName>
                                        </p:attrNameLst>
                                      </p:cBhvr>
                                      <p:tavLst>
                                        <p:tav tm="0">
                                          <p:val>
                                            <p:strVal val="#ppt_y+.1"/>
                                          </p:val>
                                        </p:tav>
                                        <p:tav tm="100000">
                                          <p:val>
                                            <p:strVal val="#ppt_y"/>
                                          </p:val>
                                        </p:tav>
                                      </p:tavLst>
                                    </p:anim>
                                  </p:childTnLst>
                                </p:cTn>
                              </p:par>
                              <p:par>
                                <p:cTn id="74" presetID="42" presetClass="entr" presetSubtype="0" fill="hold" grpId="0" nodeType="withEffect">
                                  <p:stCondLst>
                                    <p:cond delay="0"/>
                                  </p:stCondLst>
                                  <p:childTnLst>
                                    <p:set>
                                      <p:cBhvr>
                                        <p:cTn id="75" dur="1" fill="hold">
                                          <p:stCondLst>
                                            <p:cond delay="0"/>
                                          </p:stCondLst>
                                        </p:cTn>
                                        <p:tgtEl>
                                          <p:spTgt spid="22"/>
                                        </p:tgtEl>
                                        <p:attrNameLst>
                                          <p:attrName>style.visibility</p:attrName>
                                        </p:attrNameLst>
                                      </p:cBhvr>
                                      <p:to>
                                        <p:strVal val="visible"/>
                                      </p:to>
                                    </p:set>
                                    <p:animEffect transition="in" filter="fade">
                                      <p:cBhvr>
                                        <p:cTn id="76" dur="1000"/>
                                        <p:tgtEl>
                                          <p:spTgt spid="22"/>
                                        </p:tgtEl>
                                      </p:cBhvr>
                                    </p:animEffect>
                                    <p:anim calcmode="lin" valueType="num">
                                      <p:cBhvr>
                                        <p:cTn id="77" dur="1000" fill="hold"/>
                                        <p:tgtEl>
                                          <p:spTgt spid="22"/>
                                        </p:tgtEl>
                                        <p:attrNameLst>
                                          <p:attrName>ppt_x</p:attrName>
                                        </p:attrNameLst>
                                      </p:cBhvr>
                                      <p:tavLst>
                                        <p:tav tm="0">
                                          <p:val>
                                            <p:strVal val="#ppt_x"/>
                                          </p:val>
                                        </p:tav>
                                        <p:tav tm="100000">
                                          <p:val>
                                            <p:strVal val="#ppt_x"/>
                                          </p:val>
                                        </p:tav>
                                      </p:tavLst>
                                    </p:anim>
                                    <p:anim calcmode="lin" valueType="num">
                                      <p:cBhvr>
                                        <p:cTn id="78"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79" fill="hold">
                      <p:stCondLst>
                        <p:cond delay="indefinite"/>
                      </p:stCondLst>
                      <p:childTnLst>
                        <p:par>
                          <p:cTn id="80" fill="hold">
                            <p:stCondLst>
                              <p:cond delay="0"/>
                            </p:stCondLst>
                            <p:childTnLst>
                              <p:par>
                                <p:cTn id="81" presetID="42" presetClass="entr" presetSubtype="0" fill="hold" nodeType="clickEffect">
                                  <p:stCondLst>
                                    <p:cond delay="0"/>
                                  </p:stCondLst>
                                  <p:childTnLst>
                                    <p:set>
                                      <p:cBhvr>
                                        <p:cTn id="82" dur="1" fill="hold">
                                          <p:stCondLst>
                                            <p:cond delay="0"/>
                                          </p:stCondLst>
                                        </p:cTn>
                                        <p:tgtEl>
                                          <p:spTgt spid="24"/>
                                        </p:tgtEl>
                                        <p:attrNameLst>
                                          <p:attrName>style.visibility</p:attrName>
                                        </p:attrNameLst>
                                      </p:cBhvr>
                                      <p:to>
                                        <p:strVal val="visible"/>
                                      </p:to>
                                    </p:set>
                                    <p:animEffect transition="in" filter="fade">
                                      <p:cBhvr>
                                        <p:cTn id="83" dur="1000"/>
                                        <p:tgtEl>
                                          <p:spTgt spid="24"/>
                                        </p:tgtEl>
                                      </p:cBhvr>
                                    </p:animEffect>
                                    <p:anim calcmode="lin" valueType="num">
                                      <p:cBhvr>
                                        <p:cTn id="84" dur="1000" fill="hold"/>
                                        <p:tgtEl>
                                          <p:spTgt spid="24"/>
                                        </p:tgtEl>
                                        <p:attrNameLst>
                                          <p:attrName>ppt_x</p:attrName>
                                        </p:attrNameLst>
                                      </p:cBhvr>
                                      <p:tavLst>
                                        <p:tav tm="0">
                                          <p:val>
                                            <p:strVal val="#ppt_x"/>
                                          </p:val>
                                        </p:tav>
                                        <p:tav tm="100000">
                                          <p:val>
                                            <p:strVal val="#ppt_x"/>
                                          </p:val>
                                        </p:tav>
                                      </p:tavLst>
                                    </p:anim>
                                    <p:anim calcmode="lin" valueType="num">
                                      <p:cBhvr>
                                        <p:cTn id="85" dur="1000" fill="hold"/>
                                        <p:tgtEl>
                                          <p:spTgt spid="24"/>
                                        </p:tgtEl>
                                        <p:attrNameLst>
                                          <p:attrName>ppt_y</p:attrName>
                                        </p:attrNameLst>
                                      </p:cBhvr>
                                      <p:tavLst>
                                        <p:tav tm="0">
                                          <p:val>
                                            <p:strVal val="#ppt_y+.1"/>
                                          </p:val>
                                        </p:tav>
                                        <p:tav tm="100000">
                                          <p:val>
                                            <p:strVal val="#ppt_y"/>
                                          </p:val>
                                        </p:tav>
                                      </p:tavLst>
                                    </p:anim>
                                  </p:childTnLst>
                                </p:cTn>
                              </p:par>
                              <p:par>
                                <p:cTn id="86" presetID="42" presetClass="entr" presetSubtype="0" fill="hold" grpId="0" nodeType="withEffect">
                                  <p:stCondLst>
                                    <p:cond delay="0"/>
                                  </p:stCondLst>
                                  <p:childTnLst>
                                    <p:set>
                                      <p:cBhvr>
                                        <p:cTn id="87" dur="1" fill="hold">
                                          <p:stCondLst>
                                            <p:cond delay="0"/>
                                          </p:stCondLst>
                                        </p:cTn>
                                        <p:tgtEl>
                                          <p:spTgt spid="27"/>
                                        </p:tgtEl>
                                        <p:attrNameLst>
                                          <p:attrName>style.visibility</p:attrName>
                                        </p:attrNameLst>
                                      </p:cBhvr>
                                      <p:to>
                                        <p:strVal val="visible"/>
                                      </p:to>
                                    </p:set>
                                    <p:animEffect transition="in" filter="fade">
                                      <p:cBhvr>
                                        <p:cTn id="88" dur="1000"/>
                                        <p:tgtEl>
                                          <p:spTgt spid="27"/>
                                        </p:tgtEl>
                                      </p:cBhvr>
                                    </p:animEffect>
                                    <p:anim calcmode="lin" valueType="num">
                                      <p:cBhvr>
                                        <p:cTn id="89" dur="1000" fill="hold"/>
                                        <p:tgtEl>
                                          <p:spTgt spid="27"/>
                                        </p:tgtEl>
                                        <p:attrNameLst>
                                          <p:attrName>ppt_x</p:attrName>
                                        </p:attrNameLst>
                                      </p:cBhvr>
                                      <p:tavLst>
                                        <p:tav tm="0">
                                          <p:val>
                                            <p:strVal val="#ppt_x"/>
                                          </p:val>
                                        </p:tav>
                                        <p:tav tm="100000">
                                          <p:val>
                                            <p:strVal val="#ppt_x"/>
                                          </p:val>
                                        </p:tav>
                                      </p:tavLst>
                                    </p:anim>
                                    <p:anim calcmode="lin" valueType="num">
                                      <p:cBhvr>
                                        <p:cTn id="90"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par>
                    <p:cTn id="91" fill="hold">
                      <p:stCondLst>
                        <p:cond delay="indefinite"/>
                      </p:stCondLst>
                      <p:childTnLst>
                        <p:par>
                          <p:cTn id="92" fill="hold">
                            <p:stCondLst>
                              <p:cond delay="0"/>
                            </p:stCondLst>
                            <p:childTnLst>
                              <p:par>
                                <p:cTn id="93" presetID="42" presetClass="entr" presetSubtype="0" fill="hold" nodeType="clickEffect">
                                  <p:stCondLst>
                                    <p:cond delay="0"/>
                                  </p:stCondLst>
                                  <p:childTnLst>
                                    <p:set>
                                      <p:cBhvr>
                                        <p:cTn id="94" dur="1" fill="hold">
                                          <p:stCondLst>
                                            <p:cond delay="0"/>
                                          </p:stCondLst>
                                        </p:cTn>
                                        <p:tgtEl>
                                          <p:spTgt spid="5"/>
                                        </p:tgtEl>
                                        <p:attrNameLst>
                                          <p:attrName>style.visibility</p:attrName>
                                        </p:attrNameLst>
                                      </p:cBhvr>
                                      <p:to>
                                        <p:strVal val="visible"/>
                                      </p:to>
                                    </p:set>
                                    <p:animEffect transition="in" filter="fade">
                                      <p:cBhvr>
                                        <p:cTn id="95" dur="1000"/>
                                        <p:tgtEl>
                                          <p:spTgt spid="5"/>
                                        </p:tgtEl>
                                      </p:cBhvr>
                                    </p:animEffect>
                                    <p:anim calcmode="lin" valueType="num">
                                      <p:cBhvr>
                                        <p:cTn id="96" dur="1000" fill="hold"/>
                                        <p:tgtEl>
                                          <p:spTgt spid="5"/>
                                        </p:tgtEl>
                                        <p:attrNameLst>
                                          <p:attrName>ppt_x</p:attrName>
                                        </p:attrNameLst>
                                      </p:cBhvr>
                                      <p:tavLst>
                                        <p:tav tm="0">
                                          <p:val>
                                            <p:strVal val="#ppt_x"/>
                                          </p:val>
                                        </p:tav>
                                        <p:tav tm="100000">
                                          <p:val>
                                            <p:strVal val="#ppt_x"/>
                                          </p:val>
                                        </p:tav>
                                      </p:tavLst>
                                    </p:anim>
                                    <p:anim calcmode="lin" valueType="num">
                                      <p:cBhvr>
                                        <p:cTn id="97" dur="1000" fill="hold"/>
                                        <p:tgtEl>
                                          <p:spTgt spid="5"/>
                                        </p:tgtEl>
                                        <p:attrNameLst>
                                          <p:attrName>ppt_y</p:attrName>
                                        </p:attrNameLst>
                                      </p:cBhvr>
                                      <p:tavLst>
                                        <p:tav tm="0">
                                          <p:val>
                                            <p:strVal val="#ppt_y+.1"/>
                                          </p:val>
                                        </p:tav>
                                        <p:tav tm="100000">
                                          <p:val>
                                            <p:strVal val="#ppt_y"/>
                                          </p:val>
                                        </p:tav>
                                      </p:tavLst>
                                    </p:anim>
                                  </p:childTnLst>
                                </p:cTn>
                              </p:par>
                              <p:par>
                                <p:cTn id="98" presetID="42" presetClass="entr" presetSubtype="0" fill="hold" grpId="0" nodeType="withEffect">
                                  <p:stCondLst>
                                    <p:cond delay="0"/>
                                  </p:stCondLst>
                                  <p:childTnLst>
                                    <p:set>
                                      <p:cBhvr>
                                        <p:cTn id="99" dur="1" fill="hold">
                                          <p:stCondLst>
                                            <p:cond delay="0"/>
                                          </p:stCondLst>
                                        </p:cTn>
                                        <p:tgtEl>
                                          <p:spTgt spid="23"/>
                                        </p:tgtEl>
                                        <p:attrNameLst>
                                          <p:attrName>style.visibility</p:attrName>
                                        </p:attrNameLst>
                                      </p:cBhvr>
                                      <p:to>
                                        <p:strVal val="visible"/>
                                      </p:to>
                                    </p:set>
                                    <p:animEffect transition="in" filter="fade">
                                      <p:cBhvr>
                                        <p:cTn id="100" dur="1000"/>
                                        <p:tgtEl>
                                          <p:spTgt spid="23"/>
                                        </p:tgtEl>
                                      </p:cBhvr>
                                    </p:animEffect>
                                    <p:anim calcmode="lin" valueType="num">
                                      <p:cBhvr>
                                        <p:cTn id="101" dur="1000" fill="hold"/>
                                        <p:tgtEl>
                                          <p:spTgt spid="23"/>
                                        </p:tgtEl>
                                        <p:attrNameLst>
                                          <p:attrName>ppt_x</p:attrName>
                                        </p:attrNameLst>
                                      </p:cBhvr>
                                      <p:tavLst>
                                        <p:tav tm="0">
                                          <p:val>
                                            <p:strVal val="#ppt_x"/>
                                          </p:val>
                                        </p:tav>
                                        <p:tav tm="100000">
                                          <p:val>
                                            <p:strVal val="#ppt_x"/>
                                          </p:val>
                                        </p:tav>
                                      </p:tavLst>
                                    </p:anim>
                                    <p:anim calcmode="lin" valueType="num">
                                      <p:cBhvr>
                                        <p:cTn id="102"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103" fill="hold">
                      <p:stCondLst>
                        <p:cond delay="indefinite"/>
                      </p:stCondLst>
                      <p:childTnLst>
                        <p:par>
                          <p:cTn id="104" fill="hold">
                            <p:stCondLst>
                              <p:cond delay="0"/>
                            </p:stCondLst>
                            <p:childTnLst>
                              <p:par>
                                <p:cTn id="105" presetID="42" presetClass="entr" presetSubtype="0" fill="hold" grpId="0" nodeType="clickEffect">
                                  <p:stCondLst>
                                    <p:cond delay="0"/>
                                  </p:stCondLst>
                                  <p:childTnLst>
                                    <p:set>
                                      <p:cBhvr>
                                        <p:cTn id="106" dur="1" fill="hold">
                                          <p:stCondLst>
                                            <p:cond delay="0"/>
                                          </p:stCondLst>
                                        </p:cTn>
                                        <p:tgtEl>
                                          <p:spTgt spid="3"/>
                                        </p:tgtEl>
                                        <p:attrNameLst>
                                          <p:attrName>style.visibility</p:attrName>
                                        </p:attrNameLst>
                                      </p:cBhvr>
                                      <p:to>
                                        <p:strVal val="visible"/>
                                      </p:to>
                                    </p:set>
                                    <p:animEffect transition="in" filter="fade">
                                      <p:cBhvr>
                                        <p:cTn id="107" dur="1000"/>
                                        <p:tgtEl>
                                          <p:spTgt spid="3"/>
                                        </p:tgtEl>
                                      </p:cBhvr>
                                    </p:animEffect>
                                    <p:anim calcmode="lin" valueType="num">
                                      <p:cBhvr>
                                        <p:cTn id="108" dur="1000" fill="hold"/>
                                        <p:tgtEl>
                                          <p:spTgt spid="3"/>
                                        </p:tgtEl>
                                        <p:attrNameLst>
                                          <p:attrName>ppt_x</p:attrName>
                                        </p:attrNameLst>
                                      </p:cBhvr>
                                      <p:tavLst>
                                        <p:tav tm="0">
                                          <p:val>
                                            <p:strVal val="#ppt_x"/>
                                          </p:val>
                                        </p:tav>
                                        <p:tav tm="100000">
                                          <p:val>
                                            <p:strVal val="#ppt_x"/>
                                          </p:val>
                                        </p:tav>
                                      </p:tavLst>
                                    </p:anim>
                                    <p:anim calcmode="lin" valueType="num">
                                      <p:cBhvr>
                                        <p:cTn id="10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4" grpId="0" animBg="1"/>
      <p:bldP spid="15" grpId="0" animBg="1"/>
      <p:bldP spid="16" grpId="0" animBg="1"/>
      <p:bldP spid="20" grpId="0" animBg="1"/>
      <p:bldP spid="21" grpId="0" animBg="1"/>
      <p:bldP spid="22" grpId="0" animBg="1"/>
      <p:bldP spid="3" grpId="0"/>
      <p:bldP spid="23" grpId="0"/>
      <p:bldP spid="2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2C5CE-632C-4B66-A96C-F192C3994C4C}"/>
              </a:ext>
            </a:extLst>
          </p:cNvPr>
          <p:cNvSpPr>
            <a:spLocks noGrp="1"/>
          </p:cNvSpPr>
          <p:nvPr>
            <p:ph type="title"/>
          </p:nvPr>
        </p:nvSpPr>
        <p:spPr/>
        <p:txBody>
          <a:bodyPr/>
          <a:lstStyle/>
          <a:p>
            <a:r>
              <a:rPr lang="en-GB" dirty="0"/>
              <a:t>External or View Level</a:t>
            </a:r>
            <a:endParaRPr lang="en-PK" dirty="0"/>
          </a:p>
        </p:txBody>
      </p:sp>
      <p:sp>
        <p:nvSpPr>
          <p:cNvPr id="3" name="Content Placeholder 2">
            <a:extLst>
              <a:ext uri="{FF2B5EF4-FFF2-40B4-BE49-F238E27FC236}">
                <a16:creationId xmlns:a16="http://schemas.microsoft.com/office/drawing/2014/main" id="{7E3B3B38-1FA0-44F2-A063-6BA341052020}"/>
              </a:ext>
            </a:extLst>
          </p:cNvPr>
          <p:cNvSpPr>
            <a:spLocks noGrp="1"/>
          </p:cNvSpPr>
          <p:nvPr>
            <p:ph idx="1"/>
          </p:nvPr>
        </p:nvSpPr>
        <p:spPr/>
        <p:txBody>
          <a:bodyPr/>
          <a:lstStyle/>
          <a:p>
            <a:pPr marL="0" indent="0">
              <a:buNone/>
            </a:pPr>
            <a:r>
              <a:rPr lang="en-US" sz="2000" dirty="0">
                <a:solidFill>
                  <a:srgbClr val="5B677A"/>
                </a:solidFill>
              </a:rPr>
              <a:t>The highest level: customized for a particular user or role</a:t>
            </a:r>
            <a:endParaRPr lang="en-US" sz="2000" dirty="0"/>
          </a:p>
          <a:p>
            <a:pPr marL="0" indent="0">
              <a:buNone/>
            </a:pPr>
            <a:endParaRPr lang="en-PK" dirty="0"/>
          </a:p>
        </p:txBody>
      </p:sp>
      <p:sp>
        <p:nvSpPr>
          <p:cNvPr id="5" name="Shape 4">
            <a:extLst>
              <a:ext uri="{FF2B5EF4-FFF2-40B4-BE49-F238E27FC236}">
                <a16:creationId xmlns:a16="http://schemas.microsoft.com/office/drawing/2014/main" id="{63B5EDAF-D6C7-4D76-8DAC-EA60E78D79BC}"/>
              </a:ext>
            </a:extLst>
          </p:cNvPr>
          <p:cNvSpPr/>
          <p:nvPr/>
        </p:nvSpPr>
        <p:spPr>
          <a:xfrm>
            <a:off x="2135450" y="2615184"/>
            <a:ext cx="3472871" cy="3246120"/>
          </a:xfrm>
          <a:prstGeom prst="roundRect">
            <a:avLst>
              <a:gd name="adj" fmla="val 1667"/>
            </a:avLst>
          </a:prstGeom>
          <a:solidFill>
            <a:srgbClr val="FFFFFF"/>
          </a:solidFill>
          <a:ln w="13970">
            <a:solidFill>
              <a:srgbClr val="D8E0EB"/>
            </a:solidFill>
            <a:prstDash val="solid"/>
          </a:ln>
          <a:effectLst>
            <a:outerShdw blurRad="15240" dist="50800" dir="2700000" algn="bl" rotWithShape="0">
              <a:srgbClr val="B6C0CF">
                <a:alpha val="16000"/>
              </a:srgbClr>
            </a:outerShdw>
          </a:effectLst>
        </p:spPr>
      </p:sp>
      <p:sp>
        <p:nvSpPr>
          <p:cNvPr id="6" name="Shape 5">
            <a:extLst>
              <a:ext uri="{FF2B5EF4-FFF2-40B4-BE49-F238E27FC236}">
                <a16:creationId xmlns:a16="http://schemas.microsoft.com/office/drawing/2014/main" id="{5839A9B1-E4F6-4C04-86B4-F0D1ED446D3E}"/>
              </a:ext>
            </a:extLst>
          </p:cNvPr>
          <p:cNvSpPr/>
          <p:nvPr/>
        </p:nvSpPr>
        <p:spPr>
          <a:xfrm>
            <a:off x="2336618" y="2798064"/>
            <a:ext cx="475488" cy="475488"/>
          </a:xfrm>
          <a:prstGeom prst="ellipse">
            <a:avLst/>
          </a:prstGeom>
          <a:solidFill>
            <a:srgbClr val="E7F7F6"/>
          </a:solidFill>
          <a:ln w="12700">
            <a:solidFill>
              <a:srgbClr val="E7F7F6"/>
            </a:solidFill>
            <a:prstDash val="solid"/>
          </a:ln>
        </p:spPr>
      </p:sp>
      <p:sp>
        <p:nvSpPr>
          <p:cNvPr id="9" name="Text 7">
            <a:extLst>
              <a:ext uri="{FF2B5EF4-FFF2-40B4-BE49-F238E27FC236}">
                <a16:creationId xmlns:a16="http://schemas.microsoft.com/office/drawing/2014/main" id="{D0489952-77D5-4271-9F86-A77D9FC795E1}"/>
              </a:ext>
            </a:extLst>
          </p:cNvPr>
          <p:cNvSpPr/>
          <p:nvPr/>
        </p:nvSpPr>
        <p:spPr>
          <a:xfrm>
            <a:off x="2364050" y="3273552"/>
            <a:ext cx="2658644" cy="2305726"/>
          </a:xfrm>
          <a:prstGeom prst="rect">
            <a:avLst/>
          </a:prstGeom>
          <a:noFill/>
          <a:ln/>
        </p:spPr>
        <p:txBody>
          <a:bodyPr wrap="square" lIns="254" tIns="254" rIns="254" bIns="254" rtlCol="0" anchor="t"/>
          <a:lstStyle/>
          <a:p>
            <a:pPr marL="0" indent="0">
              <a:buNone/>
            </a:pPr>
            <a:r>
              <a:rPr lang="en-US" sz="1600" dirty="0">
                <a:solidFill>
                  <a:srgbClr val="5B677A"/>
                </a:solidFill>
              </a:rPr>
              <a:t>Visible:</a:t>
            </a:r>
            <a:endParaRPr lang="en-US" sz="1600" dirty="0"/>
          </a:p>
          <a:p>
            <a:pPr marL="0" indent="0">
              <a:buNone/>
            </a:pPr>
            <a:r>
              <a:rPr lang="en-US" sz="1600" dirty="0">
                <a:solidFill>
                  <a:srgbClr val="5B677A"/>
                </a:solidFill>
              </a:rPr>
              <a:t>• Available balance</a:t>
            </a:r>
            <a:endParaRPr lang="en-US" sz="1600" dirty="0"/>
          </a:p>
          <a:p>
            <a:pPr marL="0" indent="0">
              <a:buNone/>
            </a:pPr>
            <a:r>
              <a:rPr lang="en-US" sz="1600" dirty="0">
                <a:solidFill>
                  <a:srgbClr val="5B677A"/>
                </a:solidFill>
              </a:rPr>
              <a:t>• Withdrawal amount</a:t>
            </a:r>
            <a:endParaRPr lang="en-US" sz="1600" dirty="0"/>
          </a:p>
          <a:p>
            <a:pPr marL="0" indent="0">
              <a:buNone/>
            </a:pPr>
            <a:r>
              <a:rPr lang="en-US" sz="1600" dirty="0">
                <a:solidFill>
                  <a:srgbClr val="5B677A"/>
                </a:solidFill>
              </a:rPr>
              <a:t>• Recent transactions</a:t>
            </a:r>
            <a:endParaRPr lang="en-US" sz="1600" dirty="0"/>
          </a:p>
          <a:p>
            <a:pPr marL="0" indent="0">
              <a:buNone/>
            </a:pPr>
            <a:endParaRPr lang="en-US" sz="1600" dirty="0"/>
          </a:p>
          <a:p>
            <a:pPr marL="0" indent="0">
              <a:buNone/>
            </a:pPr>
            <a:r>
              <a:rPr lang="en-US" sz="1600" dirty="0">
                <a:solidFill>
                  <a:srgbClr val="5B677A"/>
                </a:solidFill>
              </a:rPr>
              <a:t>Hidden:</a:t>
            </a:r>
            <a:endParaRPr lang="en-US" sz="1600" dirty="0"/>
          </a:p>
          <a:p>
            <a:pPr marL="0" indent="0">
              <a:buNone/>
            </a:pPr>
            <a:r>
              <a:rPr lang="en-US" sz="1600" dirty="0">
                <a:solidFill>
                  <a:srgbClr val="5B677A"/>
                </a:solidFill>
              </a:rPr>
              <a:t>• pin_hash</a:t>
            </a:r>
            <a:endParaRPr lang="en-US" sz="1600" dirty="0"/>
          </a:p>
          <a:p>
            <a:pPr marL="0" indent="0">
              <a:buNone/>
            </a:pPr>
            <a:r>
              <a:rPr lang="en-US" sz="1600" dirty="0">
                <a:solidFill>
                  <a:srgbClr val="5B677A"/>
                </a:solidFill>
              </a:rPr>
              <a:t>• Internal storage details</a:t>
            </a:r>
            <a:endParaRPr lang="en-US" sz="1600" dirty="0"/>
          </a:p>
          <a:p>
            <a:pPr marL="0" indent="0">
              <a:buNone/>
            </a:pPr>
            <a:r>
              <a:rPr lang="en-US" sz="1600" dirty="0">
                <a:solidFill>
                  <a:srgbClr val="5B677A"/>
                </a:solidFill>
              </a:rPr>
              <a:t>• Other customers’ accounts</a:t>
            </a:r>
            <a:endParaRPr lang="en-US" sz="1600" dirty="0"/>
          </a:p>
        </p:txBody>
      </p:sp>
      <p:sp>
        <p:nvSpPr>
          <p:cNvPr id="10" name="Shape 8">
            <a:extLst>
              <a:ext uri="{FF2B5EF4-FFF2-40B4-BE49-F238E27FC236}">
                <a16:creationId xmlns:a16="http://schemas.microsoft.com/office/drawing/2014/main" id="{567DC0C6-015D-4A61-8F1F-36F19CC4E12D}"/>
              </a:ext>
            </a:extLst>
          </p:cNvPr>
          <p:cNvSpPr/>
          <p:nvPr/>
        </p:nvSpPr>
        <p:spPr>
          <a:xfrm>
            <a:off x="7025160" y="2632432"/>
            <a:ext cx="3031390" cy="2946846"/>
          </a:xfrm>
          <a:prstGeom prst="roundRect">
            <a:avLst>
              <a:gd name="adj" fmla="val 4225"/>
            </a:avLst>
          </a:prstGeom>
          <a:solidFill>
            <a:srgbClr val="0C2340"/>
          </a:solidFill>
          <a:ln w="25400">
            <a:solidFill>
              <a:srgbClr val="163A63"/>
            </a:solidFill>
            <a:prstDash val="solid"/>
          </a:ln>
        </p:spPr>
      </p:sp>
      <p:sp>
        <p:nvSpPr>
          <p:cNvPr id="11" name="Shape 9">
            <a:extLst>
              <a:ext uri="{FF2B5EF4-FFF2-40B4-BE49-F238E27FC236}">
                <a16:creationId xmlns:a16="http://schemas.microsoft.com/office/drawing/2014/main" id="{43B3747D-4C36-4D66-9E3B-A818145F9F16}"/>
              </a:ext>
            </a:extLst>
          </p:cNvPr>
          <p:cNvSpPr/>
          <p:nvPr/>
        </p:nvSpPr>
        <p:spPr>
          <a:xfrm>
            <a:off x="7280750" y="2852544"/>
            <a:ext cx="2291167" cy="1062525"/>
          </a:xfrm>
          <a:prstGeom prst="roundRect">
            <a:avLst>
              <a:gd name="adj" fmla="val 4688"/>
            </a:avLst>
          </a:prstGeom>
          <a:solidFill>
            <a:srgbClr val="DDF2F0"/>
          </a:solidFill>
          <a:ln w="12700">
            <a:solidFill>
              <a:srgbClr val="DDF2F0"/>
            </a:solidFill>
            <a:prstDash val="solid"/>
          </a:ln>
        </p:spPr>
      </p:sp>
      <p:sp>
        <p:nvSpPr>
          <p:cNvPr id="12" name="Text 10">
            <a:extLst>
              <a:ext uri="{FF2B5EF4-FFF2-40B4-BE49-F238E27FC236}">
                <a16:creationId xmlns:a16="http://schemas.microsoft.com/office/drawing/2014/main" id="{967A79FC-7508-41B9-A6E6-AA96FD17FAFA}"/>
              </a:ext>
            </a:extLst>
          </p:cNvPr>
          <p:cNvSpPr/>
          <p:nvPr/>
        </p:nvSpPr>
        <p:spPr>
          <a:xfrm>
            <a:off x="7454192" y="3019216"/>
            <a:ext cx="1797685" cy="182621"/>
          </a:xfrm>
          <a:prstGeom prst="rect">
            <a:avLst/>
          </a:prstGeom>
          <a:noFill/>
          <a:ln/>
        </p:spPr>
        <p:txBody>
          <a:bodyPr wrap="square" lIns="0" tIns="0" rIns="0" bIns="0" rtlCol="0" anchor="ctr"/>
          <a:lstStyle/>
          <a:p>
            <a:pPr marL="0" indent="0" algn="ctr">
              <a:buNone/>
            </a:pPr>
            <a:r>
              <a:rPr lang="en-US" sz="1000" b="1" dirty="0">
                <a:solidFill>
                  <a:srgbClr val="0F7F7A"/>
                </a:solidFill>
              </a:rPr>
              <a:t>AVAILABLE BALANCE</a:t>
            </a:r>
            <a:endParaRPr lang="en-US" sz="1000" dirty="0"/>
          </a:p>
        </p:txBody>
      </p:sp>
      <p:sp>
        <p:nvSpPr>
          <p:cNvPr id="13" name="Text 11">
            <a:extLst>
              <a:ext uri="{FF2B5EF4-FFF2-40B4-BE49-F238E27FC236}">
                <a16:creationId xmlns:a16="http://schemas.microsoft.com/office/drawing/2014/main" id="{CFF2CB37-87CC-473B-86C8-836542C54642}"/>
              </a:ext>
            </a:extLst>
          </p:cNvPr>
          <p:cNvSpPr/>
          <p:nvPr/>
        </p:nvSpPr>
        <p:spPr>
          <a:xfrm>
            <a:off x="7471154" y="3422524"/>
            <a:ext cx="1762436" cy="282233"/>
          </a:xfrm>
          <a:prstGeom prst="rect">
            <a:avLst/>
          </a:prstGeom>
          <a:noFill/>
          <a:ln/>
        </p:spPr>
        <p:txBody>
          <a:bodyPr wrap="square" lIns="0" tIns="0" rIns="0" bIns="0" rtlCol="0" anchor="ctr"/>
          <a:lstStyle/>
          <a:p>
            <a:pPr marL="0" indent="0" algn="ctr">
              <a:buNone/>
            </a:pPr>
            <a:r>
              <a:rPr lang="en-US" sz="1900" b="1" dirty="0">
                <a:solidFill>
                  <a:srgbClr val="0C2340"/>
                </a:solidFill>
              </a:rPr>
              <a:t>PKR 65,000</a:t>
            </a:r>
            <a:endParaRPr lang="en-US" sz="1900" dirty="0"/>
          </a:p>
        </p:txBody>
      </p:sp>
      <p:sp>
        <p:nvSpPr>
          <p:cNvPr id="14" name="Text 12">
            <a:extLst>
              <a:ext uri="{FF2B5EF4-FFF2-40B4-BE49-F238E27FC236}">
                <a16:creationId xmlns:a16="http://schemas.microsoft.com/office/drawing/2014/main" id="{C574BEF6-6176-47FB-8399-6F350A0FCDEA}"/>
              </a:ext>
            </a:extLst>
          </p:cNvPr>
          <p:cNvSpPr/>
          <p:nvPr/>
        </p:nvSpPr>
        <p:spPr>
          <a:xfrm>
            <a:off x="6612653" y="5502921"/>
            <a:ext cx="3886200" cy="640080"/>
          </a:xfrm>
          <a:prstGeom prst="rect">
            <a:avLst/>
          </a:prstGeom>
          <a:noFill/>
          <a:ln/>
        </p:spPr>
        <p:txBody>
          <a:bodyPr wrap="square" lIns="0" tIns="0" rIns="0" bIns="0" rtlCol="0" anchor="ctr"/>
          <a:lstStyle/>
          <a:p>
            <a:pPr marL="0" indent="0" algn="ctr">
              <a:buNone/>
            </a:pPr>
            <a:r>
              <a:rPr lang="en-US" sz="1400" b="1" dirty="0">
                <a:solidFill>
                  <a:srgbClr val="0C2340"/>
                </a:solidFill>
              </a:rPr>
              <a:t>Different users can have different views of the same underlying database.</a:t>
            </a:r>
            <a:endParaRPr lang="en-US" sz="1400" dirty="0"/>
          </a:p>
        </p:txBody>
      </p:sp>
      <p:sp>
        <p:nvSpPr>
          <p:cNvPr id="15" name="Text 6">
            <a:extLst>
              <a:ext uri="{FF2B5EF4-FFF2-40B4-BE49-F238E27FC236}">
                <a16:creationId xmlns:a16="http://schemas.microsoft.com/office/drawing/2014/main" id="{E3CCCD46-4335-43DE-A939-A1F7ABA22217}"/>
              </a:ext>
            </a:extLst>
          </p:cNvPr>
          <p:cNvSpPr/>
          <p:nvPr/>
        </p:nvSpPr>
        <p:spPr>
          <a:xfrm>
            <a:off x="2892072" y="2852544"/>
            <a:ext cx="4133088" cy="320040"/>
          </a:xfrm>
          <a:prstGeom prst="rect">
            <a:avLst/>
          </a:prstGeom>
          <a:noFill/>
          <a:ln/>
        </p:spPr>
        <p:txBody>
          <a:bodyPr wrap="square" lIns="0" tIns="0" rIns="0" bIns="0" rtlCol="0" anchor="ctr"/>
          <a:lstStyle/>
          <a:p>
            <a:pPr marL="0" indent="0">
              <a:buNone/>
            </a:pPr>
            <a:r>
              <a:rPr lang="en-US" sz="1550" b="1" dirty="0">
                <a:solidFill>
                  <a:srgbClr val="172033"/>
                </a:solidFill>
              </a:rPr>
              <a:t>ATM Customer View</a:t>
            </a:r>
            <a:endParaRPr lang="en-US" sz="1550" dirty="0"/>
          </a:p>
        </p:txBody>
      </p:sp>
    </p:spTree>
    <p:extLst>
      <p:ext uri="{BB962C8B-B14F-4D97-AF65-F5344CB8AC3E}">
        <p14:creationId xmlns:p14="http://schemas.microsoft.com/office/powerpoint/2010/main" val="5030979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1000"/>
                                        <p:tgtEl>
                                          <p:spTgt spid="11"/>
                                        </p:tgtEl>
                                      </p:cBhvr>
                                    </p:animEffect>
                                    <p:anim calcmode="lin" valueType="num">
                                      <p:cBhvr>
                                        <p:cTn id="13" dur="1000" fill="hold"/>
                                        <p:tgtEl>
                                          <p:spTgt spid="11"/>
                                        </p:tgtEl>
                                        <p:attrNameLst>
                                          <p:attrName>ppt_x</p:attrName>
                                        </p:attrNameLst>
                                      </p:cBhvr>
                                      <p:tavLst>
                                        <p:tav tm="0">
                                          <p:val>
                                            <p:strVal val="#ppt_x"/>
                                          </p:val>
                                        </p:tav>
                                        <p:tav tm="100000">
                                          <p:val>
                                            <p:strVal val="#ppt_x"/>
                                          </p:val>
                                        </p:tav>
                                      </p:tavLst>
                                    </p:anim>
                                    <p:anim calcmode="lin" valueType="num">
                                      <p:cBhvr>
                                        <p:cTn id="14" dur="1000" fill="hold"/>
                                        <p:tgtEl>
                                          <p:spTgt spid="11"/>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1000"/>
                                        <p:tgtEl>
                                          <p:spTgt spid="12"/>
                                        </p:tgtEl>
                                      </p:cBhvr>
                                    </p:animEffect>
                                    <p:anim calcmode="lin" valueType="num">
                                      <p:cBhvr>
                                        <p:cTn id="18" dur="1000" fill="hold"/>
                                        <p:tgtEl>
                                          <p:spTgt spid="12"/>
                                        </p:tgtEl>
                                        <p:attrNameLst>
                                          <p:attrName>ppt_x</p:attrName>
                                        </p:attrNameLst>
                                      </p:cBhvr>
                                      <p:tavLst>
                                        <p:tav tm="0">
                                          <p:val>
                                            <p:strVal val="#ppt_x"/>
                                          </p:val>
                                        </p:tav>
                                        <p:tav tm="100000">
                                          <p:val>
                                            <p:strVal val="#ppt_x"/>
                                          </p:val>
                                        </p:tav>
                                      </p:tavLst>
                                    </p:anim>
                                    <p:anim calcmode="lin" valueType="num">
                                      <p:cBhvr>
                                        <p:cTn id="19" dur="1000" fill="hold"/>
                                        <p:tgtEl>
                                          <p:spTgt spid="12"/>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1000"/>
                                        <p:tgtEl>
                                          <p:spTgt spid="13"/>
                                        </p:tgtEl>
                                      </p:cBhvr>
                                    </p:animEffect>
                                    <p:anim calcmode="lin" valueType="num">
                                      <p:cBhvr>
                                        <p:cTn id="23" dur="1000" fill="hold"/>
                                        <p:tgtEl>
                                          <p:spTgt spid="13"/>
                                        </p:tgtEl>
                                        <p:attrNameLst>
                                          <p:attrName>ppt_x</p:attrName>
                                        </p:attrNameLst>
                                      </p:cBhvr>
                                      <p:tavLst>
                                        <p:tav tm="0">
                                          <p:val>
                                            <p:strVal val="#ppt_x"/>
                                          </p:val>
                                        </p:tav>
                                        <p:tav tm="100000">
                                          <p:val>
                                            <p:strVal val="#ppt_x"/>
                                          </p:val>
                                        </p:tav>
                                      </p:tavLst>
                                    </p:anim>
                                    <p:anim calcmode="lin" valueType="num">
                                      <p:cBhvr>
                                        <p:cTn id="24" dur="1000" fill="hold"/>
                                        <p:tgtEl>
                                          <p:spTgt spid="13"/>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1000"/>
                                        <p:tgtEl>
                                          <p:spTgt spid="14"/>
                                        </p:tgtEl>
                                      </p:cBhvr>
                                    </p:animEffect>
                                    <p:anim calcmode="lin" valueType="num">
                                      <p:cBhvr>
                                        <p:cTn id="28" dur="1000" fill="hold"/>
                                        <p:tgtEl>
                                          <p:spTgt spid="14"/>
                                        </p:tgtEl>
                                        <p:attrNameLst>
                                          <p:attrName>ppt_x</p:attrName>
                                        </p:attrNameLst>
                                      </p:cBhvr>
                                      <p:tavLst>
                                        <p:tav tm="0">
                                          <p:val>
                                            <p:strVal val="#ppt_x"/>
                                          </p:val>
                                        </p:tav>
                                        <p:tav tm="100000">
                                          <p:val>
                                            <p:strVal val="#ppt_x"/>
                                          </p:val>
                                        </p:tav>
                                      </p:tavLst>
                                    </p:anim>
                                    <p:anim calcmode="lin" valueType="num">
                                      <p:cBhvr>
                                        <p:cTn id="29"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nodeType="clickEffect">
                                  <p:stCondLst>
                                    <p:cond delay="0"/>
                                  </p:stCondLst>
                                  <p:childTnLst>
                                    <p:set>
                                      <p:cBhvr>
                                        <p:cTn id="33" dur="1" fill="hold">
                                          <p:stCondLst>
                                            <p:cond delay="0"/>
                                          </p:stCondLst>
                                        </p:cTn>
                                        <p:tgtEl>
                                          <p:spTgt spid="5"/>
                                        </p:tgtEl>
                                        <p:attrNameLst>
                                          <p:attrName>style.visibility</p:attrName>
                                        </p:attrNameLst>
                                      </p:cBhvr>
                                      <p:to>
                                        <p:strVal val="visible"/>
                                      </p:to>
                                    </p:set>
                                    <p:animEffect transition="in" filter="fade">
                                      <p:cBhvr>
                                        <p:cTn id="34" dur="1000"/>
                                        <p:tgtEl>
                                          <p:spTgt spid="5"/>
                                        </p:tgtEl>
                                      </p:cBhvr>
                                    </p:animEffect>
                                    <p:anim calcmode="lin" valueType="num">
                                      <p:cBhvr>
                                        <p:cTn id="35" dur="1000" fill="hold"/>
                                        <p:tgtEl>
                                          <p:spTgt spid="5"/>
                                        </p:tgtEl>
                                        <p:attrNameLst>
                                          <p:attrName>ppt_x</p:attrName>
                                        </p:attrNameLst>
                                      </p:cBhvr>
                                      <p:tavLst>
                                        <p:tav tm="0">
                                          <p:val>
                                            <p:strVal val="#ppt_x"/>
                                          </p:val>
                                        </p:tav>
                                        <p:tav tm="100000">
                                          <p:val>
                                            <p:strVal val="#ppt_x"/>
                                          </p:val>
                                        </p:tav>
                                      </p:tavLst>
                                    </p:anim>
                                    <p:anim calcmode="lin" valueType="num">
                                      <p:cBhvr>
                                        <p:cTn id="36" dur="1000" fill="hold"/>
                                        <p:tgtEl>
                                          <p:spTgt spid="5"/>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6"/>
                                        </p:tgtEl>
                                        <p:attrNameLst>
                                          <p:attrName>style.visibility</p:attrName>
                                        </p:attrNameLst>
                                      </p:cBhvr>
                                      <p:to>
                                        <p:strVal val="visible"/>
                                      </p:to>
                                    </p:set>
                                    <p:animEffect transition="in" filter="fade">
                                      <p:cBhvr>
                                        <p:cTn id="39" dur="1000"/>
                                        <p:tgtEl>
                                          <p:spTgt spid="6"/>
                                        </p:tgtEl>
                                      </p:cBhvr>
                                    </p:animEffect>
                                    <p:anim calcmode="lin" valueType="num">
                                      <p:cBhvr>
                                        <p:cTn id="40" dur="1000" fill="hold"/>
                                        <p:tgtEl>
                                          <p:spTgt spid="6"/>
                                        </p:tgtEl>
                                        <p:attrNameLst>
                                          <p:attrName>ppt_x</p:attrName>
                                        </p:attrNameLst>
                                      </p:cBhvr>
                                      <p:tavLst>
                                        <p:tav tm="0">
                                          <p:val>
                                            <p:strVal val="#ppt_x"/>
                                          </p:val>
                                        </p:tav>
                                        <p:tav tm="100000">
                                          <p:val>
                                            <p:strVal val="#ppt_x"/>
                                          </p:val>
                                        </p:tav>
                                      </p:tavLst>
                                    </p:anim>
                                    <p:anim calcmode="lin" valueType="num">
                                      <p:cBhvr>
                                        <p:cTn id="41" dur="1000" fill="hold"/>
                                        <p:tgtEl>
                                          <p:spTgt spid="6"/>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9"/>
                                        </p:tgtEl>
                                        <p:attrNameLst>
                                          <p:attrName>style.visibility</p:attrName>
                                        </p:attrNameLst>
                                      </p:cBhvr>
                                      <p:to>
                                        <p:strVal val="visible"/>
                                      </p:to>
                                    </p:set>
                                    <p:animEffect transition="in" filter="fade">
                                      <p:cBhvr>
                                        <p:cTn id="44" dur="1000"/>
                                        <p:tgtEl>
                                          <p:spTgt spid="9"/>
                                        </p:tgtEl>
                                      </p:cBhvr>
                                    </p:animEffect>
                                    <p:anim calcmode="lin" valueType="num">
                                      <p:cBhvr>
                                        <p:cTn id="45" dur="1000" fill="hold"/>
                                        <p:tgtEl>
                                          <p:spTgt spid="9"/>
                                        </p:tgtEl>
                                        <p:attrNameLst>
                                          <p:attrName>ppt_x</p:attrName>
                                        </p:attrNameLst>
                                      </p:cBhvr>
                                      <p:tavLst>
                                        <p:tav tm="0">
                                          <p:val>
                                            <p:strVal val="#ppt_x"/>
                                          </p:val>
                                        </p:tav>
                                        <p:tav tm="100000">
                                          <p:val>
                                            <p:strVal val="#ppt_x"/>
                                          </p:val>
                                        </p:tav>
                                      </p:tavLst>
                                    </p:anim>
                                    <p:anim calcmode="lin" valueType="num">
                                      <p:cBhvr>
                                        <p:cTn id="46" dur="1000" fill="hold"/>
                                        <p:tgtEl>
                                          <p:spTgt spid="9"/>
                                        </p:tgtEl>
                                        <p:attrNameLst>
                                          <p:attrName>ppt_y</p:attrName>
                                        </p:attrNameLst>
                                      </p:cBhvr>
                                      <p:tavLst>
                                        <p:tav tm="0">
                                          <p:val>
                                            <p:strVal val="#ppt_y+.1"/>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15"/>
                                        </p:tgtEl>
                                        <p:attrNameLst>
                                          <p:attrName>style.visibility</p:attrName>
                                        </p:attrNameLst>
                                      </p:cBhvr>
                                      <p:to>
                                        <p:strVal val="visible"/>
                                      </p:to>
                                    </p:set>
                                    <p:animEffect transition="in" filter="fade">
                                      <p:cBhvr>
                                        <p:cTn id="49" dur="1000"/>
                                        <p:tgtEl>
                                          <p:spTgt spid="15"/>
                                        </p:tgtEl>
                                      </p:cBhvr>
                                    </p:animEffect>
                                    <p:anim calcmode="lin" valueType="num">
                                      <p:cBhvr>
                                        <p:cTn id="50" dur="1000" fill="hold"/>
                                        <p:tgtEl>
                                          <p:spTgt spid="15"/>
                                        </p:tgtEl>
                                        <p:attrNameLst>
                                          <p:attrName>ppt_x</p:attrName>
                                        </p:attrNameLst>
                                      </p:cBhvr>
                                      <p:tavLst>
                                        <p:tav tm="0">
                                          <p:val>
                                            <p:strVal val="#ppt_x"/>
                                          </p:val>
                                        </p:tav>
                                        <p:tav tm="100000">
                                          <p:val>
                                            <p:strVal val="#ppt_x"/>
                                          </p:val>
                                        </p:tav>
                                      </p:tavLst>
                                    </p:anim>
                                    <p:anim calcmode="lin" valueType="num">
                                      <p:cBhvr>
                                        <p:cTn id="51"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2" grpId="0" animBg="1"/>
      <p:bldP spid="13" grpId="0" animBg="1"/>
      <p:bldP spid="14" grpId="0" animBg="1"/>
      <p:bldP spid="1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E07DFB-6374-4A42-94BA-FB6DF2BAAE87}"/>
              </a:ext>
            </a:extLst>
          </p:cNvPr>
          <p:cNvSpPr>
            <a:spLocks noGrp="1"/>
          </p:cNvSpPr>
          <p:nvPr>
            <p:ph type="title"/>
          </p:nvPr>
        </p:nvSpPr>
        <p:spPr/>
        <p:txBody>
          <a:bodyPr/>
          <a:lstStyle/>
          <a:p>
            <a:r>
              <a:rPr lang="en-GB" b="1" dirty="0"/>
              <a:t>Conceptual or Logical Level</a:t>
            </a:r>
            <a:endParaRPr lang="en-PK" dirty="0"/>
          </a:p>
        </p:txBody>
      </p:sp>
      <p:sp>
        <p:nvSpPr>
          <p:cNvPr id="3" name="Content Placeholder 2">
            <a:extLst>
              <a:ext uri="{FF2B5EF4-FFF2-40B4-BE49-F238E27FC236}">
                <a16:creationId xmlns:a16="http://schemas.microsoft.com/office/drawing/2014/main" id="{FBD595DC-BC14-4F56-BA83-06676B3FC8C2}"/>
              </a:ext>
            </a:extLst>
          </p:cNvPr>
          <p:cNvSpPr>
            <a:spLocks noGrp="1"/>
          </p:cNvSpPr>
          <p:nvPr>
            <p:ph idx="1"/>
          </p:nvPr>
        </p:nvSpPr>
        <p:spPr/>
        <p:txBody>
          <a:bodyPr/>
          <a:lstStyle/>
          <a:p>
            <a:pPr marL="0" indent="0">
              <a:buNone/>
            </a:pPr>
            <a:r>
              <a:rPr lang="en-GB" dirty="0"/>
              <a:t>Describes the complete logical structure of the database.</a:t>
            </a:r>
          </a:p>
          <a:p>
            <a:pPr marL="0" indent="0">
              <a:buNone/>
            </a:pPr>
            <a:r>
              <a:rPr lang="en-GB" dirty="0"/>
              <a:t>	</a:t>
            </a:r>
            <a:endParaRPr lang="en-PK" dirty="0"/>
          </a:p>
        </p:txBody>
      </p:sp>
      <p:sp>
        <p:nvSpPr>
          <p:cNvPr id="5" name="TextBox 4">
            <a:extLst>
              <a:ext uri="{FF2B5EF4-FFF2-40B4-BE49-F238E27FC236}">
                <a16:creationId xmlns:a16="http://schemas.microsoft.com/office/drawing/2014/main" id="{9EEBE896-030F-4980-A586-AD9B332C428B}"/>
              </a:ext>
            </a:extLst>
          </p:cNvPr>
          <p:cNvSpPr txBox="1"/>
          <p:nvPr/>
        </p:nvSpPr>
        <p:spPr>
          <a:xfrm>
            <a:off x="897276" y="4637612"/>
            <a:ext cx="9760028" cy="1569660"/>
          </a:xfrm>
          <a:prstGeom prst="rect">
            <a:avLst/>
          </a:prstGeom>
          <a:noFill/>
        </p:spPr>
        <p:txBody>
          <a:bodyPr wrap="square">
            <a:spAutoFit/>
          </a:bodyPr>
          <a:lstStyle/>
          <a:p>
            <a:r>
              <a:rPr lang="en-GB" sz="2400" dirty="0"/>
              <a:t>CUSTOMER ──owns──► ACCOUNT </a:t>
            </a:r>
          </a:p>
          <a:p>
            <a:r>
              <a:rPr lang="en-GB" sz="2400" dirty="0"/>
              <a:t>ACCOUNT ──uses──► CARD </a:t>
            </a:r>
          </a:p>
          <a:p>
            <a:r>
              <a:rPr lang="en-GB" sz="2400" dirty="0"/>
              <a:t>CARD ──creates──► ATM_TRANSACTION </a:t>
            </a:r>
          </a:p>
          <a:p>
            <a:r>
              <a:rPr lang="en-GB" sz="2400" dirty="0"/>
              <a:t>ATM_TRANSACTION ──occurs at──► ATM_MACHINE</a:t>
            </a:r>
            <a:endParaRPr lang="en-PK" sz="2400" dirty="0"/>
          </a:p>
        </p:txBody>
      </p:sp>
      <p:sp>
        <p:nvSpPr>
          <p:cNvPr id="6" name="Shape 4">
            <a:extLst>
              <a:ext uri="{FF2B5EF4-FFF2-40B4-BE49-F238E27FC236}">
                <a16:creationId xmlns:a16="http://schemas.microsoft.com/office/drawing/2014/main" id="{778872F1-FD7F-41DC-8BC0-CC283E93A51C}"/>
              </a:ext>
            </a:extLst>
          </p:cNvPr>
          <p:cNvSpPr/>
          <p:nvPr/>
        </p:nvSpPr>
        <p:spPr>
          <a:xfrm>
            <a:off x="643368" y="2999906"/>
            <a:ext cx="1828800" cy="1143000"/>
          </a:xfrm>
          <a:prstGeom prst="roundRect">
            <a:avLst>
              <a:gd name="adj" fmla="val 4000"/>
            </a:avLst>
          </a:prstGeom>
          <a:solidFill>
            <a:srgbClr val="E7F7F6"/>
          </a:solidFill>
          <a:ln w="12700">
            <a:solidFill>
              <a:srgbClr val="D8E0EB"/>
            </a:solidFill>
            <a:prstDash val="solid"/>
          </a:ln>
        </p:spPr>
      </p:sp>
      <p:sp>
        <p:nvSpPr>
          <p:cNvPr id="7" name="Text 5">
            <a:extLst>
              <a:ext uri="{FF2B5EF4-FFF2-40B4-BE49-F238E27FC236}">
                <a16:creationId xmlns:a16="http://schemas.microsoft.com/office/drawing/2014/main" id="{7288139C-B6AD-491E-AAF2-24BF6DF4DD4B}"/>
              </a:ext>
            </a:extLst>
          </p:cNvPr>
          <p:cNvSpPr/>
          <p:nvPr/>
        </p:nvSpPr>
        <p:spPr>
          <a:xfrm>
            <a:off x="716520" y="3255938"/>
            <a:ext cx="1682496" cy="219456"/>
          </a:xfrm>
          <a:prstGeom prst="rect">
            <a:avLst/>
          </a:prstGeom>
          <a:noFill/>
          <a:ln/>
        </p:spPr>
        <p:txBody>
          <a:bodyPr wrap="square" lIns="0" tIns="0" rIns="0" bIns="0" rtlCol="0" anchor="ctr"/>
          <a:lstStyle/>
          <a:p>
            <a:pPr marL="0" indent="0" algn="ctr">
              <a:buNone/>
            </a:pPr>
            <a:r>
              <a:rPr lang="en-US" sz="2000" b="1" dirty="0">
                <a:solidFill>
                  <a:srgbClr val="172033"/>
                </a:solidFill>
              </a:rPr>
              <a:t>CUSTOMER</a:t>
            </a:r>
            <a:endParaRPr lang="en-US" sz="2000" dirty="0"/>
          </a:p>
        </p:txBody>
      </p:sp>
      <p:sp>
        <p:nvSpPr>
          <p:cNvPr id="8" name="Text 6">
            <a:extLst>
              <a:ext uri="{FF2B5EF4-FFF2-40B4-BE49-F238E27FC236}">
                <a16:creationId xmlns:a16="http://schemas.microsoft.com/office/drawing/2014/main" id="{D0B1F2ED-C0B1-4BC9-8311-FFAFF5ACD7A6}"/>
              </a:ext>
            </a:extLst>
          </p:cNvPr>
          <p:cNvSpPr/>
          <p:nvPr/>
        </p:nvSpPr>
        <p:spPr>
          <a:xfrm>
            <a:off x="734808" y="3658274"/>
            <a:ext cx="1645920" cy="228600"/>
          </a:xfrm>
          <a:prstGeom prst="rect">
            <a:avLst/>
          </a:prstGeom>
          <a:noFill/>
          <a:ln/>
        </p:spPr>
        <p:txBody>
          <a:bodyPr wrap="square" lIns="0" tIns="0" rIns="0" bIns="0" rtlCol="0" anchor="ctr"/>
          <a:lstStyle/>
          <a:p>
            <a:pPr marL="0" indent="0" algn="ctr">
              <a:buNone/>
            </a:pPr>
            <a:r>
              <a:rPr lang="en-US" sz="1200" dirty="0">
                <a:solidFill>
                  <a:srgbClr val="5B677A"/>
                </a:solidFill>
              </a:rPr>
              <a:t>customer_id • name</a:t>
            </a:r>
            <a:endParaRPr lang="en-US" sz="1200" dirty="0"/>
          </a:p>
        </p:txBody>
      </p:sp>
      <p:sp>
        <p:nvSpPr>
          <p:cNvPr id="9" name="Shape 7">
            <a:extLst>
              <a:ext uri="{FF2B5EF4-FFF2-40B4-BE49-F238E27FC236}">
                <a16:creationId xmlns:a16="http://schemas.microsoft.com/office/drawing/2014/main" id="{1C4030D7-792D-4A9B-9B7C-C51185A0D266}"/>
              </a:ext>
            </a:extLst>
          </p:cNvPr>
          <p:cNvSpPr/>
          <p:nvPr/>
        </p:nvSpPr>
        <p:spPr>
          <a:xfrm>
            <a:off x="2490456" y="3566834"/>
            <a:ext cx="320040" cy="0"/>
          </a:xfrm>
          <a:prstGeom prst="line">
            <a:avLst/>
          </a:prstGeom>
          <a:noFill/>
          <a:ln w="17780">
            <a:solidFill>
              <a:srgbClr val="16A6A1"/>
            </a:solidFill>
            <a:prstDash val="solid"/>
            <a:headEnd type="none"/>
            <a:tailEnd type="triangle"/>
          </a:ln>
        </p:spPr>
      </p:sp>
      <p:sp>
        <p:nvSpPr>
          <p:cNvPr id="10" name="Shape 8">
            <a:extLst>
              <a:ext uri="{FF2B5EF4-FFF2-40B4-BE49-F238E27FC236}">
                <a16:creationId xmlns:a16="http://schemas.microsoft.com/office/drawing/2014/main" id="{C9C4E183-6425-42A4-9F83-E89632F36E81}"/>
              </a:ext>
            </a:extLst>
          </p:cNvPr>
          <p:cNvSpPr/>
          <p:nvPr/>
        </p:nvSpPr>
        <p:spPr>
          <a:xfrm>
            <a:off x="2911080" y="2999906"/>
            <a:ext cx="1828800" cy="1143000"/>
          </a:xfrm>
          <a:prstGeom prst="roundRect">
            <a:avLst>
              <a:gd name="adj" fmla="val 4000"/>
            </a:avLst>
          </a:prstGeom>
          <a:solidFill>
            <a:srgbClr val="EAF2FF"/>
          </a:solidFill>
          <a:ln w="12700">
            <a:solidFill>
              <a:srgbClr val="D8E0EB"/>
            </a:solidFill>
            <a:prstDash val="solid"/>
          </a:ln>
        </p:spPr>
      </p:sp>
      <p:sp>
        <p:nvSpPr>
          <p:cNvPr id="11" name="Text 9">
            <a:extLst>
              <a:ext uri="{FF2B5EF4-FFF2-40B4-BE49-F238E27FC236}">
                <a16:creationId xmlns:a16="http://schemas.microsoft.com/office/drawing/2014/main" id="{218AF2A8-C079-4F4A-A7D9-D1DB777DA842}"/>
              </a:ext>
            </a:extLst>
          </p:cNvPr>
          <p:cNvSpPr/>
          <p:nvPr/>
        </p:nvSpPr>
        <p:spPr>
          <a:xfrm>
            <a:off x="2984232" y="3255938"/>
            <a:ext cx="1682496" cy="219456"/>
          </a:xfrm>
          <a:prstGeom prst="rect">
            <a:avLst/>
          </a:prstGeom>
          <a:noFill/>
          <a:ln/>
        </p:spPr>
        <p:txBody>
          <a:bodyPr wrap="square" lIns="0" tIns="0" rIns="0" bIns="0" rtlCol="0" anchor="ctr"/>
          <a:lstStyle/>
          <a:p>
            <a:pPr marL="0" indent="0" algn="ctr">
              <a:buNone/>
            </a:pPr>
            <a:r>
              <a:rPr lang="en-US" sz="2000" b="1" dirty="0">
                <a:solidFill>
                  <a:srgbClr val="172033"/>
                </a:solidFill>
              </a:rPr>
              <a:t>ACCOUNT</a:t>
            </a:r>
            <a:endParaRPr lang="en-US" sz="2000" dirty="0"/>
          </a:p>
        </p:txBody>
      </p:sp>
      <p:sp>
        <p:nvSpPr>
          <p:cNvPr id="12" name="Text 10">
            <a:extLst>
              <a:ext uri="{FF2B5EF4-FFF2-40B4-BE49-F238E27FC236}">
                <a16:creationId xmlns:a16="http://schemas.microsoft.com/office/drawing/2014/main" id="{0B9733FD-322D-4047-994E-2CF1B20187BF}"/>
              </a:ext>
            </a:extLst>
          </p:cNvPr>
          <p:cNvSpPr/>
          <p:nvPr/>
        </p:nvSpPr>
        <p:spPr>
          <a:xfrm>
            <a:off x="3002520" y="3658274"/>
            <a:ext cx="1645920" cy="228600"/>
          </a:xfrm>
          <a:prstGeom prst="rect">
            <a:avLst/>
          </a:prstGeom>
          <a:noFill/>
          <a:ln/>
        </p:spPr>
        <p:txBody>
          <a:bodyPr wrap="square" lIns="0" tIns="0" rIns="0" bIns="0" rtlCol="0" anchor="ctr"/>
          <a:lstStyle/>
          <a:p>
            <a:pPr marL="0" indent="0" algn="ctr">
              <a:buNone/>
            </a:pPr>
            <a:r>
              <a:rPr lang="en-US" sz="1200" dirty="0">
                <a:solidFill>
                  <a:srgbClr val="5B677A"/>
                </a:solidFill>
              </a:rPr>
              <a:t>account_no • balance</a:t>
            </a:r>
            <a:endParaRPr lang="en-US" sz="1200" dirty="0"/>
          </a:p>
        </p:txBody>
      </p:sp>
      <p:sp>
        <p:nvSpPr>
          <p:cNvPr id="13" name="Shape 11">
            <a:extLst>
              <a:ext uri="{FF2B5EF4-FFF2-40B4-BE49-F238E27FC236}">
                <a16:creationId xmlns:a16="http://schemas.microsoft.com/office/drawing/2014/main" id="{1101EDB4-A2E2-40B3-8AFE-5F35E25C210C}"/>
              </a:ext>
            </a:extLst>
          </p:cNvPr>
          <p:cNvSpPr/>
          <p:nvPr/>
        </p:nvSpPr>
        <p:spPr>
          <a:xfrm>
            <a:off x="4758168" y="3566834"/>
            <a:ext cx="320040" cy="0"/>
          </a:xfrm>
          <a:prstGeom prst="line">
            <a:avLst/>
          </a:prstGeom>
          <a:noFill/>
          <a:ln w="17780">
            <a:solidFill>
              <a:srgbClr val="16A6A1"/>
            </a:solidFill>
            <a:prstDash val="solid"/>
            <a:headEnd type="none"/>
            <a:tailEnd type="triangle"/>
          </a:ln>
        </p:spPr>
      </p:sp>
      <p:sp>
        <p:nvSpPr>
          <p:cNvPr id="14" name="Shape 12">
            <a:extLst>
              <a:ext uri="{FF2B5EF4-FFF2-40B4-BE49-F238E27FC236}">
                <a16:creationId xmlns:a16="http://schemas.microsoft.com/office/drawing/2014/main" id="{06300742-25CC-4675-97C5-E5ABE73E93B3}"/>
              </a:ext>
            </a:extLst>
          </p:cNvPr>
          <p:cNvSpPr/>
          <p:nvPr/>
        </p:nvSpPr>
        <p:spPr>
          <a:xfrm>
            <a:off x="5178792" y="2999906"/>
            <a:ext cx="1828800" cy="1143000"/>
          </a:xfrm>
          <a:prstGeom prst="roundRect">
            <a:avLst>
              <a:gd name="adj" fmla="val 4000"/>
            </a:avLst>
          </a:prstGeom>
          <a:solidFill>
            <a:srgbClr val="E7F7F6"/>
          </a:solidFill>
          <a:ln w="12700">
            <a:solidFill>
              <a:srgbClr val="D8E0EB"/>
            </a:solidFill>
            <a:prstDash val="solid"/>
          </a:ln>
        </p:spPr>
      </p:sp>
      <p:sp>
        <p:nvSpPr>
          <p:cNvPr id="15" name="Text 13">
            <a:extLst>
              <a:ext uri="{FF2B5EF4-FFF2-40B4-BE49-F238E27FC236}">
                <a16:creationId xmlns:a16="http://schemas.microsoft.com/office/drawing/2014/main" id="{AFE19ACC-5658-4783-9558-1D53A59E87A2}"/>
              </a:ext>
            </a:extLst>
          </p:cNvPr>
          <p:cNvSpPr/>
          <p:nvPr/>
        </p:nvSpPr>
        <p:spPr>
          <a:xfrm>
            <a:off x="5251944" y="3255938"/>
            <a:ext cx="1682496" cy="219456"/>
          </a:xfrm>
          <a:prstGeom prst="rect">
            <a:avLst/>
          </a:prstGeom>
          <a:noFill/>
          <a:ln/>
        </p:spPr>
        <p:txBody>
          <a:bodyPr wrap="square" lIns="0" tIns="0" rIns="0" bIns="0" rtlCol="0" anchor="ctr"/>
          <a:lstStyle/>
          <a:p>
            <a:pPr marL="0" indent="0" algn="ctr">
              <a:buNone/>
            </a:pPr>
            <a:r>
              <a:rPr lang="en-US" sz="2000" b="1" dirty="0">
                <a:solidFill>
                  <a:srgbClr val="172033"/>
                </a:solidFill>
              </a:rPr>
              <a:t>CARD</a:t>
            </a:r>
            <a:endParaRPr lang="en-US" sz="2000" dirty="0"/>
          </a:p>
        </p:txBody>
      </p:sp>
      <p:sp>
        <p:nvSpPr>
          <p:cNvPr id="16" name="Text 14">
            <a:extLst>
              <a:ext uri="{FF2B5EF4-FFF2-40B4-BE49-F238E27FC236}">
                <a16:creationId xmlns:a16="http://schemas.microsoft.com/office/drawing/2014/main" id="{18CEE42C-64AF-4F7B-B47D-B95A26A79AC3}"/>
              </a:ext>
            </a:extLst>
          </p:cNvPr>
          <p:cNvSpPr/>
          <p:nvPr/>
        </p:nvSpPr>
        <p:spPr>
          <a:xfrm>
            <a:off x="5270232" y="3658274"/>
            <a:ext cx="1645920" cy="228600"/>
          </a:xfrm>
          <a:prstGeom prst="rect">
            <a:avLst/>
          </a:prstGeom>
          <a:noFill/>
          <a:ln/>
        </p:spPr>
        <p:txBody>
          <a:bodyPr wrap="square" lIns="0" tIns="0" rIns="0" bIns="0" rtlCol="0" anchor="ctr"/>
          <a:lstStyle/>
          <a:p>
            <a:pPr marL="0" indent="0" algn="ctr">
              <a:buNone/>
            </a:pPr>
            <a:r>
              <a:rPr lang="en-US" sz="1200" dirty="0">
                <a:solidFill>
                  <a:srgbClr val="5B677A"/>
                </a:solidFill>
              </a:rPr>
              <a:t>card_no • expiry</a:t>
            </a:r>
            <a:endParaRPr lang="en-US" sz="1200" dirty="0"/>
          </a:p>
        </p:txBody>
      </p:sp>
      <p:sp>
        <p:nvSpPr>
          <p:cNvPr id="17" name="Shape 15">
            <a:extLst>
              <a:ext uri="{FF2B5EF4-FFF2-40B4-BE49-F238E27FC236}">
                <a16:creationId xmlns:a16="http://schemas.microsoft.com/office/drawing/2014/main" id="{588E25F4-1058-4229-B5F1-CF6B33AE8EA1}"/>
              </a:ext>
            </a:extLst>
          </p:cNvPr>
          <p:cNvSpPr/>
          <p:nvPr/>
        </p:nvSpPr>
        <p:spPr>
          <a:xfrm>
            <a:off x="7025880" y="3566834"/>
            <a:ext cx="320040" cy="0"/>
          </a:xfrm>
          <a:prstGeom prst="line">
            <a:avLst/>
          </a:prstGeom>
          <a:noFill/>
          <a:ln w="17780">
            <a:solidFill>
              <a:srgbClr val="16A6A1"/>
            </a:solidFill>
            <a:prstDash val="solid"/>
            <a:headEnd type="none"/>
            <a:tailEnd type="triangle"/>
          </a:ln>
        </p:spPr>
      </p:sp>
      <p:sp>
        <p:nvSpPr>
          <p:cNvPr id="18" name="Shape 16">
            <a:extLst>
              <a:ext uri="{FF2B5EF4-FFF2-40B4-BE49-F238E27FC236}">
                <a16:creationId xmlns:a16="http://schemas.microsoft.com/office/drawing/2014/main" id="{EB223926-1CA2-4396-AC89-2A771C57DB93}"/>
              </a:ext>
            </a:extLst>
          </p:cNvPr>
          <p:cNvSpPr/>
          <p:nvPr/>
        </p:nvSpPr>
        <p:spPr>
          <a:xfrm>
            <a:off x="7446504" y="2999906"/>
            <a:ext cx="1828800" cy="1143000"/>
          </a:xfrm>
          <a:prstGeom prst="roundRect">
            <a:avLst>
              <a:gd name="adj" fmla="val 4000"/>
            </a:avLst>
          </a:prstGeom>
          <a:solidFill>
            <a:srgbClr val="EAF2FF"/>
          </a:solidFill>
          <a:ln w="12700">
            <a:solidFill>
              <a:srgbClr val="D8E0EB"/>
            </a:solidFill>
            <a:prstDash val="solid"/>
          </a:ln>
        </p:spPr>
      </p:sp>
      <p:sp>
        <p:nvSpPr>
          <p:cNvPr id="19" name="Text 17">
            <a:extLst>
              <a:ext uri="{FF2B5EF4-FFF2-40B4-BE49-F238E27FC236}">
                <a16:creationId xmlns:a16="http://schemas.microsoft.com/office/drawing/2014/main" id="{D9172F75-1636-41FA-B22A-A846EF4A6829}"/>
              </a:ext>
            </a:extLst>
          </p:cNvPr>
          <p:cNvSpPr/>
          <p:nvPr/>
        </p:nvSpPr>
        <p:spPr>
          <a:xfrm>
            <a:off x="7519656" y="3255938"/>
            <a:ext cx="1682496" cy="219456"/>
          </a:xfrm>
          <a:prstGeom prst="rect">
            <a:avLst/>
          </a:prstGeom>
          <a:noFill/>
          <a:ln/>
        </p:spPr>
        <p:txBody>
          <a:bodyPr wrap="square" lIns="0" tIns="0" rIns="0" bIns="0" rtlCol="0" anchor="ctr"/>
          <a:lstStyle/>
          <a:p>
            <a:pPr marL="0" indent="0" algn="ctr">
              <a:buNone/>
            </a:pPr>
            <a:r>
              <a:rPr lang="en-US" sz="1400" b="1" dirty="0">
                <a:solidFill>
                  <a:srgbClr val="172033"/>
                </a:solidFill>
              </a:rPr>
              <a:t>ATM_TRANSACTION</a:t>
            </a:r>
            <a:endParaRPr lang="en-US" sz="1400" dirty="0"/>
          </a:p>
        </p:txBody>
      </p:sp>
      <p:sp>
        <p:nvSpPr>
          <p:cNvPr id="20" name="Text 18">
            <a:extLst>
              <a:ext uri="{FF2B5EF4-FFF2-40B4-BE49-F238E27FC236}">
                <a16:creationId xmlns:a16="http://schemas.microsoft.com/office/drawing/2014/main" id="{3004C3F5-30A4-4AD2-96A6-629D26B9DA43}"/>
              </a:ext>
            </a:extLst>
          </p:cNvPr>
          <p:cNvSpPr/>
          <p:nvPr/>
        </p:nvSpPr>
        <p:spPr>
          <a:xfrm>
            <a:off x="7537944" y="3658274"/>
            <a:ext cx="1645920" cy="228600"/>
          </a:xfrm>
          <a:prstGeom prst="rect">
            <a:avLst/>
          </a:prstGeom>
          <a:noFill/>
          <a:ln/>
        </p:spPr>
        <p:txBody>
          <a:bodyPr wrap="square" lIns="0" tIns="0" rIns="0" bIns="0" rtlCol="0" anchor="ctr"/>
          <a:lstStyle/>
          <a:p>
            <a:pPr marL="0" indent="0" algn="ctr">
              <a:buNone/>
            </a:pPr>
            <a:r>
              <a:rPr lang="en-US" sz="1200" dirty="0">
                <a:solidFill>
                  <a:srgbClr val="5B677A"/>
                </a:solidFill>
              </a:rPr>
              <a:t>transaction_id • amount</a:t>
            </a:r>
            <a:endParaRPr lang="en-US" sz="1200" dirty="0"/>
          </a:p>
        </p:txBody>
      </p:sp>
      <p:sp>
        <p:nvSpPr>
          <p:cNvPr id="21" name="Shape 19">
            <a:extLst>
              <a:ext uri="{FF2B5EF4-FFF2-40B4-BE49-F238E27FC236}">
                <a16:creationId xmlns:a16="http://schemas.microsoft.com/office/drawing/2014/main" id="{659D1838-83B2-4336-BBFA-BF54F754FC7C}"/>
              </a:ext>
            </a:extLst>
          </p:cNvPr>
          <p:cNvSpPr/>
          <p:nvPr/>
        </p:nvSpPr>
        <p:spPr>
          <a:xfrm>
            <a:off x="9293592" y="3566834"/>
            <a:ext cx="320040" cy="0"/>
          </a:xfrm>
          <a:prstGeom prst="line">
            <a:avLst/>
          </a:prstGeom>
          <a:noFill/>
          <a:ln w="17780">
            <a:solidFill>
              <a:srgbClr val="16A6A1"/>
            </a:solidFill>
            <a:prstDash val="solid"/>
            <a:headEnd type="none"/>
            <a:tailEnd type="triangle"/>
          </a:ln>
        </p:spPr>
      </p:sp>
      <p:sp>
        <p:nvSpPr>
          <p:cNvPr id="22" name="Shape 20">
            <a:extLst>
              <a:ext uri="{FF2B5EF4-FFF2-40B4-BE49-F238E27FC236}">
                <a16:creationId xmlns:a16="http://schemas.microsoft.com/office/drawing/2014/main" id="{36995EBF-C66C-459A-9197-216386487519}"/>
              </a:ext>
            </a:extLst>
          </p:cNvPr>
          <p:cNvSpPr/>
          <p:nvPr/>
        </p:nvSpPr>
        <p:spPr>
          <a:xfrm>
            <a:off x="9714216" y="2999906"/>
            <a:ext cx="1828800" cy="1143000"/>
          </a:xfrm>
          <a:prstGeom prst="roundRect">
            <a:avLst>
              <a:gd name="adj" fmla="val 4000"/>
            </a:avLst>
          </a:prstGeom>
          <a:solidFill>
            <a:srgbClr val="E7F7F6"/>
          </a:solidFill>
          <a:ln w="12700">
            <a:solidFill>
              <a:srgbClr val="D8E0EB"/>
            </a:solidFill>
            <a:prstDash val="solid"/>
          </a:ln>
        </p:spPr>
      </p:sp>
      <p:sp>
        <p:nvSpPr>
          <p:cNvPr id="23" name="Text 21">
            <a:extLst>
              <a:ext uri="{FF2B5EF4-FFF2-40B4-BE49-F238E27FC236}">
                <a16:creationId xmlns:a16="http://schemas.microsoft.com/office/drawing/2014/main" id="{F02176EC-3C8E-43F3-9FA0-5C9784264F60}"/>
              </a:ext>
            </a:extLst>
          </p:cNvPr>
          <p:cNvSpPr/>
          <p:nvPr/>
        </p:nvSpPr>
        <p:spPr>
          <a:xfrm>
            <a:off x="9787368" y="3255938"/>
            <a:ext cx="1682496" cy="219456"/>
          </a:xfrm>
          <a:prstGeom prst="rect">
            <a:avLst/>
          </a:prstGeom>
          <a:noFill/>
          <a:ln/>
        </p:spPr>
        <p:txBody>
          <a:bodyPr wrap="square" lIns="0" tIns="0" rIns="0" bIns="0" rtlCol="0" anchor="ctr"/>
          <a:lstStyle/>
          <a:p>
            <a:pPr marL="0" indent="0" algn="ctr">
              <a:buNone/>
            </a:pPr>
            <a:r>
              <a:rPr lang="en-US" b="1" dirty="0">
                <a:solidFill>
                  <a:srgbClr val="172033"/>
                </a:solidFill>
              </a:rPr>
              <a:t>ATM_MACHINE</a:t>
            </a:r>
            <a:endParaRPr lang="en-US" dirty="0"/>
          </a:p>
        </p:txBody>
      </p:sp>
      <p:sp>
        <p:nvSpPr>
          <p:cNvPr id="24" name="Text 22">
            <a:extLst>
              <a:ext uri="{FF2B5EF4-FFF2-40B4-BE49-F238E27FC236}">
                <a16:creationId xmlns:a16="http://schemas.microsoft.com/office/drawing/2014/main" id="{5858FC02-2512-418E-983B-A211BB9BDD52}"/>
              </a:ext>
            </a:extLst>
          </p:cNvPr>
          <p:cNvSpPr/>
          <p:nvPr/>
        </p:nvSpPr>
        <p:spPr>
          <a:xfrm>
            <a:off x="9805656" y="3658274"/>
            <a:ext cx="1645920" cy="228600"/>
          </a:xfrm>
          <a:prstGeom prst="rect">
            <a:avLst/>
          </a:prstGeom>
          <a:noFill/>
          <a:ln/>
        </p:spPr>
        <p:txBody>
          <a:bodyPr wrap="square" lIns="0" tIns="0" rIns="0" bIns="0" rtlCol="0" anchor="ctr"/>
          <a:lstStyle/>
          <a:p>
            <a:pPr marL="0" indent="0" algn="ctr">
              <a:buNone/>
            </a:pPr>
            <a:r>
              <a:rPr lang="en-US" sz="1200" dirty="0">
                <a:solidFill>
                  <a:srgbClr val="5B677A"/>
                </a:solidFill>
              </a:rPr>
              <a:t>atm_id • location</a:t>
            </a:r>
            <a:endParaRPr lang="en-US" sz="1200" dirty="0"/>
          </a:p>
        </p:txBody>
      </p:sp>
    </p:spTree>
    <p:extLst>
      <p:ext uri="{BB962C8B-B14F-4D97-AF65-F5344CB8AC3E}">
        <p14:creationId xmlns:p14="http://schemas.microsoft.com/office/powerpoint/2010/main" val="11673228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000"/>
                                        <p:tgtEl>
                                          <p:spTgt spid="7"/>
                                        </p:tgtEl>
                                      </p:cBhvr>
                                    </p:animEffect>
                                    <p:anim calcmode="lin" valueType="num">
                                      <p:cBhvr>
                                        <p:cTn id="13" dur="1000" fill="hold"/>
                                        <p:tgtEl>
                                          <p:spTgt spid="7"/>
                                        </p:tgtEl>
                                        <p:attrNameLst>
                                          <p:attrName>ppt_x</p:attrName>
                                        </p:attrNameLst>
                                      </p:cBhvr>
                                      <p:tavLst>
                                        <p:tav tm="0">
                                          <p:val>
                                            <p:strVal val="#ppt_x"/>
                                          </p:val>
                                        </p:tav>
                                        <p:tav tm="100000">
                                          <p:val>
                                            <p:strVal val="#ppt_x"/>
                                          </p:val>
                                        </p:tav>
                                      </p:tavLst>
                                    </p:anim>
                                    <p:anim calcmode="lin" valueType="num">
                                      <p:cBhvr>
                                        <p:cTn id="14" dur="1000" fill="hold"/>
                                        <p:tgtEl>
                                          <p:spTgt spid="7"/>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1000"/>
                                        <p:tgtEl>
                                          <p:spTgt spid="8"/>
                                        </p:tgtEl>
                                      </p:cBhvr>
                                    </p:animEffect>
                                    <p:anim calcmode="lin" valueType="num">
                                      <p:cBhvr>
                                        <p:cTn id="18" dur="1000" fill="hold"/>
                                        <p:tgtEl>
                                          <p:spTgt spid="8"/>
                                        </p:tgtEl>
                                        <p:attrNameLst>
                                          <p:attrName>ppt_x</p:attrName>
                                        </p:attrNameLst>
                                      </p:cBhvr>
                                      <p:tavLst>
                                        <p:tav tm="0">
                                          <p:val>
                                            <p:strVal val="#ppt_x"/>
                                          </p:val>
                                        </p:tav>
                                        <p:tav tm="100000">
                                          <p:val>
                                            <p:strVal val="#ppt_x"/>
                                          </p:val>
                                        </p:tav>
                                      </p:tavLst>
                                    </p:anim>
                                    <p:anim calcmode="lin" valueType="num">
                                      <p:cBhvr>
                                        <p:cTn id="19" dur="1000" fill="hold"/>
                                        <p:tgtEl>
                                          <p:spTgt spid="8"/>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1000"/>
                                        <p:tgtEl>
                                          <p:spTgt spid="9"/>
                                        </p:tgtEl>
                                      </p:cBhvr>
                                    </p:animEffect>
                                    <p:anim calcmode="lin" valueType="num">
                                      <p:cBhvr>
                                        <p:cTn id="23" dur="1000" fill="hold"/>
                                        <p:tgtEl>
                                          <p:spTgt spid="9"/>
                                        </p:tgtEl>
                                        <p:attrNameLst>
                                          <p:attrName>ppt_x</p:attrName>
                                        </p:attrNameLst>
                                      </p:cBhvr>
                                      <p:tavLst>
                                        <p:tav tm="0">
                                          <p:val>
                                            <p:strVal val="#ppt_x"/>
                                          </p:val>
                                        </p:tav>
                                        <p:tav tm="100000">
                                          <p:val>
                                            <p:strVal val="#ppt_x"/>
                                          </p:val>
                                        </p:tav>
                                      </p:tavLst>
                                    </p:anim>
                                    <p:anim calcmode="lin" valueType="num">
                                      <p:cBhvr>
                                        <p:cTn id="24" dur="1000" fill="hold"/>
                                        <p:tgtEl>
                                          <p:spTgt spid="9"/>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1000"/>
                                        <p:tgtEl>
                                          <p:spTgt spid="10"/>
                                        </p:tgtEl>
                                      </p:cBhvr>
                                    </p:animEffect>
                                    <p:anim calcmode="lin" valueType="num">
                                      <p:cBhvr>
                                        <p:cTn id="28" dur="1000" fill="hold"/>
                                        <p:tgtEl>
                                          <p:spTgt spid="10"/>
                                        </p:tgtEl>
                                        <p:attrNameLst>
                                          <p:attrName>ppt_x</p:attrName>
                                        </p:attrNameLst>
                                      </p:cBhvr>
                                      <p:tavLst>
                                        <p:tav tm="0">
                                          <p:val>
                                            <p:strVal val="#ppt_x"/>
                                          </p:val>
                                        </p:tav>
                                        <p:tav tm="100000">
                                          <p:val>
                                            <p:strVal val="#ppt_x"/>
                                          </p:val>
                                        </p:tav>
                                      </p:tavLst>
                                    </p:anim>
                                    <p:anim calcmode="lin" valueType="num">
                                      <p:cBhvr>
                                        <p:cTn id="29" dur="1000" fill="hold"/>
                                        <p:tgtEl>
                                          <p:spTgt spid="10"/>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1000"/>
                                        <p:tgtEl>
                                          <p:spTgt spid="11"/>
                                        </p:tgtEl>
                                      </p:cBhvr>
                                    </p:animEffect>
                                    <p:anim calcmode="lin" valueType="num">
                                      <p:cBhvr>
                                        <p:cTn id="33" dur="1000" fill="hold"/>
                                        <p:tgtEl>
                                          <p:spTgt spid="11"/>
                                        </p:tgtEl>
                                        <p:attrNameLst>
                                          <p:attrName>ppt_x</p:attrName>
                                        </p:attrNameLst>
                                      </p:cBhvr>
                                      <p:tavLst>
                                        <p:tav tm="0">
                                          <p:val>
                                            <p:strVal val="#ppt_x"/>
                                          </p:val>
                                        </p:tav>
                                        <p:tav tm="100000">
                                          <p:val>
                                            <p:strVal val="#ppt_x"/>
                                          </p:val>
                                        </p:tav>
                                      </p:tavLst>
                                    </p:anim>
                                    <p:anim calcmode="lin" valueType="num">
                                      <p:cBhvr>
                                        <p:cTn id="34" dur="1000" fill="hold"/>
                                        <p:tgtEl>
                                          <p:spTgt spid="11"/>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1000"/>
                                        <p:tgtEl>
                                          <p:spTgt spid="12"/>
                                        </p:tgtEl>
                                      </p:cBhvr>
                                    </p:animEffect>
                                    <p:anim calcmode="lin" valueType="num">
                                      <p:cBhvr>
                                        <p:cTn id="38" dur="1000" fill="hold"/>
                                        <p:tgtEl>
                                          <p:spTgt spid="12"/>
                                        </p:tgtEl>
                                        <p:attrNameLst>
                                          <p:attrName>ppt_x</p:attrName>
                                        </p:attrNameLst>
                                      </p:cBhvr>
                                      <p:tavLst>
                                        <p:tav tm="0">
                                          <p:val>
                                            <p:strVal val="#ppt_x"/>
                                          </p:val>
                                        </p:tav>
                                        <p:tav tm="100000">
                                          <p:val>
                                            <p:strVal val="#ppt_x"/>
                                          </p:val>
                                        </p:tav>
                                      </p:tavLst>
                                    </p:anim>
                                    <p:anim calcmode="lin" valueType="num">
                                      <p:cBhvr>
                                        <p:cTn id="39" dur="1000" fill="hold"/>
                                        <p:tgtEl>
                                          <p:spTgt spid="12"/>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fade">
                                      <p:cBhvr>
                                        <p:cTn id="42" dur="1000"/>
                                        <p:tgtEl>
                                          <p:spTgt spid="13"/>
                                        </p:tgtEl>
                                      </p:cBhvr>
                                    </p:animEffect>
                                    <p:anim calcmode="lin" valueType="num">
                                      <p:cBhvr>
                                        <p:cTn id="43" dur="1000" fill="hold"/>
                                        <p:tgtEl>
                                          <p:spTgt spid="13"/>
                                        </p:tgtEl>
                                        <p:attrNameLst>
                                          <p:attrName>ppt_x</p:attrName>
                                        </p:attrNameLst>
                                      </p:cBhvr>
                                      <p:tavLst>
                                        <p:tav tm="0">
                                          <p:val>
                                            <p:strVal val="#ppt_x"/>
                                          </p:val>
                                        </p:tav>
                                        <p:tav tm="100000">
                                          <p:val>
                                            <p:strVal val="#ppt_x"/>
                                          </p:val>
                                        </p:tav>
                                      </p:tavLst>
                                    </p:anim>
                                    <p:anim calcmode="lin" valueType="num">
                                      <p:cBhvr>
                                        <p:cTn id="44" dur="1000" fill="hold"/>
                                        <p:tgtEl>
                                          <p:spTgt spid="13"/>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fade">
                                      <p:cBhvr>
                                        <p:cTn id="47" dur="1000"/>
                                        <p:tgtEl>
                                          <p:spTgt spid="14"/>
                                        </p:tgtEl>
                                      </p:cBhvr>
                                    </p:animEffect>
                                    <p:anim calcmode="lin" valueType="num">
                                      <p:cBhvr>
                                        <p:cTn id="48" dur="1000" fill="hold"/>
                                        <p:tgtEl>
                                          <p:spTgt spid="14"/>
                                        </p:tgtEl>
                                        <p:attrNameLst>
                                          <p:attrName>ppt_x</p:attrName>
                                        </p:attrNameLst>
                                      </p:cBhvr>
                                      <p:tavLst>
                                        <p:tav tm="0">
                                          <p:val>
                                            <p:strVal val="#ppt_x"/>
                                          </p:val>
                                        </p:tav>
                                        <p:tav tm="100000">
                                          <p:val>
                                            <p:strVal val="#ppt_x"/>
                                          </p:val>
                                        </p:tav>
                                      </p:tavLst>
                                    </p:anim>
                                    <p:anim calcmode="lin" valueType="num">
                                      <p:cBhvr>
                                        <p:cTn id="49" dur="1000" fill="hold"/>
                                        <p:tgtEl>
                                          <p:spTgt spid="14"/>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15"/>
                                        </p:tgtEl>
                                        <p:attrNameLst>
                                          <p:attrName>style.visibility</p:attrName>
                                        </p:attrNameLst>
                                      </p:cBhvr>
                                      <p:to>
                                        <p:strVal val="visible"/>
                                      </p:to>
                                    </p:set>
                                    <p:animEffect transition="in" filter="fade">
                                      <p:cBhvr>
                                        <p:cTn id="52" dur="1000"/>
                                        <p:tgtEl>
                                          <p:spTgt spid="15"/>
                                        </p:tgtEl>
                                      </p:cBhvr>
                                    </p:animEffect>
                                    <p:anim calcmode="lin" valueType="num">
                                      <p:cBhvr>
                                        <p:cTn id="53" dur="1000" fill="hold"/>
                                        <p:tgtEl>
                                          <p:spTgt spid="15"/>
                                        </p:tgtEl>
                                        <p:attrNameLst>
                                          <p:attrName>ppt_x</p:attrName>
                                        </p:attrNameLst>
                                      </p:cBhvr>
                                      <p:tavLst>
                                        <p:tav tm="0">
                                          <p:val>
                                            <p:strVal val="#ppt_x"/>
                                          </p:val>
                                        </p:tav>
                                        <p:tav tm="100000">
                                          <p:val>
                                            <p:strVal val="#ppt_x"/>
                                          </p:val>
                                        </p:tav>
                                      </p:tavLst>
                                    </p:anim>
                                    <p:anim calcmode="lin" valueType="num">
                                      <p:cBhvr>
                                        <p:cTn id="54" dur="1000" fill="hold"/>
                                        <p:tgtEl>
                                          <p:spTgt spid="15"/>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16"/>
                                        </p:tgtEl>
                                        <p:attrNameLst>
                                          <p:attrName>style.visibility</p:attrName>
                                        </p:attrNameLst>
                                      </p:cBhvr>
                                      <p:to>
                                        <p:strVal val="visible"/>
                                      </p:to>
                                    </p:set>
                                    <p:animEffect transition="in" filter="fade">
                                      <p:cBhvr>
                                        <p:cTn id="57" dur="1000"/>
                                        <p:tgtEl>
                                          <p:spTgt spid="16"/>
                                        </p:tgtEl>
                                      </p:cBhvr>
                                    </p:animEffect>
                                    <p:anim calcmode="lin" valueType="num">
                                      <p:cBhvr>
                                        <p:cTn id="58" dur="1000" fill="hold"/>
                                        <p:tgtEl>
                                          <p:spTgt spid="16"/>
                                        </p:tgtEl>
                                        <p:attrNameLst>
                                          <p:attrName>ppt_x</p:attrName>
                                        </p:attrNameLst>
                                      </p:cBhvr>
                                      <p:tavLst>
                                        <p:tav tm="0">
                                          <p:val>
                                            <p:strVal val="#ppt_x"/>
                                          </p:val>
                                        </p:tav>
                                        <p:tav tm="100000">
                                          <p:val>
                                            <p:strVal val="#ppt_x"/>
                                          </p:val>
                                        </p:tav>
                                      </p:tavLst>
                                    </p:anim>
                                    <p:anim calcmode="lin" valueType="num">
                                      <p:cBhvr>
                                        <p:cTn id="59" dur="1000" fill="hold"/>
                                        <p:tgtEl>
                                          <p:spTgt spid="16"/>
                                        </p:tgtEl>
                                        <p:attrNameLst>
                                          <p:attrName>ppt_y</p:attrName>
                                        </p:attrNameLst>
                                      </p:cBhvr>
                                      <p:tavLst>
                                        <p:tav tm="0">
                                          <p:val>
                                            <p:strVal val="#ppt_y+.1"/>
                                          </p:val>
                                        </p:tav>
                                        <p:tav tm="100000">
                                          <p:val>
                                            <p:strVal val="#ppt_y"/>
                                          </p:val>
                                        </p:tav>
                                      </p:tavLst>
                                    </p:anim>
                                  </p:childTnLst>
                                </p:cTn>
                              </p:par>
                              <p:par>
                                <p:cTn id="60" presetID="42" presetClass="entr" presetSubtype="0" fill="hold" nodeType="withEffect">
                                  <p:stCondLst>
                                    <p:cond delay="0"/>
                                  </p:stCondLst>
                                  <p:childTnLst>
                                    <p:set>
                                      <p:cBhvr>
                                        <p:cTn id="61" dur="1" fill="hold">
                                          <p:stCondLst>
                                            <p:cond delay="0"/>
                                          </p:stCondLst>
                                        </p:cTn>
                                        <p:tgtEl>
                                          <p:spTgt spid="17"/>
                                        </p:tgtEl>
                                        <p:attrNameLst>
                                          <p:attrName>style.visibility</p:attrName>
                                        </p:attrNameLst>
                                      </p:cBhvr>
                                      <p:to>
                                        <p:strVal val="visible"/>
                                      </p:to>
                                    </p:set>
                                    <p:animEffect transition="in" filter="fade">
                                      <p:cBhvr>
                                        <p:cTn id="62" dur="1000"/>
                                        <p:tgtEl>
                                          <p:spTgt spid="17"/>
                                        </p:tgtEl>
                                      </p:cBhvr>
                                    </p:animEffect>
                                    <p:anim calcmode="lin" valueType="num">
                                      <p:cBhvr>
                                        <p:cTn id="63" dur="1000" fill="hold"/>
                                        <p:tgtEl>
                                          <p:spTgt spid="17"/>
                                        </p:tgtEl>
                                        <p:attrNameLst>
                                          <p:attrName>ppt_x</p:attrName>
                                        </p:attrNameLst>
                                      </p:cBhvr>
                                      <p:tavLst>
                                        <p:tav tm="0">
                                          <p:val>
                                            <p:strVal val="#ppt_x"/>
                                          </p:val>
                                        </p:tav>
                                        <p:tav tm="100000">
                                          <p:val>
                                            <p:strVal val="#ppt_x"/>
                                          </p:val>
                                        </p:tav>
                                      </p:tavLst>
                                    </p:anim>
                                    <p:anim calcmode="lin" valueType="num">
                                      <p:cBhvr>
                                        <p:cTn id="64" dur="1000" fill="hold"/>
                                        <p:tgtEl>
                                          <p:spTgt spid="17"/>
                                        </p:tgtEl>
                                        <p:attrNameLst>
                                          <p:attrName>ppt_y</p:attrName>
                                        </p:attrNameLst>
                                      </p:cBhvr>
                                      <p:tavLst>
                                        <p:tav tm="0">
                                          <p:val>
                                            <p:strVal val="#ppt_y+.1"/>
                                          </p:val>
                                        </p:tav>
                                        <p:tav tm="100000">
                                          <p:val>
                                            <p:strVal val="#ppt_y"/>
                                          </p:val>
                                        </p:tav>
                                      </p:tavLst>
                                    </p:anim>
                                  </p:childTnLst>
                                </p:cTn>
                              </p:par>
                              <p:par>
                                <p:cTn id="65" presetID="42" presetClass="entr" presetSubtype="0" fill="hold" nodeType="withEffect">
                                  <p:stCondLst>
                                    <p:cond delay="0"/>
                                  </p:stCondLst>
                                  <p:childTnLst>
                                    <p:set>
                                      <p:cBhvr>
                                        <p:cTn id="66" dur="1" fill="hold">
                                          <p:stCondLst>
                                            <p:cond delay="0"/>
                                          </p:stCondLst>
                                        </p:cTn>
                                        <p:tgtEl>
                                          <p:spTgt spid="18"/>
                                        </p:tgtEl>
                                        <p:attrNameLst>
                                          <p:attrName>style.visibility</p:attrName>
                                        </p:attrNameLst>
                                      </p:cBhvr>
                                      <p:to>
                                        <p:strVal val="visible"/>
                                      </p:to>
                                    </p:set>
                                    <p:animEffect transition="in" filter="fade">
                                      <p:cBhvr>
                                        <p:cTn id="67" dur="1000"/>
                                        <p:tgtEl>
                                          <p:spTgt spid="18"/>
                                        </p:tgtEl>
                                      </p:cBhvr>
                                    </p:animEffect>
                                    <p:anim calcmode="lin" valueType="num">
                                      <p:cBhvr>
                                        <p:cTn id="68" dur="1000" fill="hold"/>
                                        <p:tgtEl>
                                          <p:spTgt spid="18"/>
                                        </p:tgtEl>
                                        <p:attrNameLst>
                                          <p:attrName>ppt_x</p:attrName>
                                        </p:attrNameLst>
                                      </p:cBhvr>
                                      <p:tavLst>
                                        <p:tav tm="0">
                                          <p:val>
                                            <p:strVal val="#ppt_x"/>
                                          </p:val>
                                        </p:tav>
                                        <p:tav tm="100000">
                                          <p:val>
                                            <p:strVal val="#ppt_x"/>
                                          </p:val>
                                        </p:tav>
                                      </p:tavLst>
                                    </p:anim>
                                    <p:anim calcmode="lin" valueType="num">
                                      <p:cBhvr>
                                        <p:cTn id="69" dur="1000" fill="hold"/>
                                        <p:tgtEl>
                                          <p:spTgt spid="18"/>
                                        </p:tgtEl>
                                        <p:attrNameLst>
                                          <p:attrName>ppt_y</p:attrName>
                                        </p:attrNameLst>
                                      </p:cBhvr>
                                      <p:tavLst>
                                        <p:tav tm="0">
                                          <p:val>
                                            <p:strVal val="#ppt_y+.1"/>
                                          </p:val>
                                        </p:tav>
                                        <p:tav tm="100000">
                                          <p:val>
                                            <p:strVal val="#ppt_y"/>
                                          </p:val>
                                        </p:tav>
                                      </p:tavLst>
                                    </p:anim>
                                  </p:childTnLst>
                                </p:cTn>
                              </p:par>
                              <p:par>
                                <p:cTn id="70" presetID="42" presetClass="entr" presetSubtype="0" fill="hold" grpId="0" nodeType="withEffect">
                                  <p:stCondLst>
                                    <p:cond delay="0"/>
                                  </p:stCondLst>
                                  <p:childTnLst>
                                    <p:set>
                                      <p:cBhvr>
                                        <p:cTn id="71" dur="1" fill="hold">
                                          <p:stCondLst>
                                            <p:cond delay="0"/>
                                          </p:stCondLst>
                                        </p:cTn>
                                        <p:tgtEl>
                                          <p:spTgt spid="19"/>
                                        </p:tgtEl>
                                        <p:attrNameLst>
                                          <p:attrName>style.visibility</p:attrName>
                                        </p:attrNameLst>
                                      </p:cBhvr>
                                      <p:to>
                                        <p:strVal val="visible"/>
                                      </p:to>
                                    </p:set>
                                    <p:animEffect transition="in" filter="fade">
                                      <p:cBhvr>
                                        <p:cTn id="72" dur="1000"/>
                                        <p:tgtEl>
                                          <p:spTgt spid="19"/>
                                        </p:tgtEl>
                                      </p:cBhvr>
                                    </p:animEffect>
                                    <p:anim calcmode="lin" valueType="num">
                                      <p:cBhvr>
                                        <p:cTn id="73" dur="1000" fill="hold"/>
                                        <p:tgtEl>
                                          <p:spTgt spid="19"/>
                                        </p:tgtEl>
                                        <p:attrNameLst>
                                          <p:attrName>ppt_x</p:attrName>
                                        </p:attrNameLst>
                                      </p:cBhvr>
                                      <p:tavLst>
                                        <p:tav tm="0">
                                          <p:val>
                                            <p:strVal val="#ppt_x"/>
                                          </p:val>
                                        </p:tav>
                                        <p:tav tm="100000">
                                          <p:val>
                                            <p:strVal val="#ppt_x"/>
                                          </p:val>
                                        </p:tav>
                                      </p:tavLst>
                                    </p:anim>
                                    <p:anim calcmode="lin" valueType="num">
                                      <p:cBhvr>
                                        <p:cTn id="74" dur="1000" fill="hold"/>
                                        <p:tgtEl>
                                          <p:spTgt spid="19"/>
                                        </p:tgtEl>
                                        <p:attrNameLst>
                                          <p:attrName>ppt_y</p:attrName>
                                        </p:attrNameLst>
                                      </p:cBhvr>
                                      <p:tavLst>
                                        <p:tav tm="0">
                                          <p:val>
                                            <p:strVal val="#ppt_y+.1"/>
                                          </p:val>
                                        </p:tav>
                                        <p:tav tm="100000">
                                          <p:val>
                                            <p:strVal val="#ppt_y"/>
                                          </p:val>
                                        </p:tav>
                                      </p:tavLst>
                                    </p:anim>
                                  </p:childTnLst>
                                </p:cTn>
                              </p:par>
                              <p:par>
                                <p:cTn id="75" presetID="42" presetClass="entr" presetSubtype="0" fill="hold" grpId="0" nodeType="withEffect">
                                  <p:stCondLst>
                                    <p:cond delay="0"/>
                                  </p:stCondLst>
                                  <p:childTnLst>
                                    <p:set>
                                      <p:cBhvr>
                                        <p:cTn id="76" dur="1" fill="hold">
                                          <p:stCondLst>
                                            <p:cond delay="0"/>
                                          </p:stCondLst>
                                        </p:cTn>
                                        <p:tgtEl>
                                          <p:spTgt spid="20"/>
                                        </p:tgtEl>
                                        <p:attrNameLst>
                                          <p:attrName>style.visibility</p:attrName>
                                        </p:attrNameLst>
                                      </p:cBhvr>
                                      <p:to>
                                        <p:strVal val="visible"/>
                                      </p:to>
                                    </p:set>
                                    <p:animEffect transition="in" filter="fade">
                                      <p:cBhvr>
                                        <p:cTn id="77" dur="1000"/>
                                        <p:tgtEl>
                                          <p:spTgt spid="20"/>
                                        </p:tgtEl>
                                      </p:cBhvr>
                                    </p:animEffect>
                                    <p:anim calcmode="lin" valueType="num">
                                      <p:cBhvr>
                                        <p:cTn id="78" dur="1000" fill="hold"/>
                                        <p:tgtEl>
                                          <p:spTgt spid="20"/>
                                        </p:tgtEl>
                                        <p:attrNameLst>
                                          <p:attrName>ppt_x</p:attrName>
                                        </p:attrNameLst>
                                      </p:cBhvr>
                                      <p:tavLst>
                                        <p:tav tm="0">
                                          <p:val>
                                            <p:strVal val="#ppt_x"/>
                                          </p:val>
                                        </p:tav>
                                        <p:tav tm="100000">
                                          <p:val>
                                            <p:strVal val="#ppt_x"/>
                                          </p:val>
                                        </p:tav>
                                      </p:tavLst>
                                    </p:anim>
                                    <p:anim calcmode="lin" valueType="num">
                                      <p:cBhvr>
                                        <p:cTn id="79" dur="1000" fill="hold"/>
                                        <p:tgtEl>
                                          <p:spTgt spid="20"/>
                                        </p:tgtEl>
                                        <p:attrNameLst>
                                          <p:attrName>ppt_y</p:attrName>
                                        </p:attrNameLst>
                                      </p:cBhvr>
                                      <p:tavLst>
                                        <p:tav tm="0">
                                          <p:val>
                                            <p:strVal val="#ppt_y+.1"/>
                                          </p:val>
                                        </p:tav>
                                        <p:tav tm="100000">
                                          <p:val>
                                            <p:strVal val="#ppt_y"/>
                                          </p:val>
                                        </p:tav>
                                      </p:tavLst>
                                    </p:anim>
                                  </p:childTnLst>
                                </p:cTn>
                              </p:par>
                              <p:par>
                                <p:cTn id="80" presetID="42" presetClass="entr" presetSubtype="0" fill="hold" nodeType="withEffect">
                                  <p:stCondLst>
                                    <p:cond delay="0"/>
                                  </p:stCondLst>
                                  <p:childTnLst>
                                    <p:set>
                                      <p:cBhvr>
                                        <p:cTn id="81" dur="1" fill="hold">
                                          <p:stCondLst>
                                            <p:cond delay="0"/>
                                          </p:stCondLst>
                                        </p:cTn>
                                        <p:tgtEl>
                                          <p:spTgt spid="21"/>
                                        </p:tgtEl>
                                        <p:attrNameLst>
                                          <p:attrName>style.visibility</p:attrName>
                                        </p:attrNameLst>
                                      </p:cBhvr>
                                      <p:to>
                                        <p:strVal val="visible"/>
                                      </p:to>
                                    </p:set>
                                    <p:animEffect transition="in" filter="fade">
                                      <p:cBhvr>
                                        <p:cTn id="82" dur="1000"/>
                                        <p:tgtEl>
                                          <p:spTgt spid="21"/>
                                        </p:tgtEl>
                                      </p:cBhvr>
                                    </p:animEffect>
                                    <p:anim calcmode="lin" valueType="num">
                                      <p:cBhvr>
                                        <p:cTn id="83" dur="1000" fill="hold"/>
                                        <p:tgtEl>
                                          <p:spTgt spid="21"/>
                                        </p:tgtEl>
                                        <p:attrNameLst>
                                          <p:attrName>ppt_x</p:attrName>
                                        </p:attrNameLst>
                                      </p:cBhvr>
                                      <p:tavLst>
                                        <p:tav tm="0">
                                          <p:val>
                                            <p:strVal val="#ppt_x"/>
                                          </p:val>
                                        </p:tav>
                                        <p:tav tm="100000">
                                          <p:val>
                                            <p:strVal val="#ppt_x"/>
                                          </p:val>
                                        </p:tav>
                                      </p:tavLst>
                                    </p:anim>
                                    <p:anim calcmode="lin" valueType="num">
                                      <p:cBhvr>
                                        <p:cTn id="84" dur="1000" fill="hold"/>
                                        <p:tgtEl>
                                          <p:spTgt spid="21"/>
                                        </p:tgtEl>
                                        <p:attrNameLst>
                                          <p:attrName>ppt_y</p:attrName>
                                        </p:attrNameLst>
                                      </p:cBhvr>
                                      <p:tavLst>
                                        <p:tav tm="0">
                                          <p:val>
                                            <p:strVal val="#ppt_y+.1"/>
                                          </p:val>
                                        </p:tav>
                                        <p:tav tm="100000">
                                          <p:val>
                                            <p:strVal val="#ppt_y"/>
                                          </p:val>
                                        </p:tav>
                                      </p:tavLst>
                                    </p:anim>
                                  </p:childTnLst>
                                </p:cTn>
                              </p:par>
                              <p:par>
                                <p:cTn id="85" presetID="42" presetClass="entr" presetSubtype="0" fill="hold" nodeType="withEffect">
                                  <p:stCondLst>
                                    <p:cond delay="0"/>
                                  </p:stCondLst>
                                  <p:childTnLst>
                                    <p:set>
                                      <p:cBhvr>
                                        <p:cTn id="86" dur="1" fill="hold">
                                          <p:stCondLst>
                                            <p:cond delay="0"/>
                                          </p:stCondLst>
                                        </p:cTn>
                                        <p:tgtEl>
                                          <p:spTgt spid="22"/>
                                        </p:tgtEl>
                                        <p:attrNameLst>
                                          <p:attrName>style.visibility</p:attrName>
                                        </p:attrNameLst>
                                      </p:cBhvr>
                                      <p:to>
                                        <p:strVal val="visible"/>
                                      </p:to>
                                    </p:set>
                                    <p:animEffect transition="in" filter="fade">
                                      <p:cBhvr>
                                        <p:cTn id="87" dur="1000"/>
                                        <p:tgtEl>
                                          <p:spTgt spid="22"/>
                                        </p:tgtEl>
                                      </p:cBhvr>
                                    </p:animEffect>
                                    <p:anim calcmode="lin" valueType="num">
                                      <p:cBhvr>
                                        <p:cTn id="88" dur="1000" fill="hold"/>
                                        <p:tgtEl>
                                          <p:spTgt spid="22"/>
                                        </p:tgtEl>
                                        <p:attrNameLst>
                                          <p:attrName>ppt_x</p:attrName>
                                        </p:attrNameLst>
                                      </p:cBhvr>
                                      <p:tavLst>
                                        <p:tav tm="0">
                                          <p:val>
                                            <p:strVal val="#ppt_x"/>
                                          </p:val>
                                        </p:tav>
                                        <p:tav tm="100000">
                                          <p:val>
                                            <p:strVal val="#ppt_x"/>
                                          </p:val>
                                        </p:tav>
                                      </p:tavLst>
                                    </p:anim>
                                    <p:anim calcmode="lin" valueType="num">
                                      <p:cBhvr>
                                        <p:cTn id="89" dur="1000" fill="hold"/>
                                        <p:tgtEl>
                                          <p:spTgt spid="22"/>
                                        </p:tgtEl>
                                        <p:attrNameLst>
                                          <p:attrName>ppt_y</p:attrName>
                                        </p:attrNameLst>
                                      </p:cBhvr>
                                      <p:tavLst>
                                        <p:tav tm="0">
                                          <p:val>
                                            <p:strVal val="#ppt_y+.1"/>
                                          </p:val>
                                        </p:tav>
                                        <p:tav tm="100000">
                                          <p:val>
                                            <p:strVal val="#ppt_y"/>
                                          </p:val>
                                        </p:tav>
                                      </p:tavLst>
                                    </p:anim>
                                  </p:childTnLst>
                                </p:cTn>
                              </p:par>
                              <p:par>
                                <p:cTn id="90" presetID="42" presetClass="entr" presetSubtype="0" fill="hold" grpId="0" nodeType="withEffect">
                                  <p:stCondLst>
                                    <p:cond delay="0"/>
                                  </p:stCondLst>
                                  <p:childTnLst>
                                    <p:set>
                                      <p:cBhvr>
                                        <p:cTn id="91" dur="1" fill="hold">
                                          <p:stCondLst>
                                            <p:cond delay="0"/>
                                          </p:stCondLst>
                                        </p:cTn>
                                        <p:tgtEl>
                                          <p:spTgt spid="23"/>
                                        </p:tgtEl>
                                        <p:attrNameLst>
                                          <p:attrName>style.visibility</p:attrName>
                                        </p:attrNameLst>
                                      </p:cBhvr>
                                      <p:to>
                                        <p:strVal val="visible"/>
                                      </p:to>
                                    </p:set>
                                    <p:animEffect transition="in" filter="fade">
                                      <p:cBhvr>
                                        <p:cTn id="92" dur="1000"/>
                                        <p:tgtEl>
                                          <p:spTgt spid="23"/>
                                        </p:tgtEl>
                                      </p:cBhvr>
                                    </p:animEffect>
                                    <p:anim calcmode="lin" valueType="num">
                                      <p:cBhvr>
                                        <p:cTn id="93" dur="1000" fill="hold"/>
                                        <p:tgtEl>
                                          <p:spTgt spid="23"/>
                                        </p:tgtEl>
                                        <p:attrNameLst>
                                          <p:attrName>ppt_x</p:attrName>
                                        </p:attrNameLst>
                                      </p:cBhvr>
                                      <p:tavLst>
                                        <p:tav tm="0">
                                          <p:val>
                                            <p:strVal val="#ppt_x"/>
                                          </p:val>
                                        </p:tav>
                                        <p:tav tm="100000">
                                          <p:val>
                                            <p:strVal val="#ppt_x"/>
                                          </p:val>
                                        </p:tav>
                                      </p:tavLst>
                                    </p:anim>
                                    <p:anim calcmode="lin" valueType="num">
                                      <p:cBhvr>
                                        <p:cTn id="94" dur="1000" fill="hold"/>
                                        <p:tgtEl>
                                          <p:spTgt spid="23"/>
                                        </p:tgtEl>
                                        <p:attrNameLst>
                                          <p:attrName>ppt_y</p:attrName>
                                        </p:attrNameLst>
                                      </p:cBhvr>
                                      <p:tavLst>
                                        <p:tav tm="0">
                                          <p:val>
                                            <p:strVal val="#ppt_y+.1"/>
                                          </p:val>
                                        </p:tav>
                                        <p:tav tm="100000">
                                          <p:val>
                                            <p:strVal val="#ppt_y"/>
                                          </p:val>
                                        </p:tav>
                                      </p:tavLst>
                                    </p:anim>
                                  </p:childTnLst>
                                </p:cTn>
                              </p:par>
                              <p:par>
                                <p:cTn id="95" presetID="42" presetClass="entr" presetSubtype="0" fill="hold" grpId="0" nodeType="withEffect">
                                  <p:stCondLst>
                                    <p:cond delay="0"/>
                                  </p:stCondLst>
                                  <p:childTnLst>
                                    <p:set>
                                      <p:cBhvr>
                                        <p:cTn id="96" dur="1" fill="hold">
                                          <p:stCondLst>
                                            <p:cond delay="0"/>
                                          </p:stCondLst>
                                        </p:cTn>
                                        <p:tgtEl>
                                          <p:spTgt spid="24"/>
                                        </p:tgtEl>
                                        <p:attrNameLst>
                                          <p:attrName>style.visibility</p:attrName>
                                        </p:attrNameLst>
                                      </p:cBhvr>
                                      <p:to>
                                        <p:strVal val="visible"/>
                                      </p:to>
                                    </p:set>
                                    <p:animEffect transition="in" filter="fade">
                                      <p:cBhvr>
                                        <p:cTn id="97" dur="1000"/>
                                        <p:tgtEl>
                                          <p:spTgt spid="24"/>
                                        </p:tgtEl>
                                      </p:cBhvr>
                                    </p:animEffect>
                                    <p:anim calcmode="lin" valueType="num">
                                      <p:cBhvr>
                                        <p:cTn id="98" dur="1000" fill="hold"/>
                                        <p:tgtEl>
                                          <p:spTgt spid="24"/>
                                        </p:tgtEl>
                                        <p:attrNameLst>
                                          <p:attrName>ppt_x</p:attrName>
                                        </p:attrNameLst>
                                      </p:cBhvr>
                                      <p:tavLst>
                                        <p:tav tm="0">
                                          <p:val>
                                            <p:strVal val="#ppt_x"/>
                                          </p:val>
                                        </p:tav>
                                        <p:tav tm="100000">
                                          <p:val>
                                            <p:strVal val="#ppt_x"/>
                                          </p:val>
                                        </p:tav>
                                      </p:tavLst>
                                    </p:anim>
                                    <p:anim calcmode="lin" valueType="num">
                                      <p:cBhvr>
                                        <p:cTn id="99"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100" fill="hold">
                      <p:stCondLst>
                        <p:cond delay="indefinite"/>
                      </p:stCondLst>
                      <p:childTnLst>
                        <p:par>
                          <p:cTn id="101" fill="hold">
                            <p:stCondLst>
                              <p:cond delay="0"/>
                            </p:stCondLst>
                            <p:childTnLst>
                              <p:par>
                                <p:cTn id="102" presetID="42" presetClass="entr" presetSubtype="0" fill="hold" grpId="0" nodeType="clickEffect">
                                  <p:stCondLst>
                                    <p:cond delay="0"/>
                                  </p:stCondLst>
                                  <p:childTnLst>
                                    <p:set>
                                      <p:cBhvr>
                                        <p:cTn id="103" dur="1" fill="hold">
                                          <p:stCondLst>
                                            <p:cond delay="0"/>
                                          </p:stCondLst>
                                        </p:cTn>
                                        <p:tgtEl>
                                          <p:spTgt spid="5"/>
                                        </p:tgtEl>
                                        <p:attrNameLst>
                                          <p:attrName>style.visibility</p:attrName>
                                        </p:attrNameLst>
                                      </p:cBhvr>
                                      <p:to>
                                        <p:strVal val="visible"/>
                                      </p:to>
                                    </p:set>
                                    <p:animEffect transition="in" filter="fade">
                                      <p:cBhvr>
                                        <p:cTn id="104" dur="1000"/>
                                        <p:tgtEl>
                                          <p:spTgt spid="5"/>
                                        </p:tgtEl>
                                      </p:cBhvr>
                                    </p:animEffect>
                                    <p:anim calcmode="lin" valueType="num">
                                      <p:cBhvr>
                                        <p:cTn id="105" dur="1000" fill="hold"/>
                                        <p:tgtEl>
                                          <p:spTgt spid="5"/>
                                        </p:tgtEl>
                                        <p:attrNameLst>
                                          <p:attrName>ppt_x</p:attrName>
                                        </p:attrNameLst>
                                      </p:cBhvr>
                                      <p:tavLst>
                                        <p:tav tm="0">
                                          <p:val>
                                            <p:strVal val="#ppt_x"/>
                                          </p:val>
                                        </p:tav>
                                        <p:tav tm="100000">
                                          <p:val>
                                            <p:strVal val="#ppt_x"/>
                                          </p:val>
                                        </p:tav>
                                      </p:tavLst>
                                    </p:anim>
                                    <p:anim calcmode="lin" valueType="num">
                                      <p:cBhvr>
                                        <p:cTn id="10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animBg="1"/>
      <p:bldP spid="8" grpId="0" animBg="1"/>
      <p:bldP spid="11" grpId="0" animBg="1"/>
      <p:bldP spid="12" grpId="0" animBg="1"/>
      <p:bldP spid="15" grpId="0" animBg="1"/>
      <p:bldP spid="16" grpId="0" animBg="1"/>
      <p:bldP spid="19" grpId="0" animBg="1"/>
      <p:bldP spid="20" grpId="0" animBg="1"/>
      <p:bldP spid="23" grpId="0" animBg="1"/>
      <p:bldP spid="2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AE35C5-1488-48D0-819B-6190B20890D2}"/>
              </a:ext>
            </a:extLst>
          </p:cNvPr>
          <p:cNvSpPr>
            <a:spLocks noGrp="1"/>
          </p:cNvSpPr>
          <p:nvPr>
            <p:ph type="title"/>
          </p:nvPr>
        </p:nvSpPr>
        <p:spPr/>
        <p:txBody>
          <a:bodyPr>
            <a:normAutofit/>
          </a:bodyPr>
          <a:lstStyle/>
          <a:p>
            <a:r>
              <a:rPr lang="en-GB" b="1" dirty="0"/>
              <a:t>Internal or Physical Level </a:t>
            </a:r>
            <a:br>
              <a:rPr lang="en-GB" b="1" dirty="0"/>
            </a:br>
            <a:r>
              <a:rPr lang="en-GB" b="1" dirty="0"/>
              <a:t>(</a:t>
            </a:r>
            <a:r>
              <a:rPr lang="en-GB" dirty="0"/>
              <a:t>The lowest level of abstraction)</a:t>
            </a:r>
            <a:endParaRPr lang="en-PK" dirty="0"/>
          </a:p>
        </p:txBody>
      </p:sp>
      <p:sp>
        <p:nvSpPr>
          <p:cNvPr id="3" name="Content Placeholder 2">
            <a:extLst>
              <a:ext uri="{FF2B5EF4-FFF2-40B4-BE49-F238E27FC236}">
                <a16:creationId xmlns:a16="http://schemas.microsoft.com/office/drawing/2014/main" id="{190BD32A-DEFC-4E34-9B15-00D5F23E7934}"/>
              </a:ext>
            </a:extLst>
          </p:cNvPr>
          <p:cNvSpPr>
            <a:spLocks noGrp="1"/>
          </p:cNvSpPr>
          <p:nvPr>
            <p:ph idx="1"/>
          </p:nvPr>
        </p:nvSpPr>
        <p:spPr>
          <a:xfrm>
            <a:off x="1534696" y="2026006"/>
            <a:ext cx="9520158" cy="3450613"/>
          </a:xfrm>
        </p:spPr>
        <p:txBody>
          <a:bodyPr/>
          <a:lstStyle/>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r>
              <a:rPr lang="en-GB" dirty="0"/>
              <a:t>ATM example: The DBMS may use an index on </a:t>
            </a:r>
            <a:r>
              <a:rPr lang="en-GB" dirty="0" err="1"/>
              <a:t>card_no</a:t>
            </a:r>
            <a:r>
              <a:rPr lang="en-GB" dirty="0"/>
              <a:t> to locate the customer’s account quickly.</a:t>
            </a:r>
            <a:endParaRPr lang="en-PK" dirty="0"/>
          </a:p>
        </p:txBody>
      </p:sp>
      <p:sp>
        <p:nvSpPr>
          <p:cNvPr id="42" name="Shape 4">
            <a:extLst>
              <a:ext uri="{FF2B5EF4-FFF2-40B4-BE49-F238E27FC236}">
                <a16:creationId xmlns:a16="http://schemas.microsoft.com/office/drawing/2014/main" id="{DD2356CC-86E2-41A5-ADBF-1E7715CF822E}"/>
              </a:ext>
            </a:extLst>
          </p:cNvPr>
          <p:cNvSpPr/>
          <p:nvPr/>
        </p:nvSpPr>
        <p:spPr>
          <a:xfrm>
            <a:off x="656872" y="2720340"/>
            <a:ext cx="1755648" cy="1417320"/>
          </a:xfrm>
          <a:prstGeom prst="roundRect">
            <a:avLst>
              <a:gd name="adj" fmla="val 3871"/>
            </a:avLst>
          </a:prstGeom>
          <a:solidFill>
            <a:srgbClr val="F0ECFD"/>
          </a:solidFill>
          <a:ln w="12700">
            <a:solidFill>
              <a:srgbClr val="D8E0EB"/>
            </a:solidFill>
            <a:prstDash val="solid"/>
          </a:ln>
        </p:spPr>
      </p:sp>
      <p:sp>
        <p:nvSpPr>
          <p:cNvPr id="44" name="Text 5">
            <a:extLst>
              <a:ext uri="{FF2B5EF4-FFF2-40B4-BE49-F238E27FC236}">
                <a16:creationId xmlns:a16="http://schemas.microsoft.com/office/drawing/2014/main" id="{9DB014AD-7FB5-4430-B649-DB84B6845E9A}"/>
              </a:ext>
            </a:extLst>
          </p:cNvPr>
          <p:cNvSpPr/>
          <p:nvPr/>
        </p:nvSpPr>
        <p:spPr>
          <a:xfrm>
            <a:off x="803176" y="3393429"/>
            <a:ext cx="1463040" cy="219456"/>
          </a:xfrm>
          <a:prstGeom prst="rect">
            <a:avLst/>
          </a:prstGeom>
          <a:noFill/>
          <a:ln/>
        </p:spPr>
        <p:txBody>
          <a:bodyPr wrap="square" lIns="0" tIns="0" rIns="0" bIns="0" rtlCol="0" anchor="ctr"/>
          <a:lstStyle/>
          <a:p>
            <a:pPr marL="0" indent="0" algn="ctr">
              <a:buNone/>
            </a:pPr>
            <a:r>
              <a:rPr lang="en-US" b="1" dirty="0">
                <a:solidFill>
                  <a:srgbClr val="172033"/>
                </a:solidFill>
              </a:rPr>
              <a:t>Disk / SSD</a:t>
            </a:r>
            <a:endParaRPr lang="en-US" dirty="0"/>
          </a:p>
        </p:txBody>
      </p:sp>
      <p:sp>
        <p:nvSpPr>
          <p:cNvPr id="45" name="Shape 6">
            <a:extLst>
              <a:ext uri="{FF2B5EF4-FFF2-40B4-BE49-F238E27FC236}">
                <a16:creationId xmlns:a16="http://schemas.microsoft.com/office/drawing/2014/main" id="{441C96E6-C3F3-43E9-BCC5-5C4087E29F25}"/>
              </a:ext>
            </a:extLst>
          </p:cNvPr>
          <p:cNvSpPr/>
          <p:nvPr/>
        </p:nvSpPr>
        <p:spPr>
          <a:xfrm>
            <a:off x="2439952" y="3451860"/>
            <a:ext cx="365760" cy="0"/>
          </a:xfrm>
          <a:prstGeom prst="line">
            <a:avLst/>
          </a:prstGeom>
          <a:noFill/>
          <a:ln w="17780">
            <a:solidFill>
              <a:srgbClr val="16A6A1"/>
            </a:solidFill>
            <a:prstDash val="solid"/>
            <a:headEnd type="none"/>
            <a:tailEnd type="triangle"/>
          </a:ln>
        </p:spPr>
      </p:sp>
      <p:sp>
        <p:nvSpPr>
          <p:cNvPr id="46" name="Shape 7">
            <a:extLst>
              <a:ext uri="{FF2B5EF4-FFF2-40B4-BE49-F238E27FC236}">
                <a16:creationId xmlns:a16="http://schemas.microsoft.com/office/drawing/2014/main" id="{4955A613-035A-4D47-B0B0-5E79891139D9}"/>
              </a:ext>
            </a:extLst>
          </p:cNvPr>
          <p:cNvSpPr/>
          <p:nvPr/>
        </p:nvSpPr>
        <p:spPr>
          <a:xfrm>
            <a:off x="2897152" y="2720340"/>
            <a:ext cx="1755648" cy="1417320"/>
          </a:xfrm>
          <a:prstGeom prst="roundRect">
            <a:avLst>
              <a:gd name="adj" fmla="val 3871"/>
            </a:avLst>
          </a:prstGeom>
          <a:solidFill>
            <a:srgbClr val="EAF2FF"/>
          </a:solidFill>
          <a:ln w="12700">
            <a:solidFill>
              <a:srgbClr val="D8E0EB"/>
            </a:solidFill>
            <a:prstDash val="solid"/>
          </a:ln>
        </p:spPr>
      </p:sp>
      <p:sp>
        <p:nvSpPr>
          <p:cNvPr id="48" name="Text 8">
            <a:extLst>
              <a:ext uri="{FF2B5EF4-FFF2-40B4-BE49-F238E27FC236}">
                <a16:creationId xmlns:a16="http://schemas.microsoft.com/office/drawing/2014/main" id="{0D88A7C5-A33F-4BF3-A986-950A230DB120}"/>
              </a:ext>
            </a:extLst>
          </p:cNvPr>
          <p:cNvSpPr/>
          <p:nvPr/>
        </p:nvSpPr>
        <p:spPr>
          <a:xfrm>
            <a:off x="3043456" y="3393429"/>
            <a:ext cx="1463040" cy="219456"/>
          </a:xfrm>
          <a:prstGeom prst="rect">
            <a:avLst/>
          </a:prstGeom>
          <a:noFill/>
          <a:ln/>
        </p:spPr>
        <p:txBody>
          <a:bodyPr wrap="square" lIns="0" tIns="0" rIns="0" bIns="0" rtlCol="0" anchor="ctr"/>
          <a:lstStyle/>
          <a:p>
            <a:pPr marL="0" indent="0" algn="ctr">
              <a:buNone/>
            </a:pPr>
            <a:r>
              <a:rPr lang="en-US" b="1" dirty="0">
                <a:solidFill>
                  <a:srgbClr val="172033"/>
                </a:solidFill>
              </a:rPr>
              <a:t>Data File</a:t>
            </a:r>
            <a:endParaRPr lang="en-US" dirty="0"/>
          </a:p>
        </p:txBody>
      </p:sp>
      <p:sp>
        <p:nvSpPr>
          <p:cNvPr id="49" name="Shape 9">
            <a:extLst>
              <a:ext uri="{FF2B5EF4-FFF2-40B4-BE49-F238E27FC236}">
                <a16:creationId xmlns:a16="http://schemas.microsoft.com/office/drawing/2014/main" id="{EDC21A11-92AB-47AF-9B89-E1B5D03D317B}"/>
              </a:ext>
            </a:extLst>
          </p:cNvPr>
          <p:cNvSpPr/>
          <p:nvPr/>
        </p:nvSpPr>
        <p:spPr>
          <a:xfrm>
            <a:off x="4680232" y="3451860"/>
            <a:ext cx="365760" cy="0"/>
          </a:xfrm>
          <a:prstGeom prst="line">
            <a:avLst/>
          </a:prstGeom>
          <a:noFill/>
          <a:ln w="17780">
            <a:solidFill>
              <a:srgbClr val="16A6A1"/>
            </a:solidFill>
            <a:prstDash val="solid"/>
            <a:headEnd type="none"/>
            <a:tailEnd type="triangle"/>
          </a:ln>
        </p:spPr>
      </p:sp>
      <p:sp>
        <p:nvSpPr>
          <p:cNvPr id="50" name="Shape 10">
            <a:extLst>
              <a:ext uri="{FF2B5EF4-FFF2-40B4-BE49-F238E27FC236}">
                <a16:creationId xmlns:a16="http://schemas.microsoft.com/office/drawing/2014/main" id="{A5F505B8-8AC7-40ED-9DE7-2E5C895D1829}"/>
              </a:ext>
            </a:extLst>
          </p:cNvPr>
          <p:cNvSpPr/>
          <p:nvPr/>
        </p:nvSpPr>
        <p:spPr>
          <a:xfrm>
            <a:off x="5137432" y="2720340"/>
            <a:ext cx="1755648" cy="1417320"/>
          </a:xfrm>
          <a:prstGeom prst="roundRect">
            <a:avLst>
              <a:gd name="adj" fmla="val 3871"/>
            </a:avLst>
          </a:prstGeom>
          <a:solidFill>
            <a:srgbClr val="F0ECFD"/>
          </a:solidFill>
          <a:ln w="12700">
            <a:solidFill>
              <a:srgbClr val="D8E0EB"/>
            </a:solidFill>
            <a:prstDash val="solid"/>
          </a:ln>
        </p:spPr>
      </p:sp>
      <p:sp>
        <p:nvSpPr>
          <p:cNvPr id="52" name="Text 11">
            <a:extLst>
              <a:ext uri="{FF2B5EF4-FFF2-40B4-BE49-F238E27FC236}">
                <a16:creationId xmlns:a16="http://schemas.microsoft.com/office/drawing/2014/main" id="{D39A121B-27CD-4280-B8FA-3DF31041A1ED}"/>
              </a:ext>
            </a:extLst>
          </p:cNvPr>
          <p:cNvSpPr/>
          <p:nvPr/>
        </p:nvSpPr>
        <p:spPr>
          <a:xfrm>
            <a:off x="5283736" y="3393429"/>
            <a:ext cx="1463040" cy="219456"/>
          </a:xfrm>
          <a:prstGeom prst="rect">
            <a:avLst/>
          </a:prstGeom>
          <a:noFill/>
          <a:ln/>
        </p:spPr>
        <p:txBody>
          <a:bodyPr wrap="square" lIns="0" tIns="0" rIns="0" bIns="0" rtlCol="0" anchor="ctr"/>
          <a:lstStyle/>
          <a:p>
            <a:pPr marL="0" indent="0" algn="ctr">
              <a:buNone/>
            </a:pPr>
            <a:r>
              <a:rPr lang="en-US" b="1" dirty="0">
                <a:solidFill>
                  <a:srgbClr val="172033"/>
                </a:solidFill>
              </a:rPr>
              <a:t>Pages / Blocks</a:t>
            </a:r>
            <a:endParaRPr lang="en-US" dirty="0"/>
          </a:p>
        </p:txBody>
      </p:sp>
      <p:sp>
        <p:nvSpPr>
          <p:cNvPr id="53" name="Shape 12">
            <a:extLst>
              <a:ext uri="{FF2B5EF4-FFF2-40B4-BE49-F238E27FC236}">
                <a16:creationId xmlns:a16="http://schemas.microsoft.com/office/drawing/2014/main" id="{9AEF87A0-CF57-421B-801B-51FA29412F47}"/>
              </a:ext>
            </a:extLst>
          </p:cNvPr>
          <p:cNvSpPr/>
          <p:nvPr/>
        </p:nvSpPr>
        <p:spPr>
          <a:xfrm>
            <a:off x="6920512" y="3451860"/>
            <a:ext cx="365760" cy="0"/>
          </a:xfrm>
          <a:prstGeom prst="line">
            <a:avLst/>
          </a:prstGeom>
          <a:noFill/>
          <a:ln w="17780">
            <a:solidFill>
              <a:srgbClr val="16A6A1"/>
            </a:solidFill>
            <a:prstDash val="solid"/>
            <a:headEnd type="none"/>
            <a:tailEnd type="triangle"/>
          </a:ln>
        </p:spPr>
      </p:sp>
      <p:sp>
        <p:nvSpPr>
          <p:cNvPr id="54" name="Shape 13">
            <a:extLst>
              <a:ext uri="{FF2B5EF4-FFF2-40B4-BE49-F238E27FC236}">
                <a16:creationId xmlns:a16="http://schemas.microsoft.com/office/drawing/2014/main" id="{D3D28437-6A3C-4407-BDC1-8D9341EFCF8F}"/>
              </a:ext>
            </a:extLst>
          </p:cNvPr>
          <p:cNvSpPr/>
          <p:nvPr/>
        </p:nvSpPr>
        <p:spPr>
          <a:xfrm>
            <a:off x="7377712" y="2720340"/>
            <a:ext cx="1755648" cy="1417320"/>
          </a:xfrm>
          <a:prstGeom prst="roundRect">
            <a:avLst>
              <a:gd name="adj" fmla="val 3871"/>
            </a:avLst>
          </a:prstGeom>
          <a:solidFill>
            <a:srgbClr val="EAF2FF"/>
          </a:solidFill>
          <a:ln w="12700">
            <a:solidFill>
              <a:srgbClr val="D8E0EB"/>
            </a:solidFill>
            <a:prstDash val="solid"/>
          </a:ln>
        </p:spPr>
      </p:sp>
      <p:sp>
        <p:nvSpPr>
          <p:cNvPr id="56" name="Text 14">
            <a:extLst>
              <a:ext uri="{FF2B5EF4-FFF2-40B4-BE49-F238E27FC236}">
                <a16:creationId xmlns:a16="http://schemas.microsoft.com/office/drawing/2014/main" id="{93DC0E7F-8226-4C9D-801D-2DA1EEEF164B}"/>
              </a:ext>
            </a:extLst>
          </p:cNvPr>
          <p:cNvSpPr/>
          <p:nvPr/>
        </p:nvSpPr>
        <p:spPr>
          <a:xfrm>
            <a:off x="7524016" y="3393429"/>
            <a:ext cx="1463040" cy="219456"/>
          </a:xfrm>
          <a:prstGeom prst="rect">
            <a:avLst/>
          </a:prstGeom>
          <a:noFill/>
          <a:ln/>
        </p:spPr>
        <p:txBody>
          <a:bodyPr wrap="square" lIns="0" tIns="0" rIns="0" bIns="0" rtlCol="0" anchor="ctr"/>
          <a:lstStyle/>
          <a:p>
            <a:pPr marL="0" indent="0" algn="ctr">
              <a:buNone/>
            </a:pPr>
            <a:r>
              <a:rPr lang="en-US" b="1" dirty="0">
                <a:solidFill>
                  <a:srgbClr val="172033"/>
                </a:solidFill>
              </a:rPr>
              <a:t>Index</a:t>
            </a:r>
            <a:endParaRPr lang="en-US" dirty="0"/>
          </a:p>
        </p:txBody>
      </p:sp>
      <p:sp>
        <p:nvSpPr>
          <p:cNvPr id="57" name="Shape 15">
            <a:extLst>
              <a:ext uri="{FF2B5EF4-FFF2-40B4-BE49-F238E27FC236}">
                <a16:creationId xmlns:a16="http://schemas.microsoft.com/office/drawing/2014/main" id="{C2F1AF1F-7DC4-4E12-810D-7424657C8AA0}"/>
              </a:ext>
            </a:extLst>
          </p:cNvPr>
          <p:cNvSpPr/>
          <p:nvPr/>
        </p:nvSpPr>
        <p:spPr>
          <a:xfrm>
            <a:off x="9160792" y="3451860"/>
            <a:ext cx="365760" cy="0"/>
          </a:xfrm>
          <a:prstGeom prst="line">
            <a:avLst/>
          </a:prstGeom>
          <a:noFill/>
          <a:ln w="17780">
            <a:solidFill>
              <a:srgbClr val="16A6A1"/>
            </a:solidFill>
            <a:prstDash val="solid"/>
            <a:headEnd type="none"/>
            <a:tailEnd type="triangle"/>
          </a:ln>
        </p:spPr>
      </p:sp>
      <p:sp>
        <p:nvSpPr>
          <p:cNvPr id="58" name="Shape 16">
            <a:extLst>
              <a:ext uri="{FF2B5EF4-FFF2-40B4-BE49-F238E27FC236}">
                <a16:creationId xmlns:a16="http://schemas.microsoft.com/office/drawing/2014/main" id="{771AC6AA-845D-44B0-8798-BBCDEC430556}"/>
              </a:ext>
            </a:extLst>
          </p:cNvPr>
          <p:cNvSpPr/>
          <p:nvPr/>
        </p:nvSpPr>
        <p:spPr>
          <a:xfrm>
            <a:off x="9617992" y="2720340"/>
            <a:ext cx="1755648" cy="1417320"/>
          </a:xfrm>
          <a:prstGeom prst="roundRect">
            <a:avLst>
              <a:gd name="adj" fmla="val 3871"/>
            </a:avLst>
          </a:prstGeom>
          <a:solidFill>
            <a:srgbClr val="F0ECFD"/>
          </a:solidFill>
          <a:ln w="12700">
            <a:solidFill>
              <a:srgbClr val="D8E0EB"/>
            </a:solidFill>
            <a:prstDash val="solid"/>
          </a:ln>
        </p:spPr>
      </p:sp>
      <p:sp>
        <p:nvSpPr>
          <p:cNvPr id="60" name="Text 17">
            <a:extLst>
              <a:ext uri="{FF2B5EF4-FFF2-40B4-BE49-F238E27FC236}">
                <a16:creationId xmlns:a16="http://schemas.microsoft.com/office/drawing/2014/main" id="{8BCA0810-03C1-4FF1-A1B5-1CCE2DBD94E2}"/>
              </a:ext>
            </a:extLst>
          </p:cNvPr>
          <p:cNvSpPr/>
          <p:nvPr/>
        </p:nvSpPr>
        <p:spPr>
          <a:xfrm>
            <a:off x="9764296" y="3393429"/>
            <a:ext cx="1463040" cy="219456"/>
          </a:xfrm>
          <a:prstGeom prst="rect">
            <a:avLst/>
          </a:prstGeom>
          <a:noFill/>
          <a:ln/>
        </p:spPr>
        <p:txBody>
          <a:bodyPr wrap="square" lIns="0" tIns="0" rIns="0" bIns="0" rtlCol="0" anchor="ctr"/>
          <a:lstStyle/>
          <a:p>
            <a:pPr marL="0" indent="0" algn="ctr">
              <a:buNone/>
            </a:pPr>
            <a:r>
              <a:rPr lang="en-US" b="1" dirty="0">
                <a:solidFill>
                  <a:srgbClr val="172033"/>
                </a:solidFill>
              </a:rPr>
              <a:t>Record</a:t>
            </a:r>
            <a:endParaRPr lang="en-US" dirty="0"/>
          </a:p>
        </p:txBody>
      </p:sp>
    </p:spTree>
    <p:extLst>
      <p:ext uri="{BB962C8B-B14F-4D97-AF65-F5344CB8AC3E}">
        <p14:creationId xmlns:p14="http://schemas.microsoft.com/office/powerpoint/2010/main" val="23042484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2"/>
                                        </p:tgtEl>
                                        <p:attrNameLst>
                                          <p:attrName>style.visibility</p:attrName>
                                        </p:attrNameLst>
                                      </p:cBhvr>
                                      <p:to>
                                        <p:strVal val="visible"/>
                                      </p:to>
                                    </p:set>
                                    <p:animEffect transition="in" filter="fade">
                                      <p:cBhvr>
                                        <p:cTn id="7" dur="1000"/>
                                        <p:tgtEl>
                                          <p:spTgt spid="42"/>
                                        </p:tgtEl>
                                      </p:cBhvr>
                                    </p:animEffect>
                                    <p:anim calcmode="lin" valueType="num">
                                      <p:cBhvr>
                                        <p:cTn id="8" dur="1000" fill="hold"/>
                                        <p:tgtEl>
                                          <p:spTgt spid="42"/>
                                        </p:tgtEl>
                                        <p:attrNameLst>
                                          <p:attrName>ppt_x</p:attrName>
                                        </p:attrNameLst>
                                      </p:cBhvr>
                                      <p:tavLst>
                                        <p:tav tm="0">
                                          <p:val>
                                            <p:strVal val="#ppt_x"/>
                                          </p:val>
                                        </p:tav>
                                        <p:tav tm="100000">
                                          <p:val>
                                            <p:strVal val="#ppt_x"/>
                                          </p:val>
                                        </p:tav>
                                      </p:tavLst>
                                    </p:anim>
                                    <p:anim calcmode="lin" valueType="num">
                                      <p:cBhvr>
                                        <p:cTn id="9" dur="1000" fill="hold"/>
                                        <p:tgtEl>
                                          <p:spTgt spid="42"/>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44"/>
                                        </p:tgtEl>
                                        <p:attrNameLst>
                                          <p:attrName>style.visibility</p:attrName>
                                        </p:attrNameLst>
                                      </p:cBhvr>
                                      <p:to>
                                        <p:strVal val="visible"/>
                                      </p:to>
                                    </p:set>
                                    <p:animEffect transition="in" filter="fade">
                                      <p:cBhvr>
                                        <p:cTn id="12" dur="1000"/>
                                        <p:tgtEl>
                                          <p:spTgt spid="44"/>
                                        </p:tgtEl>
                                      </p:cBhvr>
                                    </p:animEffect>
                                    <p:anim calcmode="lin" valueType="num">
                                      <p:cBhvr>
                                        <p:cTn id="13" dur="1000" fill="hold"/>
                                        <p:tgtEl>
                                          <p:spTgt spid="44"/>
                                        </p:tgtEl>
                                        <p:attrNameLst>
                                          <p:attrName>ppt_x</p:attrName>
                                        </p:attrNameLst>
                                      </p:cBhvr>
                                      <p:tavLst>
                                        <p:tav tm="0">
                                          <p:val>
                                            <p:strVal val="#ppt_x"/>
                                          </p:val>
                                        </p:tav>
                                        <p:tav tm="100000">
                                          <p:val>
                                            <p:strVal val="#ppt_x"/>
                                          </p:val>
                                        </p:tav>
                                      </p:tavLst>
                                    </p:anim>
                                    <p:anim calcmode="lin" valueType="num">
                                      <p:cBhvr>
                                        <p:cTn id="14" dur="1000" fill="hold"/>
                                        <p:tgtEl>
                                          <p:spTgt spid="44"/>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45"/>
                                        </p:tgtEl>
                                        <p:attrNameLst>
                                          <p:attrName>style.visibility</p:attrName>
                                        </p:attrNameLst>
                                      </p:cBhvr>
                                      <p:to>
                                        <p:strVal val="visible"/>
                                      </p:to>
                                    </p:set>
                                    <p:animEffect transition="in" filter="fade">
                                      <p:cBhvr>
                                        <p:cTn id="17" dur="1000"/>
                                        <p:tgtEl>
                                          <p:spTgt spid="45"/>
                                        </p:tgtEl>
                                      </p:cBhvr>
                                    </p:animEffect>
                                    <p:anim calcmode="lin" valueType="num">
                                      <p:cBhvr>
                                        <p:cTn id="18" dur="1000" fill="hold"/>
                                        <p:tgtEl>
                                          <p:spTgt spid="45"/>
                                        </p:tgtEl>
                                        <p:attrNameLst>
                                          <p:attrName>ppt_x</p:attrName>
                                        </p:attrNameLst>
                                      </p:cBhvr>
                                      <p:tavLst>
                                        <p:tav tm="0">
                                          <p:val>
                                            <p:strVal val="#ppt_x"/>
                                          </p:val>
                                        </p:tav>
                                        <p:tav tm="100000">
                                          <p:val>
                                            <p:strVal val="#ppt_x"/>
                                          </p:val>
                                        </p:tav>
                                      </p:tavLst>
                                    </p:anim>
                                    <p:anim calcmode="lin" valueType="num">
                                      <p:cBhvr>
                                        <p:cTn id="19" dur="1000" fill="hold"/>
                                        <p:tgtEl>
                                          <p:spTgt spid="45"/>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46"/>
                                        </p:tgtEl>
                                        <p:attrNameLst>
                                          <p:attrName>style.visibility</p:attrName>
                                        </p:attrNameLst>
                                      </p:cBhvr>
                                      <p:to>
                                        <p:strVal val="visible"/>
                                      </p:to>
                                    </p:set>
                                    <p:animEffect transition="in" filter="fade">
                                      <p:cBhvr>
                                        <p:cTn id="24" dur="1000"/>
                                        <p:tgtEl>
                                          <p:spTgt spid="46"/>
                                        </p:tgtEl>
                                      </p:cBhvr>
                                    </p:animEffect>
                                    <p:anim calcmode="lin" valueType="num">
                                      <p:cBhvr>
                                        <p:cTn id="25" dur="1000" fill="hold"/>
                                        <p:tgtEl>
                                          <p:spTgt spid="46"/>
                                        </p:tgtEl>
                                        <p:attrNameLst>
                                          <p:attrName>ppt_x</p:attrName>
                                        </p:attrNameLst>
                                      </p:cBhvr>
                                      <p:tavLst>
                                        <p:tav tm="0">
                                          <p:val>
                                            <p:strVal val="#ppt_x"/>
                                          </p:val>
                                        </p:tav>
                                        <p:tav tm="100000">
                                          <p:val>
                                            <p:strVal val="#ppt_x"/>
                                          </p:val>
                                        </p:tav>
                                      </p:tavLst>
                                    </p:anim>
                                    <p:anim calcmode="lin" valueType="num">
                                      <p:cBhvr>
                                        <p:cTn id="26" dur="1000" fill="hold"/>
                                        <p:tgtEl>
                                          <p:spTgt spid="46"/>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48"/>
                                        </p:tgtEl>
                                        <p:attrNameLst>
                                          <p:attrName>style.visibility</p:attrName>
                                        </p:attrNameLst>
                                      </p:cBhvr>
                                      <p:to>
                                        <p:strVal val="visible"/>
                                      </p:to>
                                    </p:set>
                                    <p:animEffect transition="in" filter="fade">
                                      <p:cBhvr>
                                        <p:cTn id="29" dur="1000"/>
                                        <p:tgtEl>
                                          <p:spTgt spid="48"/>
                                        </p:tgtEl>
                                      </p:cBhvr>
                                    </p:animEffect>
                                    <p:anim calcmode="lin" valueType="num">
                                      <p:cBhvr>
                                        <p:cTn id="30" dur="1000" fill="hold"/>
                                        <p:tgtEl>
                                          <p:spTgt spid="48"/>
                                        </p:tgtEl>
                                        <p:attrNameLst>
                                          <p:attrName>ppt_x</p:attrName>
                                        </p:attrNameLst>
                                      </p:cBhvr>
                                      <p:tavLst>
                                        <p:tav tm="0">
                                          <p:val>
                                            <p:strVal val="#ppt_x"/>
                                          </p:val>
                                        </p:tav>
                                        <p:tav tm="100000">
                                          <p:val>
                                            <p:strVal val="#ppt_x"/>
                                          </p:val>
                                        </p:tav>
                                      </p:tavLst>
                                    </p:anim>
                                    <p:anim calcmode="lin" valueType="num">
                                      <p:cBhvr>
                                        <p:cTn id="31" dur="1000" fill="hold"/>
                                        <p:tgtEl>
                                          <p:spTgt spid="48"/>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49"/>
                                        </p:tgtEl>
                                        <p:attrNameLst>
                                          <p:attrName>style.visibility</p:attrName>
                                        </p:attrNameLst>
                                      </p:cBhvr>
                                      <p:to>
                                        <p:strVal val="visible"/>
                                      </p:to>
                                    </p:set>
                                    <p:animEffect transition="in" filter="fade">
                                      <p:cBhvr>
                                        <p:cTn id="34" dur="1000"/>
                                        <p:tgtEl>
                                          <p:spTgt spid="49"/>
                                        </p:tgtEl>
                                      </p:cBhvr>
                                    </p:animEffect>
                                    <p:anim calcmode="lin" valueType="num">
                                      <p:cBhvr>
                                        <p:cTn id="35" dur="1000" fill="hold"/>
                                        <p:tgtEl>
                                          <p:spTgt spid="49"/>
                                        </p:tgtEl>
                                        <p:attrNameLst>
                                          <p:attrName>ppt_x</p:attrName>
                                        </p:attrNameLst>
                                      </p:cBhvr>
                                      <p:tavLst>
                                        <p:tav tm="0">
                                          <p:val>
                                            <p:strVal val="#ppt_x"/>
                                          </p:val>
                                        </p:tav>
                                        <p:tav tm="100000">
                                          <p:val>
                                            <p:strVal val="#ppt_x"/>
                                          </p:val>
                                        </p:tav>
                                      </p:tavLst>
                                    </p:anim>
                                    <p:anim calcmode="lin" valueType="num">
                                      <p:cBhvr>
                                        <p:cTn id="36" dur="1000" fill="hold"/>
                                        <p:tgtEl>
                                          <p:spTgt spid="49"/>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nodeType="clickEffect">
                                  <p:stCondLst>
                                    <p:cond delay="0"/>
                                  </p:stCondLst>
                                  <p:childTnLst>
                                    <p:set>
                                      <p:cBhvr>
                                        <p:cTn id="40" dur="1" fill="hold">
                                          <p:stCondLst>
                                            <p:cond delay="0"/>
                                          </p:stCondLst>
                                        </p:cTn>
                                        <p:tgtEl>
                                          <p:spTgt spid="50"/>
                                        </p:tgtEl>
                                        <p:attrNameLst>
                                          <p:attrName>style.visibility</p:attrName>
                                        </p:attrNameLst>
                                      </p:cBhvr>
                                      <p:to>
                                        <p:strVal val="visible"/>
                                      </p:to>
                                    </p:set>
                                    <p:animEffect transition="in" filter="fade">
                                      <p:cBhvr>
                                        <p:cTn id="41" dur="1000"/>
                                        <p:tgtEl>
                                          <p:spTgt spid="50"/>
                                        </p:tgtEl>
                                      </p:cBhvr>
                                    </p:animEffect>
                                    <p:anim calcmode="lin" valueType="num">
                                      <p:cBhvr>
                                        <p:cTn id="42" dur="1000" fill="hold"/>
                                        <p:tgtEl>
                                          <p:spTgt spid="50"/>
                                        </p:tgtEl>
                                        <p:attrNameLst>
                                          <p:attrName>ppt_x</p:attrName>
                                        </p:attrNameLst>
                                      </p:cBhvr>
                                      <p:tavLst>
                                        <p:tav tm="0">
                                          <p:val>
                                            <p:strVal val="#ppt_x"/>
                                          </p:val>
                                        </p:tav>
                                        <p:tav tm="100000">
                                          <p:val>
                                            <p:strVal val="#ppt_x"/>
                                          </p:val>
                                        </p:tav>
                                      </p:tavLst>
                                    </p:anim>
                                    <p:anim calcmode="lin" valueType="num">
                                      <p:cBhvr>
                                        <p:cTn id="43" dur="1000" fill="hold"/>
                                        <p:tgtEl>
                                          <p:spTgt spid="50"/>
                                        </p:tgtEl>
                                        <p:attrNameLst>
                                          <p:attrName>ppt_y</p:attrName>
                                        </p:attrNameLst>
                                      </p:cBhvr>
                                      <p:tavLst>
                                        <p:tav tm="0">
                                          <p:val>
                                            <p:strVal val="#ppt_y+.1"/>
                                          </p:val>
                                        </p:tav>
                                        <p:tav tm="100000">
                                          <p:val>
                                            <p:strVal val="#ppt_y"/>
                                          </p:val>
                                        </p:tav>
                                      </p:tavLst>
                                    </p:anim>
                                  </p:childTnLst>
                                </p:cTn>
                              </p:par>
                              <p:par>
                                <p:cTn id="44" presetID="42" presetClass="entr" presetSubtype="0" fill="hold" grpId="0" nodeType="withEffect">
                                  <p:stCondLst>
                                    <p:cond delay="0"/>
                                  </p:stCondLst>
                                  <p:childTnLst>
                                    <p:set>
                                      <p:cBhvr>
                                        <p:cTn id="45" dur="1" fill="hold">
                                          <p:stCondLst>
                                            <p:cond delay="0"/>
                                          </p:stCondLst>
                                        </p:cTn>
                                        <p:tgtEl>
                                          <p:spTgt spid="52"/>
                                        </p:tgtEl>
                                        <p:attrNameLst>
                                          <p:attrName>style.visibility</p:attrName>
                                        </p:attrNameLst>
                                      </p:cBhvr>
                                      <p:to>
                                        <p:strVal val="visible"/>
                                      </p:to>
                                    </p:set>
                                    <p:animEffect transition="in" filter="fade">
                                      <p:cBhvr>
                                        <p:cTn id="46" dur="1000"/>
                                        <p:tgtEl>
                                          <p:spTgt spid="52"/>
                                        </p:tgtEl>
                                      </p:cBhvr>
                                    </p:animEffect>
                                    <p:anim calcmode="lin" valueType="num">
                                      <p:cBhvr>
                                        <p:cTn id="47" dur="1000" fill="hold"/>
                                        <p:tgtEl>
                                          <p:spTgt spid="52"/>
                                        </p:tgtEl>
                                        <p:attrNameLst>
                                          <p:attrName>ppt_x</p:attrName>
                                        </p:attrNameLst>
                                      </p:cBhvr>
                                      <p:tavLst>
                                        <p:tav tm="0">
                                          <p:val>
                                            <p:strVal val="#ppt_x"/>
                                          </p:val>
                                        </p:tav>
                                        <p:tav tm="100000">
                                          <p:val>
                                            <p:strVal val="#ppt_x"/>
                                          </p:val>
                                        </p:tav>
                                      </p:tavLst>
                                    </p:anim>
                                    <p:anim calcmode="lin" valueType="num">
                                      <p:cBhvr>
                                        <p:cTn id="48" dur="1000" fill="hold"/>
                                        <p:tgtEl>
                                          <p:spTgt spid="52"/>
                                        </p:tgtEl>
                                        <p:attrNameLst>
                                          <p:attrName>ppt_y</p:attrName>
                                        </p:attrNameLst>
                                      </p:cBhvr>
                                      <p:tavLst>
                                        <p:tav tm="0">
                                          <p:val>
                                            <p:strVal val="#ppt_y+.1"/>
                                          </p:val>
                                        </p:tav>
                                        <p:tav tm="100000">
                                          <p:val>
                                            <p:strVal val="#ppt_y"/>
                                          </p:val>
                                        </p:tav>
                                      </p:tavLst>
                                    </p:anim>
                                  </p:childTnLst>
                                </p:cTn>
                              </p:par>
                              <p:par>
                                <p:cTn id="49" presetID="42" presetClass="entr" presetSubtype="0" fill="hold" nodeType="withEffect">
                                  <p:stCondLst>
                                    <p:cond delay="0"/>
                                  </p:stCondLst>
                                  <p:childTnLst>
                                    <p:set>
                                      <p:cBhvr>
                                        <p:cTn id="50" dur="1" fill="hold">
                                          <p:stCondLst>
                                            <p:cond delay="0"/>
                                          </p:stCondLst>
                                        </p:cTn>
                                        <p:tgtEl>
                                          <p:spTgt spid="53"/>
                                        </p:tgtEl>
                                        <p:attrNameLst>
                                          <p:attrName>style.visibility</p:attrName>
                                        </p:attrNameLst>
                                      </p:cBhvr>
                                      <p:to>
                                        <p:strVal val="visible"/>
                                      </p:to>
                                    </p:set>
                                    <p:animEffect transition="in" filter="fade">
                                      <p:cBhvr>
                                        <p:cTn id="51" dur="1000"/>
                                        <p:tgtEl>
                                          <p:spTgt spid="53"/>
                                        </p:tgtEl>
                                      </p:cBhvr>
                                    </p:animEffect>
                                    <p:anim calcmode="lin" valueType="num">
                                      <p:cBhvr>
                                        <p:cTn id="52" dur="1000" fill="hold"/>
                                        <p:tgtEl>
                                          <p:spTgt spid="53"/>
                                        </p:tgtEl>
                                        <p:attrNameLst>
                                          <p:attrName>ppt_x</p:attrName>
                                        </p:attrNameLst>
                                      </p:cBhvr>
                                      <p:tavLst>
                                        <p:tav tm="0">
                                          <p:val>
                                            <p:strVal val="#ppt_x"/>
                                          </p:val>
                                        </p:tav>
                                        <p:tav tm="100000">
                                          <p:val>
                                            <p:strVal val="#ppt_x"/>
                                          </p:val>
                                        </p:tav>
                                      </p:tavLst>
                                    </p:anim>
                                    <p:anim calcmode="lin" valueType="num">
                                      <p:cBhvr>
                                        <p:cTn id="53" dur="1000" fill="hold"/>
                                        <p:tgtEl>
                                          <p:spTgt spid="53"/>
                                        </p:tgtEl>
                                        <p:attrNameLst>
                                          <p:attrName>ppt_y</p:attrName>
                                        </p:attrNameLst>
                                      </p:cBhvr>
                                      <p:tavLst>
                                        <p:tav tm="0">
                                          <p:val>
                                            <p:strVal val="#ppt_y+.1"/>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42" presetClass="entr" presetSubtype="0" fill="hold" nodeType="clickEffect">
                                  <p:stCondLst>
                                    <p:cond delay="0"/>
                                  </p:stCondLst>
                                  <p:childTnLst>
                                    <p:set>
                                      <p:cBhvr>
                                        <p:cTn id="57" dur="1" fill="hold">
                                          <p:stCondLst>
                                            <p:cond delay="0"/>
                                          </p:stCondLst>
                                        </p:cTn>
                                        <p:tgtEl>
                                          <p:spTgt spid="54"/>
                                        </p:tgtEl>
                                        <p:attrNameLst>
                                          <p:attrName>style.visibility</p:attrName>
                                        </p:attrNameLst>
                                      </p:cBhvr>
                                      <p:to>
                                        <p:strVal val="visible"/>
                                      </p:to>
                                    </p:set>
                                    <p:animEffect transition="in" filter="fade">
                                      <p:cBhvr>
                                        <p:cTn id="58" dur="1000"/>
                                        <p:tgtEl>
                                          <p:spTgt spid="54"/>
                                        </p:tgtEl>
                                      </p:cBhvr>
                                    </p:animEffect>
                                    <p:anim calcmode="lin" valueType="num">
                                      <p:cBhvr>
                                        <p:cTn id="59" dur="1000" fill="hold"/>
                                        <p:tgtEl>
                                          <p:spTgt spid="54"/>
                                        </p:tgtEl>
                                        <p:attrNameLst>
                                          <p:attrName>ppt_x</p:attrName>
                                        </p:attrNameLst>
                                      </p:cBhvr>
                                      <p:tavLst>
                                        <p:tav tm="0">
                                          <p:val>
                                            <p:strVal val="#ppt_x"/>
                                          </p:val>
                                        </p:tav>
                                        <p:tav tm="100000">
                                          <p:val>
                                            <p:strVal val="#ppt_x"/>
                                          </p:val>
                                        </p:tav>
                                      </p:tavLst>
                                    </p:anim>
                                    <p:anim calcmode="lin" valueType="num">
                                      <p:cBhvr>
                                        <p:cTn id="60" dur="1000" fill="hold"/>
                                        <p:tgtEl>
                                          <p:spTgt spid="54"/>
                                        </p:tgtEl>
                                        <p:attrNameLst>
                                          <p:attrName>ppt_y</p:attrName>
                                        </p:attrNameLst>
                                      </p:cBhvr>
                                      <p:tavLst>
                                        <p:tav tm="0">
                                          <p:val>
                                            <p:strVal val="#ppt_y+.1"/>
                                          </p:val>
                                        </p:tav>
                                        <p:tav tm="100000">
                                          <p:val>
                                            <p:strVal val="#ppt_y"/>
                                          </p:val>
                                        </p:tav>
                                      </p:tavLst>
                                    </p:anim>
                                  </p:childTnLst>
                                </p:cTn>
                              </p:par>
                              <p:par>
                                <p:cTn id="61" presetID="42" presetClass="entr" presetSubtype="0" fill="hold" grpId="0" nodeType="withEffect">
                                  <p:stCondLst>
                                    <p:cond delay="0"/>
                                  </p:stCondLst>
                                  <p:childTnLst>
                                    <p:set>
                                      <p:cBhvr>
                                        <p:cTn id="62" dur="1" fill="hold">
                                          <p:stCondLst>
                                            <p:cond delay="0"/>
                                          </p:stCondLst>
                                        </p:cTn>
                                        <p:tgtEl>
                                          <p:spTgt spid="56"/>
                                        </p:tgtEl>
                                        <p:attrNameLst>
                                          <p:attrName>style.visibility</p:attrName>
                                        </p:attrNameLst>
                                      </p:cBhvr>
                                      <p:to>
                                        <p:strVal val="visible"/>
                                      </p:to>
                                    </p:set>
                                    <p:animEffect transition="in" filter="fade">
                                      <p:cBhvr>
                                        <p:cTn id="63" dur="1000"/>
                                        <p:tgtEl>
                                          <p:spTgt spid="56"/>
                                        </p:tgtEl>
                                      </p:cBhvr>
                                    </p:animEffect>
                                    <p:anim calcmode="lin" valueType="num">
                                      <p:cBhvr>
                                        <p:cTn id="64" dur="1000" fill="hold"/>
                                        <p:tgtEl>
                                          <p:spTgt spid="56"/>
                                        </p:tgtEl>
                                        <p:attrNameLst>
                                          <p:attrName>ppt_x</p:attrName>
                                        </p:attrNameLst>
                                      </p:cBhvr>
                                      <p:tavLst>
                                        <p:tav tm="0">
                                          <p:val>
                                            <p:strVal val="#ppt_x"/>
                                          </p:val>
                                        </p:tav>
                                        <p:tav tm="100000">
                                          <p:val>
                                            <p:strVal val="#ppt_x"/>
                                          </p:val>
                                        </p:tav>
                                      </p:tavLst>
                                    </p:anim>
                                    <p:anim calcmode="lin" valueType="num">
                                      <p:cBhvr>
                                        <p:cTn id="65" dur="1000" fill="hold"/>
                                        <p:tgtEl>
                                          <p:spTgt spid="56"/>
                                        </p:tgtEl>
                                        <p:attrNameLst>
                                          <p:attrName>ppt_y</p:attrName>
                                        </p:attrNameLst>
                                      </p:cBhvr>
                                      <p:tavLst>
                                        <p:tav tm="0">
                                          <p:val>
                                            <p:strVal val="#ppt_y+.1"/>
                                          </p:val>
                                        </p:tav>
                                        <p:tav tm="100000">
                                          <p:val>
                                            <p:strVal val="#ppt_y"/>
                                          </p:val>
                                        </p:tav>
                                      </p:tavLst>
                                    </p:anim>
                                  </p:childTnLst>
                                </p:cTn>
                              </p:par>
                              <p:par>
                                <p:cTn id="66" presetID="42" presetClass="entr" presetSubtype="0" fill="hold" nodeType="withEffect">
                                  <p:stCondLst>
                                    <p:cond delay="0"/>
                                  </p:stCondLst>
                                  <p:childTnLst>
                                    <p:set>
                                      <p:cBhvr>
                                        <p:cTn id="67" dur="1" fill="hold">
                                          <p:stCondLst>
                                            <p:cond delay="0"/>
                                          </p:stCondLst>
                                        </p:cTn>
                                        <p:tgtEl>
                                          <p:spTgt spid="57"/>
                                        </p:tgtEl>
                                        <p:attrNameLst>
                                          <p:attrName>style.visibility</p:attrName>
                                        </p:attrNameLst>
                                      </p:cBhvr>
                                      <p:to>
                                        <p:strVal val="visible"/>
                                      </p:to>
                                    </p:set>
                                    <p:animEffect transition="in" filter="fade">
                                      <p:cBhvr>
                                        <p:cTn id="68" dur="1000"/>
                                        <p:tgtEl>
                                          <p:spTgt spid="57"/>
                                        </p:tgtEl>
                                      </p:cBhvr>
                                    </p:animEffect>
                                    <p:anim calcmode="lin" valueType="num">
                                      <p:cBhvr>
                                        <p:cTn id="69" dur="1000" fill="hold"/>
                                        <p:tgtEl>
                                          <p:spTgt spid="57"/>
                                        </p:tgtEl>
                                        <p:attrNameLst>
                                          <p:attrName>ppt_x</p:attrName>
                                        </p:attrNameLst>
                                      </p:cBhvr>
                                      <p:tavLst>
                                        <p:tav tm="0">
                                          <p:val>
                                            <p:strVal val="#ppt_x"/>
                                          </p:val>
                                        </p:tav>
                                        <p:tav tm="100000">
                                          <p:val>
                                            <p:strVal val="#ppt_x"/>
                                          </p:val>
                                        </p:tav>
                                      </p:tavLst>
                                    </p:anim>
                                    <p:anim calcmode="lin" valueType="num">
                                      <p:cBhvr>
                                        <p:cTn id="70" dur="1000" fill="hold"/>
                                        <p:tgtEl>
                                          <p:spTgt spid="57"/>
                                        </p:tgtEl>
                                        <p:attrNameLst>
                                          <p:attrName>ppt_y</p:attrName>
                                        </p:attrNameLst>
                                      </p:cBhvr>
                                      <p:tavLst>
                                        <p:tav tm="0">
                                          <p:val>
                                            <p:strVal val="#ppt_y+.1"/>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42" presetClass="entr" presetSubtype="0" fill="hold" nodeType="clickEffect">
                                  <p:stCondLst>
                                    <p:cond delay="0"/>
                                  </p:stCondLst>
                                  <p:childTnLst>
                                    <p:set>
                                      <p:cBhvr>
                                        <p:cTn id="74" dur="1" fill="hold">
                                          <p:stCondLst>
                                            <p:cond delay="0"/>
                                          </p:stCondLst>
                                        </p:cTn>
                                        <p:tgtEl>
                                          <p:spTgt spid="58"/>
                                        </p:tgtEl>
                                        <p:attrNameLst>
                                          <p:attrName>style.visibility</p:attrName>
                                        </p:attrNameLst>
                                      </p:cBhvr>
                                      <p:to>
                                        <p:strVal val="visible"/>
                                      </p:to>
                                    </p:set>
                                    <p:animEffect transition="in" filter="fade">
                                      <p:cBhvr>
                                        <p:cTn id="75" dur="1000"/>
                                        <p:tgtEl>
                                          <p:spTgt spid="58"/>
                                        </p:tgtEl>
                                      </p:cBhvr>
                                    </p:animEffect>
                                    <p:anim calcmode="lin" valueType="num">
                                      <p:cBhvr>
                                        <p:cTn id="76" dur="1000" fill="hold"/>
                                        <p:tgtEl>
                                          <p:spTgt spid="58"/>
                                        </p:tgtEl>
                                        <p:attrNameLst>
                                          <p:attrName>ppt_x</p:attrName>
                                        </p:attrNameLst>
                                      </p:cBhvr>
                                      <p:tavLst>
                                        <p:tav tm="0">
                                          <p:val>
                                            <p:strVal val="#ppt_x"/>
                                          </p:val>
                                        </p:tav>
                                        <p:tav tm="100000">
                                          <p:val>
                                            <p:strVal val="#ppt_x"/>
                                          </p:val>
                                        </p:tav>
                                      </p:tavLst>
                                    </p:anim>
                                    <p:anim calcmode="lin" valueType="num">
                                      <p:cBhvr>
                                        <p:cTn id="77" dur="1000" fill="hold"/>
                                        <p:tgtEl>
                                          <p:spTgt spid="58"/>
                                        </p:tgtEl>
                                        <p:attrNameLst>
                                          <p:attrName>ppt_y</p:attrName>
                                        </p:attrNameLst>
                                      </p:cBhvr>
                                      <p:tavLst>
                                        <p:tav tm="0">
                                          <p:val>
                                            <p:strVal val="#ppt_y+.1"/>
                                          </p:val>
                                        </p:tav>
                                        <p:tav tm="100000">
                                          <p:val>
                                            <p:strVal val="#ppt_y"/>
                                          </p:val>
                                        </p:tav>
                                      </p:tavLst>
                                    </p:anim>
                                  </p:childTnLst>
                                </p:cTn>
                              </p:par>
                              <p:par>
                                <p:cTn id="78" presetID="42" presetClass="entr" presetSubtype="0" fill="hold" grpId="0" nodeType="withEffect">
                                  <p:stCondLst>
                                    <p:cond delay="0"/>
                                  </p:stCondLst>
                                  <p:childTnLst>
                                    <p:set>
                                      <p:cBhvr>
                                        <p:cTn id="79" dur="1" fill="hold">
                                          <p:stCondLst>
                                            <p:cond delay="0"/>
                                          </p:stCondLst>
                                        </p:cTn>
                                        <p:tgtEl>
                                          <p:spTgt spid="60"/>
                                        </p:tgtEl>
                                        <p:attrNameLst>
                                          <p:attrName>style.visibility</p:attrName>
                                        </p:attrNameLst>
                                      </p:cBhvr>
                                      <p:to>
                                        <p:strVal val="visible"/>
                                      </p:to>
                                    </p:set>
                                    <p:animEffect transition="in" filter="fade">
                                      <p:cBhvr>
                                        <p:cTn id="80" dur="1000"/>
                                        <p:tgtEl>
                                          <p:spTgt spid="60"/>
                                        </p:tgtEl>
                                      </p:cBhvr>
                                    </p:animEffect>
                                    <p:anim calcmode="lin" valueType="num">
                                      <p:cBhvr>
                                        <p:cTn id="81" dur="1000" fill="hold"/>
                                        <p:tgtEl>
                                          <p:spTgt spid="60"/>
                                        </p:tgtEl>
                                        <p:attrNameLst>
                                          <p:attrName>ppt_x</p:attrName>
                                        </p:attrNameLst>
                                      </p:cBhvr>
                                      <p:tavLst>
                                        <p:tav tm="0">
                                          <p:val>
                                            <p:strVal val="#ppt_x"/>
                                          </p:val>
                                        </p:tav>
                                        <p:tav tm="100000">
                                          <p:val>
                                            <p:strVal val="#ppt_x"/>
                                          </p:val>
                                        </p:tav>
                                      </p:tavLst>
                                    </p:anim>
                                    <p:anim calcmode="lin" valueType="num">
                                      <p:cBhvr>
                                        <p:cTn id="82" dur="1000" fill="hold"/>
                                        <p:tgtEl>
                                          <p:spTgt spid="60"/>
                                        </p:tgtEl>
                                        <p:attrNameLst>
                                          <p:attrName>ppt_y</p:attrName>
                                        </p:attrNameLst>
                                      </p:cBhvr>
                                      <p:tavLst>
                                        <p:tav tm="0">
                                          <p:val>
                                            <p:strVal val="#ppt_y+.1"/>
                                          </p:val>
                                        </p:tav>
                                        <p:tav tm="100000">
                                          <p:val>
                                            <p:strVal val="#ppt_y"/>
                                          </p:val>
                                        </p:tav>
                                      </p:tavLst>
                                    </p:anim>
                                  </p:childTnLst>
                                </p:cTn>
                              </p:par>
                            </p:childTnLst>
                          </p:cTn>
                        </p:par>
                      </p:childTnLst>
                    </p:cTn>
                  </p:par>
                  <p:par>
                    <p:cTn id="83" fill="hold">
                      <p:stCondLst>
                        <p:cond delay="indefinite"/>
                      </p:stCondLst>
                      <p:childTnLst>
                        <p:par>
                          <p:cTn id="84" fill="hold">
                            <p:stCondLst>
                              <p:cond delay="0"/>
                            </p:stCondLst>
                            <p:childTnLst>
                              <p:par>
                                <p:cTn id="85" presetID="42" presetClass="entr" presetSubtype="0" fill="hold" grpId="0" nodeType="clickEffect">
                                  <p:stCondLst>
                                    <p:cond delay="0"/>
                                  </p:stCondLst>
                                  <p:childTnLst>
                                    <p:set>
                                      <p:cBhvr>
                                        <p:cTn id="86" dur="1" fill="hold">
                                          <p:stCondLst>
                                            <p:cond delay="0"/>
                                          </p:stCondLst>
                                        </p:cTn>
                                        <p:tgtEl>
                                          <p:spTgt spid="3">
                                            <p:txEl>
                                              <p:pRg st="4" end="4"/>
                                            </p:txEl>
                                          </p:spTgt>
                                        </p:tgtEl>
                                        <p:attrNameLst>
                                          <p:attrName>style.visibility</p:attrName>
                                        </p:attrNameLst>
                                      </p:cBhvr>
                                      <p:to>
                                        <p:strVal val="visible"/>
                                      </p:to>
                                    </p:set>
                                    <p:animEffect transition="in" filter="fade">
                                      <p:cBhvr>
                                        <p:cTn id="87" dur="1000"/>
                                        <p:tgtEl>
                                          <p:spTgt spid="3">
                                            <p:txEl>
                                              <p:pRg st="4" end="4"/>
                                            </p:txEl>
                                          </p:spTgt>
                                        </p:tgtEl>
                                      </p:cBhvr>
                                    </p:animEffect>
                                    <p:anim calcmode="lin" valueType="num">
                                      <p:cBhvr>
                                        <p:cTn id="88"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89"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4" grpId="0" animBg="1"/>
      <p:bldP spid="48" grpId="0" animBg="1"/>
      <p:bldP spid="52" grpId="0" animBg="1"/>
      <p:bldP spid="56" grpId="0" animBg="1"/>
      <p:bldP spid="60"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E27B77-11AA-4C7F-8435-B05732D87FDC}"/>
              </a:ext>
            </a:extLst>
          </p:cNvPr>
          <p:cNvSpPr>
            <a:spLocks noGrp="1"/>
          </p:cNvSpPr>
          <p:nvPr>
            <p:ph type="title"/>
          </p:nvPr>
        </p:nvSpPr>
        <p:spPr/>
        <p:txBody>
          <a:bodyPr/>
          <a:lstStyle/>
          <a:p>
            <a:r>
              <a:rPr lang="en-GB" dirty="0"/>
              <a:t>Data Independence</a:t>
            </a:r>
            <a:endParaRPr lang="en-PK" dirty="0"/>
          </a:p>
        </p:txBody>
      </p:sp>
      <p:sp>
        <p:nvSpPr>
          <p:cNvPr id="3" name="Content Placeholder 2">
            <a:extLst>
              <a:ext uri="{FF2B5EF4-FFF2-40B4-BE49-F238E27FC236}">
                <a16:creationId xmlns:a16="http://schemas.microsoft.com/office/drawing/2014/main" id="{7E73A14C-8199-43AB-9FF8-AAEA4F17B7B5}"/>
              </a:ext>
            </a:extLst>
          </p:cNvPr>
          <p:cNvSpPr>
            <a:spLocks noGrp="1"/>
          </p:cNvSpPr>
          <p:nvPr>
            <p:ph idx="1"/>
          </p:nvPr>
        </p:nvSpPr>
        <p:spPr/>
        <p:txBody>
          <a:bodyPr>
            <a:normAutofit fontScale="92500" lnSpcReduction="20000"/>
          </a:bodyPr>
          <a:lstStyle/>
          <a:p>
            <a:pPr algn="just"/>
            <a:r>
              <a:rPr lang="en-GB" dirty="0"/>
              <a:t>Data independence in a Database Management System (DBMS) is the ability to </a:t>
            </a:r>
            <a:r>
              <a:rPr lang="en-GB" b="1" dirty="0"/>
              <a:t>modify the database structure </a:t>
            </a:r>
            <a:r>
              <a:rPr lang="en-GB" dirty="0"/>
              <a:t>at one level without altering the application programs or data schemas at the higher levels.</a:t>
            </a:r>
          </a:p>
          <a:p>
            <a:pPr algn="just"/>
            <a:r>
              <a:rPr lang="en-GB" dirty="0"/>
              <a:t>Eliminate the need to make updates when changes occur in data storage or logical definition</a:t>
            </a:r>
          </a:p>
          <a:p>
            <a:pPr algn="just"/>
            <a:r>
              <a:rPr lang="en-GB" b="1" u="none" strike="noStrike" dirty="0">
                <a:effectLst/>
                <a:latin typeface="Google Sans"/>
              </a:rPr>
              <a:t>Logical Data Independence:</a:t>
            </a:r>
            <a:r>
              <a:rPr lang="en-GB" dirty="0"/>
              <a:t> Change in conceptual level without changes in user level/external level</a:t>
            </a:r>
          </a:p>
          <a:p>
            <a:pPr lvl="1" algn="just"/>
            <a:r>
              <a:rPr lang="en-GB" dirty="0"/>
              <a:t>Rename / restructure attributes</a:t>
            </a:r>
          </a:p>
          <a:p>
            <a:pPr lvl="1" algn="just"/>
            <a:r>
              <a:rPr lang="en-GB" dirty="0"/>
              <a:t>Add New Entity </a:t>
            </a:r>
          </a:p>
          <a:p>
            <a:pPr lvl="1" algn="just"/>
            <a:r>
              <a:rPr lang="en-GB" dirty="0"/>
              <a:t>Add Relationship</a:t>
            </a:r>
            <a:endParaRPr lang="en-PK" dirty="0"/>
          </a:p>
        </p:txBody>
      </p:sp>
    </p:spTree>
    <p:extLst>
      <p:ext uri="{BB962C8B-B14F-4D97-AF65-F5344CB8AC3E}">
        <p14:creationId xmlns:p14="http://schemas.microsoft.com/office/powerpoint/2010/main" val="38147655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E27B77-11AA-4C7F-8435-B05732D87FDC}"/>
              </a:ext>
            </a:extLst>
          </p:cNvPr>
          <p:cNvSpPr>
            <a:spLocks noGrp="1"/>
          </p:cNvSpPr>
          <p:nvPr>
            <p:ph type="title"/>
          </p:nvPr>
        </p:nvSpPr>
        <p:spPr/>
        <p:txBody>
          <a:bodyPr/>
          <a:lstStyle/>
          <a:p>
            <a:r>
              <a:rPr lang="en-GB" dirty="0"/>
              <a:t>Data Independence</a:t>
            </a:r>
            <a:endParaRPr lang="en-PK" dirty="0"/>
          </a:p>
        </p:txBody>
      </p:sp>
      <p:sp>
        <p:nvSpPr>
          <p:cNvPr id="3" name="Content Placeholder 2">
            <a:extLst>
              <a:ext uri="{FF2B5EF4-FFF2-40B4-BE49-F238E27FC236}">
                <a16:creationId xmlns:a16="http://schemas.microsoft.com/office/drawing/2014/main" id="{7E73A14C-8199-43AB-9FF8-AAEA4F17B7B5}"/>
              </a:ext>
            </a:extLst>
          </p:cNvPr>
          <p:cNvSpPr>
            <a:spLocks noGrp="1"/>
          </p:cNvSpPr>
          <p:nvPr>
            <p:ph idx="1"/>
          </p:nvPr>
        </p:nvSpPr>
        <p:spPr/>
        <p:txBody>
          <a:bodyPr/>
          <a:lstStyle/>
          <a:p>
            <a:pPr marL="0" indent="0">
              <a:buNone/>
            </a:pPr>
            <a:r>
              <a:rPr lang="en-GB" b="1" u="none" strike="noStrike" dirty="0">
                <a:effectLst/>
                <a:latin typeface="Google Sans"/>
              </a:rPr>
              <a:t>Physical Data Independence: </a:t>
            </a:r>
            <a:r>
              <a:rPr lang="en-GB" dirty="0"/>
              <a:t>Changes in physical storage or devices (internal level) without changing the logical schema</a:t>
            </a:r>
          </a:p>
          <a:p>
            <a:pPr marL="0" indent="0">
              <a:buNone/>
            </a:pPr>
            <a:r>
              <a:rPr lang="en-GB" dirty="0"/>
              <a:t>	Add an Index</a:t>
            </a:r>
          </a:p>
          <a:p>
            <a:pPr marL="0" indent="0">
              <a:buNone/>
            </a:pPr>
            <a:r>
              <a:rPr lang="en-GB" dirty="0"/>
              <a:t>	Change database location </a:t>
            </a:r>
          </a:p>
          <a:p>
            <a:pPr marL="0" indent="0">
              <a:buNone/>
            </a:pPr>
            <a:r>
              <a:rPr lang="en-GB" dirty="0"/>
              <a:t>	Change File organization</a:t>
            </a:r>
          </a:p>
          <a:p>
            <a:pPr marL="0" indent="0">
              <a:buNone/>
            </a:pPr>
            <a:endParaRPr lang="en-GB" dirty="0"/>
          </a:p>
          <a:p>
            <a:pPr marL="0" indent="0">
              <a:buNone/>
            </a:pPr>
            <a:endParaRPr lang="en-GB" dirty="0"/>
          </a:p>
        </p:txBody>
      </p:sp>
    </p:spTree>
    <p:extLst>
      <p:ext uri="{BB962C8B-B14F-4D97-AF65-F5344CB8AC3E}">
        <p14:creationId xmlns:p14="http://schemas.microsoft.com/office/powerpoint/2010/main" val="7356535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68B9-DC14-4DB7-B89B-1A06B733EEA6}"/>
              </a:ext>
            </a:extLst>
          </p:cNvPr>
          <p:cNvSpPr>
            <a:spLocks noGrp="1"/>
          </p:cNvSpPr>
          <p:nvPr>
            <p:ph type="title"/>
          </p:nvPr>
        </p:nvSpPr>
        <p:spPr/>
        <p:txBody>
          <a:bodyPr/>
          <a:lstStyle/>
          <a:p>
            <a:r>
              <a:rPr lang="en-GB" dirty="0"/>
              <a:t>Data Independence</a:t>
            </a:r>
            <a:endParaRPr lang="en-PK" dirty="0"/>
          </a:p>
        </p:txBody>
      </p:sp>
      <p:sp>
        <p:nvSpPr>
          <p:cNvPr id="3" name="Content Placeholder 2">
            <a:extLst>
              <a:ext uri="{FF2B5EF4-FFF2-40B4-BE49-F238E27FC236}">
                <a16:creationId xmlns:a16="http://schemas.microsoft.com/office/drawing/2014/main" id="{B79DDCBB-EFFF-4F9C-8067-F9EFE005C55A}"/>
              </a:ext>
            </a:extLst>
          </p:cNvPr>
          <p:cNvSpPr>
            <a:spLocks noGrp="1"/>
          </p:cNvSpPr>
          <p:nvPr>
            <p:ph idx="1"/>
          </p:nvPr>
        </p:nvSpPr>
        <p:spPr/>
        <p:txBody>
          <a:bodyPr/>
          <a:lstStyle/>
          <a:p>
            <a:r>
              <a:rPr lang="en-GB" dirty="0"/>
              <a:t>Change Student name to </a:t>
            </a:r>
            <a:r>
              <a:rPr lang="en-GB" dirty="0" err="1"/>
              <a:t>std_first</a:t>
            </a:r>
            <a:r>
              <a:rPr lang="en-GB" dirty="0"/>
              <a:t> and </a:t>
            </a:r>
            <a:r>
              <a:rPr lang="en-GB" dirty="0" err="1"/>
              <a:t>std_last</a:t>
            </a:r>
            <a:r>
              <a:rPr lang="en-GB" dirty="0"/>
              <a:t> name (Logical Independence)</a:t>
            </a:r>
          </a:p>
          <a:p>
            <a:r>
              <a:rPr lang="en-GB" dirty="0"/>
              <a:t>May effect External View as Application depends on Logical Data</a:t>
            </a:r>
          </a:p>
          <a:p>
            <a:r>
              <a:rPr lang="en-GB" dirty="0"/>
              <a:t>Move database file from one drive to another</a:t>
            </a:r>
          </a:p>
          <a:p>
            <a:pPr lvl="1"/>
            <a:r>
              <a:rPr lang="en-GB" dirty="0"/>
              <a:t>Physical Independence</a:t>
            </a:r>
          </a:p>
          <a:p>
            <a:pPr lvl="1"/>
            <a:r>
              <a:rPr lang="en-GB" dirty="0"/>
              <a:t>Performance can change without changing database meaning</a:t>
            </a:r>
            <a:endParaRPr lang="en-PK" dirty="0"/>
          </a:p>
        </p:txBody>
      </p:sp>
      <p:sp>
        <p:nvSpPr>
          <p:cNvPr id="5" name="TextBox 4">
            <a:extLst>
              <a:ext uri="{FF2B5EF4-FFF2-40B4-BE49-F238E27FC236}">
                <a16:creationId xmlns:a16="http://schemas.microsoft.com/office/drawing/2014/main" id="{054AA6F9-F06F-4A4E-84CD-5BCCA0C4F80B}"/>
              </a:ext>
            </a:extLst>
          </p:cNvPr>
          <p:cNvSpPr txBox="1"/>
          <p:nvPr/>
        </p:nvSpPr>
        <p:spPr>
          <a:xfrm>
            <a:off x="2969085" y="6211669"/>
            <a:ext cx="6097712" cy="646331"/>
          </a:xfrm>
          <a:prstGeom prst="rect">
            <a:avLst/>
          </a:prstGeom>
          <a:noFill/>
        </p:spPr>
        <p:txBody>
          <a:bodyPr wrap="square">
            <a:spAutoFit/>
          </a:bodyPr>
          <a:lstStyle/>
          <a:p>
            <a:r>
              <a:rPr lang="en-GB" b="1" dirty="0"/>
              <a:t>Logical</a:t>
            </a:r>
            <a:r>
              <a:rPr lang="en-GB" dirty="0"/>
              <a:t>:  Change </a:t>
            </a:r>
            <a:r>
              <a:rPr lang="en-GB" b="1" dirty="0"/>
              <a:t>what the database represents</a:t>
            </a:r>
          </a:p>
          <a:p>
            <a:r>
              <a:rPr lang="en-GB" b="1" dirty="0"/>
              <a:t>Physical: </a:t>
            </a:r>
            <a:r>
              <a:rPr lang="en-GB" dirty="0"/>
              <a:t>Change </a:t>
            </a:r>
            <a:r>
              <a:rPr lang="en-GB" b="1" dirty="0"/>
              <a:t>how the database stores/accesses it</a:t>
            </a:r>
            <a:endParaRPr lang="en-PK" dirty="0"/>
          </a:p>
        </p:txBody>
      </p:sp>
    </p:spTree>
    <p:extLst>
      <p:ext uri="{BB962C8B-B14F-4D97-AF65-F5344CB8AC3E}">
        <p14:creationId xmlns:p14="http://schemas.microsoft.com/office/powerpoint/2010/main" val="18049791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Shape 4">
            <a:extLst>
              <a:ext uri="{FF2B5EF4-FFF2-40B4-BE49-F238E27FC236}">
                <a16:creationId xmlns:a16="http://schemas.microsoft.com/office/drawing/2014/main" id="{64C241AA-CB74-473D-9AAE-3CB8BA75FACB}"/>
              </a:ext>
            </a:extLst>
          </p:cNvPr>
          <p:cNvSpPr/>
          <p:nvPr/>
        </p:nvSpPr>
        <p:spPr>
          <a:xfrm>
            <a:off x="1912620" y="431784"/>
            <a:ext cx="8366760" cy="603504"/>
          </a:xfrm>
          <a:prstGeom prst="roundRect">
            <a:avLst>
              <a:gd name="adj" fmla="val 6061"/>
            </a:avLst>
          </a:prstGeom>
          <a:solidFill>
            <a:srgbClr val="F1F5FA"/>
          </a:solidFill>
          <a:ln w="10160">
            <a:solidFill>
              <a:srgbClr val="D8E0EB"/>
            </a:solidFill>
            <a:prstDash val="solid"/>
          </a:ln>
        </p:spPr>
      </p:sp>
      <p:sp>
        <p:nvSpPr>
          <p:cNvPr id="30" name="Text 5">
            <a:extLst>
              <a:ext uri="{FF2B5EF4-FFF2-40B4-BE49-F238E27FC236}">
                <a16:creationId xmlns:a16="http://schemas.microsoft.com/office/drawing/2014/main" id="{C3AA587E-9B65-4429-822C-A95A788E54A5}"/>
              </a:ext>
            </a:extLst>
          </p:cNvPr>
          <p:cNvSpPr/>
          <p:nvPr/>
        </p:nvSpPr>
        <p:spPr>
          <a:xfrm>
            <a:off x="2122932" y="596376"/>
            <a:ext cx="320040" cy="146304"/>
          </a:xfrm>
          <a:prstGeom prst="rect">
            <a:avLst/>
          </a:prstGeom>
          <a:solidFill>
            <a:srgbClr val="16A6A1"/>
          </a:solidFill>
          <a:ln/>
        </p:spPr>
        <p:txBody>
          <a:bodyPr wrap="square" lIns="0" tIns="0" rIns="0" bIns="0" rtlCol="0" anchor="ctr"/>
          <a:lstStyle/>
          <a:p>
            <a:pPr marL="0" indent="0" algn="ctr">
              <a:buNone/>
            </a:pPr>
            <a:r>
              <a:rPr lang="en-US" sz="1600" b="1" dirty="0">
                <a:solidFill>
                  <a:srgbClr val="FFFFFF"/>
                </a:solidFill>
              </a:rPr>
              <a:t>A</a:t>
            </a:r>
            <a:endParaRPr lang="en-US" sz="1600" dirty="0"/>
          </a:p>
        </p:txBody>
      </p:sp>
      <p:sp>
        <p:nvSpPr>
          <p:cNvPr id="31" name="Text 6">
            <a:extLst>
              <a:ext uri="{FF2B5EF4-FFF2-40B4-BE49-F238E27FC236}">
                <a16:creationId xmlns:a16="http://schemas.microsoft.com/office/drawing/2014/main" id="{C3D877B0-ECEA-4CF7-A5DD-2F05E0A4FC87}"/>
              </a:ext>
            </a:extLst>
          </p:cNvPr>
          <p:cNvSpPr/>
          <p:nvPr/>
        </p:nvSpPr>
        <p:spPr>
          <a:xfrm>
            <a:off x="2552700" y="587232"/>
            <a:ext cx="5303520" cy="228600"/>
          </a:xfrm>
          <a:prstGeom prst="rect">
            <a:avLst/>
          </a:prstGeom>
          <a:noFill/>
          <a:ln/>
        </p:spPr>
        <p:txBody>
          <a:bodyPr wrap="square" lIns="0" tIns="0" rIns="0" bIns="0" rtlCol="0" anchor="ctr"/>
          <a:lstStyle/>
          <a:p>
            <a:pPr marL="0" indent="0">
              <a:buNone/>
            </a:pPr>
            <a:r>
              <a:rPr lang="en-US" dirty="0">
                <a:solidFill>
                  <a:srgbClr val="172033"/>
                </a:solidFill>
              </a:rPr>
              <a:t>Add an index on StudentID</a:t>
            </a:r>
            <a:endParaRPr lang="en-US" dirty="0"/>
          </a:p>
        </p:txBody>
      </p:sp>
      <p:sp>
        <p:nvSpPr>
          <p:cNvPr id="32" name="Shape 7">
            <a:extLst>
              <a:ext uri="{FF2B5EF4-FFF2-40B4-BE49-F238E27FC236}">
                <a16:creationId xmlns:a16="http://schemas.microsoft.com/office/drawing/2014/main" id="{F53F4468-DF5F-4610-AC63-A4EF5BC17DA3}"/>
              </a:ext>
            </a:extLst>
          </p:cNvPr>
          <p:cNvSpPr/>
          <p:nvPr/>
        </p:nvSpPr>
        <p:spPr>
          <a:xfrm>
            <a:off x="8404860" y="568944"/>
            <a:ext cx="1417320" cy="310896"/>
          </a:xfrm>
          <a:prstGeom prst="roundRect">
            <a:avLst>
              <a:gd name="adj" fmla="val 20588"/>
            </a:avLst>
          </a:prstGeom>
          <a:solidFill>
            <a:srgbClr val="F0ECFD"/>
          </a:solidFill>
          <a:ln w="12700">
            <a:solidFill>
              <a:srgbClr val="F0ECFD"/>
            </a:solidFill>
            <a:prstDash val="solid"/>
          </a:ln>
        </p:spPr>
      </p:sp>
      <p:sp>
        <p:nvSpPr>
          <p:cNvPr id="33" name="Text 8">
            <a:extLst>
              <a:ext uri="{FF2B5EF4-FFF2-40B4-BE49-F238E27FC236}">
                <a16:creationId xmlns:a16="http://schemas.microsoft.com/office/drawing/2014/main" id="{FEF2FF13-A324-4EBE-9A88-943C65533485}"/>
              </a:ext>
            </a:extLst>
          </p:cNvPr>
          <p:cNvSpPr/>
          <p:nvPr/>
        </p:nvSpPr>
        <p:spPr>
          <a:xfrm>
            <a:off x="8450580" y="642096"/>
            <a:ext cx="1325880" cy="137160"/>
          </a:xfrm>
          <a:prstGeom prst="rect">
            <a:avLst/>
          </a:prstGeom>
          <a:noFill/>
          <a:ln/>
        </p:spPr>
        <p:txBody>
          <a:bodyPr wrap="square" lIns="0" tIns="0" rIns="0" bIns="0" rtlCol="0" anchor="ctr"/>
          <a:lstStyle/>
          <a:p>
            <a:pPr marL="0" indent="0" algn="ctr">
              <a:buNone/>
            </a:pPr>
            <a:r>
              <a:rPr lang="en-US" sz="1600" b="1" dirty="0">
                <a:solidFill>
                  <a:srgbClr val="7C5CE5"/>
                </a:solidFill>
              </a:rPr>
              <a:t>Physical</a:t>
            </a:r>
            <a:endParaRPr lang="en-US" sz="1600" dirty="0"/>
          </a:p>
        </p:txBody>
      </p:sp>
      <p:sp>
        <p:nvSpPr>
          <p:cNvPr id="34" name="Shape 9">
            <a:extLst>
              <a:ext uri="{FF2B5EF4-FFF2-40B4-BE49-F238E27FC236}">
                <a16:creationId xmlns:a16="http://schemas.microsoft.com/office/drawing/2014/main" id="{02A76CD6-A12D-40C0-A7F9-0888CFA21DFF}"/>
              </a:ext>
            </a:extLst>
          </p:cNvPr>
          <p:cNvSpPr/>
          <p:nvPr/>
        </p:nvSpPr>
        <p:spPr>
          <a:xfrm>
            <a:off x="1912620" y="1273032"/>
            <a:ext cx="8366760" cy="603504"/>
          </a:xfrm>
          <a:prstGeom prst="roundRect">
            <a:avLst>
              <a:gd name="adj" fmla="val 6061"/>
            </a:avLst>
          </a:prstGeom>
          <a:solidFill>
            <a:srgbClr val="FFFFFF"/>
          </a:solidFill>
          <a:ln w="10160">
            <a:solidFill>
              <a:srgbClr val="D8E0EB"/>
            </a:solidFill>
            <a:prstDash val="solid"/>
          </a:ln>
        </p:spPr>
      </p:sp>
      <p:sp>
        <p:nvSpPr>
          <p:cNvPr id="35" name="Text 10">
            <a:extLst>
              <a:ext uri="{FF2B5EF4-FFF2-40B4-BE49-F238E27FC236}">
                <a16:creationId xmlns:a16="http://schemas.microsoft.com/office/drawing/2014/main" id="{07C6B6A1-F4B7-4A56-96C9-6DA444D35328}"/>
              </a:ext>
            </a:extLst>
          </p:cNvPr>
          <p:cNvSpPr/>
          <p:nvPr/>
        </p:nvSpPr>
        <p:spPr>
          <a:xfrm>
            <a:off x="2122932" y="1437624"/>
            <a:ext cx="320040" cy="146304"/>
          </a:xfrm>
          <a:prstGeom prst="rect">
            <a:avLst/>
          </a:prstGeom>
          <a:solidFill>
            <a:srgbClr val="16A6A1"/>
          </a:solidFill>
          <a:ln/>
        </p:spPr>
        <p:txBody>
          <a:bodyPr wrap="square" lIns="0" tIns="0" rIns="0" bIns="0" rtlCol="0" anchor="ctr"/>
          <a:lstStyle/>
          <a:p>
            <a:pPr marL="0" indent="0" algn="ctr">
              <a:buNone/>
            </a:pPr>
            <a:r>
              <a:rPr lang="en-US" sz="1600" b="1" dirty="0">
                <a:solidFill>
                  <a:srgbClr val="FFFFFF"/>
                </a:solidFill>
              </a:rPr>
              <a:t>B</a:t>
            </a:r>
            <a:endParaRPr lang="en-US" sz="1600" dirty="0"/>
          </a:p>
        </p:txBody>
      </p:sp>
      <p:sp>
        <p:nvSpPr>
          <p:cNvPr id="36" name="Text 11">
            <a:extLst>
              <a:ext uri="{FF2B5EF4-FFF2-40B4-BE49-F238E27FC236}">
                <a16:creationId xmlns:a16="http://schemas.microsoft.com/office/drawing/2014/main" id="{162FA80C-10E5-40DE-B06C-1AB682FA4957}"/>
              </a:ext>
            </a:extLst>
          </p:cNvPr>
          <p:cNvSpPr/>
          <p:nvPr/>
        </p:nvSpPr>
        <p:spPr>
          <a:xfrm>
            <a:off x="2552700" y="1428480"/>
            <a:ext cx="5303520" cy="228600"/>
          </a:xfrm>
          <a:prstGeom prst="rect">
            <a:avLst/>
          </a:prstGeom>
          <a:noFill/>
          <a:ln/>
        </p:spPr>
        <p:txBody>
          <a:bodyPr wrap="square" lIns="0" tIns="0" rIns="0" bIns="0" rtlCol="0" anchor="ctr"/>
          <a:lstStyle/>
          <a:p>
            <a:pPr marL="0" indent="0">
              <a:buNone/>
            </a:pPr>
            <a:r>
              <a:rPr lang="en-US" dirty="0">
                <a:solidFill>
                  <a:srgbClr val="172033"/>
                </a:solidFill>
              </a:rPr>
              <a:t>Create a faculty-only view</a:t>
            </a:r>
            <a:endParaRPr lang="en-US" dirty="0"/>
          </a:p>
        </p:txBody>
      </p:sp>
      <p:sp>
        <p:nvSpPr>
          <p:cNvPr id="37" name="Shape 12">
            <a:extLst>
              <a:ext uri="{FF2B5EF4-FFF2-40B4-BE49-F238E27FC236}">
                <a16:creationId xmlns:a16="http://schemas.microsoft.com/office/drawing/2014/main" id="{81EE8010-9D69-478E-A44D-7A1E1A70C973}"/>
              </a:ext>
            </a:extLst>
          </p:cNvPr>
          <p:cNvSpPr/>
          <p:nvPr/>
        </p:nvSpPr>
        <p:spPr>
          <a:xfrm>
            <a:off x="8404860" y="1410192"/>
            <a:ext cx="1417320" cy="310896"/>
          </a:xfrm>
          <a:prstGeom prst="roundRect">
            <a:avLst>
              <a:gd name="adj" fmla="val 20588"/>
            </a:avLst>
          </a:prstGeom>
          <a:solidFill>
            <a:srgbClr val="EAF2FF"/>
          </a:solidFill>
          <a:ln w="12700">
            <a:solidFill>
              <a:srgbClr val="EAF2FF"/>
            </a:solidFill>
            <a:prstDash val="solid"/>
          </a:ln>
        </p:spPr>
      </p:sp>
      <p:sp>
        <p:nvSpPr>
          <p:cNvPr id="38" name="Text 13">
            <a:extLst>
              <a:ext uri="{FF2B5EF4-FFF2-40B4-BE49-F238E27FC236}">
                <a16:creationId xmlns:a16="http://schemas.microsoft.com/office/drawing/2014/main" id="{EBF816AE-6E4B-4D4E-8C1C-1CD766911AA9}"/>
              </a:ext>
            </a:extLst>
          </p:cNvPr>
          <p:cNvSpPr/>
          <p:nvPr/>
        </p:nvSpPr>
        <p:spPr>
          <a:xfrm>
            <a:off x="8450580" y="1483344"/>
            <a:ext cx="1325880" cy="137160"/>
          </a:xfrm>
          <a:prstGeom prst="rect">
            <a:avLst/>
          </a:prstGeom>
          <a:noFill/>
          <a:ln/>
        </p:spPr>
        <p:txBody>
          <a:bodyPr wrap="square" lIns="0" tIns="0" rIns="0" bIns="0" rtlCol="0" anchor="ctr"/>
          <a:lstStyle/>
          <a:p>
            <a:pPr marL="0" indent="0" algn="ctr">
              <a:buNone/>
            </a:pPr>
            <a:r>
              <a:rPr lang="en-US" sz="1600" b="1" dirty="0">
                <a:solidFill>
                  <a:srgbClr val="2F6BFF"/>
                </a:solidFill>
              </a:rPr>
              <a:t>External</a:t>
            </a:r>
            <a:endParaRPr lang="en-US" sz="1600" dirty="0"/>
          </a:p>
        </p:txBody>
      </p:sp>
      <p:sp>
        <p:nvSpPr>
          <p:cNvPr id="39" name="Shape 14">
            <a:extLst>
              <a:ext uri="{FF2B5EF4-FFF2-40B4-BE49-F238E27FC236}">
                <a16:creationId xmlns:a16="http://schemas.microsoft.com/office/drawing/2014/main" id="{589E9066-9FF3-456F-BE39-C1192F3E719D}"/>
              </a:ext>
            </a:extLst>
          </p:cNvPr>
          <p:cNvSpPr/>
          <p:nvPr/>
        </p:nvSpPr>
        <p:spPr>
          <a:xfrm>
            <a:off x="1912620" y="2114280"/>
            <a:ext cx="8366760" cy="603504"/>
          </a:xfrm>
          <a:prstGeom prst="roundRect">
            <a:avLst>
              <a:gd name="adj" fmla="val 6061"/>
            </a:avLst>
          </a:prstGeom>
          <a:solidFill>
            <a:srgbClr val="F1F5FA"/>
          </a:solidFill>
          <a:ln w="10160">
            <a:solidFill>
              <a:srgbClr val="D8E0EB"/>
            </a:solidFill>
            <a:prstDash val="solid"/>
          </a:ln>
        </p:spPr>
      </p:sp>
      <p:sp>
        <p:nvSpPr>
          <p:cNvPr id="40" name="Text 15">
            <a:extLst>
              <a:ext uri="{FF2B5EF4-FFF2-40B4-BE49-F238E27FC236}">
                <a16:creationId xmlns:a16="http://schemas.microsoft.com/office/drawing/2014/main" id="{DE26DB09-0D41-4F79-B613-DB74AE315FD2}"/>
              </a:ext>
            </a:extLst>
          </p:cNvPr>
          <p:cNvSpPr/>
          <p:nvPr/>
        </p:nvSpPr>
        <p:spPr>
          <a:xfrm>
            <a:off x="2122932" y="2278872"/>
            <a:ext cx="320040" cy="146304"/>
          </a:xfrm>
          <a:prstGeom prst="rect">
            <a:avLst/>
          </a:prstGeom>
          <a:solidFill>
            <a:srgbClr val="16A6A1"/>
          </a:solidFill>
          <a:ln/>
        </p:spPr>
        <p:txBody>
          <a:bodyPr wrap="square" lIns="0" tIns="0" rIns="0" bIns="0" rtlCol="0" anchor="ctr"/>
          <a:lstStyle/>
          <a:p>
            <a:pPr marL="0" indent="0" algn="ctr">
              <a:buNone/>
            </a:pPr>
            <a:r>
              <a:rPr lang="en-US" sz="1600" b="1" dirty="0">
                <a:solidFill>
                  <a:srgbClr val="FFFFFF"/>
                </a:solidFill>
              </a:rPr>
              <a:t>C</a:t>
            </a:r>
            <a:endParaRPr lang="en-US" sz="1600" dirty="0"/>
          </a:p>
        </p:txBody>
      </p:sp>
      <p:sp>
        <p:nvSpPr>
          <p:cNvPr id="41" name="Text 16">
            <a:extLst>
              <a:ext uri="{FF2B5EF4-FFF2-40B4-BE49-F238E27FC236}">
                <a16:creationId xmlns:a16="http://schemas.microsoft.com/office/drawing/2014/main" id="{A76E2302-0B5B-4DE1-BC3D-420E13EEB0C0}"/>
              </a:ext>
            </a:extLst>
          </p:cNvPr>
          <p:cNvSpPr/>
          <p:nvPr/>
        </p:nvSpPr>
        <p:spPr>
          <a:xfrm>
            <a:off x="2552700" y="2269728"/>
            <a:ext cx="5303520" cy="228600"/>
          </a:xfrm>
          <a:prstGeom prst="rect">
            <a:avLst/>
          </a:prstGeom>
          <a:noFill/>
          <a:ln/>
        </p:spPr>
        <p:txBody>
          <a:bodyPr wrap="square" lIns="0" tIns="0" rIns="0" bIns="0" rtlCol="0" anchor="ctr"/>
          <a:lstStyle/>
          <a:p>
            <a:pPr marL="0" indent="0">
              <a:buNone/>
            </a:pPr>
            <a:r>
              <a:rPr lang="en-US" dirty="0">
                <a:solidFill>
                  <a:srgbClr val="172033"/>
                </a:solidFill>
              </a:rPr>
              <a:t>Add a new Department table</a:t>
            </a:r>
            <a:endParaRPr lang="en-US" dirty="0"/>
          </a:p>
        </p:txBody>
      </p:sp>
      <p:sp>
        <p:nvSpPr>
          <p:cNvPr id="42" name="Shape 17">
            <a:extLst>
              <a:ext uri="{FF2B5EF4-FFF2-40B4-BE49-F238E27FC236}">
                <a16:creationId xmlns:a16="http://schemas.microsoft.com/office/drawing/2014/main" id="{A449ADC7-F2BD-426E-B851-DA92EE7671D8}"/>
              </a:ext>
            </a:extLst>
          </p:cNvPr>
          <p:cNvSpPr/>
          <p:nvPr/>
        </p:nvSpPr>
        <p:spPr>
          <a:xfrm>
            <a:off x="8404860" y="2251440"/>
            <a:ext cx="1417320" cy="310896"/>
          </a:xfrm>
          <a:prstGeom prst="roundRect">
            <a:avLst>
              <a:gd name="adj" fmla="val 20588"/>
            </a:avLst>
          </a:prstGeom>
          <a:solidFill>
            <a:srgbClr val="E7F7F6"/>
          </a:solidFill>
          <a:ln w="12700">
            <a:solidFill>
              <a:srgbClr val="E7F7F6"/>
            </a:solidFill>
            <a:prstDash val="solid"/>
          </a:ln>
        </p:spPr>
      </p:sp>
      <p:sp>
        <p:nvSpPr>
          <p:cNvPr id="43" name="Text 18">
            <a:extLst>
              <a:ext uri="{FF2B5EF4-FFF2-40B4-BE49-F238E27FC236}">
                <a16:creationId xmlns:a16="http://schemas.microsoft.com/office/drawing/2014/main" id="{E94C6C2E-6FA2-4871-8F96-E67B4CF7E2C4}"/>
              </a:ext>
            </a:extLst>
          </p:cNvPr>
          <p:cNvSpPr/>
          <p:nvPr/>
        </p:nvSpPr>
        <p:spPr>
          <a:xfrm>
            <a:off x="8450580" y="2324592"/>
            <a:ext cx="1325880" cy="137160"/>
          </a:xfrm>
          <a:prstGeom prst="rect">
            <a:avLst/>
          </a:prstGeom>
          <a:noFill/>
          <a:ln/>
        </p:spPr>
        <p:txBody>
          <a:bodyPr wrap="square" lIns="0" tIns="0" rIns="0" bIns="0" rtlCol="0" anchor="ctr"/>
          <a:lstStyle/>
          <a:p>
            <a:pPr marL="0" indent="0" algn="ctr">
              <a:buNone/>
            </a:pPr>
            <a:r>
              <a:rPr lang="en-US" sz="1600" b="1" dirty="0">
                <a:solidFill>
                  <a:srgbClr val="0F7F7A"/>
                </a:solidFill>
              </a:rPr>
              <a:t>Conceptual</a:t>
            </a:r>
            <a:endParaRPr lang="en-US" sz="1600" dirty="0"/>
          </a:p>
        </p:txBody>
      </p:sp>
      <p:sp>
        <p:nvSpPr>
          <p:cNvPr id="44" name="Shape 19">
            <a:extLst>
              <a:ext uri="{FF2B5EF4-FFF2-40B4-BE49-F238E27FC236}">
                <a16:creationId xmlns:a16="http://schemas.microsoft.com/office/drawing/2014/main" id="{0E8BE9DB-06CB-414C-8C95-C7F2B0B72508}"/>
              </a:ext>
            </a:extLst>
          </p:cNvPr>
          <p:cNvSpPr/>
          <p:nvPr/>
        </p:nvSpPr>
        <p:spPr>
          <a:xfrm>
            <a:off x="1912620" y="2955528"/>
            <a:ext cx="8366760" cy="603504"/>
          </a:xfrm>
          <a:prstGeom prst="roundRect">
            <a:avLst>
              <a:gd name="adj" fmla="val 6061"/>
            </a:avLst>
          </a:prstGeom>
          <a:solidFill>
            <a:srgbClr val="FFFFFF"/>
          </a:solidFill>
          <a:ln w="10160">
            <a:solidFill>
              <a:srgbClr val="D8E0EB"/>
            </a:solidFill>
            <a:prstDash val="solid"/>
          </a:ln>
        </p:spPr>
      </p:sp>
      <p:sp>
        <p:nvSpPr>
          <p:cNvPr id="45" name="Text 20">
            <a:extLst>
              <a:ext uri="{FF2B5EF4-FFF2-40B4-BE49-F238E27FC236}">
                <a16:creationId xmlns:a16="http://schemas.microsoft.com/office/drawing/2014/main" id="{12D58D7B-99B4-4EAF-9938-6366D0CCB163}"/>
              </a:ext>
            </a:extLst>
          </p:cNvPr>
          <p:cNvSpPr/>
          <p:nvPr/>
        </p:nvSpPr>
        <p:spPr>
          <a:xfrm>
            <a:off x="2122932" y="3120120"/>
            <a:ext cx="320040" cy="146304"/>
          </a:xfrm>
          <a:prstGeom prst="rect">
            <a:avLst/>
          </a:prstGeom>
          <a:solidFill>
            <a:srgbClr val="16A6A1"/>
          </a:solidFill>
          <a:ln/>
        </p:spPr>
        <p:txBody>
          <a:bodyPr wrap="square" lIns="0" tIns="0" rIns="0" bIns="0" rtlCol="0" anchor="ctr"/>
          <a:lstStyle/>
          <a:p>
            <a:pPr marL="0" indent="0" algn="ctr">
              <a:buNone/>
            </a:pPr>
            <a:r>
              <a:rPr lang="en-US" sz="1600" b="1" dirty="0">
                <a:solidFill>
                  <a:srgbClr val="FFFFFF"/>
                </a:solidFill>
              </a:rPr>
              <a:t>D</a:t>
            </a:r>
            <a:endParaRPr lang="en-US" sz="1600" dirty="0"/>
          </a:p>
        </p:txBody>
      </p:sp>
      <p:sp>
        <p:nvSpPr>
          <p:cNvPr id="46" name="Text 21">
            <a:extLst>
              <a:ext uri="{FF2B5EF4-FFF2-40B4-BE49-F238E27FC236}">
                <a16:creationId xmlns:a16="http://schemas.microsoft.com/office/drawing/2014/main" id="{D73EF193-936F-4708-8D01-087ADAC69E5F}"/>
              </a:ext>
            </a:extLst>
          </p:cNvPr>
          <p:cNvSpPr/>
          <p:nvPr/>
        </p:nvSpPr>
        <p:spPr>
          <a:xfrm>
            <a:off x="2552700" y="3110976"/>
            <a:ext cx="5303520" cy="228600"/>
          </a:xfrm>
          <a:prstGeom prst="rect">
            <a:avLst/>
          </a:prstGeom>
          <a:noFill/>
          <a:ln/>
        </p:spPr>
        <p:txBody>
          <a:bodyPr wrap="square" lIns="0" tIns="0" rIns="0" bIns="0" rtlCol="0" anchor="ctr"/>
          <a:lstStyle/>
          <a:p>
            <a:pPr marL="0" indent="0">
              <a:buNone/>
            </a:pPr>
            <a:r>
              <a:rPr lang="en-US" dirty="0">
                <a:solidFill>
                  <a:srgbClr val="172033"/>
                </a:solidFill>
              </a:rPr>
              <a:t>Move data files to a faster SSD</a:t>
            </a:r>
            <a:endParaRPr lang="en-US" dirty="0"/>
          </a:p>
        </p:txBody>
      </p:sp>
      <p:sp>
        <p:nvSpPr>
          <p:cNvPr id="47" name="Shape 22">
            <a:extLst>
              <a:ext uri="{FF2B5EF4-FFF2-40B4-BE49-F238E27FC236}">
                <a16:creationId xmlns:a16="http://schemas.microsoft.com/office/drawing/2014/main" id="{F0ABD3A6-7265-4B3C-8B0B-4E0D6E671693}"/>
              </a:ext>
            </a:extLst>
          </p:cNvPr>
          <p:cNvSpPr/>
          <p:nvPr/>
        </p:nvSpPr>
        <p:spPr>
          <a:xfrm>
            <a:off x="8404860" y="3092688"/>
            <a:ext cx="1417320" cy="310896"/>
          </a:xfrm>
          <a:prstGeom prst="roundRect">
            <a:avLst>
              <a:gd name="adj" fmla="val 20588"/>
            </a:avLst>
          </a:prstGeom>
          <a:solidFill>
            <a:srgbClr val="F0ECFD"/>
          </a:solidFill>
          <a:ln w="12700">
            <a:solidFill>
              <a:srgbClr val="F0ECFD"/>
            </a:solidFill>
            <a:prstDash val="solid"/>
          </a:ln>
        </p:spPr>
      </p:sp>
      <p:sp>
        <p:nvSpPr>
          <p:cNvPr id="48" name="Text 23">
            <a:extLst>
              <a:ext uri="{FF2B5EF4-FFF2-40B4-BE49-F238E27FC236}">
                <a16:creationId xmlns:a16="http://schemas.microsoft.com/office/drawing/2014/main" id="{85C7FF7D-4BAE-4616-A020-527F843A3679}"/>
              </a:ext>
            </a:extLst>
          </p:cNvPr>
          <p:cNvSpPr/>
          <p:nvPr/>
        </p:nvSpPr>
        <p:spPr>
          <a:xfrm>
            <a:off x="8450580" y="3165840"/>
            <a:ext cx="1325880" cy="137160"/>
          </a:xfrm>
          <a:prstGeom prst="rect">
            <a:avLst/>
          </a:prstGeom>
          <a:noFill/>
          <a:ln/>
        </p:spPr>
        <p:txBody>
          <a:bodyPr wrap="square" lIns="0" tIns="0" rIns="0" bIns="0" rtlCol="0" anchor="ctr"/>
          <a:lstStyle/>
          <a:p>
            <a:pPr marL="0" indent="0" algn="ctr">
              <a:buNone/>
            </a:pPr>
            <a:r>
              <a:rPr lang="en-US" sz="1600" b="1" dirty="0">
                <a:solidFill>
                  <a:srgbClr val="7C5CE5"/>
                </a:solidFill>
              </a:rPr>
              <a:t>Physical</a:t>
            </a:r>
            <a:endParaRPr lang="en-US" sz="1600" dirty="0"/>
          </a:p>
        </p:txBody>
      </p:sp>
      <p:sp>
        <p:nvSpPr>
          <p:cNvPr id="49" name="Shape 24">
            <a:extLst>
              <a:ext uri="{FF2B5EF4-FFF2-40B4-BE49-F238E27FC236}">
                <a16:creationId xmlns:a16="http://schemas.microsoft.com/office/drawing/2014/main" id="{0E677FE1-5DCD-4660-98DE-A246686BB94C}"/>
              </a:ext>
            </a:extLst>
          </p:cNvPr>
          <p:cNvSpPr/>
          <p:nvPr/>
        </p:nvSpPr>
        <p:spPr>
          <a:xfrm>
            <a:off x="1912620" y="3796776"/>
            <a:ext cx="8366760" cy="603504"/>
          </a:xfrm>
          <a:prstGeom prst="roundRect">
            <a:avLst>
              <a:gd name="adj" fmla="val 6061"/>
            </a:avLst>
          </a:prstGeom>
          <a:solidFill>
            <a:srgbClr val="F1F5FA"/>
          </a:solidFill>
          <a:ln w="10160">
            <a:solidFill>
              <a:srgbClr val="D8E0EB"/>
            </a:solidFill>
            <a:prstDash val="solid"/>
          </a:ln>
        </p:spPr>
      </p:sp>
      <p:sp>
        <p:nvSpPr>
          <p:cNvPr id="50" name="Text 25">
            <a:extLst>
              <a:ext uri="{FF2B5EF4-FFF2-40B4-BE49-F238E27FC236}">
                <a16:creationId xmlns:a16="http://schemas.microsoft.com/office/drawing/2014/main" id="{31E62B05-E4C3-4595-B96D-5E327691F9E0}"/>
              </a:ext>
            </a:extLst>
          </p:cNvPr>
          <p:cNvSpPr/>
          <p:nvPr/>
        </p:nvSpPr>
        <p:spPr>
          <a:xfrm>
            <a:off x="2122932" y="3984228"/>
            <a:ext cx="320040" cy="228600"/>
          </a:xfrm>
          <a:prstGeom prst="rect">
            <a:avLst/>
          </a:prstGeom>
          <a:solidFill>
            <a:srgbClr val="16A6A1"/>
          </a:solidFill>
          <a:ln/>
        </p:spPr>
        <p:txBody>
          <a:bodyPr wrap="square" lIns="0" tIns="0" rIns="0" bIns="0" rtlCol="0" anchor="ctr"/>
          <a:lstStyle/>
          <a:p>
            <a:pPr marL="0" indent="0" algn="ctr">
              <a:buNone/>
            </a:pPr>
            <a:r>
              <a:rPr lang="en-US" sz="1600" b="1" dirty="0">
                <a:solidFill>
                  <a:srgbClr val="FFFFFF"/>
                </a:solidFill>
              </a:rPr>
              <a:t>E</a:t>
            </a:r>
            <a:endParaRPr lang="en-US" sz="1600" dirty="0"/>
          </a:p>
        </p:txBody>
      </p:sp>
      <p:sp>
        <p:nvSpPr>
          <p:cNvPr id="51" name="Text 26">
            <a:extLst>
              <a:ext uri="{FF2B5EF4-FFF2-40B4-BE49-F238E27FC236}">
                <a16:creationId xmlns:a16="http://schemas.microsoft.com/office/drawing/2014/main" id="{73118DC8-AA32-4AF5-931F-7C15B05C7E85}"/>
              </a:ext>
            </a:extLst>
          </p:cNvPr>
          <p:cNvSpPr/>
          <p:nvPr/>
        </p:nvSpPr>
        <p:spPr>
          <a:xfrm>
            <a:off x="2552700" y="3952224"/>
            <a:ext cx="5303520" cy="228600"/>
          </a:xfrm>
          <a:prstGeom prst="rect">
            <a:avLst/>
          </a:prstGeom>
          <a:noFill/>
          <a:ln/>
        </p:spPr>
        <p:txBody>
          <a:bodyPr wrap="square" lIns="0" tIns="0" rIns="0" bIns="0" rtlCol="0" anchor="ctr"/>
          <a:lstStyle/>
          <a:p>
            <a:pPr marL="0" indent="0">
              <a:buNone/>
            </a:pPr>
            <a:r>
              <a:rPr lang="en-US" dirty="0">
                <a:solidFill>
                  <a:srgbClr val="172033"/>
                </a:solidFill>
              </a:rPr>
              <a:t>Hide salary from interns</a:t>
            </a:r>
            <a:endParaRPr lang="en-US" dirty="0"/>
          </a:p>
        </p:txBody>
      </p:sp>
      <p:sp>
        <p:nvSpPr>
          <p:cNvPr id="52" name="Shape 27">
            <a:extLst>
              <a:ext uri="{FF2B5EF4-FFF2-40B4-BE49-F238E27FC236}">
                <a16:creationId xmlns:a16="http://schemas.microsoft.com/office/drawing/2014/main" id="{072AA717-551E-4F97-AD1D-846F8B5912DF}"/>
              </a:ext>
            </a:extLst>
          </p:cNvPr>
          <p:cNvSpPr/>
          <p:nvPr/>
        </p:nvSpPr>
        <p:spPr>
          <a:xfrm>
            <a:off x="8404860" y="3933936"/>
            <a:ext cx="1417320" cy="310896"/>
          </a:xfrm>
          <a:prstGeom prst="roundRect">
            <a:avLst>
              <a:gd name="adj" fmla="val 20588"/>
            </a:avLst>
          </a:prstGeom>
          <a:solidFill>
            <a:srgbClr val="EAF2FF"/>
          </a:solidFill>
          <a:ln w="12700">
            <a:solidFill>
              <a:srgbClr val="EAF2FF"/>
            </a:solidFill>
            <a:prstDash val="solid"/>
          </a:ln>
        </p:spPr>
      </p:sp>
      <p:sp>
        <p:nvSpPr>
          <p:cNvPr id="53" name="Text 28">
            <a:extLst>
              <a:ext uri="{FF2B5EF4-FFF2-40B4-BE49-F238E27FC236}">
                <a16:creationId xmlns:a16="http://schemas.microsoft.com/office/drawing/2014/main" id="{CF03807C-17BD-4401-B2FB-4775067B64EF}"/>
              </a:ext>
            </a:extLst>
          </p:cNvPr>
          <p:cNvSpPr/>
          <p:nvPr/>
        </p:nvSpPr>
        <p:spPr>
          <a:xfrm>
            <a:off x="8450580" y="4007088"/>
            <a:ext cx="1325880" cy="137160"/>
          </a:xfrm>
          <a:prstGeom prst="rect">
            <a:avLst/>
          </a:prstGeom>
          <a:noFill/>
          <a:ln/>
        </p:spPr>
        <p:txBody>
          <a:bodyPr wrap="square" lIns="0" tIns="0" rIns="0" bIns="0" rtlCol="0" anchor="ctr"/>
          <a:lstStyle/>
          <a:p>
            <a:pPr marL="0" indent="0" algn="ctr">
              <a:buNone/>
            </a:pPr>
            <a:r>
              <a:rPr lang="en-US" sz="1600" b="1" dirty="0">
                <a:solidFill>
                  <a:srgbClr val="2F6BFF"/>
                </a:solidFill>
              </a:rPr>
              <a:t>External</a:t>
            </a:r>
            <a:endParaRPr lang="en-US" sz="1600" dirty="0"/>
          </a:p>
        </p:txBody>
      </p:sp>
      <p:sp>
        <p:nvSpPr>
          <p:cNvPr id="54" name="Shape 24">
            <a:extLst>
              <a:ext uri="{FF2B5EF4-FFF2-40B4-BE49-F238E27FC236}">
                <a16:creationId xmlns:a16="http://schemas.microsoft.com/office/drawing/2014/main" id="{8D5D60F9-EA85-47DB-B664-6FB2639A4FB7}"/>
              </a:ext>
            </a:extLst>
          </p:cNvPr>
          <p:cNvSpPr/>
          <p:nvPr/>
        </p:nvSpPr>
        <p:spPr>
          <a:xfrm>
            <a:off x="1912620" y="4610849"/>
            <a:ext cx="8366760" cy="603504"/>
          </a:xfrm>
          <a:prstGeom prst="roundRect">
            <a:avLst>
              <a:gd name="adj" fmla="val 6061"/>
            </a:avLst>
          </a:prstGeom>
          <a:solidFill>
            <a:srgbClr val="F1F5FA"/>
          </a:solidFill>
          <a:ln w="10160">
            <a:solidFill>
              <a:srgbClr val="D8E0EB"/>
            </a:solidFill>
            <a:prstDash val="solid"/>
          </a:ln>
        </p:spPr>
      </p:sp>
      <p:sp>
        <p:nvSpPr>
          <p:cNvPr id="55" name="Text 25">
            <a:extLst>
              <a:ext uri="{FF2B5EF4-FFF2-40B4-BE49-F238E27FC236}">
                <a16:creationId xmlns:a16="http://schemas.microsoft.com/office/drawing/2014/main" id="{20B9180A-0F67-4E63-9773-9848A7269349}"/>
              </a:ext>
            </a:extLst>
          </p:cNvPr>
          <p:cNvSpPr/>
          <p:nvPr/>
        </p:nvSpPr>
        <p:spPr>
          <a:xfrm>
            <a:off x="2122932" y="4798301"/>
            <a:ext cx="320040" cy="228600"/>
          </a:xfrm>
          <a:prstGeom prst="rect">
            <a:avLst/>
          </a:prstGeom>
          <a:solidFill>
            <a:srgbClr val="16A6A1"/>
          </a:solidFill>
          <a:ln/>
        </p:spPr>
        <p:txBody>
          <a:bodyPr wrap="square" lIns="0" tIns="0" rIns="0" bIns="0" rtlCol="0" anchor="ctr"/>
          <a:lstStyle/>
          <a:p>
            <a:pPr marL="0" indent="0" algn="ctr">
              <a:buNone/>
            </a:pPr>
            <a:r>
              <a:rPr lang="en-US" sz="1600" b="1" dirty="0">
                <a:solidFill>
                  <a:srgbClr val="FFFFFF"/>
                </a:solidFill>
              </a:rPr>
              <a:t>F</a:t>
            </a:r>
            <a:endParaRPr lang="en-US" sz="1600" dirty="0"/>
          </a:p>
        </p:txBody>
      </p:sp>
      <p:sp>
        <p:nvSpPr>
          <p:cNvPr id="56" name="Text 26">
            <a:extLst>
              <a:ext uri="{FF2B5EF4-FFF2-40B4-BE49-F238E27FC236}">
                <a16:creationId xmlns:a16="http://schemas.microsoft.com/office/drawing/2014/main" id="{158D203D-83D0-4391-8009-773863A53535}"/>
              </a:ext>
            </a:extLst>
          </p:cNvPr>
          <p:cNvSpPr/>
          <p:nvPr/>
        </p:nvSpPr>
        <p:spPr>
          <a:xfrm>
            <a:off x="2552700" y="4766297"/>
            <a:ext cx="5303520" cy="228600"/>
          </a:xfrm>
          <a:prstGeom prst="rect">
            <a:avLst/>
          </a:prstGeom>
          <a:noFill/>
          <a:ln/>
        </p:spPr>
        <p:txBody>
          <a:bodyPr wrap="square" lIns="0" tIns="0" rIns="0" bIns="0" rtlCol="0" anchor="ctr"/>
          <a:lstStyle/>
          <a:p>
            <a:pPr marL="0" indent="0">
              <a:buNone/>
            </a:pPr>
            <a:r>
              <a:rPr lang="en-US" dirty="0">
                <a:solidFill>
                  <a:srgbClr val="172033"/>
                </a:solidFill>
              </a:rPr>
              <a:t>Split Address into street, City and Country</a:t>
            </a:r>
            <a:endParaRPr lang="en-US" dirty="0"/>
          </a:p>
        </p:txBody>
      </p:sp>
      <p:sp>
        <p:nvSpPr>
          <p:cNvPr id="57" name="Shape 27">
            <a:extLst>
              <a:ext uri="{FF2B5EF4-FFF2-40B4-BE49-F238E27FC236}">
                <a16:creationId xmlns:a16="http://schemas.microsoft.com/office/drawing/2014/main" id="{99822A5A-B5D5-4FBC-B475-27CD0BC751BC}"/>
              </a:ext>
            </a:extLst>
          </p:cNvPr>
          <p:cNvSpPr/>
          <p:nvPr/>
        </p:nvSpPr>
        <p:spPr>
          <a:xfrm>
            <a:off x="8404860" y="4748009"/>
            <a:ext cx="1417320" cy="310896"/>
          </a:xfrm>
          <a:prstGeom prst="roundRect">
            <a:avLst>
              <a:gd name="adj" fmla="val 20588"/>
            </a:avLst>
          </a:prstGeom>
          <a:solidFill>
            <a:srgbClr val="EAF2FF"/>
          </a:solidFill>
          <a:ln w="12700">
            <a:solidFill>
              <a:srgbClr val="EAF2FF"/>
            </a:solidFill>
            <a:prstDash val="solid"/>
          </a:ln>
        </p:spPr>
      </p:sp>
      <p:sp>
        <p:nvSpPr>
          <p:cNvPr id="58" name="Text 28">
            <a:extLst>
              <a:ext uri="{FF2B5EF4-FFF2-40B4-BE49-F238E27FC236}">
                <a16:creationId xmlns:a16="http://schemas.microsoft.com/office/drawing/2014/main" id="{3C915AF4-502E-433B-8CD7-4FDA9F275C2C}"/>
              </a:ext>
            </a:extLst>
          </p:cNvPr>
          <p:cNvSpPr/>
          <p:nvPr/>
        </p:nvSpPr>
        <p:spPr>
          <a:xfrm>
            <a:off x="8450580" y="4821161"/>
            <a:ext cx="1325880" cy="137160"/>
          </a:xfrm>
          <a:prstGeom prst="rect">
            <a:avLst/>
          </a:prstGeom>
          <a:noFill/>
          <a:ln/>
        </p:spPr>
        <p:txBody>
          <a:bodyPr wrap="square" lIns="0" tIns="0" rIns="0" bIns="0" rtlCol="0" anchor="ctr"/>
          <a:lstStyle/>
          <a:p>
            <a:pPr marL="0" indent="0" algn="ctr">
              <a:buNone/>
            </a:pPr>
            <a:r>
              <a:rPr lang="en-US" sz="1600" b="1" dirty="0">
                <a:solidFill>
                  <a:srgbClr val="2F6BFF"/>
                </a:solidFill>
              </a:rPr>
              <a:t>Logical</a:t>
            </a:r>
            <a:endParaRPr lang="en-US" sz="1600" dirty="0"/>
          </a:p>
        </p:txBody>
      </p:sp>
      <p:sp>
        <p:nvSpPr>
          <p:cNvPr id="59" name="Shape 24">
            <a:extLst>
              <a:ext uri="{FF2B5EF4-FFF2-40B4-BE49-F238E27FC236}">
                <a16:creationId xmlns:a16="http://schemas.microsoft.com/office/drawing/2014/main" id="{8E70891A-871C-4604-87C6-3AD11686D0CD}"/>
              </a:ext>
            </a:extLst>
          </p:cNvPr>
          <p:cNvSpPr/>
          <p:nvPr/>
        </p:nvSpPr>
        <p:spPr>
          <a:xfrm>
            <a:off x="1912620" y="5351513"/>
            <a:ext cx="8366760" cy="603504"/>
          </a:xfrm>
          <a:prstGeom prst="roundRect">
            <a:avLst>
              <a:gd name="adj" fmla="val 6061"/>
            </a:avLst>
          </a:prstGeom>
          <a:solidFill>
            <a:srgbClr val="F1F5FA"/>
          </a:solidFill>
          <a:ln w="10160">
            <a:solidFill>
              <a:srgbClr val="D8E0EB"/>
            </a:solidFill>
            <a:prstDash val="solid"/>
          </a:ln>
        </p:spPr>
      </p:sp>
      <p:sp>
        <p:nvSpPr>
          <p:cNvPr id="60" name="Text 25">
            <a:extLst>
              <a:ext uri="{FF2B5EF4-FFF2-40B4-BE49-F238E27FC236}">
                <a16:creationId xmlns:a16="http://schemas.microsoft.com/office/drawing/2014/main" id="{59BCDBFE-8CD1-4642-B436-59D1B33BFC82}"/>
              </a:ext>
            </a:extLst>
          </p:cNvPr>
          <p:cNvSpPr/>
          <p:nvPr/>
        </p:nvSpPr>
        <p:spPr>
          <a:xfrm>
            <a:off x="2122932" y="5538965"/>
            <a:ext cx="320040" cy="228600"/>
          </a:xfrm>
          <a:prstGeom prst="rect">
            <a:avLst/>
          </a:prstGeom>
          <a:solidFill>
            <a:srgbClr val="16A6A1"/>
          </a:solidFill>
          <a:ln/>
        </p:spPr>
        <p:txBody>
          <a:bodyPr wrap="square" lIns="0" tIns="0" rIns="0" bIns="0" rtlCol="0" anchor="ctr"/>
          <a:lstStyle/>
          <a:p>
            <a:pPr marL="0" indent="0" algn="ctr">
              <a:buNone/>
            </a:pPr>
            <a:r>
              <a:rPr lang="en-US" sz="1600" b="1" dirty="0">
                <a:solidFill>
                  <a:srgbClr val="FFFFFF"/>
                </a:solidFill>
              </a:rPr>
              <a:t>G</a:t>
            </a:r>
            <a:endParaRPr lang="en-US" sz="1600" dirty="0"/>
          </a:p>
        </p:txBody>
      </p:sp>
      <p:sp>
        <p:nvSpPr>
          <p:cNvPr id="61" name="Text 26">
            <a:extLst>
              <a:ext uri="{FF2B5EF4-FFF2-40B4-BE49-F238E27FC236}">
                <a16:creationId xmlns:a16="http://schemas.microsoft.com/office/drawing/2014/main" id="{9737D6BE-0113-4C48-8DE7-FC3E7ABEDB06}"/>
              </a:ext>
            </a:extLst>
          </p:cNvPr>
          <p:cNvSpPr/>
          <p:nvPr/>
        </p:nvSpPr>
        <p:spPr>
          <a:xfrm>
            <a:off x="2552700" y="5506961"/>
            <a:ext cx="5303520" cy="228600"/>
          </a:xfrm>
          <a:prstGeom prst="rect">
            <a:avLst/>
          </a:prstGeom>
          <a:noFill/>
          <a:ln/>
        </p:spPr>
        <p:txBody>
          <a:bodyPr wrap="square" lIns="0" tIns="0" rIns="0" bIns="0" rtlCol="0" anchor="ctr"/>
          <a:lstStyle/>
          <a:p>
            <a:pPr marL="0" indent="0">
              <a:buNone/>
            </a:pPr>
            <a:r>
              <a:rPr lang="en-US" dirty="0">
                <a:solidFill>
                  <a:srgbClr val="172033"/>
                </a:solidFill>
              </a:rPr>
              <a:t>Create a View to hide employee salary</a:t>
            </a:r>
            <a:endParaRPr lang="en-US" dirty="0"/>
          </a:p>
        </p:txBody>
      </p:sp>
      <p:sp>
        <p:nvSpPr>
          <p:cNvPr id="62" name="Shape 27">
            <a:extLst>
              <a:ext uri="{FF2B5EF4-FFF2-40B4-BE49-F238E27FC236}">
                <a16:creationId xmlns:a16="http://schemas.microsoft.com/office/drawing/2014/main" id="{09586A10-B35C-4520-B39E-B86F1C97F15E}"/>
              </a:ext>
            </a:extLst>
          </p:cNvPr>
          <p:cNvSpPr/>
          <p:nvPr/>
        </p:nvSpPr>
        <p:spPr>
          <a:xfrm>
            <a:off x="8404860" y="5488673"/>
            <a:ext cx="1417320" cy="310896"/>
          </a:xfrm>
          <a:prstGeom prst="roundRect">
            <a:avLst>
              <a:gd name="adj" fmla="val 20588"/>
            </a:avLst>
          </a:prstGeom>
          <a:solidFill>
            <a:srgbClr val="EAF2FF"/>
          </a:solidFill>
          <a:ln w="12700">
            <a:solidFill>
              <a:srgbClr val="EAF2FF"/>
            </a:solidFill>
            <a:prstDash val="solid"/>
          </a:ln>
        </p:spPr>
      </p:sp>
      <p:sp>
        <p:nvSpPr>
          <p:cNvPr id="63" name="Text 28">
            <a:extLst>
              <a:ext uri="{FF2B5EF4-FFF2-40B4-BE49-F238E27FC236}">
                <a16:creationId xmlns:a16="http://schemas.microsoft.com/office/drawing/2014/main" id="{369528B5-FAF3-48CC-A36E-D4543DB01CB0}"/>
              </a:ext>
            </a:extLst>
          </p:cNvPr>
          <p:cNvSpPr/>
          <p:nvPr/>
        </p:nvSpPr>
        <p:spPr>
          <a:xfrm>
            <a:off x="8450580" y="5561825"/>
            <a:ext cx="1325880" cy="137160"/>
          </a:xfrm>
          <a:prstGeom prst="rect">
            <a:avLst/>
          </a:prstGeom>
          <a:noFill/>
          <a:ln/>
        </p:spPr>
        <p:txBody>
          <a:bodyPr wrap="square" lIns="0" tIns="0" rIns="0" bIns="0" rtlCol="0" anchor="ctr"/>
          <a:lstStyle/>
          <a:p>
            <a:pPr marL="0" indent="0" algn="ctr">
              <a:buNone/>
            </a:pPr>
            <a:r>
              <a:rPr lang="en-US" sz="1600" b="1" dirty="0">
                <a:solidFill>
                  <a:srgbClr val="2F6BFF"/>
                </a:solidFill>
              </a:rPr>
              <a:t>External</a:t>
            </a:r>
            <a:endParaRPr lang="en-US" sz="1600" dirty="0"/>
          </a:p>
        </p:txBody>
      </p:sp>
    </p:spTree>
    <p:extLst>
      <p:ext uri="{BB962C8B-B14F-4D97-AF65-F5344CB8AC3E}">
        <p14:creationId xmlns:p14="http://schemas.microsoft.com/office/powerpoint/2010/main" val="16127572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1000"/>
                                        <p:tgtEl>
                                          <p:spTgt spid="33"/>
                                        </p:tgtEl>
                                      </p:cBhvr>
                                    </p:animEffect>
                                    <p:anim calcmode="lin" valueType="num">
                                      <p:cBhvr>
                                        <p:cTn id="8" dur="1000" fill="hold"/>
                                        <p:tgtEl>
                                          <p:spTgt spid="33"/>
                                        </p:tgtEl>
                                        <p:attrNameLst>
                                          <p:attrName>ppt_x</p:attrName>
                                        </p:attrNameLst>
                                      </p:cBhvr>
                                      <p:tavLst>
                                        <p:tav tm="0">
                                          <p:val>
                                            <p:strVal val="#ppt_x"/>
                                          </p:val>
                                        </p:tav>
                                        <p:tav tm="100000">
                                          <p:val>
                                            <p:strVal val="#ppt_x"/>
                                          </p:val>
                                        </p:tav>
                                      </p:tavLst>
                                    </p:anim>
                                    <p:anim calcmode="lin" valueType="num">
                                      <p:cBhvr>
                                        <p:cTn id="9" dur="1000" fill="hold"/>
                                        <p:tgtEl>
                                          <p:spTgt spid="3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8"/>
                                        </p:tgtEl>
                                        <p:attrNameLst>
                                          <p:attrName>style.visibility</p:attrName>
                                        </p:attrNameLst>
                                      </p:cBhvr>
                                      <p:to>
                                        <p:strVal val="visible"/>
                                      </p:to>
                                    </p:set>
                                    <p:animEffect transition="in" filter="fade">
                                      <p:cBhvr>
                                        <p:cTn id="14" dur="1000"/>
                                        <p:tgtEl>
                                          <p:spTgt spid="38"/>
                                        </p:tgtEl>
                                      </p:cBhvr>
                                    </p:animEffect>
                                    <p:anim calcmode="lin" valueType="num">
                                      <p:cBhvr>
                                        <p:cTn id="15" dur="1000" fill="hold"/>
                                        <p:tgtEl>
                                          <p:spTgt spid="38"/>
                                        </p:tgtEl>
                                        <p:attrNameLst>
                                          <p:attrName>ppt_x</p:attrName>
                                        </p:attrNameLst>
                                      </p:cBhvr>
                                      <p:tavLst>
                                        <p:tav tm="0">
                                          <p:val>
                                            <p:strVal val="#ppt_x"/>
                                          </p:val>
                                        </p:tav>
                                        <p:tav tm="100000">
                                          <p:val>
                                            <p:strVal val="#ppt_x"/>
                                          </p:val>
                                        </p:tav>
                                      </p:tavLst>
                                    </p:anim>
                                    <p:anim calcmode="lin" valueType="num">
                                      <p:cBhvr>
                                        <p:cTn id="16" dur="1000" fill="hold"/>
                                        <p:tgtEl>
                                          <p:spTgt spid="38"/>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3"/>
                                        </p:tgtEl>
                                        <p:attrNameLst>
                                          <p:attrName>style.visibility</p:attrName>
                                        </p:attrNameLst>
                                      </p:cBhvr>
                                      <p:to>
                                        <p:strVal val="visible"/>
                                      </p:to>
                                    </p:set>
                                    <p:animEffect transition="in" filter="fade">
                                      <p:cBhvr>
                                        <p:cTn id="21" dur="1000"/>
                                        <p:tgtEl>
                                          <p:spTgt spid="43"/>
                                        </p:tgtEl>
                                      </p:cBhvr>
                                    </p:animEffect>
                                    <p:anim calcmode="lin" valueType="num">
                                      <p:cBhvr>
                                        <p:cTn id="22" dur="1000" fill="hold"/>
                                        <p:tgtEl>
                                          <p:spTgt spid="43"/>
                                        </p:tgtEl>
                                        <p:attrNameLst>
                                          <p:attrName>ppt_x</p:attrName>
                                        </p:attrNameLst>
                                      </p:cBhvr>
                                      <p:tavLst>
                                        <p:tav tm="0">
                                          <p:val>
                                            <p:strVal val="#ppt_x"/>
                                          </p:val>
                                        </p:tav>
                                        <p:tav tm="100000">
                                          <p:val>
                                            <p:strVal val="#ppt_x"/>
                                          </p:val>
                                        </p:tav>
                                      </p:tavLst>
                                    </p:anim>
                                    <p:anim calcmode="lin" valueType="num">
                                      <p:cBhvr>
                                        <p:cTn id="23" dur="1000" fill="hold"/>
                                        <p:tgtEl>
                                          <p:spTgt spid="43"/>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48"/>
                                        </p:tgtEl>
                                        <p:attrNameLst>
                                          <p:attrName>style.visibility</p:attrName>
                                        </p:attrNameLst>
                                      </p:cBhvr>
                                      <p:to>
                                        <p:strVal val="visible"/>
                                      </p:to>
                                    </p:set>
                                    <p:animEffect transition="in" filter="fade">
                                      <p:cBhvr>
                                        <p:cTn id="28" dur="1000"/>
                                        <p:tgtEl>
                                          <p:spTgt spid="48"/>
                                        </p:tgtEl>
                                      </p:cBhvr>
                                    </p:animEffect>
                                    <p:anim calcmode="lin" valueType="num">
                                      <p:cBhvr>
                                        <p:cTn id="29" dur="1000" fill="hold"/>
                                        <p:tgtEl>
                                          <p:spTgt spid="48"/>
                                        </p:tgtEl>
                                        <p:attrNameLst>
                                          <p:attrName>ppt_x</p:attrName>
                                        </p:attrNameLst>
                                      </p:cBhvr>
                                      <p:tavLst>
                                        <p:tav tm="0">
                                          <p:val>
                                            <p:strVal val="#ppt_x"/>
                                          </p:val>
                                        </p:tav>
                                        <p:tav tm="100000">
                                          <p:val>
                                            <p:strVal val="#ppt_x"/>
                                          </p:val>
                                        </p:tav>
                                      </p:tavLst>
                                    </p:anim>
                                    <p:anim calcmode="lin" valueType="num">
                                      <p:cBhvr>
                                        <p:cTn id="30" dur="1000" fill="hold"/>
                                        <p:tgtEl>
                                          <p:spTgt spid="48"/>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53"/>
                                        </p:tgtEl>
                                        <p:attrNameLst>
                                          <p:attrName>style.visibility</p:attrName>
                                        </p:attrNameLst>
                                      </p:cBhvr>
                                      <p:to>
                                        <p:strVal val="visible"/>
                                      </p:to>
                                    </p:set>
                                    <p:animEffect transition="in" filter="fade">
                                      <p:cBhvr>
                                        <p:cTn id="35" dur="1000"/>
                                        <p:tgtEl>
                                          <p:spTgt spid="53"/>
                                        </p:tgtEl>
                                      </p:cBhvr>
                                    </p:animEffect>
                                    <p:anim calcmode="lin" valueType="num">
                                      <p:cBhvr>
                                        <p:cTn id="36" dur="1000" fill="hold"/>
                                        <p:tgtEl>
                                          <p:spTgt spid="53"/>
                                        </p:tgtEl>
                                        <p:attrNameLst>
                                          <p:attrName>ppt_x</p:attrName>
                                        </p:attrNameLst>
                                      </p:cBhvr>
                                      <p:tavLst>
                                        <p:tav tm="0">
                                          <p:val>
                                            <p:strVal val="#ppt_x"/>
                                          </p:val>
                                        </p:tav>
                                        <p:tav tm="100000">
                                          <p:val>
                                            <p:strVal val="#ppt_x"/>
                                          </p:val>
                                        </p:tav>
                                      </p:tavLst>
                                    </p:anim>
                                    <p:anim calcmode="lin" valueType="num">
                                      <p:cBhvr>
                                        <p:cTn id="37" dur="1000" fill="hold"/>
                                        <p:tgtEl>
                                          <p:spTgt spid="53"/>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58"/>
                                        </p:tgtEl>
                                        <p:attrNameLst>
                                          <p:attrName>style.visibility</p:attrName>
                                        </p:attrNameLst>
                                      </p:cBhvr>
                                      <p:to>
                                        <p:strVal val="visible"/>
                                      </p:to>
                                    </p:set>
                                    <p:animEffect transition="in" filter="fade">
                                      <p:cBhvr>
                                        <p:cTn id="42" dur="1000"/>
                                        <p:tgtEl>
                                          <p:spTgt spid="58"/>
                                        </p:tgtEl>
                                      </p:cBhvr>
                                    </p:animEffect>
                                    <p:anim calcmode="lin" valueType="num">
                                      <p:cBhvr>
                                        <p:cTn id="43" dur="1000" fill="hold"/>
                                        <p:tgtEl>
                                          <p:spTgt spid="58"/>
                                        </p:tgtEl>
                                        <p:attrNameLst>
                                          <p:attrName>ppt_x</p:attrName>
                                        </p:attrNameLst>
                                      </p:cBhvr>
                                      <p:tavLst>
                                        <p:tav tm="0">
                                          <p:val>
                                            <p:strVal val="#ppt_x"/>
                                          </p:val>
                                        </p:tav>
                                        <p:tav tm="100000">
                                          <p:val>
                                            <p:strVal val="#ppt_x"/>
                                          </p:val>
                                        </p:tav>
                                      </p:tavLst>
                                    </p:anim>
                                    <p:anim calcmode="lin" valueType="num">
                                      <p:cBhvr>
                                        <p:cTn id="44" dur="1000" fill="hold"/>
                                        <p:tgtEl>
                                          <p:spTgt spid="58"/>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63"/>
                                        </p:tgtEl>
                                        <p:attrNameLst>
                                          <p:attrName>style.visibility</p:attrName>
                                        </p:attrNameLst>
                                      </p:cBhvr>
                                      <p:to>
                                        <p:strVal val="visible"/>
                                      </p:to>
                                    </p:set>
                                    <p:animEffect transition="in" filter="fade">
                                      <p:cBhvr>
                                        <p:cTn id="49" dur="1000"/>
                                        <p:tgtEl>
                                          <p:spTgt spid="63"/>
                                        </p:tgtEl>
                                      </p:cBhvr>
                                    </p:animEffect>
                                    <p:anim calcmode="lin" valueType="num">
                                      <p:cBhvr>
                                        <p:cTn id="50" dur="1000" fill="hold"/>
                                        <p:tgtEl>
                                          <p:spTgt spid="63"/>
                                        </p:tgtEl>
                                        <p:attrNameLst>
                                          <p:attrName>ppt_x</p:attrName>
                                        </p:attrNameLst>
                                      </p:cBhvr>
                                      <p:tavLst>
                                        <p:tav tm="0">
                                          <p:val>
                                            <p:strVal val="#ppt_x"/>
                                          </p:val>
                                        </p:tav>
                                        <p:tav tm="100000">
                                          <p:val>
                                            <p:strVal val="#ppt_x"/>
                                          </p:val>
                                        </p:tav>
                                      </p:tavLst>
                                    </p:anim>
                                    <p:anim calcmode="lin" valueType="num">
                                      <p:cBhvr>
                                        <p:cTn id="51" dur="1000" fill="hold"/>
                                        <p:tgtEl>
                                          <p:spTgt spid="6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38" grpId="0" animBg="1"/>
      <p:bldP spid="43" grpId="0" animBg="1"/>
      <p:bldP spid="48" grpId="0" animBg="1"/>
      <p:bldP spid="53" grpId="0" animBg="1"/>
      <p:bldP spid="58" grpId="0" animBg="1"/>
      <p:bldP spid="63"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8FE87E-EF36-4D64-87B6-C97E1E3F8BCF}"/>
              </a:ext>
            </a:extLst>
          </p:cNvPr>
          <p:cNvSpPr>
            <a:spLocks noGrp="1"/>
          </p:cNvSpPr>
          <p:nvPr>
            <p:ph type="title"/>
          </p:nvPr>
        </p:nvSpPr>
        <p:spPr/>
        <p:txBody>
          <a:bodyPr/>
          <a:lstStyle/>
          <a:p>
            <a:r>
              <a:rPr lang="en-GB" dirty="0"/>
              <a:t>Data Model</a:t>
            </a:r>
            <a:endParaRPr lang="en-PK" dirty="0"/>
          </a:p>
        </p:txBody>
      </p:sp>
      <p:graphicFrame>
        <p:nvGraphicFramePr>
          <p:cNvPr id="4" name="Content Placeholder 3">
            <a:extLst>
              <a:ext uri="{FF2B5EF4-FFF2-40B4-BE49-F238E27FC236}">
                <a16:creationId xmlns:a16="http://schemas.microsoft.com/office/drawing/2014/main" id="{737850E0-5D2B-4AE2-A154-12A6087582D0}"/>
              </a:ext>
            </a:extLst>
          </p:cNvPr>
          <p:cNvGraphicFramePr>
            <a:graphicFrameLocks noGrp="1"/>
          </p:cNvGraphicFramePr>
          <p:nvPr>
            <p:ph idx="1"/>
            <p:extLst>
              <p:ext uri="{D42A27DB-BD31-4B8C-83A1-F6EECF244321}">
                <p14:modId xmlns:p14="http://schemas.microsoft.com/office/powerpoint/2010/main" val="3832993942"/>
              </p:ext>
            </p:extLst>
          </p:nvPr>
        </p:nvGraphicFramePr>
        <p:xfrm>
          <a:off x="1535113" y="2016125"/>
          <a:ext cx="9520237" cy="34496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811549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graphicEl>
                                              <a:dgm id="{6E3B27BC-2199-483C-8ACC-80EE53A8CE3D}"/>
                                            </p:graphicEl>
                                          </p:spTgt>
                                        </p:tgtEl>
                                        <p:attrNameLst>
                                          <p:attrName>style.visibility</p:attrName>
                                        </p:attrNameLst>
                                      </p:cBhvr>
                                      <p:to>
                                        <p:strVal val="visible"/>
                                      </p:to>
                                    </p:set>
                                    <p:animEffect transition="in" filter="fade">
                                      <p:cBhvr>
                                        <p:cTn id="7" dur="1000"/>
                                        <p:tgtEl>
                                          <p:spTgt spid="4">
                                            <p:graphicEl>
                                              <a:dgm id="{6E3B27BC-2199-483C-8ACC-80EE53A8CE3D}"/>
                                            </p:graphicEl>
                                          </p:spTgt>
                                        </p:tgtEl>
                                      </p:cBhvr>
                                    </p:animEffect>
                                    <p:anim calcmode="lin" valueType="num">
                                      <p:cBhvr>
                                        <p:cTn id="8" dur="1000" fill="hold"/>
                                        <p:tgtEl>
                                          <p:spTgt spid="4">
                                            <p:graphicEl>
                                              <a:dgm id="{6E3B27BC-2199-483C-8ACC-80EE53A8CE3D}"/>
                                            </p:graphicEl>
                                          </p:spTgt>
                                        </p:tgtEl>
                                        <p:attrNameLst>
                                          <p:attrName>ppt_x</p:attrName>
                                        </p:attrNameLst>
                                      </p:cBhvr>
                                      <p:tavLst>
                                        <p:tav tm="0">
                                          <p:val>
                                            <p:strVal val="#ppt_x"/>
                                          </p:val>
                                        </p:tav>
                                        <p:tav tm="100000">
                                          <p:val>
                                            <p:strVal val="#ppt_x"/>
                                          </p:val>
                                        </p:tav>
                                      </p:tavLst>
                                    </p:anim>
                                    <p:anim calcmode="lin" valueType="num">
                                      <p:cBhvr>
                                        <p:cTn id="9" dur="1000" fill="hold"/>
                                        <p:tgtEl>
                                          <p:spTgt spid="4">
                                            <p:graphicEl>
                                              <a:dgm id="{6E3B27BC-2199-483C-8ACC-80EE53A8CE3D}"/>
                                            </p:graphic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graphicEl>
                                              <a:dgm id="{05BE917B-9193-4EA8-AD74-7BF9DB168DE3}"/>
                                            </p:graphicEl>
                                          </p:spTgt>
                                        </p:tgtEl>
                                        <p:attrNameLst>
                                          <p:attrName>style.visibility</p:attrName>
                                        </p:attrNameLst>
                                      </p:cBhvr>
                                      <p:to>
                                        <p:strVal val="visible"/>
                                      </p:to>
                                    </p:set>
                                    <p:animEffect transition="in" filter="fade">
                                      <p:cBhvr>
                                        <p:cTn id="14" dur="1000"/>
                                        <p:tgtEl>
                                          <p:spTgt spid="4">
                                            <p:graphicEl>
                                              <a:dgm id="{05BE917B-9193-4EA8-AD74-7BF9DB168DE3}"/>
                                            </p:graphicEl>
                                          </p:spTgt>
                                        </p:tgtEl>
                                      </p:cBhvr>
                                    </p:animEffect>
                                    <p:anim calcmode="lin" valueType="num">
                                      <p:cBhvr>
                                        <p:cTn id="15" dur="1000" fill="hold"/>
                                        <p:tgtEl>
                                          <p:spTgt spid="4">
                                            <p:graphicEl>
                                              <a:dgm id="{05BE917B-9193-4EA8-AD74-7BF9DB168DE3}"/>
                                            </p:graphicEl>
                                          </p:spTgt>
                                        </p:tgtEl>
                                        <p:attrNameLst>
                                          <p:attrName>ppt_x</p:attrName>
                                        </p:attrNameLst>
                                      </p:cBhvr>
                                      <p:tavLst>
                                        <p:tav tm="0">
                                          <p:val>
                                            <p:strVal val="#ppt_x"/>
                                          </p:val>
                                        </p:tav>
                                        <p:tav tm="100000">
                                          <p:val>
                                            <p:strVal val="#ppt_x"/>
                                          </p:val>
                                        </p:tav>
                                      </p:tavLst>
                                    </p:anim>
                                    <p:anim calcmode="lin" valueType="num">
                                      <p:cBhvr>
                                        <p:cTn id="16" dur="1000" fill="hold"/>
                                        <p:tgtEl>
                                          <p:spTgt spid="4">
                                            <p:graphicEl>
                                              <a:dgm id="{05BE917B-9193-4EA8-AD74-7BF9DB168DE3}"/>
                                            </p:graphic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graphicEl>
                                              <a:dgm id="{1A3D9AC9-09C7-40B2-ABF4-5CD384377873}"/>
                                            </p:graphicEl>
                                          </p:spTgt>
                                        </p:tgtEl>
                                        <p:attrNameLst>
                                          <p:attrName>style.visibility</p:attrName>
                                        </p:attrNameLst>
                                      </p:cBhvr>
                                      <p:to>
                                        <p:strVal val="visible"/>
                                      </p:to>
                                    </p:set>
                                    <p:animEffect transition="in" filter="fade">
                                      <p:cBhvr>
                                        <p:cTn id="21" dur="1000"/>
                                        <p:tgtEl>
                                          <p:spTgt spid="4">
                                            <p:graphicEl>
                                              <a:dgm id="{1A3D9AC9-09C7-40B2-ABF4-5CD384377873}"/>
                                            </p:graphicEl>
                                          </p:spTgt>
                                        </p:tgtEl>
                                      </p:cBhvr>
                                    </p:animEffect>
                                    <p:anim calcmode="lin" valueType="num">
                                      <p:cBhvr>
                                        <p:cTn id="22" dur="1000" fill="hold"/>
                                        <p:tgtEl>
                                          <p:spTgt spid="4">
                                            <p:graphicEl>
                                              <a:dgm id="{1A3D9AC9-09C7-40B2-ABF4-5CD384377873}"/>
                                            </p:graphicEl>
                                          </p:spTgt>
                                        </p:tgtEl>
                                        <p:attrNameLst>
                                          <p:attrName>ppt_x</p:attrName>
                                        </p:attrNameLst>
                                      </p:cBhvr>
                                      <p:tavLst>
                                        <p:tav tm="0">
                                          <p:val>
                                            <p:strVal val="#ppt_x"/>
                                          </p:val>
                                        </p:tav>
                                        <p:tav tm="100000">
                                          <p:val>
                                            <p:strVal val="#ppt_x"/>
                                          </p:val>
                                        </p:tav>
                                      </p:tavLst>
                                    </p:anim>
                                    <p:anim calcmode="lin" valueType="num">
                                      <p:cBhvr>
                                        <p:cTn id="23" dur="1000" fill="hold"/>
                                        <p:tgtEl>
                                          <p:spTgt spid="4">
                                            <p:graphicEl>
                                              <a:dgm id="{1A3D9AC9-09C7-40B2-ABF4-5CD384377873}"/>
                                            </p:graphic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Sub>
          <a:bldDgm bld="one"/>
        </p:bldSub>
      </p:bldGraphic>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4" descr="data models for organizing information">
            <a:extLst>
              <a:ext uri="{FF2B5EF4-FFF2-40B4-BE49-F238E27FC236}">
                <a16:creationId xmlns:a16="http://schemas.microsoft.com/office/drawing/2014/main" id="{63E9A0E2-F059-4D22-8668-95E5F069A6F9}"/>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K"/>
          </a:p>
        </p:txBody>
      </p:sp>
      <p:sp>
        <p:nvSpPr>
          <p:cNvPr id="6" name="AutoShape 6" descr="data models for organizing information">
            <a:extLst>
              <a:ext uri="{FF2B5EF4-FFF2-40B4-BE49-F238E27FC236}">
                <a16:creationId xmlns:a16="http://schemas.microsoft.com/office/drawing/2014/main" id="{7B357895-0EB3-4066-A352-3D7222EF4332}"/>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K"/>
          </a:p>
        </p:txBody>
      </p:sp>
      <p:sp>
        <p:nvSpPr>
          <p:cNvPr id="7" name="AutoShape 8" descr="data models for organizing information">
            <a:extLst>
              <a:ext uri="{FF2B5EF4-FFF2-40B4-BE49-F238E27FC236}">
                <a16:creationId xmlns:a16="http://schemas.microsoft.com/office/drawing/2014/main" id="{B3A1DEE5-AB09-4A79-9908-79DC88DEAA86}"/>
              </a:ext>
            </a:extLst>
          </p:cNvPr>
          <p:cNvSpPr>
            <a:spLocks noChangeAspect="1" noChangeArrowheads="1"/>
          </p:cNvSpPr>
          <p:nvPr/>
        </p:nvSpPr>
        <p:spPr bwMode="auto">
          <a:xfrm>
            <a:off x="6248400" y="3581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K"/>
          </a:p>
        </p:txBody>
      </p:sp>
      <p:pic>
        <p:nvPicPr>
          <p:cNvPr id="12" name="Content Placeholder 11">
            <a:extLst>
              <a:ext uri="{FF2B5EF4-FFF2-40B4-BE49-F238E27FC236}">
                <a16:creationId xmlns:a16="http://schemas.microsoft.com/office/drawing/2014/main" id="{54C826E3-ED16-44FA-8294-36FBE081682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bwMode="auto">
          <a:xfrm>
            <a:off x="980632" y="483446"/>
            <a:ext cx="9925936" cy="5586308"/>
          </a:xfrm>
          <a:prstGeom prst="rect">
            <a:avLst/>
          </a:prstGeom>
          <a:noFill/>
          <a:extLst>
            <a:ext uri="{909E8E84-426E-40DD-AFC4-6F175D3DCCD1}">
              <a14:hiddenFill xmlns:a14="http://schemas.microsoft.com/office/drawing/2010/main">
                <a:solidFill>
                  <a:srgbClr val="FFFFFF"/>
                </a:solidFill>
              </a14:hiddenFill>
            </a:ext>
          </a:extLst>
        </p:spPr>
      </p:pic>
      <p:sp>
        <p:nvSpPr>
          <p:cNvPr id="9" name="AutoShape 12" descr="Generated image: data models for organizing information">
            <a:extLst>
              <a:ext uri="{FF2B5EF4-FFF2-40B4-BE49-F238E27FC236}">
                <a16:creationId xmlns:a16="http://schemas.microsoft.com/office/drawing/2014/main" id="{2146469A-D4A9-48E7-A3DF-AEF085C3045F}"/>
              </a:ext>
            </a:extLst>
          </p:cNvPr>
          <p:cNvSpPr>
            <a:spLocks noChangeAspect="1" noChangeArrowheads="1"/>
          </p:cNvSpPr>
          <p:nvPr/>
        </p:nvSpPr>
        <p:spPr bwMode="auto">
          <a:xfrm>
            <a:off x="6400800" y="37338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K"/>
          </a:p>
        </p:txBody>
      </p:sp>
    </p:spTree>
    <p:extLst>
      <p:ext uri="{BB962C8B-B14F-4D97-AF65-F5344CB8AC3E}">
        <p14:creationId xmlns:p14="http://schemas.microsoft.com/office/powerpoint/2010/main" val="36075332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13C8DA-AB9D-430F-9457-F4BC112A8676}"/>
              </a:ext>
            </a:extLst>
          </p:cNvPr>
          <p:cNvSpPr>
            <a:spLocks noGrp="1"/>
          </p:cNvSpPr>
          <p:nvPr>
            <p:ph type="title"/>
          </p:nvPr>
        </p:nvSpPr>
        <p:spPr/>
        <p:txBody>
          <a:bodyPr/>
          <a:lstStyle/>
          <a:p>
            <a:r>
              <a:rPr lang="en-US" sz="3200" b="1" dirty="0">
                <a:solidFill>
                  <a:srgbClr val="172033"/>
                </a:solidFill>
                <a:latin typeface="Aptos Display" pitchFamily="34" charset="0"/>
                <a:ea typeface="Aptos Display" pitchFamily="34" charset="-122"/>
                <a:cs typeface="Aptos Display" pitchFamily="34" charset="-120"/>
              </a:rPr>
              <a:t>Hierarchical Model</a:t>
            </a:r>
            <a:endParaRPr lang="en-PK" dirty="0"/>
          </a:p>
        </p:txBody>
      </p:sp>
      <p:sp>
        <p:nvSpPr>
          <p:cNvPr id="3" name="Content Placeholder 2">
            <a:extLst>
              <a:ext uri="{FF2B5EF4-FFF2-40B4-BE49-F238E27FC236}">
                <a16:creationId xmlns:a16="http://schemas.microsoft.com/office/drawing/2014/main" id="{D30F5FA2-49C7-49D0-8ADA-266315D3DB29}"/>
              </a:ext>
            </a:extLst>
          </p:cNvPr>
          <p:cNvSpPr>
            <a:spLocks noGrp="1"/>
          </p:cNvSpPr>
          <p:nvPr>
            <p:ph idx="1"/>
          </p:nvPr>
        </p:nvSpPr>
        <p:spPr/>
        <p:txBody>
          <a:bodyPr/>
          <a:lstStyle/>
          <a:p>
            <a:r>
              <a:rPr lang="en-GB" dirty="0"/>
              <a:t>Follow Parent-child relation</a:t>
            </a:r>
            <a:endParaRPr lang="en-PK" dirty="0"/>
          </a:p>
        </p:txBody>
      </p:sp>
      <p:sp>
        <p:nvSpPr>
          <p:cNvPr id="4" name="Shape 4">
            <a:extLst>
              <a:ext uri="{FF2B5EF4-FFF2-40B4-BE49-F238E27FC236}">
                <a16:creationId xmlns:a16="http://schemas.microsoft.com/office/drawing/2014/main" id="{A8E85B17-A6CB-4C51-8BAB-CEE62413F63E}"/>
              </a:ext>
            </a:extLst>
          </p:cNvPr>
          <p:cNvSpPr/>
          <p:nvPr/>
        </p:nvSpPr>
        <p:spPr>
          <a:xfrm>
            <a:off x="6947899" y="2015732"/>
            <a:ext cx="2514600" cy="713232"/>
          </a:xfrm>
          <a:prstGeom prst="roundRect">
            <a:avLst>
              <a:gd name="adj" fmla="val 6410"/>
            </a:avLst>
          </a:prstGeom>
          <a:solidFill>
            <a:srgbClr val="0C2340"/>
          </a:solidFill>
          <a:ln w="12700">
            <a:solidFill>
              <a:srgbClr val="0C2340"/>
            </a:solidFill>
            <a:prstDash val="solid"/>
          </a:ln>
        </p:spPr>
      </p:sp>
      <p:sp>
        <p:nvSpPr>
          <p:cNvPr id="5" name="Text 5">
            <a:extLst>
              <a:ext uri="{FF2B5EF4-FFF2-40B4-BE49-F238E27FC236}">
                <a16:creationId xmlns:a16="http://schemas.microsoft.com/office/drawing/2014/main" id="{CF56BEF8-95F6-4E3C-9C2B-2CC6B7295581}"/>
              </a:ext>
            </a:extLst>
          </p:cNvPr>
          <p:cNvSpPr/>
          <p:nvPr/>
        </p:nvSpPr>
        <p:spPr>
          <a:xfrm>
            <a:off x="7222219" y="2253476"/>
            <a:ext cx="1965960" cy="182880"/>
          </a:xfrm>
          <a:prstGeom prst="rect">
            <a:avLst/>
          </a:prstGeom>
          <a:noFill/>
          <a:ln/>
        </p:spPr>
        <p:txBody>
          <a:bodyPr wrap="square" lIns="0" tIns="0" rIns="0" bIns="0" rtlCol="0" anchor="ctr"/>
          <a:lstStyle/>
          <a:p>
            <a:pPr marL="0" indent="0" algn="ctr">
              <a:buNone/>
            </a:pPr>
            <a:r>
              <a:rPr lang="en-US" sz="1300" b="1" dirty="0">
                <a:solidFill>
                  <a:srgbClr val="FFFFFF"/>
                </a:solidFill>
              </a:rPr>
              <a:t>UNIVERSITY</a:t>
            </a:r>
            <a:endParaRPr lang="en-US" sz="1300" dirty="0"/>
          </a:p>
        </p:txBody>
      </p:sp>
      <p:sp>
        <p:nvSpPr>
          <p:cNvPr id="6" name="Shape 6">
            <a:extLst>
              <a:ext uri="{FF2B5EF4-FFF2-40B4-BE49-F238E27FC236}">
                <a16:creationId xmlns:a16="http://schemas.microsoft.com/office/drawing/2014/main" id="{4BE4B120-F96D-41B8-9E97-47C061B6BD57}"/>
              </a:ext>
            </a:extLst>
          </p:cNvPr>
          <p:cNvSpPr/>
          <p:nvPr/>
        </p:nvSpPr>
        <p:spPr>
          <a:xfrm>
            <a:off x="5691879" y="3387332"/>
            <a:ext cx="2651760" cy="658368"/>
          </a:xfrm>
          <a:prstGeom prst="roundRect">
            <a:avLst>
              <a:gd name="adj" fmla="val 6944"/>
            </a:avLst>
          </a:prstGeom>
          <a:solidFill>
            <a:srgbClr val="E7F7F6"/>
          </a:solidFill>
          <a:ln w="12700">
            <a:solidFill>
              <a:srgbClr val="BCE9E6"/>
            </a:solidFill>
            <a:prstDash val="solid"/>
          </a:ln>
        </p:spPr>
      </p:sp>
      <p:sp>
        <p:nvSpPr>
          <p:cNvPr id="7" name="Text 7">
            <a:extLst>
              <a:ext uri="{FF2B5EF4-FFF2-40B4-BE49-F238E27FC236}">
                <a16:creationId xmlns:a16="http://schemas.microsoft.com/office/drawing/2014/main" id="{F9860CED-77B2-434E-97E9-96D17FC3E281}"/>
              </a:ext>
            </a:extLst>
          </p:cNvPr>
          <p:cNvSpPr/>
          <p:nvPr/>
        </p:nvSpPr>
        <p:spPr>
          <a:xfrm>
            <a:off x="5920479" y="3615932"/>
            <a:ext cx="2194560" cy="182880"/>
          </a:xfrm>
          <a:prstGeom prst="rect">
            <a:avLst/>
          </a:prstGeom>
          <a:noFill/>
          <a:ln/>
        </p:spPr>
        <p:txBody>
          <a:bodyPr wrap="square" lIns="0" tIns="0" rIns="0" bIns="0" rtlCol="0" anchor="ctr"/>
          <a:lstStyle/>
          <a:p>
            <a:pPr marL="0" indent="0" algn="ctr">
              <a:buNone/>
            </a:pPr>
            <a:r>
              <a:rPr lang="en-US" sz="1150" b="1" dirty="0">
                <a:solidFill>
                  <a:srgbClr val="0F7F7A"/>
                </a:solidFill>
              </a:rPr>
              <a:t>CS DEPARTMENT</a:t>
            </a:r>
            <a:endParaRPr lang="en-US" sz="1150" dirty="0"/>
          </a:p>
        </p:txBody>
      </p:sp>
      <p:sp>
        <p:nvSpPr>
          <p:cNvPr id="8" name="Shape 8">
            <a:extLst>
              <a:ext uri="{FF2B5EF4-FFF2-40B4-BE49-F238E27FC236}">
                <a16:creationId xmlns:a16="http://schemas.microsoft.com/office/drawing/2014/main" id="{4E033BA5-C827-4D22-AB39-1AE4FF1BF525}"/>
              </a:ext>
            </a:extLst>
          </p:cNvPr>
          <p:cNvSpPr/>
          <p:nvPr/>
        </p:nvSpPr>
        <p:spPr>
          <a:xfrm flipH="1">
            <a:off x="7017759" y="2747252"/>
            <a:ext cx="1357527" cy="594360"/>
          </a:xfrm>
          <a:prstGeom prst="line">
            <a:avLst/>
          </a:prstGeom>
          <a:noFill/>
          <a:ln w="16510">
            <a:solidFill>
              <a:srgbClr val="16A6A1"/>
            </a:solidFill>
            <a:prstDash val="solid"/>
            <a:headEnd type="none"/>
            <a:tailEnd type="triangle"/>
          </a:ln>
        </p:spPr>
      </p:sp>
      <p:sp>
        <p:nvSpPr>
          <p:cNvPr id="9" name="Shape 9">
            <a:extLst>
              <a:ext uri="{FF2B5EF4-FFF2-40B4-BE49-F238E27FC236}">
                <a16:creationId xmlns:a16="http://schemas.microsoft.com/office/drawing/2014/main" id="{1511DEC2-4656-48A2-AF86-547132EAD3D1}"/>
              </a:ext>
            </a:extLst>
          </p:cNvPr>
          <p:cNvSpPr/>
          <p:nvPr/>
        </p:nvSpPr>
        <p:spPr>
          <a:xfrm>
            <a:off x="9088518" y="3387332"/>
            <a:ext cx="2651760" cy="658368"/>
          </a:xfrm>
          <a:prstGeom prst="roundRect">
            <a:avLst>
              <a:gd name="adj" fmla="val 6944"/>
            </a:avLst>
          </a:prstGeom>
          <a:solidFill>
            <a:srgbClr val="E7F7F6"/>
          </a:solidFill>
          <a:ln w="12700">
            <a:solidFill>
              <a:srgbClr val="BCE9E6"/>
            </a:solidFill>
            <a:prstDash val="solid"/>
          </a:ln>
        </p:spPr>
      </p:sp>
      <p:sp>
        <p:nvSpPr>
          <p:cNvPr id="10" name="Text 10">
            <a:extLst>
              <a:ext uri="{FF2B5EF4-FFF2-40B4-BE49-F238E27FC236}">
                <a16:creationId xmlns:a16="http://schemas.microsoft.com/office/drawing/2014/main" id="{A22671FF-A143-49BF-BF21-E09BA6BF1C98}"/>
              </a:ext>
            </a:extLst>
          </p:cNvPr>
          <p:cNvSpPr/>
          <p:nvPr/>
        </p:nvSpPr>
        <p:spPr>
          <a:xfrm>
            <a:off x="9317118" y="3615932"/>
            <a:ext cx="2194560" cy="182880"/>
          </a:xfrm>
          <a:prstGeom prst="rect">
            <a:avLst/>
          </a:prstGeom>
          <a:noFill/>
          <a:ln/>
        </p:spPr>
        <p:txBody>
          <a:bodyPr wrap="square" lIns="0" tIns="0" rIns="0" bIns="0" rtlCol="0" anchor="ctr"/>
          <a:lstStyle/>
          <a:p>
            <a:pPr marL="0" indent="0" algn="ctr">
              <a:buNone/>
            </a:pPr>
            <a:r>
              <a:rPr lang="en-US" sz="1150" b="1" dirty="0">
                <a:solidFill>
                  <a:srgbClr val="0F7F7A"/>
                </a:solidFill>
              </a:rPr>
              <a:t>SE DEPARTMENT</a:t>
            </a:r>
            <a:endParaRPr lang="en-US" sz="1150" dirty="0"/>
          </a:p>
        </p:txBody>
      </p:sp>
      <p:sp>
        <p:nvSpPr>
          <p:cNvPr id="11" name="Shape 11">
            <a:extLst>
              <a:ext uri="{FF2B5EF4-FFF2-40B4-BE49-F238E27FC236}">
                <a16:creationId xmlns:a16="http://schemas.microsoft.com/office/drawing/2014/main" id="{2F52E124-1329-4DE6-B550-4A54679232AD}"/>
              </a:ext>
            </a:extLst>
          </p:cNvPr>
          <p:cNvSpPr/>
          <p:nvPr/>
        </p:nvSpPr>
        <p:spPr>
          <a:xfrm>
            <a:off x="8375286" y="2747252"/>
            <a:ext cx="2039112" cy="594360"/>
          </a:xfrm>
          <a:prstGeom prst="line">
            <a:avLst/>
          </a:prstGeom>
          <a:noFill/>
          <a:ln w="16510">
            <a:solidFill>
              <a:srgbClr val="16A6A1"/>
            </a:solidFill>
            <a:prstDash val="solid"/>
            <a:headEnd type="none"/>
            <a:tailEnd type="triangle"/>
          </a:ln>
        </p:spPr>
      </p:sp>
      <p:sp>
        <p:nvSpPr>
          <p:cNvPr id="12" name="Shape 12">
            <a:extLst>
              <a:ext uri="{FF2B5EF4-FFF2-40B4-BE49-F238E27FC236}">
                <a16:creationId xmlns:a16="http://schemas.microsoft.com/office/drawing/2014/main" id="{B82B25E4-5319-4A69-9EDB-ADC89EF9DE9B}"/>
              </a:ext>
            </a:extLst>
          </p:cNvPr>
          <p:cNvSpPr/>
          <p:nvPr/>
        </p:nvSpPr>
        <p:spPr>
          <a:xfrm>
            <a:off x="5234679" y="4896092"/>
            <a:ext cx="1417320" cy="585216"/>
          </a:xfrm>
          <a:prstGeom prst="roundRect">
            <a:avLst>
              <a:gd name="adj" fmla="val 6250"/>
            </a:avLst>
          </a:prstGeom>
          <a:solidFill>
            <a:srgbClr val="EAF2FF"/>
          </a:solidFill>
          <a:ln w="12700">
            <a:solidFill>
              <a:srgbClr val="CFE0FF"/>
            </a:solidFill>
            <a:prstDash val="solid"/>
          </a:ln>
        </p:spPr>
      </p:sp>
      <p:sp>
        <p:nvSpPr>
          <p:cNvPr id="13" name="Text 13">
            <a:extLst>
              <a:ext uri="{FF2B5EF4-FFF2-40B4-BE49-F238E27FC236}">
                <a16:creationId xmlns:a16="http://schemas.microsoft.com/office/drawing/2014/main" id="{C9F2E939-C2D2-4762-95F9-C4BD2BC802F9}"/>
              </a:ext>
            </a:extLst>
          </p:cNvPr>
          <p:cNvSpPr/>
          <p:nvPr/>
        </p:nvSpPr>
        <p:spPr>
          <a:xfrm>
            <a:off x="5326119" y="5097260"/>
            <a:ext cx="1234440" cy="164592"/>
          </a:xfrm>
          <a:prstGeom prst="rect">
            <a:avLst/>
          </a:prstGeom>
          <a:noFill/>
          <a:ln/>
        </p:spPr>
        <p:txBody>
          <a:bodyPr wrap="square" lIns="0" tIns="0" rIns="0" bIns="0" rtlCol="0" anchor="ctr"/>
          <a:lstStyle/>
          <a:p>
            <a:pPr marL="0" indent="0" algn="ctr">
              <a:buNone/>
            </a:pPr>
            <a:r>
              <a:rPr lang="en-US" sz="980" b="1" dirty="0">
                <a:solidFill>
                  <a:srgbClr val="2F6BFF"/>
                </a:solidFill>
              </a:rPr>
              <a:t>COURSE 1</a:t>
            </a:r>
            <a:endParaRPr lang="en-US" sz="980" dirty="0"/>
          </a:p>
        </p:txBody>
      </p:sp>
      <p:sp>
        <p:nvSpPr>
          <p:cNvPr id="14" name="Shape 14">
            <a:extLst>
              <a:ext uri="{FF2B5EF4-FFF2-40B4-BE49-F238E27FC236}">
                <a16:creationId xmlns:a16="http://schemas.microsoft.com/office/drawing/2014/main" id="{19408128-F974-4A9D-9C5A-ADED8585A2D0}"/>
              </a:ext>
            </a:extLst>
          </p:cNvPr>
          <p:cNvSpPr/>
          <p:nvPr/>
        </p:nvSpPr>
        <p:spPr>
          <a:xfrm flipH="1">
            <a:off x="6095999" y="4091420"/>
            <a:ext cx="851897" cy="811293"/>
          </a:xfrm>
          <a:prstGeom prst="line">
            <a:avLst/>
          </a:prstGeom>
          <a:noFill/>
          <a:ln w="13970">
            <a:solidFill>
              <a:srgbClr val="16A6A1"/>
            </a:solidFill>
            <a:prstDash val="solid"/>
            <a:headEnd type="none"/>
            <a:tailEnd type="triangle"/>
          </a:ln>
        </p:spPr>
      </p:sp>
      <p:sp>
        <p:nvSpPr>
          <p:cNvPr id="15" name="Shape 15">
            <a:extLst>
              <a:ext uri="{FF2B5EF4-FFF2-40B4-BE49-F238E27FC236}">
                <a16:creationId xmlns:a16="http://schemas.microsoft.com/office/drawing/2014/main" id="{6D1B1F76-9BE4-4426-913E-0560D8C1B3C9}"/>
              </a:ext>
            </a:extLst>
          </p:cNvPr>
          <p:cNvSpPr/>
          <p:nvPr/>
        </p:nvSpPr>
        <p:spPr>
          <a:xfrm>
            <a:off x="6789159" y="4896092"/>
            <a:ext cx="1417320" cy="585216"/>
          </a:xfrm>
          <a:prstGeom prst="roundRect">
            <a:avLst>
              <a:gd name="adj" fmla="val 6250"/>
            </a:avLst>
          </a:prstGeom>
          <a:solidFill>
            <a:srgbClr val="EAF2FF"/>
          </a:solidFill>
          <a:ln w="12700">
            <a:solidFill>
              <a:srgbClr val="CFE0FF"/>
            </a:solidFill>
            <a:prstDash val="solid"/>
          </a:ln>
        </p:spPr>
      </p:sp>
      <p:sp>
        <p:nvSpPr>
          <p:cNvPr id="16" name="Text 16">
            <a:extLst>
              <a:ext uri="{FF2B5EF4-FFF2-40B4-BE49-F238E27FC236}">
                <a16:creationId xmlns:a16="http://schemas.microsoft.com/office/drawing/2014/main" id="{DAAEFA5F-E708-43D9-93DC-1C6521AAECD8}"/>
              </a:ext>
            </a:extLst>
          </p:cNvPr>
          <p:cNvSpPr/>
          <p:nvPr/>
        </p:nvSpPr>
        <p:spPr>
          <a:xfrm>
            <a:off x="6880599" y="5097260"/>
            <a:ext cx="1234440" cy="164592"/>
          </a:xfrm>
          <a:prstGeom prst="rect">
            <a:avLst/>
          </a:prstGeom>
          <a:noFill/>
          <a:ln/>
        </p:spPr>
        <p:txBody>
          <a:bodyPr wrap="square" lIns="0" tIns="0" rIns="0" bIns="0" rtlCol="0" anchor="ctr"/>
          <a:lstStyle/>
          <a:p>
            <a:pPr marL="0" indent="0" algn="ctr">
              <a:buNone/>
            </a:pPr>
            <a:r>
              <a:rPr lang="en-US" sz="980" b="1" dirty="0">
                <a:solidFill>
                  <a:srgbClr val="2F6BFF"/>
                </a:solidFill>
              </a:rPr>
              <a:t>COURSE 2</a:t>
            </a:r>
            <a:endParaRPr lang="en-US" sz="980" dirty="0"/>
          </a:p>
        </p:txBody>
      </p:sp>
      <p:sp>
        <p:nvSpPr>
          <p:cNvPr id="17" name="Shape 17">
            <a:extLst>
              <a:ext uri="{FF2B5EF4-FFF2-40B4-BE49-F238E27FC236}">
                <a16:creationId xmlns:a16="http://schemas.microsoft.com/office/drawing/2014/main" id="{F101A8B1-DF10-4FCD-A882-41FE7C12E30D}"/>
              </a:ext>
            </a:extLst>
          </p:cNvPr>
          <p:cNvSpPr/>
          <p:nvPr/>
        </p:nvSpPr>
        <p:spPr>
          <a:xfrm>
            <a:off x="7017759" y="4073132"/>
            <a:ext cx="484632" cy="777240"/>
          </a:xfrm>
          <a:prstGeom prst="line">
            <a:avLst/>
          </a:prstGeom>
          <a:noFill/>
          <a:ln w="13970">
            <a:solidFill>
              <a:srgbClr val="16A6A1"/>
            </a:solidFill>
            <a:prstDash val="solid"/>
            <a:headEnd type="none"/>
            <a:tailEnd type="triangle"/>
          </a:ln>
        </p:spPr>
      </p:sp>
      <p:sp>
        <p:nvSpPr>
          <p:cNvPr id="18" name="Shape 18">
            <a:extLst>
              <a:ext uri="{FF2B5EF4-FFF2-40B4-BE49-F238E27FC236}">
                <a16:creationId xmlns:a16="http://schemas.microsoft.com/office/drawing/2014/main" id="{135D2C40-4E8E-4DF9-BFC9-E01DC9A19FEF}"/>
              </a:ext>
            </a:extLst>
          </p:cNvPr>
          <p:cNvSpPr/>
          <p:nvPr/>
        </p:nvSpPr>
        <p:spPr>
          <a:xfrm>
            <a:off x="8631318" y="4896092"/>
            <a:ext cx="1417320" cy="585216"/>
          </a:xfrm>
          <a:prstGeom prst="roundRect">
            <a:avLst>
              <a:gd name="adj" fmla="val 6250"/>
            </a:avLst>
          </a:prstGeom>
          <a:solidFill>
            <a:srgbClr val="EAF2FF"/>
          </a:solidFill>
          <a:ln w="12700">
            <a:solidFill>
              <a:srgbClr val="CFE0FF"/>
            </a:solidFill>
            <a:prstDash val="solid"/>
          </a:ln>
        </p:spPr>
      </p:sp>
      <p:sp>
        <p:nvSpPr>
          <p:cNvPr id="19" name="Text 19">
            <a:extLst>
              <a:ext uri="{FF2B5EF4-FFF2-40B4-BE49-F238E27FC236}">
                <a16:creationId xmlns:a16="http://schemas.microsoft.com/office/drawing/2014/main" id="{A500770A-2164-4691-A0CD-F43AC3988148}"/>
              </a:ext>
            </a:extLst>
          </p:cNvPr>
          <p:cNvSpPr/>
          <p:nvPr/>
        </p:nvSpPr>
        <p:spPr>
          <a:xfrm>
            <a:off x="8722758" y="5097260"/>
            <a:ext cx="1234440" cy="164592"/>
          </a:xfrm>
          <a:prstGeom prst="rect">
            <a:avLst/>
          </a:prstGeom>
          <a:noFill/>
          <a:ln/>
        </p:spPr>
        <p:txBody>
          <a:bodyPr wrap="square" lIns="0" tIns="0" rIns="0" bIns="0" rtlCol="0" anchor="ctr"/>
          <a:lstStyle/>
          <a:p>
            <a:pPr marL="0" indent="0" algn="ctr">
              <a:buNone/>
            </a:pPr>
            <a:r>
              <a:rPr lang="en-US" sz="980" b="1" dirty="0">
                <a:solidFill>
                  <a:srgbClr val="2F6BFF"/>
                </a:solidFill>
              </a:rPr>
              <a:t>COURSE 3</a:t>
            </a:r>
            <a:endParaRPr lang="en-US" sz="980" dirty="0"/>
          </a:p>
        </p:txBody>
      </p:sp>
      <p:sp>
        <p:nvSpPr>
          <p:cNvPr id="20" name="Shape 20">
            <a:extLst>
              <a:ext uri="{FF2B5EF4-FFF2-40B4-BE49-F238E27FC236}">
                <a16:creationId xmlns:a16="http://schemas.microsoft.com/office/drawing/2014/main" id="{DE517D06-C802-48F9-939B-A22818BBD695}"/>
              </a:ext>
            </a:extLst>
          </p:cNvPr>
          <p:cNvSpPr/>
          <p:nvPr/>
        </p:nvSpPr>
        <p:spPr>
          <a:xfrm flipH="1">
            <a:off x="9462499" y="4073132"/>
            <a:ext cx="951899" cy="777240"/>
          </a:xfrm>
          <a:prstGeom prst="line">
            <a:avLst/>
          </a:prstGeom>
          <a:noFill/>
          <a:ln w="13970">
            <a:solidFill>
              <a:srgbClr val="16A6A1"/>
            </a:solidFill>
            <a:prstDash val="solid"/>
            <a:headEnd type="none"/>
            <a:tailEnd type="triangle"/>
          </a:ln>
        </p:spPr>
      </p:sp>
      <p:sp>
        <p:nvSpPr>
          <p:cNvPr id="21" name="Shape 21">
            <a:extLst>
              <a:ext uri="{FF2B5EF4-FFF2-40B4-BE49-F238E27FC236}">
                <a16:creationId xmlns:a16="http://schemas.microsoft.com/office/drawing/2014/main" id="{FB29BDC3-EE5A-4824-901C-3DD92018834B}"/>
              </a:ext>
            </a:extLst>
          </p:cNvPr>
          <p:cNvSpPr/>
          <p:nvPr/>
        </p:nvSpPr>
        <p:spPr>
          <a:xfrm>
            <a:off x="10185798" y="4896092"/>
            <a:ext cx="1417320" cy="585216"/>
          </a:xfrm>
          <a:prstGeom prst="roundRect">
            <a:avLst>
              <a:gd name="adj" fmla="val 6250"/>
            </a:avLst>
          </a:prstGeom>
          <a:solidFill>
            <a:srgbClr val="EAF2FF"/>
          </a:solidFill>
          <a:ln w="12700">
            <a:solidFill>
              <a:srgbClr val="CFE0FF"/>
            </a:solidFill>
            <a:prstDash val="solid"/>
          </a:ln>
        </p:spPr>
      </p:sp>
      <p:sp>
        <p:nvSpPr>
          <p:cNvPr id="22" name="Text 22">
            <a:extLst>
              <a:ext uri="{FF2B5EF4-FFF2-40B4-BE49-F238E27FC236}">
                <a16:creationId xmlns:a16="http://schemas.microsoft.com/office/drawing/2014/main" id="{804A1718-AB08-4FDE-8CFB-829FE22C17F3}"/>
              </a:ext>
            </a:extLst>
          </p:cNvPr>
          <p:cNvSpPr/>
          <p:nvPr/>
        </p:nvSpPr>
        <p:spPr>
          <a:xfrm>
            <a:off x="10277238" y="5097260"/>
            <a:ext cx="1234440" cy="164592"/>
          </a:xfrm>
          <a:prstGeom prst="rect">
            <a:avLst/>
          </a:prstGeom>
          <a:noFill/>
          <a:ln/>
        </p:spPr>
        <p:txBody>
          <a:bodyPr wrap="square" lIns="0" tIns="0" rIns="0" bIns="0" rtlCol="0" anchor="ctr"/>
          <a:lstStyle/>
          <a:p>
            <a:pPr marL="0" indent="0" algn="ctr">
              <a:buNone/>
            </a:pPr>
            <a:r>
              <a:rPr lang="en-US" sz="980" b="1" dirty="0">
                <a:solidFill>
                  <a:srgbClr val="2F6BFF"/>
                </a:solidFill>
              </a:rPr>
              <a:t>COURSE 4</a:t>
            </a:r>
            <a:endParaRPr lang="en-US" sz="980" dirty="0"/>
          </a:p>
        </p:txBody>
      </p:sp>
      <p:sp>
        <p:nvSpPr>
          <p:cNvPr id="23" name="Shape 23">
            <a:extLst>
              <a:ext uri="{FF2B5EF4-FFF2-40B4-BE49-F238E27FC236}">
                <a16:creationId xmlns:a16="http://schemas.microsoft.com/office/drawing/2014/main" id="{13F965C9-8985-45B5-B8A2-433BC94D049C}"/>
              </a:ext>
            </a:extLst>
          </p:cNvPr>
          <p:cNvSpPr/>
          <p:nvPr/>
        </p:nvSpPr>
        <p:spPr>
          <a:xfrm>
            <a:off x="10414398" y="4073132"/>
            <a:ext cx="484632" cy="777240"/>
          </a:xfrm>
          <a:prstGeom prst="line">
            <a:avLst/>
          </a:prstGeom>
          <a:noFill/>
          <a:ln w="13970">
            <a:solidFill>
              <a:srgbClr val="16A6A1"/>
            </a:solidFill>
            <a:prstDash val="solid"/>
            <a:headEnd type="none"/>
            <a:tailEnd type="triangle"/>
          </a:ln>
        </p:spPr>
      </p:sp>
      <p:sp>
        <p:nvSpPr>
          <p:cNvPr id="25" name="TextBox 24">
            <a:extLst>
              <a:ext uri="{FF2B5EF4-FFF2-40B4-BE49-F238E27FC236}">
                <a16:creationId xmlns:a16="http://schemas.microsoft.com/office/drawing/2014/main" id="{15674857-0386-4BBF-B316-544D75E74D50}"/>
              </a:ext>
            </a:extLst>
          </p:cNvPr>
          <p:cNvSpPr txBox="1"/>
          <p:nvPr/>
        </p:nvSpPr>
        <p:spPr>
          <a:xfrm>
            <a:off x="248435" y="5568375"/>
            <a:ext cx="6102848" cy="646331"/>
          </a:xfrm>
          <a:prstGeom prst="rect">
            <a:avLst/>
          </a:prstGeom>
          <a:noFill/>
        </p:spPr>
        <p:txBody>
          <a:bodyPr wrap="square">
            <a:spAutoFit/>
          </a:bodyPr>
          <a:lstStyle/>
          <a:p>
            <a:pPr marL="0" indent="0">
              <a:buNone/>
            </a:pPr>
            <a:r>
              <a:rPr lang="en-GB" b="1" dirty="0"/>
              <a:t>Limitation:</a:t>
            </a:r>
            <a:r>
              <a:rPr lang="en-GB" dirty="0"/>
              <a:t> Many-to-many relationships are difficult to represent.</a:t>
            </a:r>
          </a:p>
        </p:txBody>
      </p:sp>
      <p:sp>
        <p:nvSpPr>
          <p:cNvPr id="28" name="TextBox 27">
            <a:extLst>
              <a:ext uri="{FF2B5EF4-FFF2-40B4-BE49-F238E27FC236}">
                <a16:creationId xmlns:a16="http://schemas.microsoft.com/office/drawing/2014/main" id="{F2A18C2B-B848-4FF7-BC04-53EEAD57F304}"/>
              </a:ext>
            </a:extLst>
          </p:cNvPr>
          <p:cNvSpPr txBox="1"/>
          <p:nvPr/>
        </p:nvSpPr>
        <p:spPr>
          <a:xfrm>
            <a:off x="283365" y="2651989"/>
            <a:ext cx="5179914" cy="3046988"/>
          </a:xfrm>
          <a:prstGeom prst="rect">
            <a:avLst/>
          </a:prstGeom>
          <a:noFill/>
        </p:spPr>
        <p:txBody>
          <a:bodyPr wrap="square">
            <a:spAutoFit/>
          </a:bodyPr>
          <a:lstStyle/>
          <a:p>
            <a:pPr marL="342900" indent="-342900">
              <a:buFont typeface="Arial" panose="020B0604020202020204" pitchFamily="34" charset="0"/>
              <a:buChar char="•"/>
            </a:pPr>
            <a:r>
              <a:rPr lang="en-GB" sz="2400" dirty="0">
                <a:solidFill>
                  <a:srgbClr val="1F2937"/>
                </a:solidFill>
                <a:latin typeface="Aptos"/>
              </a:rPr>
              <a:t>Organizes records in a tree structure.</a:t>
            </a:r>
          </a:p>
          <a:p>
            <a:pPr marL="342900" indent="-342900">
              <a:buFont typeface="Arial" panose="020B0604020202020204" pitchFamily="34" charset="0"/>
              <a:buChar char="•"/>
            </a:pPr>
            <a:r>
              <a:rPr lang="en-GB" sz="2400" dirty="0">
                <a:solidFill>
                  <a:srgbClr val="1F2937"/>
                </a:solidFill>
                <a:latin typeface="Aptos"/>
              </a:rPr>
              <a:t>One root record appears at the top. </a:t>
            </a:r>
          </a:p>
          <a:p>
            <a:pPr marL="342900" indent="-342900">
              <a:buFont typeface="Arial" panose="020B0604020202020204" pitchFamily="34" charset="0"/>
              <a:buChar char="•"/>
            </a:pPr>
            <a:r>
              <a:rPr lang="en-GB" sz="2400" dirty="0">
                <a:solidFill>
                  <a:srgbClr val="1F2937"/>
                </a:solidFill>
                <a:latin typeface="Aptos"/>
              </a:rPr>
              <a:t>Each child normally has one parent. </a:t>
            </a:r>
          </a:p>
          <a:p>
            <a:pPr marL="342900" indent="-342900">
              <a:buFont typeface="Arial" panose="020B0604020202020204" pitchFamily="34" charset="0"/>
              <a:buChar char="•"/>
            </a:pPr>
            <a:r>
              <a:rPr lang="en-GB" sz="2400" dirty="0">
                <a:solidFill>
                  <a:srgbClr val="1F2937"/>
                </a:solidFill>
                <a:latin typeface="Aptos"/>
              </a:rPr>
              <a:t>Relationships follow fixed parent–child paths. </a:t>
            </a:r>
          </a:p>
          <a:p>
            <a:pPr marL="342900" indent="-342900">
              <a:buFont typeface="Arial" panose="020B0604020202020204" pitchFamily="34" charset="0"/>
              <a:buChar char="•"/>
            </a:pPr>
            <a:r>
              <a:rPr lang="en-GB" sz="2400" dirty="0">
                <a:solidFill>
                  <a:srgbClr val="1F2937"/>
                </a:solidFill>
                <a:latin typeface="Aptos"/>
              </a:rPr>
              <a:t>Suitable for naturally hierarchical information.</a:t>
            </a:r>
          </a:p>
          <a:p>
            <a:pPr marL="342900" indent="-342900">
              <a:buFont typeface="Arial" panose="020B0604020202020204" pitchFamily="34" charset="0"/>
              <a:buChar char="•"/>
            </a:pPr>
            <a:endParaRPr lang="en-GB" sz="2400" dirty="0"/>
          </a:p>
        </p:txBody>
      </p:sp>
    </p:spTree>
    <p:extLst>
      <p:ext uri="{BB962C8B-B14F-4D97-AF65-F5344CB8AC3E}">
        <p14:creationId xmlns:p14="http://schemas.microsoft.com/office/powerpoint/2010/main" val="35144413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1000"/>
                                        <p:tgtEl>
                                          <p:spTgt spid="28"/>
                                        </p:tgtEl>
                                      </p:cBhvr>
                                    </p:animEffect>
                                    <p:anim calcmode="lin" valueType="num">
                                      <p:cBhvr>
                                        <p:cTn id="8" dur="1000" fill="hold"/>
                                        <p:tgtEl>
                                          <p:spTgt spid="28"/>
                                        </p:tgtEl>
                                        <p:attrNameLst>
                                          <p:attrName>ppt_x</p:attrName>
                                        </p:attrNameLst>
                                      </p:cBhvr>
                                      <p:tavLst>
                                        <p:tav tm="0">
                                          <p:val>
                                            <p:strVal val="#ppt_x"/>
                                          </p:val>
                                        </p:tav>
                                        <p:tav tm="100000">
                                          <p:val>
                                            <p:strVal val="#ppt_x"/>
                                          </p:val>
                                        </p:tav>
                                      </p:tavLst>
                                    </p:anim>
                                    <p:anim calcmode="lin" valueType="num">
                                      <p:cBhvr>
                                        <p:cTn id="9"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1000"/>
                                        <p:tgtEl>
                                          <p:spTgt spid="5"/>
                                        </p:tgtEl>
                                      </p:cBhvr>
                                    </p:animEffect>
                                    <p:anim calcmode="lin" valueType="num">
                                      <p:cBhvr>
                                        <p:cTn id="20" dur="1000" fill="hold"/>
                                        <p:tgtEl>
                                          <p:spTgt spid="5"/>
                                        </p:tgtEl>
                                        <p:attrNameLst>
                                          <p:attrName>ppt_x</p:attrName>
                                        </p:attrNameLst>
                                      </p:cBhvr>
                                      <p:tavLst>
                                        <p:tav tm="0">
                                          <p:val>
                                            <p:strVal val="#ppt_x"/>
                                          </p:val>
                                        </p:tav>
                                        <p:tav tm="100000">
                                          <p:val>
                                            <p:strVal val="#ppt_x"/>
                                          </p:val>
                                        </p:tav>
                                      </p:tavLst>
                                    </p:anim>
                                    <p:anim calcmode="lin" valueType="num">
                                      <p:cBhvr>
                                        <p:cTn id="21" dur="1000" fill="hold"/>
                                        <p:tgtEl>
                                          <p:spTgt spid="5"/>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1000"/>
                                        <p:tgtEl>
                                          <p:spTgt spid="6"/>
                                        </p:tgtEl>
                                      </p:cBhvr>
                                    </p:animEffect>
                                    <p:anim calcmode="lin" valueType="num">
                                      <p:cBhvr>
                                        <p:cTn id="25" dur="1000" fill="hold"/>
                                        <p:tgtEl>
                                          <p:spTgt spid="6"/>
                                        </p:tgtEl>
                                        <p:attrNameLst>
                                          <p:attrName>ppt_x</p:attrName>
                                        </p:attrNameLst>
                                      </p:cBhvr>
                                      <p:tavLst>
                                        <p:tav tm="0">
                                          <p:val>
                                            <p:strVal val="#ppt_x"/>
                                          </p:val>
                                        </p:tav>
                                        <p:tav tm="100000">
                                          <p:val>
                                            <p:strVal val="#ppt_x"/>
                                          </p:val>
                                        </p:tav>
                                      </p:tavLst>
                                    </p:anim>
                                    <p:anim calcmode="lin" valueType="num">
                                      <p:cBhvr>
                                        <p:cTn id="26" dur="1000" fill="hold"/>
                                        <p:tgtEl>
                                          <p:spTgt spid="6"/>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fade">
                                      <p:cBhvr>
                                        <p:cTn id="29" dur="1000"/>
                                        <p:tgtEl>
                                          <p:spTgt spid="7"/>
                                        </p:tgtEl>
                                      </p:cBhvr>
                                    </p:animEffect>
                                    <p:anim calcmode="lin" valueType="num">
                                      <p:cBhvr>
                                        <p:cTn id="30" dur="1000" fill="hold"/>
                                        <p:tgtEl>
                                          <p:spTgt spid="7"/>
                                        </p:tgtEl>
                                        <p:attrNameLst>
                                          <p:attrName>ppt_x</p:attrName>
                                        </p:attrNameLst>
                                      </p:cBhvr>
                                      <p:tavLst>
                                        <p:tav tm="0">
                                          <p:val>
                                            <p:strVal val="#ppt_x"/>
                                          </p:val>
                                        </p:tav>
                                        <p:tav tm="100000">
                                          <p:val>
                                            <p:strVal val="#ppt_x"/>
                                          </p:val>
                                        </p:tav>
                                      </p:tavLst>
                                    </p:anim>
                                    <p:anim calcmode="lin" valueType="num">
                                      <p:cBhvr>
                                        <p:cTn id="31" dur="1000" fill="hold"/>
                                        <p:tgtEl>
                                          <p:spTgt spid="7"/>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fade">
                                      <p:cBhvr>
                                        <p:cTn id="34" dur="1000"/>
                                        <p:tgtEl>
                                          <p:spTgt spid="8"/>
                                        </p:tgtEl>
                                      </p:cBhvr>
                                    </p:animEffect>
                                    <p:anim calcmode="lin" valueType="num">
                                      <p:cBhvr>
                                        <p:cTn id="35" dur="1000" fill="hold"/>
                                        <p:tgtEl>
                                          <p:spTgt spid="8"/>
                                        </p:tgtEl>
                                        <p:attrNameLst>
                                          <p:attrName>ppt_x</p:attrName>
                                        </p:attrNameLst>
                                      </p:cBhvr>
                                      <p:tavLst>
                                        <p:tav tm="0">
                                          <p:val>
                                            <p:strVal val="#ppt_x"/>
                                          </p:val>
                                        </p:tav>
                                        <p:tav tm="100000">
                                          <p:val>
                                            <p:strVal val="#ppt_x"/>
                                          </p:val>
                                        </p:tav>
                                      </p:tavLst>
                                    </p:anim>
                                    <p:anim calcmode="lin" valueType="num">
                                      <p:cBhvr>
                                        <p:cTn id="36" dur="1000" fill="hold"/>
                                        <p:tgtEl>
                                          <p:spTgt spid="8"/>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9"/>
                                        </p:tgtEl>
                                        <p:attrNameLst>
                                          <p:attrName>style.visibility</p:attrName>
                                        </p:attrNameLst>
                                      </p:cBhvr>
                                      <p:to>
                                        <p:strVal val="visible"/>
                                      </p:to>
                                    </p:set>
                                    <p:animEffect transition="in" filter="fade">
                                      <p:cBhvr>
                                        <p:cTn id="39" dur="1000"/>
                                        <p:tgtEl>
                                          <p:spTgt spid="9"/>
                                        </p:tgtEl>
                                      </p:cBhvr>
                                    </p:animEffect>
                                    <p:anim calcmode="lin" valueType="num">
                                      <p:cBhvr>
                                        <p:cTn id="40" dur="1000" fill="hold"/>
                                        <p:tgtEl>
                                          <p:spTgt spid="9"/>
                                        </p:tgtEl>
                                        <p:attrNameLst>
                                          <p:attrName>ppt_x</p:attrName>
                                        </p:attrNameLst>
                                      </p:cBhvr>
                                      <p:tavLst>
                                        <p:tav tm="0">
                                          <p:val>
                                            <p:strVal val="#ppt_x"/>
                                          </p:val>
                                        </p:tav>
                                        <p:tav tm="100000">
                                          <p:val>
                                            <p:strVal val="#ppt_x"/>
                                          </p:val>
                                        </p:tav>
                                      </p:tavLst>
                                    </p:anim>
                                    <p:anim calcmode="lin" valueType="num">
                                      <p:cBhvr>
                                        <p:cTn id="41" dur="1000" fill="hold"/>
                                        <p:tgtEl>
                                          <p:spTgt spid="9"/>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10"/>
                                        </p:tgtEl>
                                        <p:attrNameLst>
                                          <p:attrName>style.visibility</p:attrName>
                                        </p:attrNameLst>
                                      </p:cBhvr>
                                      <p:to>
                                        <p:strVal val="visible"/>
                                      </p:to>
                                    </p:set>
                                    <p:animEffect transition="in" filter="fade">
                                      <p:cBhvr>
                                        <p:cTn id="44" dur="1000"/>
                                        <p:tgtEl>
                                          <p:spTgt spid="10"/>
                                        </p:tgtEl>
                                      </p:cBhvr>
                                    </p:animEffect>
                                    <p:anim calcmode="lin" valueType="num">
                                      <p:cBhvr>
                                        <p:cTn id="45" dur="1000" fill="hold"/>
                                        <p:tgtEl>
                                          <p:spTgt spid="10"/>
                                        </p:tgtEl>
                                        <p:attrNameLst>
                                          <p:attrName>ppt_x</p:attrName>
                                        </p:attrNameLst>
                                      </p:cBhvr>
                                      <p:tavLst>
                                        <p:tav tm="0">
                                          <p:val>
                                            <p:strVal val="#ppt_x"/>
                                          </p:val>
                                        </p:tav>
                                        <p:tav tm="100000">
                                          <p:val>
                                            <p:strVal val="#ppt_x"/>
                                          </p:val>
                                        </p:tav>
                                      </p:tavLst>
                                    </p:anim>
                                    <p:anim calcmode="lin" valueType="num">
                                      <p:cBhvr>
                                        <p:cTn id="46" dur="1000" fill="hold"/>
                                        <p:tgtEl>
                                          <p:spTgt spid="10"/>
                                        </p:tgtEl>
                                        <p:attrNameLst>
                                          <p:attrName>ppt_y</p:attrName>
                                        </p:attrNameLst>
                                      </p:cBhvr>
                                      <p:tavLst>
                                        <p:tav tm="0">
                                          <p:val>
                                            <p:strVal val="#ppt_y+.1"/>
                                          </p:val>
                                        </p:tav>
                                        <p:tav tm="100000">
                                          <p:val>
                                            <p:strVal val="#ppt_y"/>
                                          </p:val>
                                        </p:tav>
                                      </p:tavLst>
                                    </p:anim>
                                  </p:childTnLst>
                                </p:cTn>
                              </p:par>
                              <p:par>
                                <p:cTn id="47" presetID="42" presetClass="entr" presetSubtype="0" fill="hold" nodeType="withEffect">
                                  <p:stCondLst>
                                    <p:cond delay="0"/>
                                  </p:stCondLst>
                                  <p:childTnLst>
                                    <p:set>
                                      <p:cBhvr>
                                        <p:cTn id="48" dur="1" fill="hold">
                                          <p:stCondLst>
                                            <p:cond delay="0"/>
                                          </p:stCondLst>
                                        </p:cTn>
                                        <p:tgtEl>
                                          <p:spTgt spid="11"/>
                                        </p:tgtEl>
                                        <p:attrNameLst>
                                          <p:attrName>style.visibility</p:attrName>
                                        </p:attrNameLst>
                                      </p:cBhvr>
                                      <p:to>
                                        <p:strVal val="visible"/>
                                      </p:to>
                                    </p:set>
                                    <p:animEffect transition="in" filter="fade">
                                      <p:cBhvr>
                                        <p:cTn id="49" dur="1000"/>
                                        <p:tgtEl>
                                          <p:spTgt spid="11"/>
                                        </p:tgtEl>
                                      </p:cBhvr>
                                    </p:animEffect>
                                    <p:anim calcmode="lin" valueType="num">
                                      <p:cBhvr>
                                        <p:cTn id="50" dur="1000" fill="hold"/>
                                        <p:tgtEl>
                                          <p:spTgt spid="11"/>
                                        </p:tgtEl>
                                        <p:attrNameLst>
                                          <p:attrName>ppt_x</p:attrName>
                                        </p:attrNameLst>
                                      </p:cBhvr>
                                      <p:tavLst>
                                        <p:tav tm="0">
                                          <p:val>
                                            <p:strVal val="#ppt_x"/>
                                          </p:val>
                                        </p:tav>
                                        <p:tav tm="100000">
                                          <p:val>
                                            <p:strVal val="#ppt_x"/>
                                          </p:val>
                                        </p:tav>
                                      </p:tavLst>
                                    </p:anim>
                                    <p:anim calcmode="lin" valueType="num">
                                      <p:cBhvr>
                                        <p:cTn id="51" dur="1000" fill="hold"/>
                                        <p:tgtEl>
                                          <p:spTgt spid="11"/>
                                        </p:tgtEl>
                                        <p:attrNameLst>
                                          <p:attrName>ppt_y</p:attrName>
                                        </p:attrNameLst>
                                      </p:cBhvr>
                                      <p:tavLst>
                                        <p:tav tm="0">
                                          <p:val>
                                            <p:strVal val="#ppt_y+.1"/>
                                          </p:val>
                                        </p:tav>
                                        <p:tav tm="100000">
                                          <p:val>
                                            <p:strVal val="#ppt_y"/>
                                          </p:val>
                                        </p:tav>
                                      </p:tavLst>
                                    </p:anim>
                                  </p:childTnLst>
                                </p:cTn>
                              </p:par>
                              <p:par>
                                <p:cTn id="52" presetID="42" presetClass="entr" presetSubtype="0" fill="hold" nodeType="withEffect">
                                  <p:stCondLst>
                                    <p:cond delay="0"/>
                                  </p:stCondLst>
                                  <p:childTnLst>
                                    <p:set>
                                      <p:cBhvr>
                                        <p:cTn id="53" dur="1" fill="hold">
                                          <p:stCondLst>
                                            <p:cond delay="0"/>
                                          </p:stCondLst>
                                        </p:cTn>
                                        <p:tgtEl>
                                          <p:spTgt spid="12"/>
                                        </p:tgtEl>
                                        <p:attrNameLst>
                                          <p:attrName>style.visibility</p:attrName>
                                        </p:attrNameLst>
                                      </p:cBhvr>
                                      <p:to>
                                        <p:strVal val="visible"/>
                                      </p:to>
                                    </p:set>
                                    <p:animEffect transition="in" filter="fade">
                                      <p:cBhvr>
                                        <p:cTn id="54" dur="1000"/>
                                        <p:tgtEl>
                                          <p:spTgt spid="12"/>
                                        </p:tgtEl>
                                      </p:cBhvr>
                                    </p:animEffect>
                                    <p:anim calcmode="lin" valueType="num">
                                      <p:cBhvr>
                                        <p:cTn id="55" dur="1000" fill="hold"/>
                                        <p:tgtEl>
                                          <p:spTgt spid="12"/>
                                        </p:tgtEl>
                                        <p:attrNameLst>
                                          <p:attrName>ppt_x</p:attrName>
                                        </p:attrNameLst>
                                      </p:cBhvr>
                                      <p:tavLst>
                                        <p:tav tm="0">
                                          <p:val>
                                            <p:strVal val="#ppt_x"/>
                                          </p:val>
                                        </p:tav>
                                        <p:tav tm="100000">
                                          <p:val>
                                            <p:strVal val="#ppt_x"/>
                                          </p:val>
                                        </p:tav>
                                      </p:tavLst>
                                    </p:anim>
                                    <p:anim calcmode="lin" valueType="num">
                                      <p:cBhvr>
                                        <p:cTn id="56" dur="1000" fill="hold"/>
                                        <p:tgtEl>
                                          <p:spTgt spid="12"/>
                                        </p:tgtEl>
                                        <p:attrNameLst>
                                          <p:attrName>ppt_y</p:attrName>
                                        </p:attrNameLst>
                                      </p:cBhvr>
                                      <p:tavLst>
                                        <p:tav tm="0">
                                          <p:val>
                                            <p:strVal val="#ppt_y+.1"/>
                                          </p:val>
                                        </p:tav>
                                        <p:tav tm="100000">
                                          <p:val>
                                            <p:strVal val="#ppt_y"/>
                                          </p:val>
                                        </p:tav>
                                      </p:tavLst>
                                    </p:anim>
                                  </p:childTnLst>
                                </p:cTn>
                              </p:par>
                              <p:par>
                                <p:cTn id="57" presetID="42" presetClass="entr" presetSubtype="0" fill="hold" grpId="0" nodeType="withEffect">
                                  <p:stCondLst>
                                    <p:cond delay="0"/>
                                  </p:stCondLst>
                                  <p:childTnLst>
                                    <p:set>
                                      <p:cBhvr>
                                        <p:cTn id="58" dur="1" fill="hold">
                                          <p:stCondLst>
                                            <p:cond delay="0"/>
                                          </p:stCondLst>
                                        </p:cTn>
                                        <p:tgtEl>
                                          <p:spTgt spid="13"/>
                                        </p:tgtEl>
                                        <p:attrNameLst>
                                          <p:attrName>style.visibility</p:attrName>
                                        </p:attrNameLst>
                                      </p:cBhvr>
                                      <p:to>
                                        <p:strVal val="visible"/>
                                      </p:to>
                                    </p:set>
                                    <p:animEffect transition="in" filter="fade">
                                      <p:cBhvr>
                                        <p:cTn id="59" dur="1000"/>
                                        <p:tgtEl>
                                          <p:spTgt spid="13"/>
                                        </p:tgtEl>
                                      </p:cBhvr>
                                    </p:animEffect>
                                    <p:anim calcmode="lin" valueType="num">
                                      <p:cBhvr>
                                        <p:cTn id="60" dur="1000" fill="hold"/>
                                        <p:tgtEl>
                                          <p:spTgt spid="13"/>
                                        </p:tgtEl>
                                        <p:attrNameLst>
                                          <p:attrName>ppt_x</p:attrName>
                                        </p:attrNameLst>
                                      </p:cBhvr>
                                      <p:tavLst>
                                        <p:tav tm="0">
                                          <p:val>
                                            <p:strVal val="#ppt_x"/>
                                          </p:val>
                                        </p:tav>
                                        <p:tav tm="100000">
                                          <p:val>
                                            <p:strVal val="#ppt_x"/>
                                          </p:val>
                                        </p:tav>
                                      </p:tavLst>
                                    </p:anim>
                                    <p:anim calcmode="lin" valueType="num">
                                      <p:cBhvr>
                                        <p:cTn id="61" dur="1000" fill="hold"/>
                                        <p:tgtEl>
                                          <p:spTgt spid="13"/>
                                        </p:tgtEl>
                                        <p:attrNameLst>
                                          <p:attrName>ppt_y</p:attrName>
                                        </p:attrNameLst>
                                      </p:cBhvr>
                                      <p:tavLst>
                                        <p:tav tm="0">
                                          <p:val>
                                            <p:strVal val="#ppt_y+.1"/>
                                          </p:val>
                                        </p:tav>
                                        <p:tav tm="100000">
                                          <p:val>
                                            <p:strVal val="#ppt_y"/>
                                          </p:val>
                                        </p:tav>
                                      </p:tavLst>
                                    </p:anim>
                                  </p:childTnLst>
                                </p:cTn>
                              </p:par>
                              <p:par>
                                <p:cTn id="62" presetID="42" presetClass="entr" presetSubtype="0" fill="hold" nodeType="withEffect">
                                  <p:stCondLst>
                                    <p:cond delay="0"/>
                                  </p:stCondLst>
                                  <p:childTnLst>
                                    <p:set>
                                      <p:cBhvr>
                                        <p:cTn id="63" dur="1" fill="hold">
                                          <p:stCondLst>
                                            <p:cond delay="0"/>
                                          </p:stCondLst>
                                        </p:cTn>
                                        <p:tgtEl>
                                          <p:spTgt spid="14"/>
                                        </p:tgtEl>
                                        <p:attrNameLst>
                                          <p:attrName>style.visibility</p:attrName>
                                        </p:attrNameLst>
                                      </p:cBhvr>
                                      <p:to>
                                        <p:strVal val="visible"/>
                                      </p:to>
                                    </p:set>
                                    <p:animEffect transition="in" filter="fade">
                                      <p:cBhvr>
                                        <p:cTn id="64" dur="1000"/>
                                        <p:tgtEl>
                                          <p:spTgt spid="14"/>
                                        </p:tgtEl>
                                      </p:cBhvr>
                                    </p:animEffect>
                                    <p:anim calcmode="lin" valueType="num">
                                      <p:cBhvr>
                                        <p:cTn id="65" dur="1000" fill="hold"/>
                                        <p:tgtEl>
                                          <p:spTgt spid="14"/>
                                        </p:tgtEl>
                                        <p:attrNameLst>
                                          <p:attrName>ppt_x</p:attrName>
                                        </p:attrNameLst>
                                      </p:cBhvr>
                                      <p:tavLst>
                                        <p:tav tm="0">
                                          <p:val>
                                            <p:strVal val="#ppt_x"/>
                                          </p:val>
                                        </p:tav>
                                        <p:tav tm="100000">
                                          <p:val>
                                            <p:strVal val="#ppt_x"/>
                                          </p:val>
                                        </p:tav>
                                      </p:tavLst>
                                    </p:anim>
                                    <p:anim calcmode="lin" valueType="num">
                                      <p:cBhvr>
                                        <p:cTn id="66" dur="1000" fill="hold"/>
                                        <p:tgtEl>
                                          <p:spTgt spid="14"/>
                                        </p:tgtEl>
                                        <p:attrNameLst>
                                          <p:attrName>ppt_y</p:attrName>
                                        </p:attrNameLst>
                                      </p:cBhvr>
                                      <p:tavLst>
                                        <p:tav tm="0">
                                          <p:val>
                                            <p:strVal val="#ppt_y+.1"/>
                                          </p:val>
                                        </p:tav>
                                        <p:tav tm="100000">
                                          <p:val>
                                            <p:strVal val="#ppt_y"/>
                                          </p:val>
                                        </p:tav>
                                      </p:tavLst>
                                    </p:anim>
                                  </p:childTnLst>
                                </p:cTn>
                              </p:par>
                              <p:par>
                                <p:cTn id="67" presetID="42" presetClass="entr" presetSubtype="0" fill="hold" nodeType="withEffect">
                                  <p:stCondLst>
                                    <p:cond delay="0"/>
                                  </p:stCondLst>
                                  <p:childTnLst>
                                    <p:set>
                                      <p:cBhvr>
                                        <p:cTn id="68" dur="1" fill="hold">
                                          <p:stCondLst>
                                            <p:cond delay="0"/>
                                          </p:stCondLst>
                                        </p:cTn>
                                        <p:tgtEl>
                                          <p:spTgt spid="15"/>
                                        </p:tgtEl>
                                        <p:attrNameLst>
                                          <p:attrName>style.visibility</p:attrName>
                                        </p:attrNameLst>
                                      </p:cBhvr>
                                      <p:to>
                                        <p:strVal val="visible"/>
                                      </p:to>
                                    </p:set>
                                    <p:animEffect transition="in" filter="fade">
                                      <p:cBhvr>
                                        <p:cTn id="69" dur="1000"/>
                                        <p:tgtEl>
                                          <p:spTgt spid="15"/>
                                        </p:tgtEl>
                                      </p:cBhvr>
                                    </p:animEffect>
                                    <p:anim calcmode="lin" valueType="num">
                                      <p:cBhvr>
                                        <p:cTn id="70" dur="1000" fill="hold"/>
                                        <p:tgtEl>
                                          <p:spTgt spid="15"/>
                                        </p:tgtEl>
                                        <p:attrNameLst>
                                          <p:attrName>ppt_x</p:attrName>
                                        </p:attrNameLst>
                                      </p:cBhvr>
                                      <p:tavLst>
                                        <p:tav tm="0">
                                          <p:val>
                                            <p:strVal val="#ppt_x"/>
                                          </p:val>
                                        </p:tav>
                                        <p:tav tm="100000">
                                          <p:val>
                                            <p:strVal val="#ppt_x"/>
                                          </p:val>
                                        </p:tav>
                                      </p:tavLst>
                                    </p:anim>
                                    <p:anim calcmode="lin" valueType="num">
                                      <p:cBhvr>
                                        <p:cTn id="71" dur="1000" fill="hold"/>
                                        <p:tgtEl>
                                          <p:spTgt spid="15"/>
                                        </p:tgtEl>
                                        <p:attrNameLst>
                                          <p:attrName>ppt_y</p:attrName>
                                        </p:attrNameLst>
                                      </p:cBhvr>
                                      <p:tavLst>
                                        <p:tav tm="0">
                                          <p:val>
                                            <p:strVal val="#ppt_y+.1"/>
                                          </p:val>
                                        </p:tav>
                                        <p:tav tm="100000">
                                          <p:val>
                                            <p:strVal val="#ppt_y"/>
                                          </p:val>
                                        </p:tav>
                                      </p:tavLst>
                                    </p:anim>
                                  </p:childTnLst>
                                </p:cTn>
                              </p:par>
                              <p:par>
                                <p:cTn id="72" presetID="42" presetClass="entr" presetSubtype="0" fill="hold" grpId="0" nodeType="withEffect">
                                  <p:stCondLst>
                                    <p:cond delay="0"/>
                                  </p:stCondLst>
                                  <p:childTnLst>
                                    <p:set>
                                      <p:cBhvr>
                                        <p:cTn id="73" dur="1" fill="hold">
                                          <p:stCondLst>
                                            <p:cond delay="0"/>
                                          </p:stCondLst>
                                        </p:cTn>
                                        <p:tgtEl>
                                          <p:spTgt spid="16"/>
                                        </p:tgtEl>
                                        <p:attrNameLst>
                                          <p:attrName>style.visibility</p:attrName>
                                        </p:attrNameLst>
                                      </p:cBhvr>
                                      <p:to>
                                        <p:strVal val="visible"/>
                                      </p:to>
                                    </p:set>
                                    <p:animEffect transition="in" filter="fade">
                                      <p:cBhvr>
                                        <p:cTn id="74" dur="1000"/>
                                        <p:tgtEl>
                                          <p:spTgt spid="16"/>
                                        </p:tgtEl>
                                      </p:cBhvr>
                                    </p:animEffect>
                                    <p:anim calcmode="lin" valueType="num">
                                      <p:cBhvr>
                                        <p:cTn id="75" dur="1000" fill="hold"/>
                                        <p:tgtEl>
                                          <p:spTgt spid="16"/>
                                        </p:tgtEl>
                                        <p:attrNameLst>
                                          <p:attrName>ppt_x</p:attrName>
                                        </p:attrNameLst>
                                      </p:cBhvr>
                                      <p:tavLst>
                                        <p:tav tm="0">
                                          <p:val>
                                            <p:strVal val="#ppt_x"/>
                                          </p:val>
                                        </p:tav>
                                        <p:tav tm="100000">
                                          <p:val>
                                            <p:strVal val="#ppt_x"/>
                                          </p:val>
                                        </p:tav>
                                      </p:tavLst>
                                    </p:anim>
                                    <p:anim calcmode="lin" valueType="num">
                                      <p:cBhvr>
                                        <p:cTn id="76" dur="1000" fill="hold"/>
                                        <p:tgtEl>
                                          <p:spTgt spid="16"/>
                                        </p:tgtEl>
                                        <p:attrNameLst>
                                          <p:attrName>ppt_y</p:attrName>
                                        </p:attrNameLst>
                                      </p:cBhvr>
                                      <p:tavLst>
                                        <p:tav tm="0">
                                          <p:val>
                                            <p:strVal val="#ppt_y+.1"/>
                                          </p:val>
                                        </p:tav>
                                        <p:tav tm="100000">
                                          <p:val>
                                            <p:strVal val="#ppt_y"/>
                                          </p:val>
                                        </p:tav>
                                      </p:tavLst>
                                    </p:anim>
                                  </p:childTnLst>
                                </p:cTn>
                              </p:par>
                              <p:par>
                                <p:cTn id="77" presetID="42" presetClass="entr" presetSubtype="0" fill="hold" nodeType="withEffect">
                                  <p:stCondLst>
                                    <p:cond delay="0"/>
                                  </p:stCondLst>
                                  <p:childTnLst>
                                    <p:set>
                                      <p:cBhvr>
                                        <p:cTn id="78" dur="1" fill="hold">
                                          <p:stCondLst>
                                            <p:cond delay="0"/>
                                          </p:stCondLst>
                                        </p:cTn>
                                        <p:tgtEl>
                                          <p:spTgt spid="17"/>
                                        </p:tgtEl>
                                        <p:attrNameLst>
                                          <p:attrName>style.visibility</p:attrName>
                                        </p:attrNameLst>
                                      </p:cBhvr>
                                      <p:to>
                                        <p:strVal val="visible"/>
                                      </p:to>
                                    </p:set>
                                    <p:animEffect transition="in" filter="fade">
                                      <p:cBhvr>
                                        <p:cTn id="79" dur="1000"/>
                                        <p:tgtEl>
                                          <p:spTgt spid="17"/>
                                        </p:tgtEl>
                                      </p:cBhvr>
                                    </p:animEffect>
                                    <p:anim calcmode="lin" valueType="num">
                                      <p:cBhvr>
                                        <p:cTn id="80" dur="1000" fill="hold"/>
                                        <p:tgtEl>
                                          <p:spTgt spid="17"/>
                                        </p:tgtEl>
                                        <p:attrNameLst>
                                          <p:attrName>ppt_x</p:attrName>
                                        </p:attrNameLst>
                                      </p:cBhvr>
                                      <p:tavLst>
                                        <p:tav tm="0">
                                          <p:val>
                                            <p:strVal val="#ppt_x"/>
                                          </p:val>
                                        </p:tav>
                                        <p:tav tm="100000">
                                          <p:val>
                                            <p:strVal val="#ppt_x"/>
                                          </p:val>
                                        </p:tav>
                                      </p:tavLst>
                                    </p:anim>
                                    <p:anim calcmode="lin" valueType="num">
                                      <p:cBhvr>
                                        <p:cTn id="81" dur="1000" fill="hold"/>
                                        <p:tgtEl>
                                          <p:spTgt spid="17"/>
                                        </p:tgtEl>
                                        <p:attrNameLst>
                                          <p:attrName>ppt_y</p:attrName>
                                        </p:attrNameLst>
                                      </p:cBhvr>
                                      <p:tavLst>
                                        <p:tav tm="0">
                                          <p:val>
                                            <p:strVal val="#ppt_y+.1"/>
                                          </p:val>
                                        </p:tav>
                                        <p:tav tm="100000">
                                          <p:val>
                                            <p:strVal val="#ppt_y"/>
                                          </p:val>
                                        </p:tav>
                                      </p:tavLst>
                                    </p:anim>
                                  </p:childTnLst>
                                </p:cTn>
                              </p:par>
                              <p:par>
                                <p:cTn id="82" presetID="42" presetClass="entr" presetSubtype="0" fill="hold" nodeType="withEffect">
                                  <p:stCondLst>
                                    <p:cond delay="0"/>
                                  </p:stCondLst>
                                  <p:childTnLst>
                                    <p:set>
                                      <p:cBhvr>
                                        <p:cTn id="83" dur="1" fill="hold">
                                          <p:stCondLst>
                                            <p:cond delay="0"/>
                                          </p:stCondLst>
                                        </p:cTn>
                                        <p:tgtEl>
                                          <p:spTgt spid="18"/>
                                        </p:tgtEl>
                                        <p:attrNameLst>
                                          <p:attrName>style.visibility</p:attrName>
                                        </p:attrNameLst>
                                      </p:cBhvr>
                                      <p:to>
                                        <p:strVal val="visible"/>
                                      </p:to>
                                    </p:set>
                                    <p:animEffect transition="in" filter="fade">
                                      <p:cBhvr>
                                        <p:cTn id="84" dur="1000"/>
                                        <p:tgtEl>
                                          <p:spTgt spid="18"/>
                                        </p:tgtEl>
                                      </p:cBhvr>
                                    </p:animEffect>
                                    <p:anim calcmode="lin" valueType="num">
                                      <p:cBhvr>
                                        <p:cTn id="85" dur="1000" fill="hold"/>
                                        <p:tgtEl>
                                          <p:spTgt spid="18"/>
                                        </p:tgtEl>
                                        <p:attrNameLst>
                                          <p:attrName>ppt_x</p:attrName>
                                        </p:attrNameLst>
                                      </p:cBhvr>
                                      <p:tavLst>
                                        <p:tav tm="0">
                                          <p:val>
                                            <p:strVal val="#ppt_x"/>
                                          </p:val>
                                        </p:tav>
                                        <p:tav tm="100000">
                                          <p:val>
                                            <p:strVal val="#ppt_x"/>
                                          </p:val>
                                        </p:tav>
                                      </p:tavLst>
                                    </p:anim>
                                    <p:anim calcmode="lin" valueType="num">
                                      <p:cBhvr>
                                        <p:cTn id="86" dur="1000" fill="hold"/>
                                        <p:tgtEl>
                                          <p:spTgt spid="18"/>
                                        </p:tgtEl>
                                        <p:attrNameLst>
                                          <p:attrName>ppt_y</p:attrName>
                                        </p:attrNameLst>
                                      </p:cBhvr>
                                      <p:tavLst>
                                        <p:tav tm="0">
                                          <p:val>
                                            <p:strVal val="#ppt_y+.1"/>
                                          </p:val>
                                        </p:tav>
                                        <p:tav tm="100000">
                                          <p:val>
                                            <p:strVal val="#ppt_y"/>
                                          </p:val>
                                        </p:tav>
                                      </p:tavLst>
                                    </p:anim>
                                  </p:childTnLst>
                                </p:cTn>
                              </p:par>
                              <p:par>
                                <p:cTn id="87" presetID="42" presetClass="entr" presetSubtype="0" fill="hold" grpId="0" nodeType="withEffect">
                                  <p:stCondLst>
                                    <p:cond delay="0"/>
                                  </p:stCondLst>
                                  <p:childTnLst>
                                    <p:set>
                                      <p:cBhvr>
                                        <p:cTn id="88" dur="1" fill="hold">
                                          <p:stCondLst>
                                            <p:cond delay="0"/>
                                          </p:stCondLst>
                                        </p:cTn>
                                        <p:tgtEl>
                                          <p:spTgt spid="19"/>
                                        </p:tgtEl>
                                        <p:attrNameLst>
                                          <p:attrName>style.visibility</p:attrName>
                                        </p:attrNameLst>
                                      </p:cBhvr>
                                      <p:to>
                                        <p:strVal val="visible"/>
                                      </p:to>
                                    </p:set>
                                    <p:animEffect transition="in" filter="fade">
                                      <p:cBhvr>
                                        <p:cTn id="89" dur="1000"/>
                                        <p:tgtEl>
                                          <p:spTgt spid="19"/>
                                        </p:tgtEl>
                                      </p:cBhvr>
                                    </p:animEffect>
                                    <p:anim calcmode="lin" valueType="num">
                                      <p:cBhvr>
                                        <p:cTn id="90" dur="1000" fill="hold"/>
                                        <p:tgtEl>
                                          <p:spTgt spid="19"/>
                                        </p:tgtEl>
                                        <p:attrNameLst>
                                          <p:attrName>ppt_x</p:attrName>
                                        </p:attrNameLst>
                                      </p:cBhvr>
                                      <p:tavLst>
                                        <p:tav tm="0">
                                          <p:val>
                                            <p:strVal val="#ppt_x"/>
                                          </p:val>
                                        </p:tav>
                                        <p:tav tm="100000">
                                          <p:val>
                                            <p:strVal val="#ppt_x"/>
                                          </p:val>
                                        </p:tav>
                                      </p:tavLst>
                                    </p:anim>
                                    <p:anim calcmode="lin" valueType="num">
                                      <p:cBhvr>
                                        <p:cTn id="91" dur="1000" fill="hold"/>
                                        <p:tgtEl>
                                          <p:spTgt spid="19"/>
                                        </p:tgtEl>
                                        <p:attrNameLst>
                                          <p:attrName>ppt_y</p:attrName>
                                        </p:attrNameLst>
                                      </p:cBhvr>
                                      <p:tavLst>
                                        <p:tav tm="0">
                                          <p:val>
                                            <p:strVal val="#ppt_y+.1"/>
                                          </p:val>
                                        </p:tav>
                                        <p:tav tm="100000">
                                          <p:val>
                                            <p:strVal val="#ppt_y"/>
                                          </p:val>
                                        </p:tav>
                                      </p:tavLst>
                                    </p:anim>
                                  </p:childTnLst>
                                </p:cTn>
                              </p:par>
                              <p:par>
                                <p:cTn id="92" presetID="42" presetClass="entr" presetSubtype="0" fill="hold" nodeType="withEffect">
                                  <p:stCondLst>
                                    <p:cond delay="0"/>
                                  </p:stCondLst>
                                  <p:childTnLst>
                                    <p:set>
                                      <p:cBhvr>
                                        <p:cTn id="93" dur="1" fill="hold">
                                          <p:stCondLst>
                                            <p:cond delay="0"/>
                                          </p:stCondLst>
                                        </p:cTn>
                                        <p:tgtEl>
                                          <p:spTgt spid="20"/>
                                        </p:tgtEl>
                                        <p:attrNameLst>
                                          <p:attrName>style.visibility</p:attrName>
                                        </p:attrNameLst>
                                      </p:cBhvr>
                                      <p:to>
                                        <p:strVal val="visible"/>
                                      </p:to>
                                    </p:set>
                                    <p:animEffect transition="in" filter="fade">
                                      <p:cBhvr>
                                        <p:cTn id="94" dur="1000"/>
                                        <p:tgtEl>
                                          <p:spTgt spid="20"/>
                                        </p:tgtEl>
                                      </p:cBhvr>
                                    </p:animEffect>
                                    <p:anim calcmode="lin" valueType="num">
                                      <p:cBhvr>
                                        <p:cTn id="95" dur="1000" fill="hold"/>
                                        <p:tgtEl>
                                          <p:spTgt spid="20"/>
                                        </p:tgtEl>
                                        <p:attrNameLst>
                                          <p:attrName>ppt_x</p:attrName>
                                        </p:attrNameLst>
                                      </p:cBhvr>
                                      <p:tavLst>
                                        <p:tav tm="0">
                                          <p:val>
                                            <p:strVal val="#ppt_x"/>
                                          </p:val>
                                        </p:tav>
                                        <p:tav tm="100000">
                                          <p:val>
                                            <p:strVal val="#ppt_x"/>
                                          </p:val>
                                        </p:tav>
                                      </p:tavLst>
                                    </p:anim>
                                    <p:anim calcmode="lin" valueType="num">
                                      <p:cBhvr>
                                        <p:cTn id="96" dur="1000" fill="hold"/>
                                        <p:tgtEl>
                                          <p:spTgt spid="20"/>
                                        </p:tgtEl>
                                        <p:attrNameLst>
                                          <p:attrName>ppt_y</p:attrName>
                                        </p:attrNameLst>
                                      </p:cBhvr>
                                      <p:tavLst>
                                        <p:tav tm="0">
                                          <p:val>
                                            <p:strVal val="#ppt_y+.1"/>
                                          </p:val>
                                        </p:tav>
                                        <p:tav tm="100000">
                                          <p:val>
                                            <p:strVal val="#ppt_y"/>
                                          </p:val>
                                        </p:tav>
                                      </p:tavLst>
                                    </p:anim>
                                  </p:childTnLst>
                                </p:cTn>
                              </p:par>
                              <p:par>
                                <p:cTn id="97" presetID="42" presetClass="entr" presetSubtype="0" fill="hold" nodeType="withEffect">
                                  <p:stCondLst>
                                    <p:cond delay="0"/>
                                  </p:stCondLst>
                                  <p:childTnLst>
                                    <p:set>
                                      <p:cBhvr>
                                        <p:cTn id="98" dur="1" fill="hold">
                                          <p:stCondLst>
                                            <p:cond delay="0"/>
                                          </p:stCondLst>
                                        </p:cTn>
                                        <p:tgtEl>
                                          <p:spTgt spid="21"/>
                                        </p:tgtEl>
                                        <p:attrNameLst>
                                          <p:attrName>style.visibility</p:attrName>
                                        </p:attrNameLst>
                                      </p:cBhvr>
                                      <p:to>
                                        <p:strVal val="visible"/>
                                      </p:to>
                                    </p:set>
                                    <p:animEffect transition="in" filter="fade">
                                      <p:cBhvr>
                                        <p:cTn id="99" dur="1000"/>
                                        <p:tgtEl>
                                          <p:spTgt spid="21"/>
                                        </p:tgtEl>
                                      </p:cBhvr>
                                    </p:animEffect>
                                    <p:anim calcmode="lin" valueType="num">
                                      <p:cBhvr>
                                        <p:cTn id="100" dur="1000" fill="hold"/>
                                        <p:tgtEl>
                                          <p:spTgt spid="21"/>
                                        </p:tgtEl>
                                        <p:attrNameLst>
                                          <p:attrName>ppt_x</p:attrName>
                                        </p:attrNameLst>
                                      </p:cBhvr>
                                      <p:tavLst>
                                        <p:tav tm="0">
                                          <p:val>
                                            <p:strVal val="#ppt_x"/>
                                          </p:val>
                                        </p:tav>
                                        <p:tav tm="100000">
                                          <p:val>
                                            <p:strVal val="#ppt_x"/>
                                          </p:val>
                                        </p:tav>
                                      </p:tavLst>
                                    </p:anim>
                                    <p:anim calcmode="lin" valueType="num">
                                      <p:cBhvr>
                                        <p:cTn id="101" dur="1000" fill="hold"/>
                                        <p:tgtEl>
                                          <p:spTgt spid="21"/>
                                        </p:tgtEl>
                                        <p:attrNameLst>
                                          <p:attrName>ppt_y</p:attrName>
                                        </p:attrNameLst>
                                      </p:cBhvr>
                                      <p:tavLst>
                                        <p:tav tm="0">
                                          <p:val>
                                            <p:strVal val="#ppt_y+.1"/>
                                          </p:val>
                                        </p:tav>
                                        <p:tav tm="100000">
                                          <p:val>
                                            <p:strVal val="#ppt_y"/>
                                          </p:val>
                                        </p:tav>
                                      </p:tavLst>
                                    </p:anim>
                                  </p:childTnLst>
                                </p:cTn>
                              </p:par>
                              <p:par>
                                <p:cTn id="102" presetID="42" presetClass="entr" presetSubtype="0" fill="hold" grpId="0" nodeType="withEffect">
                                  <p:stCondLst>
                                    <p:cond delay="0"/>
                                  </p:stCondLst>
                                  <p:childTnLst>
                                    <p:set>
                                      <p:cBhvr>
                                        <p:cTn id="103" dur="1" fill="hold">
                                          <p:stCondLst>
                                            <p:cond delay="0"/>
                                          </p:stCondLst>
                                        </p:cTn>
                                        <p:tgtEl>
                                          <p:spTgt spid="22"/>
                                        </p:tgtEl>
                                        <p:attrNameLst>
                                          <p:attrName>style.visibility</p:attrName>
                                        </p:attrNameLst>
                                      </p:cBhvr>
                                      <p:to>
                                        <p:strVal val="visible"/>
                                      </p:to>
                                    </p:set>
                                    <p:animEffect transition="in" filter="fade">
                                      <p:cBhvr>
                                        <p:cTn id="104" dur="1000"/>
                                        <p:tgtEl>
                                          <p:spTgt spid="22"/>
                                        </p:tgtEl>
                                      </p:cBhvr>
                                    </p:animEffect>
                                    <p:anim calcmode="lin" valueType="num">
                                      <p:cBhvr>
                                        <p:cTn id="105" dur="1000" fill="hold"/>
                                        <p:tgtEl>
                                          <p:spTgt spid="22"/>
                                        </p:tgtEl>
                                        <p:attrNameLst>
                                          <p:attrName>ppt_x</p:attrName>
                                        </p:attrNameLst>
                                      </p:cBhvr>
                                      <p:tavLst>
                                        <p:tav tm="0">
                                          <p:val>
                                            <p:strVal val="#ppt_x"/>
                                          </p:val>
                                        </p:tav>
                                        <p:tav tm="100000">
                                          <p:val>
                                            <p:strVal val="#ppt_x"/>
                                          </p:val>
                                        </p:tav>
                                      </p:tavLst>
                                    </p:anim>
                                    <p:anim calcmode="lin" valueType="num">
                                      <p:cBhvr>
                                        <p:cTn id="106" dur="1000" fill="hold"/>
                                        <p:tgtEl>
                                          <p:spTgt spid="22"/>
                                        </p:tgtEl>
                                        <p:attrNameLst>
                                          <p:attrName>ppt_y</p:attrName>
                                        </p:attrNameLst>
                                      </p:cBhvr>
                                      <p:tavLst>
                                        <p:tav tm="0">
                                          <p:val>
                                            <p:strVal val="#ppt_y+.1"/>
                                          </p:val>
                                        </p:tav>
                                        <p:tav tm="100000">
                                          <p:val>
                                            <p:strVal val="#ppt_y"/>
                                          </p:val>
                                        </p:tav>
                                      </p:tavLst>
                                    </p:anim>
                                  </p:childTnLst>
                                </p:cTn>
                              </p:par>
                              <p:par>
                                <p:cTn id="107" presetID="42" presetClass="entr" presetSubtype="0" fill="hold" nodeType="withEffect">
                                  <p:stCondLst>
                                    <p:cond delay="0"/>
                                  </p:stCondLst>
                                  <p:childTnLst>
                                    <p:set>
                                      <p:cBhvr>
                                        <p:cTn id="108" dur="1" fill="hold">
                                          <p:stCondLst>
                                            <p:cond delay="0"/>
                                          </p:stCondLst>
                                        </p:cTn>
                                        <p:tgtEl>
                                          <p:spTgt spid="23"/>
                                        </p:tgtEl>
                                        <p:attrNameLst>
                                          <p:attrName>style.visibility</p:attrName>
                                        </p:attrNameLst>
                                      </p:cBhvr>
                                      <p:to>
                                        <p:strVal val="visible"/>
                                      </p:to>
                                    </p:set>
                                    <p:animEffect transition="in" filter="fade">
                                      <p:cBhvr>
                                        <p:cTn id="109" dur="1000"/>
                                        <p:tgtEl>
                                          <p:spTgt spid="23"/>
                                        </p:tgtEl>
                                      </p:cBhvr>
                                    </p:animEffect>
                                    <p:anim calcmode="lin" valueType="num">
                                      <p:cBhvr>
                                        <p:cTn id="110" dur="1000" fill="hold"/>
                                        <p:tgtEl>
                                          <p:spTgt spid="23"/>
                                        </p:tgtEl>
                                        <p:attrNameLst>
                                          <p:attrName>ppt_x</p:attrName>
                                        </p:attrNameLst>
                                      </p:cBhvr>
                                      <p:tavLst>
                                        <p:tav tm="0">
                                          <p:val>
                                            <p:strVal val="#ppt_x"/>
                                          </p:val>
                                        </p:tav>
                                        <p:tav tm="100000">
                                          <p:val>
                                            <p:strVal val="#ppt_x"/>
                                          </p:val>
                                        </p:tav>
                                      </p:tavLst>
                                    </p:anim>
                                    <p:anim calcmode="lin" valueType="num">
                                      <p:cBhvr>
                                        <p:cTn id="1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112" fill="hold">
                      <p:stCondLst>
                        <p:cond delay="indefinite"/>
                      </p:stCondLst>
                      <p:childTnLst>
                        <p:par>
                          <p:cTn id="113" fill="hold">
                            <p:stCondLst>
                              <p:cond delay="0"/>
                            </p:stCondLst>
                            <p:childTnLst>
                              <p:par>
                                <p:cTn id="114" presetID="42" presetClass="entr" presetSubtype="0" fill="hold" grpId="0" nodeType="clickEffect">
                                  <p:stCondLst>
                                    <p:cond delay="0"/>
                                  </p:stCondLst>
                                  <p:childTnLst>
                                    <p:set>
                                      <p:cBhvr>
                                        <p:cTn id="115" dur="1" fill="hold">
                                          <p:stCondLst>
                                            <p:cond delay="0"/>
                                          </p:stCondLst>
                                        </p:cTn>
                                        <p:tgtEl>
                                          <p:spTgt spid="25"/>
                                        </p:tgtEl>
                                        <p:attrNameLst>
                                          <p:attrName>style.visibility</p:attrName>
                                        </p:attrNameLst>
                                      </p:cBhvr>
                                      <p:to>
                                        <p:strVal val="visible"/>
                                      </p:to>
                                    </p:set>
                                    <p:animEffect transition="in" filter="fade">
                                      <p:cBhvr>
                                        <p:cTn id="116" dur="1000"/>
                                        <p:tgtEl>
                                          <p:spTgt spid="25"/>
                                        </p:tgtEl>
                                      </p:cBhvr>
                                    </p:animEffect>
                                    <p:anim calcmode="lin" valueType="num">
                                      <p:cBhvr>
                                        <p:cTn id="117" dur="1000" fill="hold"/>
                                        <p:tgtEl>
                                          <p:spTgt spid="25"/>
                                        </p:tgtEl>
                                        <p:attrNameLst>
                                          <p:attrName>ppt_x</p:attrName>
                                        </p:attrNameLst>
                                      </p:cBhvr>
                                      <p:tavLst>
                                        <p:tav tm="0">
                                          <p:val>
                                            <p:strVal val="#ppt_x"/>
                                          </p:val>
                                        </p:tav>
                                        <p:tav tm="100000">
                                          <p:val>
                                            <p:strVal val="#ppt_x"/>
                                          </p:val>
                                        </p:tav>
                                      </p:tavLst>
                                    </p:anim>
                                    <p:anim calcmode="lin" valueType="num">
                                      <p:cBhvr>
                                        <p:cTn id="118"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10" grpId="0" animBg="1"/>
      <p:bldP spid="13" grpId="0" animBg="1"/>
      <p:bldP spid="16" grpId="0" animBg="1"/>
      <p:bldP spid="19" grpId="0" animBg="1"/>
      <p:bldP spid="22" grpId="0" animBg="1"/>
      <p:bldP spid="25" grpId="0"/>
      <p:bldP spid="2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7213D5-7469-470E-88B5-497F926CC74B}"/>
              </a:ext>
            </a:extLst>
          </p:cNvPr>
          <p:cNvSpPr>
            <a:spLocks noGrp="1"/>
          </p:cNvSpPr>
          <p:nvPr>
            <p:ph type="title"/>
          </p:nvPr>
        </p:nvSpPr>
        <p:spPr/>
        <p:txBody>
          <a:bodyPr/>
          <a:lstStyle/>
          <a:p>
            <a:r>
              <a:rPr lang="en-GB" b="1" dirty="0"/>
              <a:t>Network Model</a:t>
            </a:r>
            <a:endParaRPr lang="en-PK" dirty="0"/>
          </a:p>
        </p:txBody>
      </p:sp>
      <p:sp>
        <p:nvSpPr>
          <p:cNvPr id="3" name="Content Placeholder 2">
            <a:extLst>
              <a:ext uri="{FF2B5EF4-FFF2-40B4-BE49-F238E27FC236}">
                <a16:creationId xmlns:a16="http://schemas.microsoft.com/office/drawing/2014/main" id="{9AC4E0AA-10A8-4205-9215-4E3B81218647}"/>
              </a:ext>
            </a:extLst>
          </p:cNvPr>
          <p:cNvSpPr>
            <a:spLocks noGrp="1"/>
          </p:cNvSpPr>
          <p:nvPr>
            <p:ph idx="1"/>
          </p:nvPr>
        </p:nvSpPr>
        <p:spPr/>
        <p:txBody>
          <a:bodyPr/>
          <a:lstStyle/>
          <a:p>
            <a:r>
              <a:rPr lang="en-GB" dirty="0"/>
              <a:t>Organizes records through navigational links.</a:t>
            </a:r>
          </a:p>
          <a:p>
            <a:pPr>
              <a:buFont typeface="Arial" panose="020B0604020202020204" pitchFamily="34" charset="0"/>
              <a:buChar char="•"/>
            </a:pPr>
            <a:r>
              <a:rPr lang="en-GB" dirty="0"/>
              <a:t>A record may have multiple parent records. </a:t>
            </a:r>
          </a:p>
          <a:p>
            <a:pPr>
              <a:buFont typeface="Arial" panose="020B0604020202020204" pitchFamily="34" charset="0"/>
              <a:buChar char="•"/>
            </a:pPr>
            <a:r>
              <a:rPr lang="en-GB" dirty="0"/>
              <a:t>Supports more complex relationships than a hierarchy. </a:t>
            </a:r>
          </a:p>
          <a:p>
            <a:pPr>
              <a:buFont typeface="Arial" panose="020B0604020202020204" pitchFamily="34" charset="0"/>
              <a:buChar char="•"/>
            </a:pPr>
            <a:r>
              <a:rPr lang="en-GB" dirty="0"/>
              <a:t>Applications navigate predefined paths between records. </a:t>
            </a:r>
          </a:p>
          <a:p>
            <a:r>
              <a:rPr lang="en-GB" b="1" dirty="0"/>
              <a:t>Example:</a:t>
            </a:r>
            <a:r>
              <a:rPr lang="en-GB" dirty="0"/>
              <a:t> A student can join multiple courses and clubs.</a:t>
            </a:r>
          </a:p>
          <a:p>
            <a:pPr marL="0" indent="0">
              <a:buNone/>
            </a:pPr>
            <a:endParaRPr lang="en-GB" b="1" dirty="0"/>
          </a:p>
          <a:p>
            <a:pPr marL="0" indent="0">
              <a:buNone/>
            </a:pPr>
            <a:r>
              <a:rPr lang="en-GB" b="1" dirty="0"/>
              <a:t>Limitation:</a:t>
            </a:r>
            <a:r>
              <a:rPr lang="en-GB" dirty="0"/>
              <a:t> The structure can become difficult to understand and maintain.</a:t>
            </a:r>
          </a:p>
          <a:p>
            <a:endParaRPr lang="en-PK" dirty="0"/>
          </a:p>
        </p:txBody>
      </p:sp>
    </p:spTree>
    <p:extLst>
      <p:ext uri="{BB962C8B-B14F-4D97-AF65-F5344CB8AC3E}">
        <p14:creationId xmlns:p14="http://schemas.microsoft.com/office/powerpoint/2010/main" val="31543757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Effect transition="in" filter="fade">
                                      <p:cBhvr>
                                        <p:cTn id="7" dur="1000"/>
                                        <p:tgtEl>
                                          <p:spTgt spid="3">
                                            <p:txEl>
                                              <p:pRg st="6" end="6"/>
                                            </p:txEl>
                                          </p:spTgt>
                                        </p:tgtEl>
                                      </p:cBhvr>
                                    </p:animEffect>
                                    <p:anim calcmode="lin" valueType="num">
                                      <p:cBhvr>
                                        <p:cTn id="8"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C236A-C4F8-4D6A-998C-966C177927D3}"/>
              </a:ext>
            </a:extLst>
          </p:cNvPr>
          <p:cNvSpPr>
            <a:spLocks noGrp="1"/>
          </p:cNvSpPr>
          <p:nvPr>
            <p:ph type="title"/>
          </p:nvPr>
        </p:nvSpPr>
        <p:spPr/>
        <p:txBody>
          <a:bodyPr/>
          <a:lstStyle/>
          <a:p>
            <a:r>
              <a:rPr lang="en-GB" dirty="0"/>
              <a:t>Network Model</a:t>
            </a:r>
            <a:endParaRPr lang="en-PK" dirty="0"/>
          </a:p>
        </p:txBody>
      </p:sp>
      <p:sp>
        <p:nvSpPr>
          <p:cNvPr id="18" name="Shape 4">
            <a:extLst>
              <a:ext uri="{FF2B5EF4-FFF2-40B4-BE49-F238E27FC236}">
                <a16:creationId xmlns:a16="http://schemas.microsoft.com/office/drawing/2014/main" id="{21D015DC-7091-481D-A9B8-FF77C06256B3}"/>
              </a:ext>
            </a:extLst>
          </p:cNvPr>
          <p:cNvSpPr/>
          <p:nvPr/>
        </p:nvSpPr>
        <p:spPr>
          <a:xfrm>
            <a:off x="3883631" y="1855712"/>
            <a:ext cx="1508760" cy="1508760"/>
          </a:xfrm>
          <a:prstGeom prst="ellipse">
            <a:avLst/>
          </a:prstGeom>
          <a:solidFill>
            <a:srgbClr val="E7F7F6"/>
          </a:solidFill>
          <a:ln w="12700">
            <a:solidFill>
              <a:srgbClr val="D8E0EB"/>
            </a:solidFill>
            <a:prstDash val="solid"/>
          </a:ln>
        </p:spPr>
      </p:sp>
      <p:sp>
        <p:nvSpPr>
          <p:cNvPr id="20" name="Text 5">
            <a:extLst>
              <a:ext uri="{FF2B5EF4-FFF2-40B4-BE49-F238E27FC236}">
                <a16:creationId xmlns:a16="http://schemas.microsoft.com/office/drawing/2014/main" id="{6F048A79-2225-47AE-9FC9-27885048401B}"/>
              </a:ext>
            </a:extLst>
          </p:cNvPr>
          <p:cNvSpPr/>
          <p:nvPr/>
        </p:nvSpPr>
        <p:spPr>
          <a:xfrm>
            <a:off x="4066511" y="2861552"/>
            <a:ext cx="1143000" cy="182880"/>
          </a:xfrm>
          <a:prstGeom prst="rect">
            <a:avLst/>
          </a:prstGeom>
          <a:noFill/>
          <a:ln/>
        </p:spPr>
        <p:txBody>
          <a:bodyPr wrap="square" lIns="0" tIns="0" rIns="0" bIns="0" rtlCol="0" anchor="ctr"/>
          <a:lstStyle/>
          <a:p>
            <a:pPr marL="0" indent="0" algn="ctr">
              <a:buNone/>
            </a:pPr>
            <a:r>
              <a:rPr lang="en-US" sz="1050" b="1" dirty="0">
                <a:solidFill>
                  <a:srgbClr val="172033"/>
                </a:solidFill>
              </a:rPr>
              <a:t>STUDENT</a:t>
            </a:r>
            <a:endParaRPr lang="en-US" sz="1050" dirty="0"/>
          </a:p>
        </p:txBody>
      </p:sp>
      <p:sp>
        <p:nvSpPr>
          <p:cNvPr id="21" name="Shape 6">
            <a:extLst>
              <a:ext uri="{FF2B5EF4-FFF2-40B4-BE49-F238E27FC236}">
                <a16:creationId xmlns:a16="http://schemas.microsoft.com/office/drawing/2014/main" id="{2DA86889-95E0-490B-8DEC-091D927D02C7}"/>
              </a:ext>
            </a:extLst>
          </p:cNvPr>
          <p:cNvSpPr/>
          <p:nvPr/>
        </p:nvSpPr>
        <p:spPr>
          <a:xfrm>
            <a:off x="7221191" y="1261352"/>
            <a:ext cx="1508760" cy="1508760"/>
          </a:xfrm>
          <a:prstGeom prst="ellipse">
            <a:avLst/>
          </a:prstGeom>
          <a:solidFill>
            <a:srgbClr val="EAF2FF"/>
          </a:solidFill>
          <a:ln w="12700">
            <a:solidFill>
              <a:srgbClr val="D8E0EB"/>
            </a:solidFill>
            <a:prstDash val="solid"/>
          </a:ln>
        </p:spPr>
      </p:sp>
      <p:sp>
        <p:nvSpPr>
          <p:cNvPr id="23" name="Text 7">
            <a:extLst>
              <a:ext uri="{FF2B5EF4-FFF2-40B4-BE49-F238E27FC236}">
                <a16:creationId xmlns:a16="http://schemas.microsoft.com/office/drawing/2014/main" id="{5FF62C11-A04F-4F9E-AA08-947E5472547A}"/>
              </a:ext>
            </a:extLst>
          </p:cNvPr>
          <p:cNvSpPr/>
          <p:nvPr/>
        </p:nvSpPr>
        <p:spPr>
          <a:xfrm>
            <a:off x="7404071" y="2267192"/>
            <a:ext cx="1143000" cy="182880"/>
          </a:xfrm>
          <a:prstGeom prst="rect">
            <a:avLst/>
          </a:prstGeom>
          <a:noFill/>
          <a:ln/>
        </p:spPr>
        <p:txBody>
          <a:bodyPr wrap="square" lIns="0" tIns="0" rIns="0" bIns="0" rtlCol="0" anchor="ctr"/>
          <a:lstStyle/>
          <a:p>
            <a:pPr marL="0" indent="0" algn="ctr">
              <a:buNone/>
            </a:pPr>
            <a:r>
              <a:rPr lang="en-US" sz="1050" b="1" dirty="0">
                <a:solidFill>
                  <a:srgbClr val="172033"/>
                </a:solidFill>
              </a:rPr>
              <a:t>COURSE</a:t>
            </a:r>
            <a:endParaRPr lang="en-US" sz="1050" dirty="0"/>
          </a:p>
        </p:txBody>
      </p:sp>
      <p:sp>
        <p:nvSpPr>
          <p:cNvPr id="24" name="Shape 8">
            <a:extLst>
              <a:ext uri="{FF2B5EF4-FFF2-40B4-BE49-F238E27FC236}">
                <a16:creationId xmlns:a16="http://schemas.microsoft.com/office/drawing/2014/main" id="{242040F4-920E-406B-9D04-124DEE9F9D93}"/>
              </a:ext>
            </a:extLst>
          </p:cNvPr>
          <p:cNvSpPr/>
          <p:nvPr/>
        </p:nvSpPr>
        <p:spPr>
          <a:xfrm>
            <a:off x="10238711" y="1992872"/>
            <a:ext cx="1508760" cy="1508760"/>
          </a:xfrm>
          <a:prstGeom prst="ellipse">
            <a:avLst/>
          </a:prstGeom>
          <a:solidFill>
            <a:srgbClr val="E7F7F6"/>
          </a:solidFill>
          <a:ln w="12700">
            <a:solidFill>
              <a:srgbClr val="D8E0EB"/>
            </a:solidFill>
            <a:prstDash val="solid"/>
          </a:ln>
        </p:spPr>
      </p:sp>
      <p:sp>
        <p:nvSpPr>
          <p:cNvPr id="26" name="Text 9">
            <a:extLst>
              <a:ext uri="{FF2B5EF4-FFF2-40B4-BE49-F238E27FC236}">
                <a16:creationId xmlns:a16="http://schemas.microsoft.com/office/drawing/2014/main" id="{89DE607F-BA84-4C3C-9E10-CB3E5F87792A}"/>
              </a:ext>
            </a:extLst>
          </p:cNvPr>
          <p:cNvSpPr/>
          <p:nvPr/>
        </p:nvSpPr>
        <p:spPr>
          <a:xfrm>
            <a:off x="10421591" y="2998712"/>
            <a:ext cx="1143000" cy="182880"/>
          </a:xfrm>
          <a:prstGeom prst="rect">
            <a:avLst/>
          </a:prstGeom>
          <a:noFill/>
          <a:ln/>
        </p:spPr>
        <p:txBody>
          <a:bodyPr wrap="square" lIns="0" tIns="0" rIns="0" bIns="0" rtlCol="0" anchor="ctr"/>
          <a:lstStyle/>
          <a:p>
            <a:pPr marL="0" indent="0" algn="ctr">
              <a:buNone/>
            </a:pPr>
            <a:r>
              <a:rPr lang="en-US" sz="1050" b="1" dirty="0">
                <a:solidFill>
                  <a:srgbClr val="172033"/>
                </a:solidFill>
              </a:rPr>
              <a:t>CLUB</a:t>
            </a:r>
            <a:endParaRPr lang="en-US" sz="1050" dirty="0"/>
          </a:p>
        </p:txBody>
      </p:sp>
      <p:sp>
        <p:nvSpPr>
          <p:cNvPr id="27" name="Shape 10">
            <a:extLst>
              <a:ext uri="{FF2B5EF4-FFF2-40B4-BE49-F238E27FC236}">
                <a16:creationId xmlns:a16="http://schemas.microsoft.com/office/drawing/2014/main" id="{E76751B4-25C1-4548-83CA-B4208F1CF70F}"/>
              </a:ext>
            </a:extLst>
          </p:cNvPr>
          <p:cNvSpPr/>
          <p:nvPr/>
        </p:nvSpPr>
        <p:spPr>
          <a:xfrm>
            <a:off x="7312631" y="4278872"/>
            <a:ext cx="1508760" cy="1508760"/>
          </a:xfrm>
          <a:prstGeom prst="ellipse">
            <a:avLst/>
          </a:prstGeom>
          <a:solidFill>
            <a:srgbClr val="EAF2FF"/>
          </a:solidFill>
          <a:ln w="12700">
            <a:solidFill>
              <a:srgbClr val="D8E0EB"/>
            </a:solidFill>
            <a:prstDash val="solid"/>
          </a:ln>
        </p:spPr>
      </p:sp>
      <p:sp>
        <p:nvSpPr>
          <p:cNvPr id="29" name="Text 11">
            <a:extLst>
              <a:ext uri="{FF2B5EF4-FFF2-40B4-BE49-F238E27FC236}">
                <a16:creationId xmlns:a16="http://schemas.microsoft.com/office/drawing/2014/main" id="{08E2953F-4E90-4E33-ABBB-002EF0125A4A}"/>
              </a:ext>
            </a:extLst>
          </p:cNvPr>
          <p:cNvSpPr/>
          <p:nvPr/>
        </p:nvSpPr>
        <p:spPr>
          <a:xfrm>
            <a:off x="7495511" y="5284712"/>
            <a:ext cx="1143000" cy="182880"/>
          </a:xfrm>
          <a:prstGeom prst="rect">
            <a:avLst/>
          </a:prstGeom>
          <a:noFill/>
          <a:ln/>
        </p:spPr>
        <p:txBody>
          <a:bodyPr wrap="square" lIns="0" tIns="0" rIns="0" bIns="0" rtlCol="0" anchor="ctr"/>
          <a:lstStyle/>
          <a:p>
            <a:pPr marL="0" indent="0" algn="ctr">
              <a:buNone/>
            </a:pPr>
            <a:r>
              <a:rPr lang="en-US" sz="1050" b="1" dirty="0">
                <a:solidFill>
                  <a:srgbClr val="172033"/>
                </a:solidFill>
              </a:rPr>
              <a:t>PROJECT</a:t>
            </a:r>
            <a:endParaRPr lang="en-US" sz="1050" dirty="0"/>
          </a:p>
        </p:txBody>
      </p:sp>
      <p:sp>
        <p:nvSpPr>
          <p:cNvPr id="30" name="Shape 12">
            <a:extLst>
              <a:ext uri="{FF2B5EF4-FFF2-40B4-BE49-F238E27FC236}">
                <a16:creationId xmlns:a16="http://schemas.microsoft.com/office/drawing/2014/main" id="{64F879D3-3349-4F86-B2FB-7C1C8193F305}"/>
              </a:ext>
            </a:extLst>
          </p:cNvPr>
          <p:cNvSpPr/>
          <p:nvPr/>
        </p:nvSpPr>
        <p:spPr>
          <a:xfrm>
            <a:off x="5346671" y="2495792"/>
            <a:ext cx="1874520" cy="0"/>
          </a:xfrm>
          <a:prstGeom prst="line">
            <a:avLst/>
          </a:prstGeom>
          <a:noFill/>
          <a:ln w="16510">
            <a:solidFill>
              <a:srgbClr val="16A6A1"/>
            </a:solidFill>
            <a:prstDash val="solid"/>
            <a:headEnd type="none"/>
            <a:tailEnd type="triangle"/>
          </a:ln>
        </p:spPr>
      </p:sp>
      <p:sp>
        <p:nvSpPr>
          <p:cNvPr id="31" name="Shape 13">
            <a:extLst>
              <a:ext uri="{FF2B5EF4-FFF2-40B4-BE49-F238E27FC236}">
                <a16:creationId xmlns:a16="http://schemas.microsoft.com/office/drawing/2014/main" id="{96122E5F-B5C4-49FD-B7EB-9BDB25522E92}"/>
              </a:ext>
            </a:extLst>
          </p:cNvPr>
          <p:cNvSpPr/>
          <p:nvPr/>
        </p:nvSpPr>
        <p:spPr>
          <a:xfrm>
            <a:off x="5346671" y="2770112"/>
            <a:ext cx="2103120" cy="1508760"/>
          </a:xfrm>
          <a:prstGeom prst="line">
            <a:avLst/>
          </a:prstGeom>
          <a:noFill/>
          <a:ln w="16510">
            <a:solidFill>
              <a:srgbClr val="16A6A1"/>
            </a:solidFill>
            <a:prstDash val="solid"/>
            <a:headEnd type="none"/>
            <a:tailEnd type="triangle"/>
          </a:ln>
        </p:spPr>
      </p:sp>
      <p:sp>
        <p:nvSpPr>
          <p:cNvPr id="32" name="Shape 14">
            <a:extLst>
              <a:ext uri="{FF2B5EF4-FFF2-40B4-BE49-F238E27FC236}">
                <a16:creationId xmlns:a16="http://schemas.microsoft.com/office/drawing/2014/main" id="{13CB6B76-23B4-4516-9C2D-BC7805D9AF7D}"/>
              </a:ext>
            </a:extLst>
          </p:cNvPr>
          <p:cNvSpPr/>
          <p:nvPr/>
        </p:nvSpPr>
        <p:spPr>
          <a:xfrm>
            <a:off x="8684231" y="1947152"/>
            <a:ext cx="1554480" cy="594360"/>
          </a:xfrm>
          <a:prstGeom prst="line">
            <a:avLst/>
          </a:prstGeom>
          <a:noFill/>
          <a:ln w="16510">
            <a:solidFill>
              <a:srgbClr val="16A6A1"/>
            </a:solidFill>
            <a:prstDash val="solid"/>
            <a:headEnd type="none"/>
            <a:tailEnd type="triangle"/>
          </a:ln>
        </p:spPr>
      </p:sp>
      <p:sp>
        <p:nvSpPr>
          <p:cNvPr id="33" name="Shape 15">
            <a:extLst>
              <a:ext uri="{FF2B5EF4-FFF2-40B4-BE49-F238E27FC236}">
                <a16:creationId xmlns:a16="http://schemas.microsoft.com/office/drawing/2014/main" id="{137D50FE-6392-4A27-AD30-A0C8B0AAD54E}"/>
              </a:ext>
            </a:extLst>
          </p:cNvPr>
          <p:cNvSpPr/>
          <p:nvPr/>
        </p:nvSpPr>
        <p:spPr>
          <a:xfrm flipV="1">
            <a:off x="8638511" y="3316529"/>
            <a:ext cx="1783080" cy="962343"/>
          </a:xfrm>
          <a:prstGeom prst="line">
            <a:avLst/>
          </a:prstGeom>
          <a:noFill/>
          <a:ln w="16510">
            <a:solidFill>
              <a:srgbClr val="16A6A1"/>
            </a:solidFill>
            <a:prstDash val="solid"/>
            <a:headEnd type="none"/>
            <a:tailEnd type="triangle"/>
          </a:ln>
        </p:spPr>
      </p:sp>
      <p:sp>
        <p:nvSpPr>
          <p:cNvPr id="35" name="TextBox 34">
            <a:extLst>
              <a:ext uri="{FF2B5EF4-FFF2-40B4-BE49-F238E27FC236}">
                <a16:creationId xmlns:a16="http://schemas.microsoft.com/office/drawing/2014/main" id="{25646F0A-9771-43E9-BBBB-EE71E1663E23}"/>
              </a:ext>
            </a:extLst>
          </p:cNvPr>
          <p:cNvSpPr txBox="1"/>
          <p:nvPr/>
        </p:nvSpPr>
        <p:spPr>
          <a:xfrm>
            <a:off x="832207" y="5396818"/>
            <a:ext cx="6102848" cy="646331"/>
          </a:xfrm>
          <a:prstGeom prst="rect">
            <a:avLst/>
          </a:prstGeom>
          <a:noFill/>
        </p:spPr>
        <p:txBody>
          <a:bodyPr wrap="square">
            <a:spAutoFit/>
          </a:bodyPr>
          <a:lstStyle/>
          <a:p>
            <a:pPr marL="0" indent="0">
              <a:buNone/>
            </a:pPr>
            <a:r>
              <a:rPr lang="en-US" sz="1800" b="1" dirty="0">
                <a:solidFill>
                  <a:srgbClr val="81570D"/>
                </a:solidFill>
              </a:rPr>
              <a:t>More expressive than a tree, but predefined navigation paths can become complex to understand and maintain.</a:t>
            </a:r>
            <a:endParaRPr lang="en-US" sz="1800" dirty="0"/>
          </a:p>
        </p:txBody>
      </p:sp>
    </p:spTree>
    <p:extLst>
      <p:ext uri="{BB962C8B-B14F-4D97-AF65-F5344CB8AC3E}">
        <p14:creationId xmlns:p14="http://schemas.microsoft.com/office/powerpoint/2010/main" val="24359117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1000"/>
                                        <p:tgtEl>
                                          <p:spTgt spid="18"/>
                                        </p:tgtEl>
                                      </p:cBhvr>
                                    </p:animEffect>
                                    <p:anim calcmode="lin" valueType="num">
                                      <p:cBhvr>
                                        <p:cTn id="8" dur="1000" fill="hold"/>
                                        <p:tgtEl>
                                          <p:spTgt spid="18"/>
                                        </p:tgtEl>
                                        <p:attrNameLst>
                                          <p:attrName>ppt_x</p:attrName>
                                        </p:attrNameLst>
                                      </p:cBhvr>
                                      <p:tavLst>
                                        <p:tav tm="0">
                                          <p:val>
                                            <p:strVal val="#ppt_x"/>
                                          </p:val>
                                        </p:tav>
                                        <p:tav tm="100000">
                                          <p:val>
                                            <p:strVal val="#ppt_x"/>
                                          </p:val>
                                        </p:tav>
                                      </p:tavLst>
                                    </p:anim>
                                    <p:anim calcmode="lin" valueType="num">
                                      <p:cBhvr>
                                        <p:cTn id="9" dur="1000" fill="hold"/>
                                        <p:tgtEl>
                                          <p:spTgt spid="18"/>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1000"/>
                                        <p:tgtEl>
                                          <p:spTgt spid="20"/>
                                        </p:tgtEl>
                                      </p:cBhvr>
                                    </p:animEffect>
                                    <p:anim calcmode="lin" valueType="num">
                                      <p:cBhvr>
                                        <p:cTn id="13" dur="1000" fill="hold"/>
                                        <p:tgtEl>
                                          <p:spTgt spid="20"/>
                                        </p:tgtEl>
                                        <p:attrNameLst>
                                          <p:attrName>ppt_x</p:attrName>
                                        </p:attrNameLst>
                                      </p:cBhvr>
                                      <p:tavLst>
                                        <p:tav tm="0">
                                          <p:val>
                                            <p:strVal val="#ppt_x"/>
                                          </p:val>
                                        </p:tav>
                                        <p:tav tm="100000">
                                          <p:val>
                                            <p:strVal val="#ppt_x"/>
                                          </p:val>
                                        </p:tav>
                                      </p:tavLst>
                                    </p:anim>
                                    <p:anim calcmode="lin" valueType="num">
                                      <p:cBhvr>
                                        <p:cTn id="14" dur="1000" fill="hold"/>
                                        <p:tgtEl>
                                          <p:spTgt spid="20"/>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fade">
                                      <p:cBhvr>
                                        <p:cTn id="17" dur="1000"/>
                                        <p:tgtEl>
                                          <p:spTgt spid="21"/>
                                        </p:tgtEl>
                                      </p:cBhvr>
                                    </p:animEffect>
                                    <p:anim calcmode="lin" valueType="num">
                                      <p:cBhvr>
                                        <p:cTn id="18" dur="1000" fill="hold"/>
                                        <p:tgtEl>
                                          <p:spTgt spid="21"/>
                                        </p:tgtEl>
                                        <p:attrNameLst>
                                          <p:attrName>ppt_x</p:attrName>
                                        </p:attrNameLst>
                                      </p:cBhvr>
                                      <p:tavLst>
                                        <p:tav tm="0">
                                          <p:val>
                                            <p:strVal val="#ppt_x"/>
                                          </p:val>
                                        </p:tav>
                                        <p:tav tm="100000">
                                          <p:val>
                                            <p:strVal val="#ppt_x"/>
                                          </p:val>
                                        </p:tav>
                                      </p:tavLst>
                                    </p:anim>
                                    <p:anim calcmode="lin" valueType="num">
                                      <p:cBhvr>
                                        <p:cTn id="19" dur="1000" fill="hold"/>
                                        <p:tgtEl>
                                          <p:spTgt spid="21"/>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1000"/>
                                        <p:tgtEl>
                                          <p:spTgt spid="23"/>
                                        </p:tgtEl>
                                      </p:cBhvr>
                                    </p:animEffect>
                                    <p:anim calcmode="lin" valueType="num">
                                      <p:cBhvr>
                                        <p:cTn id="23" dur="1000" fill="hold"/>
                                        <p:tgtEl>
                                          <p:spTgt spid="23"/>
                                        </p:tgtEl>
                                        <p:attrNameLst>
                                          <p:attrName>ppt_x</p:attrName>
                                        </p:attrNameLst>
                                      </p:cBhvr>
                                      <p:tavLst>
                                        <p:tav tm="0">
                                          <p:val>
                                            <p:strVal val="#ppt_x"/>
                                          </p:val>
                                        </p:tav>
                                        <p:tav tm="100000">
                                          <p:val>
                                            <p:strVal val="#ppt_x"/>
                                          </p:val>
                                        </p:tav>
                                      </p:tavLst>
                                    </p:anim>
                                    <p:anim calcmode="lin" valueType="num">
                                      <p:cBhvr>
                                        <p:cTn id="24" dur="1000" fill="hold"/>
                                        <p:tgtEl>
                                          <p:spTgt spid="23"/>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24"/>
                                        </p:tgtEl>
                                        <p:attrNameLst>
                                          <p:attrName>style.visibility</p:attrName>
                                        </p:attrNameLst>
                                      </p:cBhvr>
                                      <p:to>
                                        <p:strVal val="visible"/>
                                      </p:to>
                                    </p:set>
                                    <p:animEffect transition="in" filter="fade">
                                      <p:cBhvr>
                                        <p:cTn id="27" dur="1000"/>
                                        <p:tgtEl>
                                          <p:spTgt spid="24"/>
                                        </p:tgtEl>
                                      </p:cBhvr>
                                    </p:animEffect>
                                    <p:anim calcmode="lin" valueType="num">
                                      <p:cBhvr>
                                        <p:cTn id="28" dur="1000" fill="hold"/>
                                        <p:tgtEl>
                                          <p:spTgt spid="24"/>
                                        </p:tgtEl>
                                        <p:attrNameLst>
                                          <p:attrName>ppt_x</p:attrName>
                                        </p:attrNameLst>
                                      </p:cBhvr>
                                      <p:tavLst>
                                        <p:tav tm="0">
                                          <p:val>
                                            <p:strVal val="#ppt_x"/>
                                          </p:val>
                                        </p:tav>
                                        <p:tav tm="100000">
                                          <p:val>
                                            <p:strVal val="#ppt_x"/>
                                          </p:val>
                                        </p:tav>
                                      </p:tavLst>
                                    </p:anim>
                                    <p:anim calcmode="lin" valueType="num">
                                      <p:cBhvr>
                                        <p:cTn id="29" dur="1000" fill="hold"/>
                                        <p:tgtEl>
                                          <p:spTgt spid="24"/>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26"/>
                                        </p:tgtEl>
                                        <p:attrNameLst>
                                          <p:attrName>style.visibility</p:attrName>
                                        </p:attrNameLst>
                                      </p:cBhvr>
                                      <p:to>
                                        <p:strVal val="visible"/>
                                      </p:to>
                                    </p:set>
                                    <p:animEffect transition="in" filter="fade">
                                      <p:cBhvr>
                                        <p:cTn id="32" dur="1000"/>
                                        <p:tgtEl>
                                          <p:spTgt spid="26"/>
                                        </p:tgtEl>
                                      </p:cBhvr>
                                    </p:animEffect>
                                    <p:anim calcmode="lin" valueType="num">
                                      <p:cBhvr>
                                        <p:cTn id="33" dur="1000" fill="hold"/>
                                        <p:tgtEl>
                                          <p:spTgt spid="26"/>
                                        </p:tgtEl>
                                        <p:attrNameLst>
                                          <p:attrName>ppt_x</p:attrName>
                                        </p:attrNameLst>
                                      </p:cBhvr>
                                      <p:tavLst>
                                        <p:tav tm="0">
                                          <p:val>
                                            <p:strVal val="#ppt_x"/>
                                          </p:val>
                                        </p:tav>
                                        <p:tav tm="100000">
                                          <p:val>
                                            <p:strVal val="#ppt_x"/>
                                          </p:val>
                                        </p:tav>
                                      </p:tavLst>
                                    </p:anim>
                                    <p:anim calcmode="lin" valueType="num">
                                      <p:cBhvr>
                                        <p:cTn id="34" dur="1000" fill="hold"/>
                                        <p:tgtEl>
                                          <p:spTgt spid="26"/>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1000"/>
                                        <p:tgtEl>
                                          <p:spTgt spid="27"/>
                                        </p:tgtEl>
                                      </p:cBhvr>
                                    </p:animEffect>
                                    <p:anim calcmode="lin" valueType="num">
                                      <p:cBhvr>
                                        <p:cTn id="38" dur="1000" fill="hold"/>
                                        <p:tgtEl>
                                          <p:spTgt spid="27"/>
                                        </p:tgtEl>
                                        <p:attrNameLst>
                                          <p:attrName>ppt_x</p:attrName>
                                        </p:attrNameLst>
                                      </p:cBhvr>
                                      <p:tavLst>
                                        <p:tav tm="0">
                                          <p:val>
                                            <p:strVal val="#ppt_x"/>
                                          </p:val>
                                        </p:tav>
                                        <p:tav tm="100000">
                                          <p:val>
                                            <p:strVal val="#ppt_x"/>
                                          </p:val>
                                        </p:tav>
                                      </p:tavLst>
                                    </p:anim>
                                    <p:anim calcmode="lin" valueType="num">
                                      <p:cBhvr>
                                        <p:cTn id="39" dur="1000" fill="hold"/>
                                        <p:tgtEl>
                                          <p:spTgt spid="27"/>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29"/>
                                        </p:tgtEl>
                                        <p:attrNameLst>
                                          <p:attrName>style.visibility</p:attrName>
                                        </p:attrNameLst>
                                      </p:cBhvr>
                                      <p:to>
                                        <p:strVal val="visible"/>
                                      </p:to>
                                    </p:set>
                                    <p:animEffect transition="in" filter="fade">
                                      <p:cBhvr>
                                        <p:cTn id="42" dur="1000"/>
                                        <p:tgtEl>
                                          <p:spTgt spid="29"/>
                                        </p:tgtEl>
                                      </p:cBhvr>
                                    </p:animEffect>
                                    <p:anim calcmode="lin" valueType="num">
                                      <p:cBhvr>
                                        <p:cTn id="43" dur="1000" fill="hold"/>
                                        <p:tgtEl>
                                          <p:spTgt spid="29"/>
                                        </p:tgtEl>
                                        <p:attrNameLst>
                                          <p:attrName>ppt_x</p:attrName>
                                        </p:attrNameLst>
                                      </p:cBhvr>
                                      <p:tavLst>
                                        <p:tav tm="0">
                                          <p:val>
                                            <p:strVal val="#ppt_x"/>
                                          </p:val>
                                        </p:tav>
                                        <p:tav tm="100000">
                                          <p:val>
                                            <p:strVal val="#ppt_x"/>
                                          </p:val>
                                        </p:tav>
                                      </p:tavLst>
                                    </p:anim>
                                    <p:anim calcmode="lin" valueType="num">
                                      <p:cBhvr>
                                        <p:cTn id="44" dur="1000" fill="hold"/>
                                        <p:tgtEl>
                                          <p:spTgt spid="29"/>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0"/>
                                  </p:stCondLst>
                                  <p:childTnLst>
                                    <p:set>
                                      <p:cBhvr>
                                        <p:cTn id="46" dur="1" fill="hold">
                                          <p:stCondLst>
                                            <p:cond delay="0"/>
                                          </p:stCondLst>
                                        </p:cTn>
                                        <p:tgtEl>
                                          <p:spTgt spid="30"/>
                                        </p:tgtEl>
                                        <p:attrNameLst>
                                          <p:attrName>style.visibility</p:attrName>
                                        </p:attrNameLst>
                                      </p:cBhvr>
                                      <p:to>
                                        <p:strVal val="visible"/>
                                      </p:to>
                                    </p:set>
                                    <p:animEffect transition="in" filter="fade">
                                      <p:cBhvr>
                                        <p:cTn id="47" dur="1000"/>
                                        <p:tgtEl>
                                          <p:spTgt spid="30"/>
                                        </p:tgtEl>
                                      </p:cBhvr>
                                    </p:animEffect>
                                    <p:anim calcmode="lin" valueType="num">
                                      <p:cBhvr>
                                        <p:cTn id="48" dur="1000" fill="hold"/>
                                        <p:tgtEl>
                                          <p:spTgt spid="30"/>
                                        </p:tgtEl>
                                        <p:attrNameLst>
                                          <p:attrName>ppt_x</p:attrName>
                                        </p:attrNameLst>
                                      </p:cBhvr>
                                      <p:tavLst>
                                        <p:tav tm="0">
                                          <p:val>
                                            <p:strVal val="#ppt_x"/>
                                          </p:val>
                                        </p:tav>
                                        <p:tav tm="100000">
                                          <p:val>
                                            <p:strVal val="#ppt_x"/>
                                          </p:val>
                                        </p:tav>
                                      </p:tavLst>
                                    </p:anim>
                                    <p:anim calcmode="lin" valueType="num">
                                      <p:cBhvr>
                                        <p:cTn id="49" dur="1000" fill="hold"/>
                                        <p:tgtEl>
                                          <p:spTgt spid="30"/>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0"/>
                                  </p:stCondLst>
                                  <p:childTnLst>
                                    <p:set>
                                      <p:cBhvr>
                                        <p:cTn id="51" dur="1" fill="hold">
                                          <p:stCondLst>
                                            <p:cond delay="0"/>
                                          </p:stCondLst>
                                        </p:cTn>
                                        <p:tgtEl>
                                          <p:spTgt spid="31"/>
                                        </p:tgtEl>
                                        <p:attrNameLst>
                                          <p:attrName>style.visibility</p:attrName>
                                        </p:attrNameLst>
                                      </p:cBhvr>
                                      <p:to>
                                        <p:strVal val="visible"/>
                                      </p:to>
                                    </p:set>
                                    <p:animEffect transition="in" filter="fade">
                                      <p:cBhvr>
                                        <p:cTn id="52" dur="1000"/>
                                        <p:tgtEl>
                                          <p:spTgt spid="31"/>
                                        </p:tgtEl>
                                      </p:cBhvr>
                                    </p:animEffect>
                                    <p:anim calcmode="lin" valueType="num">
                                      <p:cBhvr>
                                        <p:cTn id="53" dur="1000" fill="hold"/>
                                        <p:tgtEl>
                                          <p:spTgt spid="31"/>
                                        </p:tgtEl>
                                        <p:attrNameLst>
                                          <p:attrName>ppt_x</p:attrName>
                                        </p:attrNameLst>
                                      </p:cBhvr>
                                      <p:tavLst>
                                        <p:tav tm="0">
                                          <p:val>
                                            <p:strVal val="#ppt_x"/>
                                          </p:val>
                                        </p:tav>
                                        <p:tav tm="100000">
                                          <p:val>
                                            <p:strVal val="#ppt_x"/>
                                          </p:val>
                                        </p:tav>
                                      </p:tavLst>
                                    </p:anim>
                                    <p:anim calcmode="lin" valueType="num">
                                      <p:cBhvr>
                                        <p:cTn id="54" dur="1000" fill="hold"/>
                                        <p:tgtEl>
                                          <p:spTgt spid="31"/>
                                        </p:tgtEl>
                                        <p:attrNameLst>
                                          <p:attrName>ppt_y</p:attrName>
                                        </p:attrNameLst>
                                      </p:cBhvr>
                                      <p:tavLst>
                                        <p:tav tm="0">
                                          <p:val>
                                            <p:strVal val="#ppt_y+.1"/>
                                          </p:val>
                                        </p:tav>
                                        <p:tav tm="100000">
                                          <p:val>
                                            <p:strVal val="#ppt_y"/>
                                          </p:val>
                                        </p:tav>
                                      </p:tavLst>
                                    </p:anim>
                                  </p:childTnLst>
                                </p:cTn>
                              </p:par>
                              <p:par>
                                <p:cTn id="55" presetID="42" presetClass="entr" presetSubtype="0" fill="hold" nodeType="withEffect">
                                  <p:stCondLst>
                                    <p:cond delay="0"/>
                                  </p:stCondLst>
                                  <p:childTnLst>
                                    <p:set>
                                      <p:cBhvr>
                                        <p:cTn id="56" dur="1" fill="hold">
                                          <p:stCondLst>
                                            <p:cond delay="0"/>
                                          </p:stCondLst>
                                        </p:cTn>
                                        <p:tgtEl>
                                          <p:spTgt spid="32"/>
                                        </p:tgtEl>
                                        <p:attrNameLst>
                                          <p:attrName>style.visibility</p:attrName>
                                        </p:attrNameLst>
                                      </p:cBhvr>
                                      <p:to>
                                        <p:strVal val="visible"/>
                                      </p:to>
                                    </p:set>
                                    <p:animEffect transition="in" filter="fade">
                                      <p:cBhvr>
                                        <p:cTn id="57" dur="1000"/>
                                        <p:tgtEl>
                                          <p:spTgt spid="32"/>
                                        </p:tgtEl>
                                      </p:cBhvr>
                                    </p:animEffect>
                                    <p:anim calcmode="lin" valueType="num">
                                      <p:cBhvr>
                                        <p:cTn id="58" dur="1000" fill="hold"/>
                                        <p:tgtEl>
                                          <p:spTgt spid="32"/>
                                        </p:tgtEl>
                                        <p:attrNameLst>
                                          <p:attrName>ppt_x</p:attrName>
                                        </p:attrNameLst>
                                      </p:cBhvr>
                                      <p:tavLst>
                                        <p:tav tm="0">
                                          <p:val>
                                            <p:strVal val="#ppt_x"/>
                                          </p:val>
                                        </p:tav>
                                        <p:tav tm="100000">
                                          <p:val>
                                            <p:strVal val="#ppt_x"/>
                                          </p:val>
                                        </p:tav>
                                      </p:tavLst>
                                    </p:anim>
                                    <p:anim calcmode="lin" valueType="num">
                                      <p:cBhvr>
                                        <p:cTn id="59" dur="1000" fill="hold"/>
                                        <p:tgtEl>
                                          <p:spTgt spid="32"/>
                                        </p:tgtEl>
                                        <p:attrNameLst>
                                          <p:attrName>ppt_y</p:attrName>
                                        </p:attrNameLst>
                                      </p:cBhvr>
                                      <p:tavLst>
                                        <p:tav tm="0">
                                          <p:val>
                                            <p:strVal val="#ppt_y+.1"/>
                                          </p:val>
                                        </p:tav>
                                        <p:tav tm="100000">
                                          <p:val>
                                            <p:strVal val="#ppt_y"/>
                                          </p:val>
                                        </p:tav>
                                      </p:tavLst>
                                    </p:anim>
                                  </p:childTnLst>
                                </p:cTn>
                              </p:par>
                              <p:par>
                                <p:cTn id="60" presetID="42" presetClass="entr" presetSubtype="0" fill="hold" nodeType="withEffect">
                                  <p:stCondLst>
                                    <p:cond delay="0"/>
                                  </p:stCondLst>
                                  <p:childTnLst>
                                    <p:set>
                                      <p:cBhvr>
                                        <p:cTn id="61" dur="1" fill="hold">
                                          <p:stCondLst>
                                            <p:cond delay="0"/>
                                          </p:stCondLst>
                                        </p:cTn>
                                        <p:tgtEl>
                                          <p:spTgt spid="33"/>
                                        </p:tgtEl>
                                        <p:attrNameLst>
                                          <p:attrName>style.visibility</p:attrName>
                                        </p:attrNameLst>
                                      </p:cBhvr>
                                      <p:to>
                                        <p:strVal val="visible"/>
                                      </p:to>
                                    </p:set>
                                    <p:animEffect transition="in" filter="fade">
                                      <p:cBhvr>
                                        <p:cTn id="62" dur="1000"/>
                                        <p:tgtEl>
                                          <p:spTgt spid="33"/>
                                        </p:tgtEl>
                                      </p:cBhvr>
                                    </p:animEffect>
                                    <p:anim calcmode="lin" valueType="num">
                                      <p:cBhvr>
                                        <p:cTn id="63" dur="1000" fill="hold"/>
                                        <p:tgtEl>
                                          <p:spTgt spid="33"/>
                                        </p:tgtEl>
                                        <p:attrNameLst>
                                          <p:attrName>ppt_x</p:attrName>
                                        </p:attrNameLst>
                                      </p:cBhvr>
                                      <p:tavLst>
                                        <p:tav tm="0">
                                          <p:val>
                                            <p:strVal val="#ppt_x"/>
                                          </p:val>
                                        </p:tav>
                                        <p:tav tm="100000">
                                          <p:val>
                                            <p:strVal val="#ppt_x"/>
                                          </p:val>
                                        </p:tav>
                                      </p:tavLst>
                                    </p:anim>
                                    <p:anim calcmode="lin" valueType="num">
                                      <p:cBhvr>
                                        <p:cTn id="64" dur="1000" fill="hold"/>
                                        <p:tgtEl>
                                          <p:spTgt spid="33"/>
                                        </p:tgtEl>
                                        <p:attrNameLst>
                                          <p:attrName>ppt_y</p:attrName>
                                        </p:attrNameLst>
                                      </p:cBhvr>
                                      <p:tavLst>
                                        <p:tav tm="0">
                                          <p:val>
                                            <p:strVal val="#ppt_y+.1"/>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42" presetClass="entr" presetSubtype="0" fill="hold" grpId="0" nodeType="clickEffect">
                                  <p:stCondLst>
                                    <p:cond delay="0"/>
                                  </p:stCondLst>
                                  <p:childTnLst>
                                    <p:set>
                                      <p:cBhvr>
                                        <p:cTn id="68" dur="1" fill="hold">
                                          <p:stCondLst>
                                            <p:cond delay="0"/>
                                          </p:stCondLst>
                                        </p:cTn>
                                        <p:tgtEl>
                                          <p:spTgt spid="35"/>
                                        </p:tgtEl>
                                        <p:attrNameLst>
                                          <p:attrName>style.visibility</p:attrName>
                                        </p:attrNameLst>
                                      </p:cBhvr>
                                      <p:to>
                                        <p:strVal val="visible"/>
                                      </p:to>
                                    </p:set>
                                    <p:animEffect transition="in" filter="fade">
                                      <p:cBhvr>
                                        <p:cTn id="69" dur="1000"/>
                                        <p:tgtEl>
                                          <p:spTgt spid="35"/>
                                        </p:tgtEl>
                                      </p:cBhvr>
                                    </p:animEffect>
                                    <p:anim calcmode="lin" valueType="num">
                                      <p:cBhvr>
                                        <p:cTn id="70" dur="1000" fill="hold"/>
                                        <p:tgtEl>
                                          <p:spTgt spid="35"/>
                                        </p:tgtEl>
                                        <p:attrNameLst>
                                          <p:attrName>ppt_x</p:attrName>
                                        </p:attrNameLst>
                                      </p:cBhvr>
                                      <p:tavLst>
                                        <p:tav tm="0">
                                          <p:val>
                                            <p:strVal val="#ppt_x"/>
                                          </p:val>
                                        </p:tav>
                                        <p:tav tm="100000">
                                          <p:val>
                                            <p:strVal val="#ppt_x"/>
                                          </p:val>
                                        </p:tav>
                                      </p:tavLst>
                                    </p:anim>
                                    <p:anim calcmode="lin" valueType="num">
                                      <p:cBhvr>
                                        <p:cTn id="71" dur="1000" fill="hold"/>
                                        <p:tgtEl>
                                          <p:spTgt spid="3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3" grpId="0" animBg="1"/>
      <p:bldP spid="26" grpId="0" animBg="1"/>
      <p:bldP spid="29" grpId="0" animBg="1"/>
      <p:bldP spid="3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3B568B-669D-4AC1-B8C3-CD4001515A3A}"/>
              </a:ext>
            </a:extLst>
          </p:cNvPr>
          <p:cNvSpPr>
            <a:spLocks noGrp="1"/>
          </p:cNvSpPr>
          <p:nvPr>
            <p:ph type="title"/>
          </p:nvPr>
        </p:nvSpPr>
        <p:spPr/>
        <p:txBody>
          <a:bodyPr/>
          <a:lstStyle/>
          <a:p>
            <a:r>
              <a:rPr lang="en-GB" b="1" dirty="0"/>
              <a:t>Relational Model</a:t>
            </a:r>
            <a:endParaRPr lang="en-PK" dirty="0"/>
          </a:p>
        </p:txBody>
      </p:sp>
      <p:sp>
        <p:nvSpPr>
          <p:cNvPr id="3" name="Content Placeholder 2">
            <a:extLst>
              <a:ext uri="{FF2B5EF4-FFF2-40B4-BE49-F238E27FC236}">
                <a16:creationId xmlns:a16="http://schemas.microsoft.com/office/drawing/2014/main" id="{1DA577EA-A0D0-48FD-A24B-0051CA0D6339}"/>
              </a:ext>
            </a:extLst>
          </p:cNvPr>
          <p:cNvSpPr>
            <a:spLocks noGrp="1"/>
          </p:cNvSpPr>
          <p:nvPr>
            <p:ph idx="1"/>
          </p:nvPr>
        </p:nvSpPr>
        <p:spPr/>
        <p:txBody>
          <a:bodyPr/>
          <a:lstStyle/>
          <a:p>
            <a:r>
              <a:rPr lang="en-GB" dirty="0"/>
              <a:t>Organizes data into tables called </a:t>
            </a:r>
            <a:r>
              <a:rPr lang="en-GB" b="1" dirty="0"/>
              <a:t>relations</a:t>
            </a:r>
            <a:r>
              <a:rPr lang="en-GB" dirty="0"/>
              <a:t>.</a:t>
            </a:r>
          </a:p>
          <a:p>
            <a:pPr>
              <a:buFont typeface="Arial" panose="020B0604020202020204" pitchFamily="34" charset="0"/>
              <a:buChar char="•"/>
            </a:pPr>
            <a:r>
              <a:rPr lang="en-GB" dirty="0"/>
              <a:t>Rows represent individual records. </a:t>
            </a:r>
          </a:p>
          <a:p>
            <a:pPr>
              <a:buFont typeface="Arial" panose="020B0604020202020204" pitchFamily="34" charset="0"/>
              <a:buChar char="•"/>
            </a:pPr>
            <a:r>
              <a:rPr lang="en-GB" dirty="0"/>
              <a:t>Columns represent attributes. </a:t>
            </a:r>
          </a:p>
          <a:p>
            <a:pPr>
              <a:buFont typeface="Arial" panose="020B0604020202020204" pitchFamily="34" charset="0"/>
              <a:buChar char="•"/>
            </a:pPr>
            <a:r>
              <a:rPr lang="en-GB" dirty="0"/>
              <a:t>Primary keys identify records. </a:t>
            </a:r>
          </a:p>
          <a:p>
            <a:pPr>
              <a:buFont typeface="Arial" panose="020B0604020202020204" pitchFamily="34" charset="0"/>
              <a:buChar char="•"/>
            </a:pPr>
            <a:r>
              <a:rPr lang="en-GB" dirty="0"/>
              <a:t>Foreign keys connect related tables. </a:t>
            </a:r>
          </a:p>
          <a:p>
            <a:pPr>
              <a:buFont typeface="Arial" panose="020B0604020202020204" pitchFamily="34" charset="0"/>
              <a:buChar char="•"/>
            </a:pPr>
            <a:r>
              <a:rPr lang="en-GB" dirty="0"/>
              <a:t>SQL is commonly used to query the data.</a:t>
            </a:r>
          </a:p>
          <a:p>
            <a:pPr marL="0" indent="0">
              <a:buNone/>
            </a:pPr>
            <a:endParaRPr lang="en-GB" dirty="0"/>
          </a:p>
          <a:p>
            <a:endParaRPr lang="en-PK" dirty="0"/>
          </a:p>
        </p:txBody>
      </p:sp>
    </p:spTree>
    <p:extLst>
      <p:ext uri="{BB962C8B-B14F-4D97-AF65-F5344CB8AC3E}">
        <p14:creationId xmlns:p14="http://schemas.microsoft.com/office/powerpoint/2010/main" val="30191071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CA46F8-2E24-4873-9980-029C403EA47E}"/>
              </a:ext>
            </a:extLst>
          </p:cNvPr>
          <p:cNvSpPr>
            <a:spLocks noGrp="1"/>
          </p:cNvSpPr>
          <p:nvPr>
            <p:ph type="title"/>
          </p:nvPr>
        </p:nvSpPr>
        <p:spPr/>
        <p:txBody>
          <a:bodyPr/>
          <a:lstStyle/>
          <a:p>
            <a:r>
              <a:rPr lang="en-GB" dirty="0"/>
              <a:t>Relational Model</a:t>
            </a:r>
            <a:endParaRPr lang="en-PK" dirty="0"/>
          </a:p>
        </p:txBody>
      </p:sp>
      <p:sp>
        <p:nvSpPr>
          <p:cNvPr id="4" name="Shape 4">
            <a:extLst>
              <a:ext uri="{FF2B5EF4-FFF2-40B4-BE49-F238E27FC236}">
                <a16:creationId xmlns:a16="http://schemas.microsoft.com/office/drawing/2014/main" id="{54A03597-06BC-455E-862A-F021E70A517C}"/>
              </a:ext>
            </a:extLst>
          </p:cNvPr>
          <p:cNvSpPr/>
          <p:nvPr/>
        </p:nvSpPr>
        <p:spPr>
          <a:xfrm>
            <a:off x="850186" y="2075841"/>
            <a:ext cx="1463040" cy="411480"/>
          </a:xfrm>
          <a:prstGeom prst="rect">
            <a:avLst/>
          </a:prstGeom>
          <a:solidFill>
            <a:srgbClr val="0F7F7A"/>
          </a:solidFill>
          <a:ln w="8890">
            <a:solidFill>
              <a:srgbClr val="D8E0EB"/>
            </a:solidFill>
            <a:prstDash val="solid"/>
          </a:ln>
        </p:spPr>
      </p:sp>
      <p:sp>
        <p:nvSpPr>
          <p:cNvPr id="5" name="Text 5">
            <a:extLst>
              <a:ext uri="{FF2B5EF4-FFF2-40B4-BE49-F238E27FC236}">
                <a16:creationId xmlns:a16="http://schemas.microsoft.com/office/drawing/2014/main" id="{654A4FE0-942C-4972-B79D-3BE99125D298}"/>
              </a:ext>
            </a:extLst>
          </p:cNvPr>
          <p:cNvSpPr/>
          <p:nvPr/>
        </p:nvSpPr>
        <p:spPr>
          <a:xfrm>
            <a:off x="895906" y="2176425"/>
            <a:ext cx="1371600" cy="283464"/>
          </a:xfrm>
          <a:prstGeom prst="rect">
            <a:avLst/>
          </a:prstGeom>
          <a:noFill/>
          <a:ln/>
        </p:spPr>
        <p:txBody>
          <a:bodyPr wrap="square" lIns="0" tIns="0" rIns="0" bIns="0" rtlCol="0" anchor="ctr"/>
          <a:lstStyle/>
          <a:p>
            <a:pPr marL="0" indent="0" algn="ctr">
              <a:buNone/>
            </a:pPr>
            <a:r>
              <a:rPr lang="en-US" sz="1200" b="1" dirty="0">
                <a:solidFill>
                  <a:srgbClr val="FFFFFF"/>
                </a:solidFill>
              </a:rPr>
              <a:t>StudentID</a:t>
            </a:r>
            <a:endParaRPr lang="en-US" sz="1200" dirty="0"/>
          </a:p>
        </p:txBody>
      </p:sp>
      <p:sp>
        <p:nvSpPr>
          <p:cNvPr id="6" name="Shape 6">
            <a:extLst>
              <a:ext uri="{FF2B5EF4-FFF2-40B4-BE49-F238E27FC236}">
                <a16:creationId xmlns:a16="http://schemas.microsoft.com/office/drawing/2014/main" id="{EB8338AF-B08E-41EB-BA2F-09250691CA84}"/>
              </a:ext>
            </a:extLst>
          </p:cNvPr>
          <p:cNvSpPr/>
          <p:nvPr/>
        </p:nvSpPr>
        <p:spPr>
          <a:xfrm>
            <a:off x="2313226" y="2075841"/>
            <a:ext cx="1463040" cy="411480"/>
          </a:xfrm>
          <a:prstGeom prst="rect">
            <a:avLst/>
          </a:prstGeom>
          <a:solidFill>
            <a:srgbClr val="0F7F7A"/>
          </a:solidFill>
          <a:ln w="8890">
            <a:solidFill>
              <a:srgbClr val="D8E0EB"/>
            </a:solidFill>
            <a:prstDash val="solid"/>
          </a:ln>
        </p:spPr>
      </p:sp>
      <p:sp>
        <p:nvSpPr>
          <p:cNvPr id="7" name="Text 7">
            <a:extLst>
              <a:ext uri="{FF2B5EF4-FFF2-40B4-BE49-F238E27FC236}">
                <a16:creationId xmlns:a16="http://schemas.microsoft.com/office/drawing/2014/main" id="{61C5435A-A53D-43ED-9DCF-E37B51BC0C15}"/>
              </a:ext>
            </a:extLst>
          </p:cNvPr>
          <p:cNvSpPr/>
          <p:nvPr/>
        </p:nvSpPr>
        <p:spPr>
          <a:xfrm>
            <a:off x="2358946" y="2176425"/>
            <a:ext cx="1371600" cy="283464"/>
          </a:xfrm>
          <a:prstGeom prst="rect">
            <a:avLst/>
          </a:prstGeom>
          <a:noFill/>
          <a:ln/>
        </p:spPr>
        <p:txBody>
          <a:bodyPr wrap="square" lIns="0" tIns="0" rIns="0" bIns="0" rtlCol="0" anchor="ctr"/>
          <a:lstStyle/>
          <a:p>
            <a:pPr marL="0" indent="0" algn="ctr">
              <a:buNone/>
            </a:pPr>
            <a:r>
              <a:rPr lang="en-US" sz="1200" b="1" dirty="0">
                <a:solidFill>
                  <a:srgbClr val="FFFFFF"/>
                </a:solidFill>
              </a:rPr>
              <a:t>Name</a:t>
            </a:r>
            <a:endParaRPr lang="en-US" sz="1200" dirty="0"/>
          </a:p>
        </p:txBody>
      </p:sp>
      <p:sp>
        <p:nvSpPr>
          <p:cNvPr id="8" name="Shape 8">
            <a:extLst>
              <a:ext uri="{FF2B5EF4-FFF2-40B4-BE49-F238E27FC236}">
                <a16:creationId xmlns:a16="http://schemas.microsoft.com/office/drawing/2014/main" id="{E14BC999-FE8A-42D4-A238-D2BCB04A86D4}"/>
              </a:ext>
            </a:extLst>
          </p:cNvPr>
          <p:cNvSpPr/>
          <p:nvPr/>
        </p:nvSpPr>
        <p:spPr>
          <a:xfrm>
            <a:off x="850186" y="2487321"/>
            <a:ext cx="1463040" cy="411480"/>
          </a:xfrm>
          <a:prstGeom prst="rect">
            <a:avLst/>
          </a:prstGeom>
          <a:solidFill>
            <a:srgbClr val="FFFFFF"/>
          </a:solidFill>
          <a:ln w="8890">
            <a:solidFill>
              <a:srgbClr val="D8E0EB"/>
            </a:solidFill>
            <a:prstDash val="solid"/>
          </a:ln>
        </p:spPr>
      </p:sp>
      <p:sp>
        <p:nvSpPr>
          <p:cNvPr id="9" name="Text 9">
            <a:extLst>
              <a:ext uri="{FF2B5EF4-FFF2-40B4-BE49-F238E27FC236}">
                <a16:creationId xmlns:a16="http://schemas.microsoft.com/office/drawing/2014/main" id="{08BDAEBF-1509-4C8E-8EC4-A2F538781CAB}"/>
              </a:ext>
            </a:extLst>
          </p:cNvPr>
          <p:cNvSpPr/>
          <p:nvPr/>
        </p:nvSpPr>
        <p:spPr>
          <a:xfrm>
            <a:off x="895906" y="2587905"/>
            <a:ext cx="1371600" cy="283464"/>
          </a:xfrm>
          <a:prstGeom prst="rect">
            <a:avLst/>
          </a:prstGeom>
          <a:noFill/>
          <a:ln/>
        </p:spPr>
        <p:txBody>
          <a:bodyPr wrap="square" lIns="0" tIns="0" rIns="0" bIns="0" rtlCol="0" anchor="ctr"/>
          <a:lstStyle/>
          <a:p>
            <a:pPr marL="0" indent="0" algn="ctr">
              <a:buNone/>
            </a:pPr>
            <a:r>
              <a:rPr lang="en-US" sz="1050" dirty="0">
                <a:solidFill>
                  <a:srgbClr val="172033"/>
                </a:solidFill>
              </a:rPr>
              <a:t>1</a:t>
            </a:r>
            <a:endParaRPr lang="en-US" sz="1050" dirty="0"/>
          </a:p>
        </p:txBody>
      </p:sp>
      <p:sp>
        <p:nvSpPr>
          <p:cNvPr id="10" name="Shape 10">
            <a:extLst>
              <a:ext uri="{FF2B5EF4-FFF2-40B4-BE49-F238E27FC236}">
                <a16:creationId xmlns:a16="http://schemas.microsoft.com/office/drawing/2014/main" id="{A8522819-DD51-47F2-98A3-D0BF2C0B1A16}"/>
              </a:ext>
            </a:extLst>
          </p:cNvPr>
          <p:cNvSpPr/>
          <p:nvPr/>
        </p:nvSpPr>
        <p:spPr>
          <a:xfrm>
            <a:off x="2313226" y="2487321"/>
            <a:ext cx="1463040" cy="411480"/>
          </a:xfrm>
          <a:prstGeom prst="rect">
            <a:avLst/>
          </a:prstGeom>
          <a:solidFill>
            <a:srgbClr val="FFFFFF"/>
          </a:solidFill>
          <a:ln w="8890">
            <a:solidFill>
              <a:srgbClr val="D8E0EB"/>
            </a:solidFill>
            <a:prstDash val="solid"/>
          </a:ln>
        </p:spPr>
      </p:sp>
      <p:sp>
        <p:nvSpPr>
          <p:cNvPr id="11" name="Text 11">
            <a:extLst>
              <a:ext uri="{FF2B5EF4-FFF2-40B4-BE49-F238E27FC236}">
                <a16:creationId xmlns:a16="http://schemas.microsoft.com/office/drawing/2014/main" id="{E3DB7B29-4933-4F63-9145-324961035E84}"/>
              </a:ext>
            </a:extLst>
          </p:cNvPr>
          <p:cNvSpPr/>
          <p:nvPr/>
        </p:nvSpPr>
        <p:spPr>
          <a:xfrm>
            <a:off x="2358946" y="2587905"/>
            <a:ext cx="1371600" cy="283464"/>
          </a:xfrm>
          <a:prstGeom prst="rect">
            <a:avLst/>
          </a:prstGeom>
          <a:noFill/>
          <a:ln/>
        </p:spPr>
        <p:txBody>
          <a:bodyPr wrap="square" lIns="0" tIns="0" rIns="0" bIns="0" rtlCol="0" anchor="ctr"/>
          <a:lstStyle/>
          <a:p>
            <a:pPr marL="0" indent="0" algn="ctr">
              <a:buNone/>
            </a:pPr>
            <a:r>
              <a:rPr lang="en-US" sz="1050" dirty="0">
                <a:solidFill>
                  <a:srgbClr val="172033"/>
                </a:solidFill>
              </a:rPr>
              <a:t>Ayesha</a:t>
            </a:r>
            <a:endParaRPr lang="en-US" sz="1050" dirty="0"/>
          </a:p>
        </p:txBody>
      </p:sp>
      <p:sp>
        <p:nvSpPr>
          <p:cNvPr id="12" name="Shape 12">
            <a:extLst>
              <a:ext uri="{FF2B5EF4-FFF2-40B4-BE49-F238E27FC236}">
                <a16:creationId xmlns:a16="http://schemas.microsoft.com/office/drawing/2014/main" id="{7B791A99-74DA-4E85-A431-B1420858CF7F}"/>
              </a:ext>
            </a:extLst>
          </p:cNvPr>
          <p:cNvSpPr/>
          <p:nvPr/>
        </p:nvSpPr>
        <p:spPr>
          <a:xfrm>
            <a:off x="850186" y="2898801"/>
            <a:ext cx="1463040" cy="411480"/>
          </a:xfrm>
          <a:prstGeom prst="rect">
            <a:avLst/>
          </a:prstGeom>
          <a:solidFill>
            <a:srgbClr val="FFFFFF"/>
          </a:solidFill>
          <a:ln w="8890">
            <a:solidFill>
              <a:srgbClr val="D8E0EB"/>
            </a:solidFill>
            <a:prstDash val="solid"/>
          </a:ln>
        </p:spPr>
      </p:sp>
      <p:sp>
        <p:nvSpPr>
          <p:cNvPr id="13" name="Text 13">
            <a:extLst>
              <a:ext uri="{FF2B5EF4-FFF2-40B4-BE49-F238E27FC236}">
                <a16:creationId xmlns:a16="http://schemas.microsoft.com/office/drawing/2014/main" id="{F0BD2DEC-8B1A-45FC-8865-E6A75D8ED242}"/>
              </a:ext>
            </a:extLst>
          </p:cNvPr>
          <p:cNvSpPr/>
          <p:nvPr/>
        </p:nvSpPr>
        <p:spPr>
          <a:xfrm>
            <a:off x="895906" y="2999385"/>
            <a:ext cx="1371600" cy="283464"/>
          </a:xfrm>
          <a:prstGeom prst="rect">
            <a:avLst/>
          </a:prstGeom>
          <a:noFill/>
          <a:ln/>
        </p:spPr>
        <p:txBody>
          <a:bodyPr wrap="square" lIns="0" tIns="0" rIns="0" bIns="0" rtlCol="0" anchor="ctr"/>
          <a:lstStyle/>
          <a:p>
            <a:pPr marL="0" indent="0" algn="ctr">
              <a:buNone/>
            </a:pPr>
            <a:r>
              <a:rPr lang="en-US" sz="1050" dirty="0">
                <a:solidFill>
                  <a:srgbClr val="172033"/>
                </a:solidFill>
              </a:rPr>
              <a:t>2</a:t>
            </a:r>
            <a:endParaRPr lang="en-US" sz="1050" dirty="0"/>
          </a:p>
        </p:txBody>
      </p:sp>
      <p:sp>
        <p:nvSpPr>
          <p:cNvPr id="14" name="Shape 14">
            <a:extLst>
              <a:ext uri="{FF2B5EF4-FFF2-40B4-BE49-F238E27FC236}">
                <a16:creationId xmlns:a16="http://schemas.microsoft.com/office/drawing/2014/main" id="{B02F53EF-3C04-44BF-9988-9577C129FC35}"/>
              </a:ext>
            </a:extLst>
          </p:cNvPr>
          <p:cNvSpPr/>
          <p:nvPr/>
        </p:nvSpPr>
        <p:spPr>
          <a:xfrm>
            <a:off x="2313226" y="2898801"/>
            <a:ext cx="1463040" cy="411480"/>
          </a:xfrm>
          <a:prstGeom prst="rect">
            <a:avLst/>
          </a:prstGeom>
          <a:solidFill>
            <a:srgbClr val="FFFFFF"/>
          </a:solidFill>
          <a:ln w="8890">
            <a:solidFill>
              <a:srgbClr val="D8E0EB"/>
            </a:solidFill>
            <a:prstDash val="solid"/>
          </a:ln>
        </p:spPr>
      </p:sp>
      <p:sp>
        <p:nvSpPr>
          <p:cNvPr id="15" name="Text 15">
            <a:extLst>
              <a:ext uri="{FF2B5EF4-FFF2-40B4-BE49-F238E27FC236}">
                <a16:creationId xmlns:a16="http://schemas.microsoft.com/office/drawing/2014/main" id="{EA19CCE6-3189-43AB-BFDD-25ECF9AC9CAE}"/>
              </a:ext>
            </a:extLst>
          </p:cNvPr>
          <p:cNvSpPr/>
          <p:nvPr/>
        </p:nvSpPr>
        <p:spPr>
          <a:xfrm>
            <a:off x="2358946" y="2999385"/>
            <a:ext cx="1371600" cy="283464"/>
          </a:xfrm>
          <a:prstGeom prst="rect">
            <a:avLst/>
          </a:prstGeom>
          <a:noFill/>
          <a:ln/>
        </p:spPr>
        <p:txBody>
          <a:bodyPr wrap="square" lIns="0" tIns="0" rIns="0" bIns="0" rtlCol="0" anchor="ctr"/>
          <a:lstStyle/>
          <a:p>
            <a:pPr marL="0" indent="0" algn="ctr">
              <a:buNone/>
            </a:pPr>
            <a:r>
              <a:rPr lang="en-US" sz="1050" dirty="0">
                <a:solidFill>
                  <a:srgbClr val="172033"/>
                </a:solidFill>
              </a:rPr>
              <a:t>Bilal</a:t>
            </a:r>
            <a:endParaRPr lang="en-US" sz="1050" dirty="0"/>
          </a:p>
        </p:txBody>
      </p:sp>
      <p:sp>
        <p:nvSpPr>
          <p:cNvPr id="16" name="Shape 16">
            <a:extLst>
              <a:ext uri="{FF2B5EF4-FFF2-40B4-BE49-F238E27FC236}">
                <a16:creationId xmlns:a16="http://schemas.microsoft.com/office/drawing/2014/main" id="{05FC3226-904E-4E41-9DFF-13EF6C3967A8}"/>
              </a:ext>
            </a:extLst>
          </p:cNvPr>
          <p:cNvSpPr/>
          <p:nvPr/>
        </p:nvSpPr>
        <p:spPr>
          <a:xfrm>
            <a:off x="850186" y="3310281"/>
            <a:ext cx="1463040" cy="411480"/>
          </a:xfrm>
          <a:prstGeom prst="rect">
            <a:avLst/>
          </a:prstGeom>
          <a:solidFill>
            <a:srgbClr val="FFFFFF"/>
          </a:solidFill>
          <a:ln w="8890">
            <a:solidFill>
              <a:srgbClr val="D8E0EB"/>
            </a:solidFill>
            <a:prstDash val="solid"/>
          </a:ln>
        </p:spPr>
      </p:sp>
      <p:sp>
        <p:nvSpPr>
          <p:cNvPr id="17" name="Text 17">
            <a:extLst>
              <a:ext uri="{FF2B5EF4-FFF2-40B4-BE49-F238E27FC236}">
                <a16:creationId xmlns:a16="http://schemas.microsoft.com/office/drawing/2014/main" id="{68665C58-DC20-496E-B555-6FA987116CC4}"/>
              </a:ext>
            </a:extLst>
          </p:cNvPr>
          <p:cNvSpPr/>
          <p:nvPr/>
        </p:nvSpPr>
        <p:spPr>
          <a:xfrm>
            <a:off x="895906" y="3410865"/>
            <a:ext cx="1371600" cy="283464"/>
          </a:xfrm>
          <a:prstGeom prst="rect">
            <a:avLst/>
          </a:prstGeom>
          <a:noFill/>
          <a:ln/>
        </p:spPr>
        <p:txBody>
          <a:bodyPr wrap="square" lIns="0" tIns="0" rIns="0" bIns="0" rtlCol="0" anchor="ctr"/>
          <a:lstStyle/>
          <a:p>
            <a:pPr marL="0" indent="0" algn="ctr">
              <a:buNone/>
            </a:pPr>
            <a:r>
              <a:rPr lang="en-US" sz="1050" dirty="0">
                <a:solidFill>
                  <a:srgbClr val="172033"/>
                </a:solidFill>
              </a:rPr>
              <a:t>3</a:t>
            </a:r>
            <a:endParaRPr lang="en-US" sz="1050" dirty="0"/>
          </a:p>
        </p:txBody>
      </p:sp>
      <p:sp>
        <p:nvSpPr>
          <p:cNvPr id="18" name="Shape 18">
            <a:extLst>
              <a:ext uri="{FF2B5EF4-FFF2-40B4-BE49-F238E27FC236}">
                <a16:creationId xmlns:a16="http://schemas.microsoft.com/office/drawing/2014/main" id="{1C3E36CC-28E5-4FAB-8295-9D85CEFD15E6}"/>
              </a:ext>
            </a:extLst>
          </p:cNvPr>
          <p:cNvSpPr/>
          <p:nvPr/>
        </p:nvSpPr>
        <p:spPr>
          <a:xfrm>
            <a:off x="2313226" y="3310281"/>
            <a:ext cx="1463040" cy="411480"/>
          </a:xfrm>
          <a:prstGeom prst="rect">
            <a:avLst/>
          </a:prstGeom>
          <a:solidFill>
            <a:srgbClr val="FFFFFF"/>
          </a:solidFill>
          <a:ln w="8890">
            <a:solidFill>
              <a:srgbClr val="D8E0EB"/>
            </a:solidFill>
            <a:prstDash val="solid"/>
          </a:ln>
        </p:spPr>
      </p:sp>
      <p:sp>
        <p:nvSpPr>
          <p:cNvPr id="19" name="Text 19">
            <a:extLst>
              <a:ext uri="{FF2B5EF4-FFF2-40B4-BE49-F238E27FC236}">
                <a16:creationId xmlns:a16="http://schemas.microsoft.com/office/drawing/2014/main" id="{546C670D-578B-4302-8778-759EA0FD4C43}"/>
              </a:ext>
            </a:extLst>
          </p:cNvPr>
          <p:cNvSpPr/>
          <p:nvPr/>
        </p:nvSpPr>
        <p:spPr>
          <a:xfrm>
            <a:off x="2358946" y="3410865"/>
            <a:ext cx="1371600" cy="283464"/>
          </a:xfrm>
          <a:prstGeom prst="rect">
            <a:avLst/>
          </a:prstGeom>
          <a:noFill/>
          <a:ln/>
        </p:spPr>
        <p:txBody>
          <a:bodyPr wrap="square" lIns="0" tIns="0" rIns="0" bIns="0" rtlCol="0" anchor="ctr"/>
          <a:lstStyle/>
          <a:p>
            <a:pPr marL="0" indent="0" algn="ctr">
              <a:buNone/>
            </a:pPr>
            <a:r>
              <a:rPr lang="en-US" sz="1050" dirty="0">
                <a:solidFill>
                  <a:srgbClr val="172033"/>
                </a:solidFill>
              </a:rPr>
              <a:t>Hina</a:t>
            </a:r>
            <a:endParaRPr lang="en-US" sz="1050" dirty="0"/>
          </a:p>
        </p:txBody>
      </p:sp>
      <p:sp>
        <p:nvSpPr>
          <p:cNvPr id="20" name="Shape 20">
            <a:extLst>
              <a:ext uri="{FF2B5EF4-FFF2-40B4-BE49-F238E27FC236}">
                <a16:creationId xmlns:a16="http://schemas.microsoft.com/office/drawing/2014/main" id="{851518D6-5809-4040-8BD0-7492BBE87F3A}"/>
              </a:ext>
            </a:extLst>
          </p:cNvPr>
          <p:cNvSpPr/>
          <p:nvPr/>
        </p:nvSpPr>
        <p:spPr>
          <a:xfrm>
            <a:off x="4782106" y="2075841"/>
            <a:ext cx="1463040" cy="411480"/>
          </a:xfrm>
          <a:prstGeom prst="rect">
            <a:avLst/>
          </a:prstGeom>
          <a:solidFill>
            <a:srgbClr val="F59E0B"/>
          </a:solidFill>
          <a:ln w="8890">
            <a:solidFill>
              <a:srgbClr val="D8E0EB"/>
            </a:solidFill>
            <a:prstDash val="solid"/>
          </a:ln>
        </p:spPr>
      </p:sp>
      <p:sp>
        <p:nvSpPr>
          <p:cNvPr id="21" name="Text 21">
            <a:extLst>
              <a:ext uri="{FF2B5EF4-FFF2-40B4-BE49-F238E27FC236}">
                <a16:creationId xmlns:a16="http://schemas.microsoft.com/office/drawing/2014/main" id="{E53F6505-746E-49A2-9946-3189D1B237E1}"/>
              </a:ext>
            </a:extLst>
          </p:cNvPr>
          <p:cNvSpPr/>
          <p:nvPr/>
        </p:nvSpPr>
        <p:spPr>
          <a:xfrm>
            <a:off x="4827826" y="2176425"/>
            <a:ext cx="1371600" cy="283464"/>
          </a:xfrm>
          <a:prstGeom prst="rect">
            <a:avLst/>
          </a:prstGeom>
          <a:noFill/>
          <a:ln/>
        </p:spPr>
        <p:txBody>
          <a:bodyPr wrap="square" lIns="0" tIns="0" rIns="0" bIns="0" rtlCol="0" anchor="ctr"/>
          <a:lstStyle/>
          <a:p>
            <a:pPr marL="0" indent="0" algn="ctr">
              <a:buNone/>
            </a:pPr>
            <a:r>
              <a:rPr lang="en-US" sz="1200" b="1" dirty="0">
                <a:solidFill>
                  <a:srgbClr val="FFFFFF"/>
                </a:solidFill>
              </a:rPr>
              <a:t>StudentID</a:t>
            </a:r>
            <a:endParaRPr lang="en-US" sz="1200" dirty="0"/>
          </a:p>
        </p:txBody>
      </p:sp>
      <p:sp>
        <p:nvSpPr>
          <p:cNvPr id="22" name="Shape 22">
            <a:extLst>
              <a:ext uri="{FF2B5EF4-FFF2-40B4-BE49-F238E27FC236}">
                <a16:creationId xmlns:a16="http://schemas.microsoft.com/office/drawing/2014/main" id="{E804FF2B-7310-4420-A048-A65F84837202}"/>
              </a:ext>
            </a:extLst>
          </p:cNvPr>
          <p:cNvSpPr/>
          <p:nvPr/>
        </p:nvSpPr>
        <p:spPr>
          <a:xfrm>
            <a:off x="6245146" y="2075841"/>
            <a:ext cx="1463040" cy="411480"/>
          </a:xfrm>
          <a:prstGeom prst="rect">
            <a:avLst/>
          </a:prstGeom>
          <a:solidFill>
            <a:srgbClr val="F59E0B"/>
          </a:solidFill>
          <a:ln w="8890">
            <a:solidFill>
              <a:srgbClr val="D8E0EB"/>
            </a:solidFill>
            <a:prstDash val="solid"/>
          </a:ln>
        </p:spPr>
      </p:sp>
      <p:sp>
        <p:nvSpPr>
          <p:cNvPr id="23" name="Text 23">
            <a:extLst>
              <a:ext uri="{FF2B5EF4-FFF2-40B4-BE49-F238E27FC236}">
                <a16:creationId xmlns:a16="http://schemas.microsoft.com/office/drawing/2014/main" id="{CBF960E6-69AB-440B-B419-69C4BE7EC909}"/>
              </a:ext>
            </a:extLst>
          </p:cNvPr>
          <p:cNvSpPr/>
          <p:nvPr/>
        </p:nvSpPr>
        <p:spPr>
          <a:xfrm>
            <a:off x="6290866" y="2176425"/>
            <a:ext cx="1371600" cy="283464"/>
          </a:xfrm>
          <a:prstGeom prst="rect">
            <a:avLst/>
          </a:prstGeom>
          <a:noFill/>
          <a:ln/>
        </p:spPr>
        <p:txBody>
          <a:bodyPr wrap="square" lIns="0" tIns="0" rIns="0" bIns="0" rtlCol="0" anchor="ctr"/>
          <a:lstStyle/>
          <a:p>
            <a:pPr marL="0" indent="0" algn="ctr">
              <a:buNone/>
            </a:pPr>
            <a:r>
              <a:rPr lang="en-US" sz="1200" b="1" dirty="0">
                <a:solidFill>
                  <a:srgbClr val="FFFFFF"/>
                </a:solidFill>
              </a:rPr>
              <a:t>CourseID</a:t>
            </a:r>
            <a:endParaRPr lang="en-US" sz="1200" dirty="0"/>
          </a:p>
        </p:txBody>
      </p:sp>
      <p:sp>
        <p:nvSpPr>
          <p:cNvPr id="24" name="Shape 24">
            <a:extLst>
              <a:ext uri="{FF2B5EF4-FFF2-40B4-BE49-F238E27FC236}">
                <a16:creationId xmlns:a16="http://schemas.microsoft.com/office/drawing/2014/main" id="{E0D8CDB8-3580-4F49-B5E6-7EA0927FA9C1}"/>
              </a:ext>
            </a:extLst>
          </p:cNvPr>
          <p:cNvSpPr/>
          <p:nvPr/>
        </p:nvSpPr>
        <p:spPr>
          <a:xfrm>
            <a:off x="4782106" y="2487321"/>
            <a:ext cx="1463040" cy="411480"/>
          </a:xfrm>
          <a:prstGeom prst="rect">
            <a:avLst/>
          </a:prstGeom>
          <a:solidFill>
            <a:srgbClr val="FFFFFF"/>
          </a:solidFill>
          <a:ln w="8890">
            <a:solidFill>
              <a:srgbClr val="D8E0EB"/>
            </a:solidFill>
            <a:prstDash val="solid"/>
          </a:ln>
        </p:spPr>
      </p:sp>
      <p:sp>
        <p:nvSpPr>
          <p:cNvPr id="25" name="Text 25">
            <a:extLst>
              <a:ext uri="{FF2B5EF4-FFF2-40B4-BE49-F238E27FC236}">
                <a16:creationId xmlns:a16="http://schemas.microsoft.com/office/drawing/2014/main" id="{D3E2E260-C31F-451C-96E7-0CF2431700A2}"/>
              </a:ext>
            </a:extLst>
          </p:cNvPr>
          <p:cNvSpPr/>
          <p:nvPr/>
        </p:nvSpPr>
        <p:spPr>
          <a:xfrm>
            <a:off x="4827826" y="2587905"/>
            <a:ext cx="1371600" cy="283464"/>
          </a:xfrm>
          <a:prstGeom prst="rect">
            <a:avLst/>
          </a:prstGeom>
          <a:noFill/>
          <a:ln/>
        </p:spPr>
        <p:txBody>
          <a:bodyPr wrap="square" lIns="0" tIns="0" rIns="0" bIns="0" rtlCol="0" anchor="ctr"/>
          <a:lstStyle/>
          <a:p>
            <a:pPr marL="0" indent="0" algn="ctr">
              <a:buNone/>
            </a:pPr>
            <a:r>
              <a:rPr lang="en-US" sz="1050" dirty="0">
                <a:solidFill>
                  <a:srgbClr val="172033"/>
                </a:solidFill>
              </a:rPr>
              <a:t>1</a:t>
            </a:r>
            <a:endParaRPr lang="en-US" sz="1050" dirty="0"/>
          </a:p>
        </p:txBody>
      </p:sp>
      <p:sp>
        <p:nvSpPr>
          <p:cNvPr id="26" name="Shape 26">
            <a:extLst>
              <a:ext uri="{FF2B5EF4-FFF2-40B4-BE49-F238E27FC236}">
                <a16:creationId xmlns:a16="http://schemas.microsoft.com/office/drawing/2014/main" id="{9895E9B3-AFFA-4ADE-B741-65FDC8AC17A2}"/>
              </a:ext>
            </a:extLst>
          </p:cNvPr>
          <p:cNvSpPr/>
          <p:nvPr/>
        </p:nvSpPr>
        <p:spPr>
          <a:xfrm>
            <a:off x="6245146" y="2487321"/>
            <a:ext cx="1463040" cy="411480"/>
          </a:xfrm>
          <a:prstGeom prst="rect">
            <a:avLst/>
          </a:prstGeom>
          <a:solidFill>
            <a:srgbClr val="FFFFFF"/>
          </a:solidFill>
          <a:ln w="8890">
            <a:solidFill>
              <a:srgbClr val="D8E0EB"/>
            </a:solidFill>
            <a:prstDash val="solid"/>
          </a:ln>
        </p:spPr>
      </p:sp>
      <p:sp>
        <p:nvSpPr>
          <p:cNvPr id="27" name="Text 27">
            <a:extLst>
              <a:ext uri="{FF2B5EF4-FFF2-40B4-BE49-F238E27FC236}">
                <a16:creationId xmlns:a16="http://schemas.microsoft.com/office/drawing/2014/main" id="{38733164-B13A-46EB-A12C-480211943596}"/>
              </a:ext>
            </a:extLst>
          </p:cNvPr>
          <p:cNvSpPr/>
          <p:nvPr/>
        </p:nvSpPr>
        <p:spPr>
          <a:xfrm>
            <a:off x="6290866" y="2587905"/>
            <a:ext cx="1371600" cy="283464"/>
          </a:xfrm>
          <a:prstGeom prst="rect">
            <a:avLst/>
          </a:prstGeom>
          <a:noFill/>
          <a:ln/>
        </p:spPr>
        <p:txBody>
          <a:bodyPr wrap="square" lIns="0" tIns="0" rIns="0" bIns="0" rtlCol="0" anchor="ctr"/>
          <a:lstStyle/>
          <a:p>
            <a:pPr marL="0" indent="0" algn="ctr">
              <a:buNone/>
            </a:pPr>
            <a:r>
              <a:rPr lang="en-US" sz="1050" dirty="0">
                <a:solidFill>
                  <a:srgbClr val="172033"/>
                </a:solidFill>
              </a:rPr>
              <a:t>101</a:t>
            </a:r>
            <a:endParaRPr lang="en-US" sz="1050" dirty="0"/>
          </a:p>
        </p:txBody>
      </p:sp>
      <p:sp>
        <p:nvSpPr>
          <p:cNvPr id="28" name="Shape 28">
            <a:extLst>
              <a:ext uri="{FF2B5EF4-FFF2-40B4-BE49-F238E27FC236}">
                <a16:creationId xmlns:a16="http://schemas.microsoft.com/office/drawing/2014/main" id="{57B43415-FD47-438D-B0F8-2C1110323C71}"/>
              </a:ext>
            </a:extLst>
          </p:cNvPr>
          <p:cNvSpPr/>
          <p:nvPr/>
        </p:nvSpPr>
        <p:spPr>
          <a:xfrm>
            <a:off x="4782106" y="2898801"/>
            <a:ext cx="1463040" cy="411480"/>
          </a:xfrm>
          <a:prstGeom prst="rect">
            <a:avLst/>
          </a:prstGeom>
          <a:solidFill>
            <a:srgbClr val="FFFFFF"/>
          </a:solidFill>
          <a:ln w="8890">
            <a:solidFill>
              <a:srgbClr val="D8E0EB"/>
            </a:solidFill>
            <a:prstDash val="solid"/>
          </a:ln>
        </p:spPr>
      </p:sp>
      <p:sp>
        <p:nvSpPr>
          <p:cNvPr id="29" name="Text 29">
            <a:extLst>
              <a:ext uri="{FF2B5EF4-FFF2-40B4-BE49-F238E27FC236}">
                <a16:creationId xmlns:a16="http://schemas.microsoft.com/office/drawing/2014/main" id="{8A727905-88F6-46AA-B6A3-2139ADE86552}"/>
              </a:ext>
            </a:extLst>
          </p:cNvPr>
          <p:cNvSpPr/>
          <p:nvPr/>
        </p:nvSpPr>
        <p:spPr>
          <a:xfrm>
            <a:off x="4827826" y="2999385"/>
            <a:ext cx="1371600" cy="283464"/>
          </a:xfrm>
          <a:prstGeom prst="rect">
            <a:avLst/>
          </a:prstGeom>
          <a:noFill/>
          <a:ln/>
        </p:spPr>
        <p:txBody>
          <a:bodyPr wrap="square" lIns="0" tIns="0" rIns="0" bIns="0" rtlCol="0" anchor="ctr"/>
          <a:lstStyle/>
          <a:p>
            <a:pPr marL="0" indent="0" algn="ctr">
              <a:buNone/>
            </a:pPr>
            <a:r>
              <a:rPr lang="en-US" sz="1050" dirty="0">
                <a:solidFill>
                  <a:srgbClr val="172033"/>
                </a:solidFill>
              </a:rPr>
              <a:t>1</a:t>
            </a:r>
            <a:endParaRPr lang="en-US" sz="1050" dirty="0"/>
          </a:p>
        </p:txBody>
      </p:sp>
      <p:sp>
        <p:nvSpPr>
          <p:cNvPr id="30" name="Shape 30">
            <a:extLst>
              <a:ext uri="{FF2B5EF4-FFF2-40B4-BE49-F238E27FC236}">
                <a16:creationId xmlns:a16="http://schemas.microsoft.com/office/drawing/2014/main" id="{6ECE3836-1E4F-4086-BD9E-30A92AF85265}"/>
              </a:ext>
            </a:extLst>
          </p:cNvPr>
          <p:cNvSpPr/>
          <p:nvPr/>
        </p:nvSpPr>
        <p:spPr>
          <a:xfrm>
            <a:off x="6245146" y="2898801"/>
            <a:ext cx="1463040" cy="411480"/>
          </a:xfrm>
          <a:prstGeom prst="rect">
            <a:avLst/>
          </a:prstGeom>
          <a:solidFill>
            <a:srgbClr val="FFFFFF"/>
          </a:solidFill>
          <a:ln w="8890">
            <a:solidFill>
              <a:srgbClr val="D8E0EB"/>
            </a:solidFill>
            <a:prstDash val="solid"/>
          </a:ln>
        </p:spPr>
      </p:sp>
      <p:sp>
        <p:nvSpPr>
          <p:cNvPr id="31" name="Text 31">
            <a:extLst>
              <a:ext uri="{FF2B5EF4-FFF2-40B4-BE49-F238E27FC236}">
                <a16:creationId xmlns:a16="http://schemas.microsoft.com/office/drawing/2014/main" id="{BBFFFB2D-C476-4C6D-9BE7-18224F56D5E3}"/>
              </a:ext>
            </a:extLst>
          </p:cNvPr>
          <p:cNvSpPr/>
          <p:nvPr/>
        </p:nvSpPr>
        <p:spPr>
          <a:xfrm>
            <a:off x="6290866" y="2999385"/>
            <a:ext cx="1371600" cy="283464"/>
          </a:xfrm>
          <a:prstGeom prst="rect">
            <a:avLst/>
          </a:prstGeom>
          <a:noFill/>
          <a:ln/>
        </p:spPr>
        <p:txBody>
          <a:bodyPr wrap="square" lIns="0" tIns="0" rIns="0" bIns="0" rtlCol="0" anchor="ctr"/>
          <a:lstStyle/>
          <a:p>
            <a:pPr marL="0" indent="0" algn="ctr">
              <a:buNone/>
            </a:pPr>
            <a:r>
              <a:rPr lang="en-US" sz="1050" dirty="0">
                <a:solidFill>
                  <a:srgbClr val="172033"/>
                </a:solidFill>
              </a:rPr>
              <a:t>102</a:t>
            </a:r>
            <a:endParaRPr lang="en-US" sz="1050" dirty="0"/>
          </a:p>
        </p:txBody>
      </p:sp>
      <p:sp>
        <p:nvSpPr>
          <p:cNvPr id="32" name="Shape 32">
            <a:extLst>
              <a:ext uri="{FF2B5EF4-FFF2-40B4-BE49-F238E27FC236}">
                <a16:creationId xmlns:a16="http://schemas.microsoft.com/office/drawing/2014/main" id="{89E63323-DFD0-49FB-8418-30E46E857307}"/>
              </a:ext>
            </a:extLst>
          </p:cNvPr>
          <p:cNvSpPr/>
          <p:nvPr/>
        </p:nvSpPr>
        <p:spPr>
          <a:xfrm>
            <a:off x="4782106" y="3310281"/>
            <a:ext cx="1463040" cy="411480"/>
          </a:xfrm>
          <a:prstGeom prst="rect">
            <a:avLst/>
          </a:prstGeom>
          <a:solidFill>
            <a:srgbClr val="FFFFFF"/>
          </a:solidFill>
          <a:ln w="8890">
            <a:solidFill>
              <a:srgbClr val="D8E0EB"/>
            </a:solidFill>
            <a:prstDash val="solid"/>
          </a:ln>
        </p:spPr>
      </p:sp>
      <p:sp>
        <p:nvSpPr>
          <p:cNvPr id="33" name="Text 33">
            <a:extLst>
              <a:ext uri="{FF2B5EF4-FFF2-40B4-BE49-F238E27FC236}">
                <a16:creationId xmlns:a16="http://schemas.microsoft.com/office/drawing/2014/main" id="{2B442F1B-33BB-47BA-95DC-8AB508F748A3}"/>
              </a:ext>
            </a:extLst>
          </p:cNvPr>
          <p:cNvSpPr/>
          <p:nvPr/>
        </p:nvSpPr>
        <p:spPr>
          <a:xfrm>
            <a:off x="4827826" y="3410865"/>
            <a:ext cx="1371600" cy="283464"/>
          </a:xfrm>
          <a:prstGeom prst="rect">
            <a:avLst/>
          </a:prstGeom>
          <a:noFill/>
          <a:ln/>
        </p:spPr>
        <p:txBody>
          <a:bodyPr wrap="square" lIns="0" tIns="0" rIns="0" bIns="0" rtlCol="0" anchor="ctr"/>
          <a:lstStyle/>
          <a:p>
            <a:pPr marL="0" indent="0" algn="ctr">
              <a:buNone/>
            </a:pPr>
            <a:r>
              <a:rPr lang="en-US" sz="1050" dirty="0">
                <a:solidFill>
                  <a:srgbClr val="172033"/>
                </a:solidFill>
              </a:rPr>
              <a:t>2</a:t>
            </a:r>
            <a:endParaRPr lang="en-US" sz="1050" dirty="0"/>
          </a:p>
        </p:txBody>
      </p:sp>
      <p:sp>
        <p:nvSpPr>
          <p:cNvPr id="34" name="Shape 34">
            <a:extLst>
              <a:ext uri="{FF2B5EF4-FFF2-40B4-BE49-F238E27FC236}">
                <a16:creationId xmlns:a16="http://schemas.microsoft.com/office/drawing/2014/main" id="{EB117BE0-F688-463F-8FF0-51566BA0AF4E}"/>
              </a:ext>
            </a:extLst>
          </p:cNvPr>
          <p:cNvSpPr/>
          <p:nvPr/>
        </p:nvSpPr>
        <p:spPr>
          <a:xfrm>
            <a:off x="6245146" y="3310281"/>
            <a:ext cx="1463040" cy="411480"/>
          </a:xfrm>
          <a:prstGeom prst="rect">
            <a:avLst/>
          </a:prstGeom>
          <a:solidFill>
            <a:srgbClr val="FFFFFF"/>
          </a:solidFill>
          <a:ln w="8890">
            <a:solidFill>
              <a:srgbClr val="D8E0EB"/>
            </a:solidFill>
            <a:prstDash val="solid"/>
          </a:ln>
        </p:spPr>
      </p:sp>
      <p:sp>
        <p:nvSpPr>
          <p:cNvPr id="35" name="Text 35">
            <a:extLst>
              <a:ext uri="{FF2B5EF4-FFF2-40B4-BE49-F238E27FC236}">
                <a16:creationId xmlns:a16="http://schemas.microsoft.com/office/drawing/2014/main" id="{02CA12B5-8D61-4D5A-AEEA-E1627C21F49D}"/>
              </a:ext>
            </a:extLst>
          </p:cNvPr>
          <p:cNvSpPr/>
          <p:nvPr/>
        </p:nvSpPr>
        <p:spPr>
          <a:xfrm>
            <a:off x="6290866" y="3410865"/>
            <a:ext cx="1371600" cy="283464"/>
          </a:xfrm>
          <a:prstGeom prst="rect">
            <a:avLst/>
          </a:prstGeom>
          <a:noFill/>
          <a:ln/>
        </p:spPr>
        <p:txBody>
          <a:bodyPr wrap="square" lIns="0" tIns="0" rIns="0" bIns="0" rtlCol="0" anchor="ctr"/>
          <a:lstStyle/>
          <a:p>
            <a:pPr marL="0" indent="0" algn="ctr">
              <a:buNone/>
            </a:pPr>
            <a:r>
              <a:rPr lang="en-US" sz="1050" dirty="0">
                <a:solidFill>
                  <a:srgbClr val="172033"/>
                </a:solidFill>
              </a:rPr>
              <a:t>102</a:t>
            </a:r>
            <a:endParaRPr lang="en-US" sz="1050" dirty="0"/>
          </a:p>
        </p:txBody>
      </p:sp>
      <p:sp>
        <p:nvSpPr>
          <p:cNvPr id="36" name="Shape 36">
            <a:extLst>
              <a:ext uri="{FF2B5EF4-FFF2-40B4-BE49-F238E27FC236}">
                <a16:creationId xmlns:a16="http://schemas.microsoft.com/office/drawing/2014/main" id="{A5A223EA-6C0F-42CB-BAA6-9C392B01E9BE}"/>
              </a:ext>
            </a:extLst>
          </p:cNvPr>
          <p:cNvSpPr/>
          <p:nvPr/>
        </p:nvSpPr>
        <p:spPr>
          <a:xfrm>
            <a:off x="4782106" y="3721761"/>
            <a:ext cx="1463040" cy="411480"/>
          </a:xfrm>
          <a:prstGeom prst="rect">
            <a:avLst/>
          </a:prstGeom>
          <a:solidFill>
            <a:srgbClr val="FFFFFF"/>
          </a:solidFill>
          <a:ln w="8890">
            <a:solidFill>
              <a:srgbClr val="D8E0EB"/>
            </a:solidFill>
            <a:prstDash val="solid"/>
          </a:ln>
        </p:spPr>
      </p:sp>
      <p:sp>
        <p:nvSpPr>
          <p:cNvPr id="37" name="Text 37">
            <a:extLst>
              <a:ext uri="{FF2B5EF4-FFF2-40B4-BE49-F238E27FC236}">
                <a16:creationId xmlns:a16="http://schemas.microsoft.com/office/drawing/2014/main" id="{767A822F-ACF7-46C5-BABD-C9148D45CFFA}"/>
              </a:ext>
            </a:extLst>
          </p:cNvPr>
          <p:cNvSpPr/>
          <p:nvPr/>
        </p:nvSpPr>
        <p:spPr>
          <a:xfrm>
            <a:off x="4827826" y="3822345"/>
            <a:ext cx="1371600" cy="283464"/>
          </a:xfrm>
          <a:prstGeom prst="rect">
            <a:avLst/>
          </a:prstGeom>
          <a:noFill/>
          <a:ln/>
        </p:spPr>
        <p:txBody>
          <a:bodyPr wrap="square" lIns="0" tIns="0" rIns="0" bIns="0" rtlCol="0" anchor="ctr"/>
          <a:lstStyle/>
          <a:p>
            <a:pPr marL="0" indent="0" algn="ctr">
              <a:buNone/>
            </a:pPr>
            <a:r>
              <a:rPr lang="en-US" sz="1050" dirty="0">
                <a:solidFill>
                  <a:srgbClr val="172033"/>
                </a:solidFill>
              </a:rPr>
              <a:t>3</a:t>
            </a:r>
            <a:endParaRPr lang="en-US" sz="1050" dirty="0"/>
          </a:p>
        </p:txBody>
      </p:sp>
      <p:sp>
        <p:nvSpPr>
          <p:cNvPr id="38" name="Shape 38">
            <a:extLst>
              <a:ext uri="{FF2B5EF4-FFF2-40B4-BE49-F238E27FC236}">
                <a16:creationId xmlns:a16="http://schemas.microsoft.com/office/drawing/2014/main" id="{095C3170-E591-483D-9CE1-B7D27D5D4832}"/>
              </a:ext>
            </a:extLst>
          </p:cNvPr>
          <p:cNvSpPr/>
          <p:nvPr/>
        </p:nvSpPr>
        <p:spPr>
          <a:xfrm>
            <a:off x="6245146" y="3721761"/>
            <a:ext cx="1463040" cy="411480"/>
          </a:xfrm>
          <a:prstGeom prst="rect">
            <a:avLst/>
          </a:prstGeom>
          <a:solidFill>
            <a:srgbClr val="FFFFFF"/>
          </a:solidFill>
          <a:ln w="8890">
            <a:solidFill>
              <a:srgbClr val="D8E0EB"/>
            </a:solidFill>
            <a:prstDash val="solid"/>
          </a:ln>
        </p:spPr>
      </p:sp>
      <p:sp>
        <p:nvSpPr>
          <p:cNvPr id="39" name="Text 39">
            <a:extLst>
              <a:ext uri="{FF2B5EF4-FFF2-40B4-BE49-F238E27FC236}">
                <a16:creationId xmlns:a16="http://schemas.microsoft.com/office/drawing/2014/main" id="{B97D8969-69BC-4AC9-A9D7-40B1447A6AD1}"/>
              </a:ext>
            </a:extLst>
          </p:cNvPr>
          <p:cNvSpPr/>
          <p:nvPr/>
        </p:nvSpPr>
        <p:spPr>
          <a:xfrm>
            <a:off x="6290866" y="3822345"/>
            <a:ext cx="1371600" cy="283464"/>
          </a:xfrm>
          <a:prstGeom prst="rect">
            <a:avLst/>
          </a:prstGeom>
          <a:noFill/>
          <a:ln/>
        </p:spPr>
        <p:txBody>
          <a:bodyPr wrap="square" lIns="0" tIns="0" rIns="0" bIns="0" rtlCol="0" anchor="ctr"/>
          <a:lstStyle/>
          <a:p>
            <a:pPr marL="0" indent="0" algn="ctr">
              <a:buNone/>
            </a:pPr>
            <a:r>
              <a:rPr lang="en-US" sz="1050" dirty="0">
                <a:solidFill>
                  <a:srgbClr val="172033"/>
                </a:solidFill>
              </a:rPr>
              <a:t>103</a:t>
            </a:r>
            <a:endParaRPr lang="en-US" sz="1050" dirty="0"/>
          </a:p>
        </p:txBody>
      </p:sp>
      <p:sp>
        <p:nvSpPr>
          <p:cNvPr id="40" name="Shape 40">
            <a:extLst>
              <a:ext uri="{FF2B5EF4-FFF2-40B4-BE49-F238E27FC236}">
                <a16:creationId xmlns:a16="http://schemas.microsoft.com/office/drawing/2014/main" id="{85E6D64C-3991-4154-AAF0-3F433D3172C9}"/>
              </a:ext>
            </a:extLst>
          </p:cNvPr>
          <p:cNvSpPr/>
          <p:nvPr/>
        </p:nvSpPr>
        <p:spPr>
          <a:xfrm>
            <a:off x="8439706" y="2075841"/>
            <a:ext cx="1463040" cy="411480"/>
          </a:xfrm>
          <a:prstGeom prst="rect">
            <a:avLst/>
          </a:prstGeom>
          <a:solidFill>
            <a:srgbClr val="2F6BFF"/>
          </a:solidFill>
          <a:ln w="8890">
            <a:solidFill>
              <a:srgbClr val="D8E0EB"/>
            </a:solidFill>
            <a:prstDash val="solid"/>
          </a:ln>
        </p:spPr>
      </p:sp>
      <p:sp>
        <p:nvSpPr>
          <p:cNvPr id="41" name="Text 41">
            <a:extLst>
              <a:ext uri="{FF2B5EF4-FFF2-40B4-BE49-F238E27FC236}">
                <a16:creationId xmlns:a16="http://schemas.microsoft.com/office/drawing/2014/main" id="{FE572A43-C692-448B-BC0D-FA60CF7A449D}"/>
              </a:ext>
            </a:extLst>
          </p:cNvPr>
          <p:cNvSpPr/>
          <p:nvPr/>
        </p:nvSpPr>
        <p:spPr>
          <a:xfrm>
            <a:off x="8485426" y="2176425"/>
            <a:ext cx="1371600" cy="283464"/>
          </a:xfrm>
          <a:prstGeom prst="rect">
            <a:avLst/>
          </a:prstGeom>
          <a:noFill/>
          <a:ln/>
        </p:spPr>
        <p:txBody>
          <a:bodyPr wrap="square" lIns="0" tIns="0" rIns="0" bIns="0" rtlCol="0" anchor="ctr"/>
          <a:lstStyle/>
          <a:p>
            <a:pPr marL="0" indent="0" algn="ctr">
              <a:buNone/>
            </a:pPr>
            <a:r>
              <a:rPr lang="en-US" sz="1200" b="1" dirty="0">
                <a:solidFill>
                  <a:srgbClr val="FFFFFF"/>
                </a:solidFill>
              </a:rPr>
              <a:t>CourseID</a:t>
            </a:r>
            <a:endParaRPr lang="en-US" sz="1200" dirty="0"/>
          </a:p>
        </p:txBody>
      </p:sp>
      <p:sp>
        <p:nvSpPr>
          <p:cNvPr id="42" name="Shape 42">
            <a:extLst>
              <a:ext uri="{FF2B5EF4-FFF2-40B4-BE49-F238E27FC236}">
                <a16:creationId xmlns:a16="http://schemas.microsoft.com/office/drawing/2014/main" id="{A3254038-1B87-4417-91EF-3C27D646A88C}"/>
              </a:ext>
            </a:extLst>
          </p:cNvPr>
          <p:cNvSpPr/>
          <p:nvPr/>
        </p:nvSpPr>
        <p:spPr>
          <a:xfrm>
            <a:off x="9902746" y="2075841"/>
            <a:ext cx="1463040" cy="411480"/>
          </a:xfrm>
          <a:prstGeom prst="rect">
            <a:avLst/>
          </a:prstGeom>
          <a:solidFill>
            <a:srgbClr val="2F6BFF"/>
          </a:solidFill>
          <a:ln w="8890">
            <a:solidFill>
              <a:srgbClr val="D8E0EB"/>
            </a:solidFill>
            <a:prstDash val="solid"/>
          </a:ln>
        </p:spPr>
      </p:sp>
      <p:sp>
        <p:nvSpPr>
          <p:cNvPr id="43" name="Text 43">
            <a:extLst>
              <a:ext uri="{FF2B5EF4-FFF2-40B4-BE49-F238E27FC236}">
                <a16:creationId xmlns:a16="http://schemas.microsoft.com/office/drawing/2014/main" id="{0D88CCD0-552D-4CBA-A6DA-E539AF514B0B}"/>
              </a:ext>
            </a:extLst>
          </p:cNvPr>
          <p:cNvSpPr/>
          <p:nvPr/>
        </p:nvSpPr>
        <p:spPr>
          <a:xfrm>
            <a:off x="9948466" y="2176425"/>
            <a:ext cx="1371600" cy="283464"/>
          </a:xfrm>
          <a:prstGeom prst="rect">
            <a:avLst/>
          </a:prstGeom>
          <a:noFill/>
          <a:ln/>
        </p:spPr>
        <p:txBody>
          <a:bodyPr wrap="square" lIns="0" tIns="0" rIns="0" bIns="0" rtlCol="0" anchor="ctr"/>
          <a:lstStyle/>
          <a:p>
            <a:pPr marL="0" indent="0" algn="ctr">
              <a:buNone/>
            </a:pPr>
            <a:r>
              <a:rPr lang="en-US" sz="1200" b="1" dirty="0">
                <a:solidFill>
                  <a:srgbClr val="FFFFFF"/>
                </a:solidFill>
              </a:rPr>
              <a:t>Title</a:t>
            </a:r>
            <a:endParaRPr lang="en-US" sz="1200" dirty="0"/>
          </a:p>
        </p:txBody>
      </p:sp>
      <p:sp>
        <p:nvSpPr>
          <p:cNvPr id="44" name="Shape 44">
            <a:extLst>
              <a:ext uri="{FF2B5EF4-FFF2-40B4-BE49-F238E27FC236}">
                <a16:creationId xmlns:a16="http://schemas.microsoft.com/office/drawing/2014/main" id="{A6AF8464-E274-4983-BD91-9E776553CB5A}"/>
              </a:ext>
            </a:extLst>
          </p:cNvPr>
          <p:cNvSpPr/>
          <p:nvPr/>
        </p:nvSpPr>
        <p:spPr>
          <a:xfrm>
            <a:off x="8439706" y="2487321"/>
            <a:ext cx="1463040" cy="411480"/>
          </a:xfrm>
          <a:prstGeom prst="rect">
            <a:avLst/>
          </a:prstGeom>
          <a:solidFill>
            <a:srgbClr val="FFFFFF"/>
          </a:solidFill>
          <a:ln w="8890">
            <a:solidFill>
              <a:srgbClr val="D8E0EB"/>
            </a:solidFill>
            <a:prstDash val="solid"/>
          </a:ln>
        </p:spPr>
      </p:sp>
      <p:sp>
        <p:nvSpPr>
          <p:cNvPr id="45" name="Text 45">
            <a:extLst>
              <a:ext uri="{FF2B5EF4-FFF2-40B4-BE49-F238E27FC236}">
                <a16:creationId xmlns:a16="http://schemas.microsoft.com/office/drawing/2014/main" id="{1857FF9F-0156-45D2-9BD4-5DDDF86C3B79}"/>
              </a:ext>
            </a:extLst>
          </p:cNvPr>
          <p:cNvSpPr/>
          <p:nvPr/>
        </p:nvSpPr>
        <p:spPr>
          <a:xfrm>
            <a:off x="8485426" y="2587905"/>
            <a:ext cx="1371600" cy="283464"/>
          </a:xfrm>
          <a:prstGeom prst="rect">
            <a:avLst/>
          </a:prstGeom>
          <a:noFill/>
          <a:ln/>
        </p:spPr>
        <p:txBody>
          <a:bodyPr wrap="square" lIns="0" tIns="0" rIns="0" bIns="0" rtlCol="0" anchor="ctr"/>
          <a:lstStyle/>
          <a:p>
            <a:pPr marL="0" indent="0" algn="ctr">
              <a:buNone/>
            </a:pPr>
            <a:r>
              <a:rPr lang="en-US" sz="1050" dirty="0">
                <a:solidFill>
                  <a:srgbClr val="172033"/>
                </a:solidFill>
              </a:rPr>
              <a:t>101</a:t>
            </a:r>
            <a:endParaRPr lang="en-US" sz="1050" dirty="0"/>
          </a:p>
        </p:txBody>
      </p:sp>
      <p:sp>
        <p:nvSpPr>
          <p:cNvPr id="46" name="Shape 46">
            <a:extLst>
              <a:ext uri="{FF2B5EF4-FFF2-40B4-BE49-F238E27FC236}">
                <a16:creationId xmlns:a16="http://schemas.microsoft.com/office/drawing/2014/main" id="{21EF0510-D5B6-4B25-BDB8-1DE0754A7390}"/>
              </a:ext>
            </a:extLst>
          </p:cNvPr>
          <p:cNvSpPr/>
          <p:nvPr/>
        </p:nvSpPr>
        <p:spPr>
          <a:xfrm>
            <a:off x="9902746" y="2487321"/>
            <a:ext cx="1463040" cy="411480"/>
          </a:xfrm>
          <a:prstGeom prst="rect">
            <a:avLst/>
          </a:prstGeom>
          <a:solidFill>
            <a:srgbClr val="FFFFFF"/>
          </a:solidFill>
          <a:ln w="8890">
            <a:solidFill>
              <a:srgbClr val="D8E0EB"/>
            </a:solidFill>
            <a:prstDash val="solid"/>
          </a:ln>
        </p:spPr>
      </p:sp>
      <p:sp>
        <p:nvSpPr>
          <p:cNvPr id="47" name="Text 47">
            <a:extLst>
              <a:ext uri="{FF2B5EF4-FFF2-40B4-BE49-F238E27FC236}">
                <a16:creationId xmlns:a16="http://schemas.microsoft.com/office/drawing/2014/main" id="{DD1A1BA2-4277-4003-A59A-8BB94C5052E1}"/>
              </a:ext>
            </a:extLst>
          </p:cNvPr>
          <p:cNvSpPr/>
          <p:nvPr/>
        </p:nvSpPr>
        <p:spPr>
          <a:xfrm>
            <a:off x="9948466" y="2587905"/>
            <a:ext cx="1371600" cy="283464"/>
          </a:xfrm>
          <a:prstGeom prst="rect">
            <a:avLst/>
          </a:prstGeom>
          <a:noFill/>
          <a:ln/>
        </p:spPr>
        <p:txBody>
          <a:bodyPr wrap="square" lIns="0" tIns="0" rIns="0" bIns="0" rtlCol="0" anchor="ctr"/>
          <a:lstStyle/>
          <a:p>
            <a:pPr marL="0" indent="0" algn="ctr">
              <a:buNone/>
            </a:pPr>
            <a:r>
              <a:rPr lang="en-US" sz="1050" dirty="0">
                <a:solidFill>
                  <a:srgbClr val="172033"/>
                </a:solidFill>
              </a:rPr>
              <a:t>Database Systems</a:t>
            </a:r>
            <a:endParaRPr lang="en-US" sz="1050" dirty="0"/>
          </a:p>
        </p:txBody>
      </p:sp>
      <p:sp>
        <p:nvSpPr>
          <p:cNvPr id="48" name="Shape 48">
            <a:extLst>
              <a:ext uri="{FF2B5EF4-FFF2-40B4-BE49-F238E27FC236}">
                <a16:creationId xmlns:a16="http://schemas.microsoft.com/office/drawing/2014/main" id="{1EEDFB9B-635B-494E-9956-CCB1087C5ACE}"/>
              </a:ext>
            </a:extLst>
          </p:cNvPr>
          <p:cNvSpPr/>
          <p:nvPr/>
        </p:nvSpPr>
        <p:spPr>
          <a:xfrm>
            <a:off x="8439706" y="2898801"/>
            <a:ext cx="1463040" cy="411480"/>
          </a:xfrm>
          <a:prstGeom prst="rect">
            <a:avLst/>
          </a:prstGeom>
          <a:solidFill>
            <a:srgbClr val="FFFFFF"/>
          </a:solidFill>
          <a:ln w="8890">
            <a:solidFill>
              <a:srgbClr val="D8E0EB"/>
            </a:solidFill>
            <a:prstDash val="solid"/>
          </a:ln>
        </p:spPr>
      </p:sp>
      <p:sp>
        <p:nvSpPr>
          <p:cNvPr id="49" name="Text 49">
            <a:extLst>
              <a:ext uri="{FF2B5EF4-FFF2-40B4-BE49-F238E27FC236}">
                <a16:creationId xmlns:a16="http://schemas.microsoft.com/office/drawing/2014/main" id="{C6E44FEB-4B79-4735-81E3-3959DD8D5FE4}"/>
              </a:ext>
            </a:extLst>
          </p:cNvPr>
          <p:cNvSpPr/>
          <p:nvPr/>
        </p:nvSpPr>
        <p:spPr>
          <a:xfrm>
            <a:off x="8485426" y="2999385"/>
            <a:ext cx="1371600" cy="283464"/>
          </a:xfrm>
          <a:prstGeom prst="rect">
            <a:avLst/>
          </a:prstGeom>
          <a:noFill/>
          <a:ln/>
        </p:spPr>
        <p:txBody>
          <a:bodyPr wrap="square" lIns="0" tIns="0" rIns="0" bIns="0" rtlCol="0" anchor="ctr"/>
          <a:lstStyle/>
          <a:p>
            <a:pPr marL="0" indent="0" algn="ctr">
              <a:buNone/>
            </a:pPr>
            <a:r>
              <a:rPr lang="en-US" sz="1050" dirty="0">
                <a:solidFill>
                  <a:srgbClr val="172033"/>
                </a:solidFill>
              </a:rPr>
              <a:t>102</a:t>
            </a:r>
            <a:endParaRPr lang="en-US" sz="1050" dirty="0"/>
          </a:p>
        </p:txBody>
      </p:sp>
      <p:sp>
        <p:nvSpPr>
          <p:cNvPr id="50" name="Shape 50">
            <a:extLst>
              <a:ext uri="{FF2B5EF4-FFF2-40B4-BE49-F238E27FC236}">
                <a16:creationId xmlns:a16="http://schemas.microsoft.com/office/drawing/2014/main" id="{83A5C924-46B7-47D3-A795-E131C2EDDC99}"/>
              </a:ext>
            </a:extLst>
          </p:cNvPr>
          <p:cNvSpPr/>
          <p:nvPr/>
        </p:nvSpPr>
        <p:spPr>
          <a:xfrm>
            <a:off x="9902746" y="2898801"/>
            <a:ext cx="1463040" cy="411480"/>
          </a:xfrm>
          <a:prstGeom prst="rect">
            <a:avLst/>
          </a:prstGeom>
          <a:solidFill>
            <a:srgbClr val="FFFFFF"/>
          </a:solidFill>
          <a:ln w="8890">
            <a:solidFill>
              <a:srgbClr val="D8E0EB"/>
            </a:solidFill>
            <a:prstDash val="solid"/>
          </a:ln>
        </p:spPr>
      </p:sp>
      <p:sp>
        <p:nvSpPr>
          <p:cNvPr id="51" name="Text 51">
            <a:extLst>
              <a:ext uri="{FF2B5EF4-FFF2-40B4-BE49-F238E27FC236}">
                <a16:creationId xmlns:a16="http://schemas.microsoft.com/office/drawing/2014/main" id="{F6B8DA68-6CDD-4FB4-9033-1BB9ADE06E0A}"/>
              </a:ext>
            </a:extLst>
          </p:cNvPr>
          <p:cNvSpPr/>
          <p:nvPr/>
        </p:nvSpPr>
        <p:spPr>
          <a:xfrm>
            <a:off x="9948466" y="2999385"/>
            <a:ext cx="1371600" cy="283464"/>
          </a:xfrm>
          <a:prstGeom prst="rect">
            <a:avLst/>
          </a:prstGeom>
          <a:noFill/>
          <a:ln/>
        </p:spPr>
        <p:txBody>
          <a:bodyPr wrap="square" lIns="0" tIns="0" rIns="0" bIns="0" rtlCol="0" anchor="ctr"/>
          <a:lstStyle/>
          <a:p>
            <a:pPr marL="0" indent="0" algn="ctr">
              <a:buNone/>
            </a:pPr>
            <a:r>
              <a:rPr lang="en-US" sz="1050" dirty="0">
                <a:solidFill>
                  <a:srgbClr val="172033"/>
                </a:solidFill>
              </a:rPr>
              <a:t>Data Structures</a:t>
            </a:r>
            <a:endParaRPr lang="en-US" sz="1050" dirty="0"/>
          </a:p>
        </p:txBody>
      </p:sp>
      <p:sp>
        <p:nvSpPr>
          <p:cNvPr id="52" name="Shape 52">
            <a:extLst>
              <a:ext uri="{FF2B5EF4-FFF2-40B4-BE49-F238E27FC236}">
                <a16:creationId xmlns:a16="http://schemas.microsoft.com/office/drawing/2014/main" id="{C95028F1-6D52-4C89-BC91-9D1803C9F75B}"/>
              </a:ext>
            </a:extLst>
          </p:cNvPr>
          <p:cNvSpPr/>
          <p:nvPr/>
        </p:nvSpPr>
        <p:spPr>
          <a:xfrm>
            <a:off x="8439706" y="3310281"/>
            <a:ext cx="1463040" cy="411480"/>
          </a:xfrm>
          <a:prstGeom prst="rect">
            <a:avLst/>
          </a:prstGeom>
          <a:solidFill>
            <a:srgbClr val="FFFFFF"/>
          </a:solidFill>
          <a:ln w="8890">
            <a:solidFill>
              <a:srgbClr val="D8E0EB"/>
            </a:solidFill>
            <a:prstDash val="solid"/>
          </a:ln>
        </p:spPr>
      </p:sp>
      <p:sp>
        <p:nvSpPr>
          <p:cNvPr id="53" name="Text 53">
            <a:extLst>
              <a:ext uri="{FF2B5EF4-FFF2-40B4-BE49-F238E27FC236}">
                <a16:creationId xmlns:a16="http://schemas.microsoft.com/office/drawing/2014/main" id="{CE36E899-5FE5-4159-A71A-04CB78D1A1AB}"/>
              </a:ext>
            </a:extLst>
          </p:cNvPr>
          <p:cNvSpPr/>
          <p:nvPr/>
        </p:nvSpPr>
        <p:spPr>
          <a:xfrm>
            <a:off x="8485426" y="3410865"/>
            <a:ext cx="1371600" cy="283464"/>
          </a:xfrm>
          <a:prstGeom prst="rect">
            <a:avLst/>
          </a:prstGeom>
          <a:noFill/>
          <a:ln/>
        </p:spPr>
        <p:txBody>
          <a:bodyPr wrap="square" lIns="0" tIns="0" rIns="0" bIns="0" rtlCol="0" anchor="ctr"/>
          <a:lstStyle/>
          <a:p>
            <a:pPr marL="0" indent="0" algn="ctr">
              <a:buNone/>
            </a:pPr>
            <a:r>
              <a:rPr lang="en-US" sz="1050" dirty="0">
                <a:solidFill>
                  <a:srgbClr val="172033"/>
                </a:solidFill>
              </a:rPr>
              <a:t>103</a:t>
            </a:r>
            <a:endParaRPr lang="en-US" sz="1050" dirty="0"/>
          </a:p>
        </p:txBody>
      </p:sp>
      <p:sp>
        <p:nvSpPr>
          <p:cNvPr id="54" name="Shape 54">
            <a:extLst>
              <a:ext uri="{FF2B5EF4-FFF2-40B4-BE49-F238E27FC236}">
                <a16:creationId xmlns:a16="http://schemas.microsoft.com/office/drawing/2014/main" id="{782AE4F4-2587-4E57-A4A8-4678039ADD58}"/>
              </a:ext>
            </a:extLst>
          </p:cNvPr>
          <p:cNvSpPr/>
          <p:nvPr/>
        </p:nvSpPr>
        <p:spPr>
          <a:xfrm>
            <a:off x="9902746" y="3310281"/>
            <a:ext cx="1463040" cy="411480"/>
          </a:xfrm>
          <a:prstGeom prst="rect">
            <a:avLst/>
          </a:prstGeom>
          <a:solidFill>
            <a:srgbClr val="FFFFFF"/>
          </a:solidFill>
          <a:ln w="8890">
            <a:solidFill>
              <a:srgbClr val="D8E0EB"/>
            </a:solidFill>
            <a:prstDash val="solid"/>
          </a:ln>
        </p:spPr>
      </p:sp>
      <p:sp>
        <p:nvSpPr>
          <p:cNvPr id="55" name="Text 55">
            <a:extLst>
              <a:ext uri="{FF2B5EF4-FFF2-40B4-BE49-F238E27FC236}">
                <a16:creationId xmlns:a16="http://schemas.microsoft.com/office/drawing/2014/main" id="{437045AD-9884-45B1-A6A3-857D91FAF5DB}"/>
              </a:ext>
            </a:extLst>
          </p:cNvPr>
          <p:cNvSpPr/>
          <p:nvPr/>
        </p:nvSpPr>
        <p:spPr>
          <a:xfrm>
            <a:off x="9948466" y="3410865"/>
            <a:ext cx="1371600" cy="283464"/>
          </a:xfrm>
          <a:prstGeom prst="rect">
            <a:avLst/>
          </a:prstGeom>
          <a:noFill/>
          <a:ln/>
        </p:spPr>
        <p:txBody>
          <a:bodyPr wrap="square" lIns="0" tIns="0" rIns="0" bIns="0" rtlCol="0" anchor="ctr"/>
          <a:lstStyle/>
          <a:p>
            <a:pPr marL="0" indent="0" algn="ctr">
              <a:buNone/>
            </a:pPr>
            <a:r>
              <a:rPr lang="en-US" sz="1050" dirty="0">
                <a:solidFill>
                  <a:srgbClr val="172033"/>
                </a:solidFill>
              </a:rPr>
              <a:t>Algorithms</a:t>
            </a:r>
            <a:endParaRPr lang="en-US" sz="1050" dirty="0"/>
          </a:p>
        </p:txBody>
      </p:sp>
      <p:sp>
        <p:nvSpPr>
          <p:cNvPr id="56" name="Shape 56">
            <a:extLst>
              <a:ext uri="{FF2B5EF4-FFF2-40B4-BE49-F238E27FC236}">
                <a16:creationId xmlns:a16="http://schemas.microsoft.com/office/drawing/2014/main" id="{F1AC0DA6-9E50-4A27-8252-C09F68F53426}"/>
              </a:ext>
            </a:extLst>
          </p:cNvPr>
          <p:cNvSpPr/>
          <p:nvPr/>
        </p:nvSpPr>
        <p:spPr>
          <a:xfrm>
            <a:off x="3803698" y="2898801"/>
            <a:ext cx="932688" cy="0"/>
          </a:xfrm>
          <a:prstGeom prst="line">
            <a:avLst/>
          </a:prstGeom>
          <a:noFill/>
          <a:ln w="17780">
            <a:solidFill>
              <a:srgbClr val="16A6A1"/>
            </a:solidFill>
            <a:prstDash val="solid"/>
            <a:headEnd type="none"/>
            <a:tailEnd type="triangle"/>
          </a:ln>
        </p:spPr>
      </p:sp>
      <p:sp>
        <p:nvSpPr>
          <p:cNvPr id="57" name="Shape 57">
            <a:extLst>
              <a:ext uri="{FF2B5EF4-FFF2-40B4-BE49-F238E27FC236}">
                <a16:creationId xmlns:a16="http://schemas.microsoft.com/office/drawing/2014/main" id="{39446460-8614-47B4-BF23-A1A83DD03544}"/>
              </a:ext>
            </a:extLst>
          </p:cNvPr>
          <p:cNvSpPr/>
          <p:nvPr/>
        </p:nvSpPr>
        <p:spPr>
          <a:xfrm>
            <a:off x="7735618" y="2898801"/>
            <a:ext cx="658368" cy="0"/>
          </a:xfrm>
          <a:prstGeom prst="line">
            <a:avLst/>
          </a:prstGeom>
          <a:noFill/>
          <a:ln w="17780">
            <a:solidFill>
              <a:srgbClr val="16A6A1"/>
            </a:solidFill>
            <a:prstDash val="solid"/>
            <a:headEnd type="none"/>
            <a:tailEnd type="triangle"/>
          </a:ln>
        </p:spPr>
      </p:sp>
      <p:sp>
        <p:nvSpPr>
          <p:cNvPr id="62" name="Text 61">
            <a:extLst>
              <a:ext uri="{FF2B5EF4-FFF2-40B4-BE49-F238E27FC236}">
                <a16:creationId xmlns:a16="http://schemas.microsoft.com/office/drawing/2014/main" id="{26B429E3-119B-4715-AF3B-189011552893}"/>
              </a:ext>
            </a:extLst>
          </p:cNvPr>
          <p:cNvSpPr/>
          <p:nvPr/>
        </p:nvSpPr>
        <p:spPr>
          <a:xfrm>
            <a:off x="1444546" y="5568849"/>
            <a:ext cx="9555480" cy="301752"/>
          </a:xfrm>
          <a:prstGeom prst="rect">
            <a:avLst/>
          </a:prstGeom>
          <a:noFill/>
          <a:ln/>
        </p:spPr>
        <p:txBody>
          <a:bodyPr wrap="square" lIns="254" tIns="254" rIns="254" bIns="254" rtlCol="0" anchor="t"/>
          <a:lstStyle/>
          <a:p>
            <a:pPr marL="0" indent="0" algn="ctr">
              <a:buNone/>
            </a:pPr>
            <a:r>
              <a:rPr lang="en-US" dirty="0">
                <a:solidFill>
                  <a:srgbClr val="5B677A"/>
                </a:solidFill>
              </a:rPr>
              <a:t>Rows = records • Columns = attributes • Primary keys identify rows • Foreign keys connect tables </a:t>
            </a:r>
          </a:p>
          <a:p>
            <a:pPr marL="0" indent="0" algn="ctr">
              <a:buNone/>
            </a:pPr>
            <a:r>
              <a:rPr lang="en-US" dirty="0">
                <a:solidFill>
                  <a:srgbClr val="5B677A"/>
                </a:solidFill>
              </a:rPr>
              <a:t>• SQL queries the relationships.</a:t>
            </a:r>
            <a:endParaRPr lang="en-US" dirty="0"/>
          </a:p>
        </p:txBody>
      </p:sp>
    </p:spTree>
    <p:extLst>
      <p:ext uri="{BB962C8B-B14F-4D97-AF65-F5344CB8AC3E}">
        <p14:creationId xmlns:p14="http://schemas.microsoft.com/office/powerpoint/2010/main" val="1134438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1000"/>
                                        <p:tgtEl>
                                          <p:spTgt spid="6"/>
                                        </p:tgtEl>
                                      </p:cBhvr>
                                    </p:animEffect>
                                    <p:anim calcmode="lin" valueType="num">
                                      <p:cBhvr>
                                        <p:cTn id="18" dur="1000" fill="hold"/>
                                        <p:tgtEl>
                                          <p:spTgt spid="6"/>
                                        </p:tgtEl>
                                        <p:attrNameLst>
                                          <p:attrName>ppt_x</p:attrName>
                                        </p:attrNameLst>
                                      </p:cBhvr>
                                      <p:tavLst>
                                        <p:tav tm="0">
                                          <p:val>
                                            <p:strVal val="#ppt_x"/>
                                          </p:val>
                                        </p:tav>
                                        <p:tav tm="100000">
                                          <p:val>
                                            <p:strVal val="#ppt_x"/>
                                          </p:val>
                                        </p:tav>
                                      </p:tavLst>
                                    </p:anim>
                                    <p:anim calcmode="lin" valueType="num">
                                      <p:cBhvr>
                                        <p:cTn id="19" dur="1000" fill="hold"/>
                                        <p:tgtEl>
                                          <p:spTgt spid="6"/>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1000"/>
                                        <p:tgtEl>
                                          <p:spTgt spid="7"/>
                                        </p:tgtEl>
                                      </p:cBhvr>
                                    </p:animEffect>
                                    <p:anim calcmode="lin" valueType="num">
                                      <p:cBhvr>
                                        <p:cTn id="23" dur="1000" fill="hold"/>
                                        <p:tgtEl>
                                          <p:spTgt spid="7"/>
                                        </p:tgtEl>
                                        <p:attrNameLst>
                                          <p:attrName>ppt_x</p:attrName>
                                        </p:attrNameLst>
                                      </p:cBhvr>
                                      <p:tavLst>
                                        <p:tav tm="0">
                                          <p:val>
                                            <p:strVal val="#ppt_x"/>
                                          </p:val>
                                        </p:tav>
                                        <p:tav tm="100000">
                                          <p:val>
                                            <p:strVal val="#ppt_x"/>
                                          </p:val>
                                        </p:tav>
                                      </p:tavLst>
                                    </p:anim>
                                    <p:anim calcmode="lin" valueType="num">
                                      <p:cBhvr>
                                        <p:cTn id="24" dur="1000" fill="hold"/>
                                        <p:tgtEl>
                                          <p:spTgt spid="7"/>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1000"/>
                                        <p:tgtEl>
                                          <p:spTgt spid="8"/>
                                        </p:tgtEl>
                                      </p:cBhvr>
                                    </p:animEffect>
                                    <p:anim calcmode="lin" valueType="num">
                                      <p:cBhvr>
                                        <p:cTn id="28" dur="1000" fill="hold"/>
                                        <p:tgtEl>
                                          <p:spTgt spid="8"/>
                                        </p:tgtEl>
                                        <p:attrNameLst>
                                          <p:attrName>ppt_x</p:attrName>
                                        </p:attrNameLst>
                                      </p:cBhvr>
                                      <p:tavLst>
                                        <p:tav tm="0">
                                          <p:val>
                                            <p:strVal val="#ppt_x"/>
                                          </p:val>
                                        </p:tav>
                                        <p:tav tm="100000">
                                          <p:val>
                                            <p:strVal val="#ppt_x"/>
                                          </p:val>
                                        </p:tav>
                                      </p:tavLst>
                                    </p:anim>
                                    <p:anim calcmode="lin" valueType="num">
                                      <p:cBhvr>
                                        <p:cTn id="29" dur="1000" fill="hold"/>
                                        <p:tgtEl>
                                          <p:spTgt spid="8"/>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1000"/>
                                        <p:tgtEl>
                                          <p:spTgt spid="9"/>
                                        </p:tgtEl>
                                      </p:cBhvr>
                                    </p:animEffect>
                                    <p:anim calcmode="lin" valueType="num">
                                      <p:cBhvr>
                                        <p:cTn id="33" dur="1000" fill="hold"/>
                                        <p:tgtEl>
                                          <p:spTgt spid="9"/>
                                        </p:tgtEl>
                                        <p:attrNameLst>
                                          <p:attrName>ppt_x</p:attrName>
                                        </p:attrNameLst>
                                      </p:cBhvr>
                                      <p:tavLst>
                                        <p:tav tm="0">
                                          <p:val>
                                            <p:strVal val="#ppt_x"/>
                                          </p:val>
                                        </p:tav>
                                        <p:tav tm="100000">
                                          <p:val>
                                            <p:strVal val="#ppt_x"/>
                                          </p:val>
                                        </p:tav>
                                      </p:tavLst>
                                    </p:anim>
                                    <p:anim calcmode="lin" valueType="num">
                                      <p:cBhvr>
                                        <p:cTn id="34" dur="1000" fill="hold"/>
                                        <p:tgtEl>
                                          <p:spTgt spid="9"/>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1000"/>
                                        <p:tgtEl>
                                          <p:spTgt spid="10"/>
                                        </p:tgtEl>
                                      </p:cBhvr>
                                    </p:animEffect>
                                    <p:anim calcmode="lin" valueType="num">
                                      <p:cBhvr>
                                        <p:cTn id="38" dur="1000" fill="hold"/>
                                        <p:tgtEl>
                                          <p:spTgt spid="10"/>
                                        </p:tgtEl>
                                        <p:attrNameLst>
                                          <p:attrName>ppt_x</p:attrName>
                                        </p:attrNameLst>
                                      </p:cBhvr>
                                      <p:tavLst>
                                        <p:tav tm="0">
                                          <p:val>
                                            <p:strVal val="#ppt_x"/>
                                          </p:val>
                                        </p:tav>
                                        <p:tav tm="100000">
                                          <p:val>
                                            <p:strVal val="#ppt_x"/>
                                          </p:val>
                                        </p:tav>
                                      </p:tavLst>
                                    </p:anim>
                                    <p:anim calcmode="lin" valueType="num">
                                      <p:cBhvr>
                                        <p:cTn id="39" dur="1000" fill="hold"/>
                                        <p:tgtEl>
                                          <p:spTgt spid="10"/>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1000"/>
                                        <p:tgtEl>
                                          <p:spTgt spid="11"/>
                                        </p:tgtEl>
                                      </p:cBhvr>
                                    </p:animEffect>
                                    <p:anim calcmode="lin" valueType="num">
                                      <p:cBhvr>
                                        <p:cTn id="43" dur="1000" fill="hold"/>
                                        <p:tgtEl>
                                          <p:spTgt spid="11"/>
                                        </p:tgtEl>
                                        <p:attrNameLst>
                                          <p:attrName>ppt_x</p:attrName>
                                        </p:attrNameLst>
                                      </p:cBhvr>
                                      <p:tavLst>
                                        <p:tav tm="0">
                                          <p:val>
                                            <p:strVal val="#ppt_x"/>
                                          </p:val>
                                        </p:tav>
                                        <p:tav tm="100000">
                                          <p:val>
                                            <p:strVal val="#ppt_x"/>
                                          </p:val>
                                        </p:tav>
                                      </p:tavLst>
                                    </p:anim>
                                    <p:anim calcmode="lin" valueType="num">
                                      <p:cBhvr>
                                        <p:cTn id="44" dur="1000" fill="hold"/>
                                        <p:tgtEl>
                                          <p:spTgt spid="11"/>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1000"/>
                                        <p:tgtEl>
                                          <p:spTgt spid="12"/>
                                        </p:tgtEl>
                                      </p:cBhvr>
                                    </p:animEffect>
                                    <p:anim calcmode="lin" valueType="num">
                                      <p:cBhvr>
                                        <p:cTn id="48" dur="1000" fill="hold"/>
                                        <p:tgtEl>
                                          <p:spTgt spid="12"/>
                                        </p:tgtEl>
                                        <p:attrNameLst>
                                          <p:attrName>ppt_x</p:attrName>
                                        </p:attrNameLst>
                                      </p:cBhvr>
                                      <p:tavLst>
                                        <p:tav tm="0">
                                          <p:val>
                                            <p:strVal val="#ppt_x"/>
                                          </p:val>
                                        </p:tav>
                                        <p:tav tm="100000">
                                          <p:val>
                                            <p:strVal val="#ppt_x"/>
                                          </p:val>
                                        </p:tav>
                                      </p:tavLst>
                                    </p:anim>
                                    <p:anim calcmode="lin" valueType="num">
                                      <p:cBhvr>
                                        <p:cTn id="49" dur="1000" fill="hold"/>
                                        <p:tgtEl>
                                          <p:spTgt spid="12"/>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13"/>
                                        </p:tgtEl>
                                        <p:attrNameLst>
                                          <p:attrName>style.visibility</p:attrName>
                                        </p:attrNameLst>
                                      </p:cBhvr>
                                      <p:to>
                                        <p:strVal val="visible"/>
                                      </p:to>
                                    </p:set>
                                    <p:animEffect transition="in" filter="fade">
                                      <p:cBhvr>
                                        <p:cTn id="52" dur="1000"/>
                                        <p:tgtEl>
                                          <p:spTgt spid="13"/>
                                        </p:tgtEl>
                                      </p:cBhvr>
                                    </p:animEffect>
                                    <p:anim calcmode="lin" valueType="num">
                                      <p:cBhvr>
                                        <p:cTn id="53" dur="1000" fill="hold"/>
                                        <p:tgtEl>
                                          <p:spTgt spid="13"/>
                                        </p:tgtEl>
                                        <p:attrNameLst>
                                          <p:attrName>ppt_x</p:attrName>
                                        </p:attrNameLst>
                                      </p:cBhvr>
                                      <p:tavLst>
                                        <p:tav tm="0">
                                          <p:val>
                                            <p:strVal val="#ppt_x"/>
                                          </p:val>
                                        </p:tav>
                                        <p:tav tm="100000">
                                          <p:val>
                                            <p:strVal val="#ppt_x"/>
                                          </p:val>
                                        </p:tav>
                                      </p:tavLst>
                                    </p:anim>
                                    <p:anim calcmode="lin" valueType="num">
                                      <p:cBhvr>
                                        <p:cTn id="54" dur="1000" fill="hold"/>
                                        <p:tgtEl>
                                          <p:spTgt spid="13"/>
                                        </p:tgtEl>
                                        <p:attrNameLst>
                                          <p:attrName>ppt_y</p:attrName>
                                        </p:attrNameLst>
                                      </p:cBhvr>
                                      <p:tavLst>
                                        <p:tav tm="0">
                                          <p:val>
                                            <p:strVal val="#ppt_y+.1"/>
                                          </p:val>
                                        </p:tav>
                                        <p:tav tm="100000">
                                          <p:val>
                                            <p:strVal val="#ppt_y"/>
                                          </p:val>
                                        </p:tav>
                                      </p:tavLst>
                                    </p:anim>
                                  </p:childTnLst>
                                </p:cTn>
                              </p:par>
                              <p:par>
                                <p:cTn id="55" presetID="42" presetClass="entr" presetSubtype="0" fill="hold" nodeType="withEffect">
                                  <p:stCondLst>
                                    <p:cond delay="0"/>
                                  </p:stCondLst>
                                  <p:childTnLst>
                                    <p:set>
                                      <p:cBhvr>
                                        <p:cTn id="56" dur="1" fill="hold">
                                          <p:stCondLst>
                                            <p:cond delay="0"/>
                                          </p:stCondLst>
                                        </p:cTn>
                                        <p:tgtEl>
                                          <p:spTgt spid="14"/>
                                        </p:tgtEl>
                                        <p:attrNameLst>
                                          <p:attrName>style.visibility</p:attrName>
                                        </p:attrNameLst>
                                      </p:cBhvr>
                                      <p:to>
                                        <p:strVal val="visible"/>
                                      </p:to>
                                    </p:set>
                                    <p:animEffect transition="in" filter="fade">
                                      <p:cBhvr>
                                        <p:cTn id="57" dur="1000"/>
                                        <p:tgtEl>
                                          <p:spTgt spid="14"/>
                                        </p:tgtEl>
                                      </p:cBhvr>
                                    </p:animEffect>
                                    <p:anim calcmode="lin" valueType="num">
                                      <p:cBhvr>
                                        <p:cTn id="58" dur="1000" fill="hold"/>
                                        <p:tgtEl>
                                          <p:spTgt spid="14"/>
                                        </p:tgtEl>
                                        <p:attrNameLst>
                                          <p:attrName>ppt_x</p:attrName>
                                        </p:attrNameLst>
                                      </p:cBhvr>
                                      <p:tavLst>
                                        <p:tav tm="0">
                                          <p:val>
                                            <p:strVal val="#ppt_x"/>
                                          </p:val>
                                        </p:tav>
                                        <p:tav tm="100000">
                                          <p:val>
                                            <p:strVal val="#ppt_x"/>
                                          </p:val>
                                        </p:tav>
                                      </p:tavLst>
                                    </p:anim>
                                    <p:anim calcmode="lin" valueType="num">
                                      <p:cBhvr>
                                        <p:cTn id="59" dur="1000" fill="hold"/>
                                        <p:tgtEl>
                                          <p:spTgt spid="14"/>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15"/>
                                        </p:tgtEl>
                                        <p:attrNameLst>
                                          <p:attrName>style.visibility</p:attrName>
                                        </p:attrNameLst>
                                      </p:cBhvr>
                                      <p:to>
                                        <p:strVal val="visible"/>
                                      </p:to>
                                    </p:set>
                                    <p:animEffect transition="in" filter="fade">
                                      <p:cBhvr>
                                        <p:cTn id="62" dur="1000"/>
                                        <p:tgtEl>
                                          <p:spTgt spid="15"/>
                                        </p:tgtEl>
                                      </p:cBhvr>
                                    </p:animEffect>
                                    <p:anim calcmode="lin" valueType="num">
                                      <p:cBhvr>
                                        <p:cTn id="63" dur="1000" fill="hold"/>
                                        <p:tgtEl>
                                          <p:spTgt spid="15"/>
                                        </p:tgtEl>
                                        <p:attrNameLst>
                                          <p:attrName>ppt_x</p:attrName>
                                        </p:attrNameLst>
                                      </p:cBhvr>
                                      <p:tavLst>
                                        <p:tav tm="0">
                                          <p:val>
                                            <p:strVal val="#ppt_x"/>
                                          </p:val>
                                        </p:tav>
                                        <p:tav tm="100000">
                                          <p:val>
                                            <p:strVal val="#ppt_x"/>
                                          </p:val>
                                        </p:tav>
                                      </p:tavLst>
                                    </p:anim>
                                    <p:anim calcmode="lin" valueType="num">
                                      <p:cBhvr>
                                        <p:cTn id="64" dur="1000" fill="hold"/>
                                        <p:tgtEl>
                                          <p:spTgt spid="15"/>
                                        </p:tgtEl>
                                        <p:attrNameLst>
                                          <p:attrName>ppt_y</p:attrName>
                                        </p:attrNameLst>
                                      </p:cBhvr>
                                      <p:tavLst>
                                        <p:tav tm="0">
                                          <p:val>
                                            <p:strVal val="#ppt_y+.1"/>
                                          </p:val>
                                        </p:tav>
                                        <p:tav tm="100000">
                                          <p:val>
                                            <p:strVal val="#ppt_y"/>
                                          </p:val>
                                        </p:tav>
                                      </p:tavLst>
                                    </p:anim>
                                  </p:childTnLst>
                                </p:cTn>
                              </p:par>
                              <p:par>
                                <p:cTn id="65" presetID="42" presetClass="entr" presetSubtype="0" fill="hold" nodeType="withEffect">
                                  <p:stCondLst>
                                    <p:cond delay="0"/>
                                  </p:stCondLst>
                                  <p:childTnLst>
                                    <p:set>
                                      <p:cBhvr>
                                        <p:cTn id="66" dur="1" fill="hold">
                                          <p:stCondLst>
                                            <p:cond delay="0"/>
                                          </p:stCondLst>
                                        </p:cTn>
                                        <p:tgtEl>
                                          <p:spTgt spid="16"/>
                                        </p:tgtEl>
                                        <p:attrNameLst>
                                          <p:attrName>style.visibility</p:attrName>
                                        </p:attrNameLst>
                                      </p:cBhvr>
                                      <p:to>
                                        <p:strVal val="visible"/>
                                      </p:to>
                                    </p:set>
                                    <p:animEffect transition="in" filter="fade">
                                      <p:cBhvr>
                                        <p:cTn id="67" dur="1000"/>
                                        <p:tgtEl>
                                          <p:spTgt spid="16"/>
                                        </p:tgtEl>
                                      </p:cBhvr>
                                    </p:animEffect>
                                    <p:anim calcmode="lin" valueType="num">
                                      <p:cBhvr>
                                        <p:cTn id="68" dur="1000" fill="hold"/>
                                        <p:tgtEl>
                                          <p:spTgt spid="16"/>
                                        </p:tgtEl>
                                        <p:attrNameLst>
                                          <p:attrName>ppt_x</p:attrName>
                                        </p:attrNameLst>
                                      </p:cBhvr>
                                      <p:tavLst>
                                        <p:tav tm="0">
                                          <p:val>
                                            <p:strVal val="#ppt_x"/>
                                          </p:val>
                                        </p:tav>
                                        <p:tav tm="100000">
                                          <p:val>
                                            <p:strVal val="#ppt_x"/>
                                          </p:val>
                                        </p:tav>
                                      </p:tavLst>
                                    </p:anim>
                                    <p:anim calcmode="lin" valueType="num">
                                      <p:cBhvr>
                                        <p:cTn id="69" dur="1000" fill="hold"/>
                                        <p:tgtEl>
                                          <p:spTgt spid="16"/>
                                        </p:tgtEl>
                                        <p:attrNameLst>
                                          <p:attrName>ppt_y</p:attrName>
                                        </p:attrNameLst>
                                      </p:cBhvr>
                                      <p:tavLst>
                                        <p:tav tm="0">
                                          <p:val>
                                            <p:strVal val="#ppt_y+.1"/>
                                          </p:val>
                                        </p:tav>
                                        <p:tav tm="100000">
                                          <p:val>
                                            <p:strVal val="#ppt_y"/>
                                          </p:val>
                                        </p:tav>
                                      </p:tavLst>
                                    </p:anim>
                                  </p:childTnLst>
                                </p:cTn>
                              </p:par>
                              <p:par>
                                <p:cTn id="70" presetID="42" presetClass="entr" presetSubtype="0" fill="hold" grpId="0" nodeType="withEffect">
                                  <p:stCondLst>
                                    <p:cond delay="0"/>
                                  </p:stCondLst>
                                  <p:childTnLst>
                                    <p:set>
                                      <p:cBhvr>
                                        <p:cTn id="71" dur="1" fill="hold">
                                          <p:stCondLst>
                                            <p:cond delay="0"/>
                                          </p:stCondLst>
                                        </p:cTn>
                                        <p:tgtEl>
                                          <p:spTgt spid="17"/>
                                        </p:tgtEl>
                                        <p:attrNameLst>
                                          <p:attrName>style.visibility</p:attrName>
                                        </p:attrNameLst>
                                      </p:cBhvr>
                                      <p:to>
                                        <p:strVal val="visible"/>
                                      </p:to>
                                    </p:set>
                                    <p:animEffect transition="in" filter="fade">
                                      <p:cBhvr>
                                        <p:cTn id="72" dur="1000"/>
                                        <p:tgtEl>
                                          <p:spTgt spid="17"/>
                                        </p:tgtEl>
                                      </p:cBhvr>
                                    </p:animEffect>
                                    <p:anim calcmode="lin" valueType="num">
                                      <p:cBhvr>
                                        <p:cTn id="73" dur="1000" fill="hold"/>
                                        <p:tgtEl>
                                          <p:spTgt spid="17"/>
                                        </p:tgtEl>
                                        <p:attrNameLst>
                                          <p:attrName>ppt_x</p:attrName>
                                        </p:attrNameLst>
                                      </p:cBhvr>
                                      <p:tavLst>
                                        <p:tav tm="0">
                                          <p:val>
                                            <p:strVal val="#ppt_x"/>
                                          </p:val>
                                        </p:tav>
                                        <p:tav tm="100000">
                                          <p:val>
                                            <p:strVal val="#ppt_x"/>
                                          </p:val>
                                        </p:tav>
                                      </p:tavLst>
                                    </p:anim>
                                    <p:anim calcmode="lin" valueType="num">
                                      <p:cBhvr>
                                        <p:cTn id="74" dur="1000" fill="hold"/>
                                        <p:tgtEl>
                                          <p:spTgt spid="17"/>
                                        </p:tgtEl>
                                        <p:attrNameLst>
                                          <p:attrName>ppt_y</p:attrName>
                                        </p:attrNameLst>
                                      </p:cBhvr>
                                      <p:tavLst>
                                        <p:tav tm="0">
                                          <p:val>
                                            <p:strVal val="#ppt_y+.1"/>
                                          </p:val>
                                        </p:tav>
                                        <p:tav tm="100000">
                                          <p:val>
                                            <p:strVal val="#ppt_y"/>
                                          </p:val>
                                        </p:tav>
                                      </p:tavLst>
                                    </p:anim>
                                  </p:childTnLst>
                                </p:cTn>
                              </p:par>
                              <p:par>
                                <p:cTn id="75" presetID="42" presetClass="entr" presetSubtype="0" fill="hold" nodeType="withEffect">
                                  <p:stCondLst>
                                    <p:cond delay="0"/>
                                  </p:stCondLst>
                                  <p:childTnLst>
                                    <p:set>
                                      <p:cBhvr>
                                        <p:cTn id="76" dur="1" fill="hold">
                                          <p:stCondLst>
                                            <p:cond delay="0"/>
                                          </p:stCondLst>
                                        </p:cTn>
                                        <p:tgtEl>
                                          <p:spTgt spid="18"/>
                                        </p:tgtEl>
                                        <p:attrNameLst>
                                          <p:attrName>style.visibility</p:attrName>
                                        </p:attrNameLst>
                                      </p:cBhvr>
                                      <p:to>
                                        <p:strVal val="visible"/>
                                      </p:to>
                                    </p:set>
                                    <p:animEffect transition="in" filter="fade">
                                      <p:cBhvr>
                                        <p:cTn id="77" dur="1000"/>
                                        <p:tgtEl>
                                          <p:spTgt spid="18"/>
                                        </p:tgtEl>
                                      </p:cBhvr>
                                    </p:animEffect>
                                    <p:anim calcmode="lin" valueType="num">
                                      <p:cBhvr>
                                        <p:cTn id="78" dur="1000" fill="hold"/>
                                        <p:tgtEl>
                                          <p:spTgt spid="18"/>
                                        </p:tgtEl>
                                        <p:attrNameLst>
                                          <p:attrName>ppt_x</p:attrName>
                                        </p:attrNameLst>
                                      </p:cBhvr>
                                      <p:tavLst>
                                        <p:tav tm="0">
                                          <p:val>
                                            <p:strVal val="#ppt_x"/>
                                          </p:val>
                                        </p:tav>
                                        <p:tav tm="100000">
                                          <p:val>
                                            <p:strVal val="#ppt_x"/>
                                          </p:val>
                                        </p:tav>
                                      </p:tavLst>
                                    </p:anim>
                                    <p:anim calcmode="lin" valueType="num">
                                      <p:cBhvr>
                                        <p:cTn id="79" dur="1000" fill="hold"/>
                                        <p:tgtEl>
                                          <p:spTgt spid="18"/>
                                        </p:tgtEl>
                                        <p:attrNameLst>
                                          <p:attrName>ppt_y</p:attrName>
                                        </p:attrNameLst>
                                      </p:cBhvr>
                                      <p:tavLst>
                                        <p:tav tm="0">
                                          <p:val>
                                            <p:strVal val="#ppt_y+.1"/>
                                          </p:val>
                                        </p:tav>
                                        <p:tav tm="100000">
                                          <p:val>
                                            <p:strVal val="#ppt_y"/>
                                          </p:val>
                                        </p:tav>
                                      </p:tavLst>
                                    </p:anim>
                                  </p:childTnLst>
                                </p:cTn>
                              </p:par>
                              <p:par>
                                <p:cTn id="80" presetID="42" presetClass="entr" presetSubtype="0" fill="hold" grpId="0" nodeType="withEffect">
                                  <p:stCondLst>
                                    <p:cond delay="0"/>
                                  </p:stCondLst>
                                  <p:childTnLst>
                                    <p:set>
                                      <p:cBhvr>
                                        <p:cTn id="81" dur="1" fill="hold">
                                          <p:stCondLst>
                                            <p:cond delay="0"/>
                                          </p:stCondLst>
                                        </p:cTn>
                                        <p:tgtEl>
                                          <p:spTgt spid="19"/>
                                        </p:tgtEl>
                                        <p:attrNameLst>
                                          <p:attrName>style.visibility</p:attrName>
                                        </p:attrNameLst>
                                      </p:cBhvr>
                                      <p:to>
                                        <p:strVal val="visible"/>
                                      </p:to>
                                    </p:set>
                                    <p:animEffect transition="in" filter="fade">
                                      <p:cBhvr>
                                        <p:cTn id="82" dur="1000"/>
                                        <p:tgtEl>
                                          <p:spTgt spid="19"/>
                                        </p:tgtEl>
                                      </p:cBhvr>
                                    </p:animEffect>
                                    <p:anim calcmode="lin" valueType="num">
                                      <p:cBhvr>
                                        <p:cTn id="83" dur="1000" fill="hold"/>
                                        <p:tgtEl>
                                          <p:spTgt spid="19"/>
                                        </p:tgtEl>
                                        <p:attrNameLst>
                                          <p:attrName>ppt_x</p:attrName>
                                        </p:attrNameLst>
                                      </p:cBhvr>
                                      <p:tavLst>
                                        <p:tav tm="0">
                                          <p:val>
                                            <p:strVal val="#ppt_x"/>
                                          </p:val>
                                        </p:tav>
                                        <p:tav tm="100000">
                                          <p:val>
                                            <p:strVal val="#ppt_x"/>
                                          </p:val>
                                        </p:tav>
                                      </p:tavLst>
                                    </p:anim>
                                    <p:anim calcmode="lin" valueType="num">
                                      <p:cBhvr>
                                        <p:cTn id="84" dur="1000" fill="hold"/>
                                        <p:tgtEl>
                                          <p:spTgt spid="19"/>
                                        </p:tgtEl>
                                        <p:attrNameLst>
                                          <p:attrName>ppt_y</p:attrName>
                                        </p:attrNameLst>
                                      </p:cBhvr>
                                      <p:tavLst>
                                        <p:tav tm="0">
                                          <p:val>
                                            <p:strVal val="#ppt_y+.1"/>
                                          </p:val>
                                        </p:tav>
                                        <p:tav tm="100000">
                                          <p:val>
                                            <p:strVal val="#ppt_y"/>
                                          </p:val>
                                        </p:tav>
                                      </p:tavLst>
                                    </p:anim>
                                  </p:childTnLst>
                                </p:cTn>
                              </p:par>
                              <p:par>
                                <p:cTn id="85" presetID="42" presetClass="entr" presetSubtype="0" fill="hold" nodeType="withEffect">
                                  <p:stCondLst>
                                    <p:cond delay="0"/>
                                  </p:stCondLst>
                                  <p:childTnLst>
                                    <p:set>
                                      <p:cBhvr>
                                        <p:cTn id="86" dur="1" fill="hold">
                                          <p:stCondLst>
                                            <p:cond delay="0"/>
                                          </p:stCondLst>
                                        </p:cTn>
                                        <p:tgtEl>
                                          <p:spTgt spid="20"/>
                                        </p:tgtEl>
                                        <p:attrNameLst>
                                          <p:attrName>style.visibility</p:attrName>
                                        </p:attrNameLst>
                                      </p:cBhvr>
                                      <p:to>
                                        <p:strVal val="visible"/>
                                      </p:to>
                                    </p:set>
                                    <p:animEffect transition="in" filter="fade">
                                      <p:cBhvr>
                                        <p:cTn id="87" dur="1000"/>
                                        <p:tgtEl>
                                          <p:spTgt spid="20"/>
                                        </p:tgtEl>
                                      </p:cBhvr>
                                    </p:animEffect>
                                    <p:anim calcmode="lin" valueType="num">
                                      <p:cBhvr>
                                        <p:cTn id="88" dur="1000" fill="hold"/>
                                        <p:tgtEl>
                                          <p:spTgt spid="20"/>
                                        </p:tgtEl>
                                        <p:attrNameLst>
                                          <p:attrName>ppt_x</p:attrName>
                                        </p:attrNameLst>
                                      </p:cBhvr>
                                      <p:tavLst>
                                        <p:tav tm="0">
                                          <p:val>
                                            <p:strVal val="#ppt_x"/>
                                          </p:val>
                                        </p:tav>
                                        <p:tav tm="100000">
                                          <p:val>
                                            <p:strVal val="#ppt_x"/>
                                          </p:val>
                                        </p:tav>
                                      </p:tavLst>
                                    </p:anim>
                                    <p:anim calcmode="lin" valueType="num">
                                      <p:cBhvr>
                                        <p:cTn id="89" dur="1000" fill="hold"/>
                                        <p:tgtEl>
                                          <p:spTgt spid="20"/>
                                        </p:tgtEl>
                                        <p:attrNameLst>
                                          <p:attrName>ppt_y</p:attrName>
                                        </p:attrNameLst>
                                      </p:cBhvr>
                                      <p:tavLst>
                                        <p:tav tm="0">
                                          <p:val>
                                            <p:strVal val="#ppt_y+.1"/>
                                          </p:val>
                                        </p:tav>
                                        <p:tav tm="100000">
                                          <p:val>
                                            <p:strVal val="#ppt_y"/>
                                          </p:val>
                                        </p:tav>
                                      </p:tavLst>
                                    </p:anim>
                                  </p:childTnLst>
                                </p:cTn>
                              </p:par>
                              <p:par>
                                <p:cTn id="90" presetID="42" presetClass="entr" presetSubtype="0" fill="hold" grpId="0" nodeType="withEffect">
                                  <p:stCondLst>
                                    <p:cond delay="0"/>
                                  </p:stCondLst>
                                  <p:childTnLst>
                                    <p:set>
                                      <p:cBhvr>
                                        <p:cTn id="91" dur="1" fill="hold">
                                          <p:stCondLst>
                                            <p:cond delay="0"/>
                                          </p:stCondLst>
                                        </p:cTn>
                                        <p:tgtEl>
                                          <p:spTgt spid="21"/>
                                        </p:tgtEl>
                                        <p:attrNameLst>
                                          <p:attrName>style.visibility</p:attrName>
                                        </p:attrNameLst>
                                      </p:cBhvr>
                                      <p:to>
                                        <p:strVal val="visible"/>
                                      </p:to>
                                    </p:set>
                                    <p:animEffect transition="in" filter="fade">
                                      <p:cBhvr>
                                        <p:cTn id="92" dur="1000"/>
                                        <p:tgtEl>
                                          <p:spTgt spid="21"/>
                                        </p:tgtEl>
                                      </p:cBhvr>
                                    </p:animEffect>
                                    <p:anim calcmode="lin" valueType="num">
                                      <p:cBhvr>
                                        <p:cTn id="93" dur="1000" fill="hold"/>
                                        <p:tgtEl>
                                          <p:spTgt spid="21"/>
                                        </p:tgtEl>
                                        <p:attrNameLst>
                                          <p:attrName>ppt_x</p:attrName>
                                        </p:attrNameLst>
                                      </p:cBhvr>
                                      <p:tavLst>
                                        <p:tav tm="0">
                                          <p:val>
                                            <p:strVal val="#ppt_x"/>
                                          </p:val>
                                        </p:tav>
                                        <p:tav tm="100000">
                                          <p:val>
                                            <p:strVal val="#ppt_x"/>
                                          </p:val>
                                        </p:tav>
                                      </p:tavLst>
                                    </p:anim>
                                    <p:anim calcmode="lin" valueType="num">
                                      <p:cBhvr>
                                        <p:cTn id="94" dur="1000" fill="hold"/>
                                        <p:tgtEl>
                                          <p:spTgt spid="21"/>
                                        </p:tgtEl>
                                        <p:attrNameLst>
                                          <p:attrName>ppt_y</p:attrName>
                                        </p:attrNameLst>
                                      </p:cBhvr>
                                      <p:tavLst>
                                        <p:tav tm="0">
                                          <p:val>
                                            <p:strVal val="#ppt_y+.1"/>
                                          </p:val>
                                        </p:tav>
                                        <p:tav tm="100000">
                                          <p:val>
                                            <p:strVal val="#ppt_y"/>
                                          </p:val>
                                        </p:tav>
                                      </p:tavLst>
                                    </p:anim>
                                  </p:childTnLst>
                                </p:cTn>
                              </p:par>
                              <p:par>
                                <p:cTn id="95" presetID="42" presetClass="entr" presetSubtype="0" fill="hold" nodeType="withEffect">
                                  <p:stCondLst>
                                    <p:cond delay="0"/>
                                  </p:stCondLst>
                                  <p:childTnLst>
                                    <p:set>
                                      <p:cBhvr>
                                        <p:cTn id="96" dur="1" fill="hold">
                                          <p:stCondLst>
                                            <p:cond delay="0"/>
                                          </p:stCondLst>
                                        </p:cTn>
                                        <p:tgtEl>
                                          <p:spTgt spid="22"/>
                                        </p:tgtEl>
                                        <p:attrNameLst>
                                          <p:attrName>style.visibility</p:attrName>
                                        </p:attrNameLst>
                                      </p:cBhvr>
                                      <p:to>
                                        <p:strVal val="visible"/>
                                      </p:to>
                                    </p:set>
                                    <p:animEffect transition="in" filter="fade">
                                      <p:cBhvr>
                                        <p:cTn id="97" dur="1000"/>
                                        <p:tgtEl>
                                          <p:spTgt spid="22"/>
                                        </p:tgtEl>
                                      </p:cBhvr>
                                    </p:animEffect>
                                    <p:anim calcmode="lin" valueType="num">
                                      <p:cBhvr>
                                        <p:cTn id="98" dur="1000" fill="hold"/>
                                        <p:tgtEl>
                                          <p:spTgt spid="22"/>
                                        </p:tgtEl>
                                        <p:attrNameLst>
                                          <p:attrName>ppt_x</p:attrName>
                                        </p:attrNameLst>
                                      </p:cBhvr>
                                      <p:tavLst>
                                        <p:tav tm="0">
                                          <p:val>
                                            <p:strVal val="#ppt_x"/>
                                          </p:val>
                                        </p:tav>
                                        <p:tav tm="100000">
                                          <p:val>
                                            <p:strVal val="#ppt_x"/>
                                          </p:val>
                                        </p:tav>
                                      </p:tavLst>
                                    </p:anim>
                                    <p:anim calcmode="lin" valueType="num">
                                      <p:cBhvr>
                                        <p:cTn id="99" dur="1000" fill="hold"/>
                                        <p:tgtEl>
                                          <p:spTgt spid="22"/>
                                        </p:tgtEl>
                                        <p:attrNameLst>
                                          <p:attrName>ppt_y</p:attrName>
                                        </p:attrNameLst>
                                      </p:cBhvr>
                                      <p:tavLst>
                                        <p:tav tm="0">
                                          <p:val>
                                            <p:strVal val="#ppt_y+.1"/>
                                          </p:val>
                                        </p:tav>
                                        <p:tav tm="100000">
                                          <p:val>
                                            <p:strVal val="#ppt_y"/>
                                          </p:val>
                                        </p:tav>
                                      </p:tavLst>
                                    </p:anim>
                                  </p:childTnLst>
                                </p:cTn>
                              </p:par>
                              <p:par>
                                <p:cTn id="100" presetID="42" presetClass="entr" presetSubtype="0" fill="hold" grpId="0" nodeType="withEffect">
                                  <p:stCondLst>
                                    <p:cond delay="0"/>
                                  </p:stCondLst>
                                  <p:childTnLst>
                                    <p:set>
                                      <p:cBhvr>
                                        <p:cTn id="101" dur="1" fill="hold">
                                          <p:stCondLst>
                                            <p:cond delay="0"/>
                                          </p:stCondLst>
                                        </p:cTn>
                                        <p:tgtEl>
                                          <p:spTgt spid="23"/>
                                        </p:tgtEl>
                                        <p:attrNameLst>
                                          <p:attrName>style.visibility</p:attrName>
                                        </p:attrNameLst>
                                      </p:cBhvr>
                                      <p:to>
                                        <p:strVal val="visible"/>
                                      </p:to>
                                    </p:set>
                                    <p:animEffect transition="in" filter="fade">
                                      <p:cBhvr>
                                        <p:cTn id="102" dur="1000"/>
                                        <p:tgtEl>
                                          <p:spTgt spid="23"/>
                                        </p:tgtEl>
                                      </p:cBhvr>
                                    </p:animEffect>
                                    <p:anim calcmode="lin" valueType="num">
                                      <p:cBhvr>
                                        <p:cTn id="103" dur="1000" fill="hold"/>
                                        <p:tgtEl>
                                          <p:spTgt spid="23"/>
                                        </p:tgtEl>
                                        <p:attrNameLst>
                                          <p:attrName>ppt_x</p:attrName>
                                        </p:attrNameLst>
                                      </p:cBhvr>
                                      <p:tavLst>
                                        <p:tav tm="0">
                                          <p:val>
                                            <p:strVal val="#ppt_x"/>
                                          </p:val>
                                        </p:tav>
                                        <p:tav tm="100000">
                                          <p:val>
                                            <p:strVal val="#ppt_x"/>
                                          </p:val>
                                        </p:tav>
                                      </p:tavLst>
                                    </p:anim>
                                    <p:anim calcmode="lin" valueType="num">
                                      <p:cBhvr>
                                        <p:cTn id="104" dur="1000" fill="hold"/>
                                        <p:tgtEl>
                                          <p:spTgt spid="23"/>
                                        </p:tgtEl>
                                        <p:attrNameLst>
                                          <p:attrName>ppt_y</p:attrName>
                                        </p:attrNameLst>
                                      </p:cBhvr>
                                      <p:tavLst>
                                        <p:tav tm="0">
                                          <p:val>
                                            <p:strVal val="#ppt_y+.1"/>
                                          </p:val>
                                        </p:tav>
                                        <p:tav tm="100000">
                                          <p:val>
                                            <p:strVal val="#ppt_y"/>
                                          </p:val>
                                        </p:tav>
                                      </p:tavLst>
                                    </p:anim>
                                  </p:childTnLst>
                                </p:cTn>
                              </p:par>
                              <p:par>
                                <p:cTn id="105" presetID="42" presetClass="entr" presetSubtype="0" fill="hold" nodeType="withEffect">
                                  <p:stCondLst>
                                    <p:cond delay="0"/>
                                  </p:stCondLst>
                                  <p:childTnLst>
                                    <p:set>
                                      <p:cBhvr>
                                        <p:cTn id="106" dur="1" fill="hold">
                                          <p:stCondLst>
                                            <p:cond delay="0"/>
                                          </p:stCondLst>
                                        </p:cTn>
                                        <p:tgtEl>
                                          <p:spTgt spid="24"/>
                                        </p:tgtEl>
                                        <p:attrNameLst>
                                          <p:attrName>style.visibility</p:attrName>
                                        </p:attrNameLst>
                                      </p:cBhvr>
                                      <p:to>
                                        <p:strVal val="visible"/>
                                      </p:to>
                                    </p:set>
                                    <p:animEffect transition="in" filter="fade">
                                      <p:cBhvr>
                                        <p:cTn id="107" dur="1000"/>
                                        <p:tgtEl>
                                          <p:spTgt spid="24"/>
                                        </p:tgtEl>
                                      </p:cBhvr>
                                    </p:animEffect>
                                    <p:anim calcmode="lin" valueType="num">
                                      <p:cBhvr>
                                        <p:cTn id="108" dur="1000" fill="hold"/>
                                        <p:tgtEl>
                                          <p:spTgt spid="24"/>
                                        </p:tgtEl>
                                        <p:attrNameLst>
                                          <p:attrName>ppt_x</p:attrName>
                                        </p:attrNameLst>
                                      </p:cBhvr>
                                      <p:tavLst>
                                        <p:tav tm="0">
                                          <p:val>
                                            <p:strVal val="#ppt_x"/>
                                          </p:val>
                                        </p:tav>
                                        <p:tav tm="100000">
                                          <p:val>
                                            <p:strVal val="#ppt_x"/>
                                          </p:val>
                                        </p:tav>
                                      </p:tavLst>
                                    </p:anim>
                                    <p:anim calcmode="lin" valueType="num">
                                      <p:cBhvr>
                                        <p:cTn id="109" dur="1000" fill="hold"/>
                                        <p:tgtEl>
                                          <p:spTgt spid="24"/>
                                        </p:tgtEl>
                                        <p:attrNameLst>
                                          <p:attrName>ppt_y</p:attrName>
                                        </p:attrNameLst>
                                      </p:cBhvr>
                                      <p:tavLst>
                                        <p:tav tm="0">
                                          <p:val>
                                            <p:strVal val="#ppt_y+.1"/>
                                          </p:val>
                                        </p:tav>
                                        <p:tav tm="100000">
                                          <p:val>
                                            <p:strVal val="#ppt_y"/>
                                          </p:val>
                                        </p:tav>
                                      </p:tavLst>
                                    </p:anim>
                                  </p:childTnLst>
                                </p:cTn>
                              </p:par>
                              <p:par>
                                <p:cTn id="110" presetID="42" presetClass="entr" presetSubtype="0" fill="hold" grpId="0" nodeType="withEffect">
                                  <p:stCondLst>
                                    <p:cond delay="0"/>
                                  </p:stCondLst>
                                  <p:childTnLst>
                                    <p:set>
                                      <p:cBhvr>
                                        <p:cTn id="111" dur="1" fill="hold">
                                          <p:stCondLst>
                                            <p:cond delay="0"/>
                                          </p:stCondLst>
                                        </p:cTn>
                                        <p:tgtEl>
                                          <p:spTgt spid="25"/>
                                        </p:tgtEl>
                                        <p:attrNameLst>
                                          <p:attrName>style.visibility</p:attrName>
                                        </p:attrNameLst>
                                      </p:cBhvr>
                                      <p:to>
                                        <p:strVal val="visible"/>
                                      </p:to>
                                    </p:set>
                                    <p:animEffect transition="in" filter="fade">
                                      <p:cBhvr>
                                        <p:cTn id="112" dur="1000"/>
                                        <p:tgtEl>
                                          <p:spTgt spid="25"/>
                                        </p:tgtEl>
                                      </p:cBhvr>
                                    </p:animEffect>
                                    <p:anim calcmode="lin" valueType="num">
                                      <p:cBhvr>
                                        <p:cTn id="113" dur="1000" fill="hold"/>
                                        <p:tgtEl>
                                          <p:spTgt spid="25"/>
                                        </p:tgtEl>
                                        <p:attrNameLst>
                                          <p:attrName>ppt_x</p:attrName>
                                        </p:attrNameLst>
                                      </p:cBhvr>
                                      <p:tavLst>
                                        <p:tav tm="0">
                                          <p:val>
                                            <p:strVal val="#ppt_x"/>
                                          </p:val>
                                        </p:tav>
                                        <p:tav tm="100000">
                                          <p:val>
                                            <p:strVal val="#ppt_x"/>
                                          </p:val>
                                        </p:tav>
                                      </p:tavLst>
                                    </p:anim>
                                    <p:anim calcmode="lin" valueType="num">
                                      <p:cBhvr>
                                        <p:cTn id="114" dur="1000" fill="hold"/>
                                        <p:tgtEl>
                                          <p:spTgt spid="25"/>
                                        </p:tgtEl>
                                        <p:attrNameLst>
                                          <p:attrName>ppt_y</p:attrName>
                                        </p:attrNameLst>
                                      </p:cBhvr>
                                      <p:tavLst>
                                        <p:tav tm="0">
                                          <p:val>
                                            <p:strVal val="#ppt_y+.1"/>
                                          </p:val>
                                        </p:tav>
                                        <p:tav tm="100000">
                                          <p:val>
                                            <p:strVal val="#ppt_y"/>
                                          </p:val>
                                        </p:tav>
                                      </p:tavLst>
                                    </p:anim>
                                  </p:childTnLst>
                                </p:cTn>
                              </p:par>
                              <p:par>
                                <p:cTn id="115" presetID="42" presetClass="entr" presetSubtype="0" fill="hold" nodeType="withEffect">
                                  <p:stCondLst>
                                    <p:cond delay="0"/>
                                  </p:stCondLst>
                                  <p:childTnLst>
                                    <p:set>
                                      <p:cBhvr>
                                        <p:cTn id="116" dur="1" fill="hold">
                                          <p:stCondLst>
                                            <p:cond delay="0"/>
                                          </p:stCondLst>
                                        </p:cTn>
                                        <p:tgtEl>
                                          <p:spTgt spid="26"/>
                                        </p:tgtEl>
                                        <p:attrNameLst>
                                          <p:attrName>style.visibility</p:attrName>
                                        </p:attrNameLst>
                                      </p:cBhvr>
                                      <p:to>
                                        <p:strVal val="visible"/>
                                      </p:to>
                                    </p:set>
                                    <p:animEffect transition="in" filter="fade">
                                      <p:cBhvr>
                                        <p:cTn id="117" dur="1000"/>
                                        <p:tgtEl>
                                          <p:spTgt spid="26"/>
                                        </p:tgtEl>
                                      </p:cBhvr>
                                    </p:animEffect>
                                    <p:anim calcmode="lin" valueType="num">
                                      <p:cBhvr>
                                        <p:cTn id="118" dur="1000" fill="hold"/>
                                        <p:tgtEl>
                                          <p:spTgt spid="26"/>
                                        </p:tgtEl>
                                        <p:attrNameLst>
                                          <p:attrName>ppt_x</p:attrName>
                                        </p:attrNameLst>
                                      </p:cBhvr>
                                      <p:tavLst>
                                        <p:tav tm="0">
                                          <p:val>
                                            <p:strVal val="#ppt_x"/>
                                          </p:val>
                                        </p:tav>
                                        <p:tav tm="100000">
                                          <p:val>
                                            <p:strVal val="#ppt_x"/>
                                          </p:val>
                                        </p:tav>
                                      </p:tavLst>
                                    </p:anim>
                                    <p:anim calcmode="lin" valueType="num">
                                      <p:cBhvr>
                                        <p:cTn id="119" dur="1000" fill="hold"/>
                                        <p:tgtEl>
                                          <p:spTgt spid="26"/>
                                        </p:tgtEl>
                                        <p:attrNameLst>
                                          <p:attrName>ppt_y</p:attrName>
                                        </p:attrNameLst>
                                      </p:cBhvr>
                                      <p:tavLst>
                                        <p:tav tm="0">
                                          <p:val>
                                            <p:strVal val="#ppt_y+.1"/>
                                          </p:val>
                                        </p:tav>
                                        <p:tav tm="100000">
                                          <p:val>
                                            <p:strVal val="#ppt_y"/>
                                          </p:val>
                                        </p:tav>
                                      </p:tavLst>
                                    </p:anim>
                                  </p:childTnLst>
                                </p:cTn>
                              </p:par>
                              <p:par>
                                <p:cTn id="120" presetID="42" presetClass="entr" presetSubtype="0" fill="hold" grpId="0" nodeType="withEffect">
                                  <p:stCondLst>
                                    <p:cond delay="0"/>
                                  </p:stCondLst>
                                  <p:childTnLst>
                                    <p:set>
                                      <p:cBhvr>
                                        <p:cTn id="121" dur="1" fill="hold">
                                          <p:stCondLst>
                                            <p:cond delay="0"/>
                                          </p:stCondLst>
                                        </p:cTn>
                                        <p:tgtEl>
                                          <p:spTgt spid="27"/>
                                        </p:tgtEl>
                                        <p:attrNameLst>
                                          <p:attrName>style.visibility</p:attrName>
                                        </p:attrNameLst>
                                      </p:cBhvr>
                                      <p:to>
                                        <p:strVal val="visible"/>
                                      </p:to>
                                    </p:set>
                                    <p:animEffect transition="in" filter="fade">
                                      <p:cBhvr>
                                        <p:cTn id="122" dur="1000"/>
                                        <p:tgtEl>
                                          <p:spTgt spid="27"/>
                                        </p:tgtEl>
                                      </p:cBhvr>
                                    </p:animEffect>
                                    <p:anim calcmode="lin" valueType="num">
                                      <p:cBhvr>
                                        <p:cTn id="123" dur="1000" fill="hold"/>
                                        <p:tgtEl>
                                          <p:spTgt spid="27"/>
                                        </p:tgtEl>
                                        <p:attrNameLst>
                                          <p:attrName>ppt_x</p:attrName>
                                        </p:attrNameLst>
                                      </p:cBhvr>
                                      <p:tavLst>
                                        <p:tav tm="0">
                                          <p:val>
                                            <p:strVal val="#ppt_x"/>
                                          </p:val>
                                        </p:tav>
                                        <p:tav tm="100000">
                                          <p:val>
                                            <p:strVal val="#ppt_x"/>
                                          </p:val>
                                        </p:tav>
                                      </p:tavLst>
                                    </p:anim>
                                    <p:anim calcmode="lin" valueType="num">
                                      <p:cBhvr>
                                        <p:cTn id="124" dur="1000" fill="hold"/>
                                        <p:tgtEl>
                                          <p:spTgt spid="27"/>
                                        </p:tgtEl>
                                        <p:attrNameLst>
                                          <p:attrName>ppt_y</p:attrName>
                                        </p:attrNameLst>
                                      </p:cBhvr>
                                      <p:tavLst>
                                        <p:tav tm="0">
                                          <p:val>
                                            <p:strVal val="#ppt_y+.1"/>
                                          </p:val>
                                        </p:tav>
                                        <p:tav tm="100000">
                                          <p:val>
                                            <p:strVal val="#ppt_y"/>
                                          </p:val>
                                        </p:tav>
                                      </p:tavLst>
                                    </p:anim>
                                  </p:childTnLst>
                                </p:cTn>
                              </p:par>
                              <p:par>
                                <p:cTn id="125" presetID="42" presetClass="entr" presetSubtype="0" fill="hold" nodeType="withEffect">
                                  <p:stCondLst>
                                    <p:cond delay="0"/>
                                  </p:stCondLst>
                                  <p:childTnLst>
                                    <p:set>
                                      <p:cBhvr>
                                        <p:cTn id="126" dur="1" fill="hold">
                                          <p:stCondLst>
                                            <p:cond delay="0"/>
                                          </p:stCondLst>
                                        </p:cTn>
                                        <p:tgtEl>
                                          <p:spTgt spid="28"/>
                                        </p:tgtEl>
                                        <p:attrNameLst>
                                          <p:attrName>style.visibility</p:attrName>
                                        </p:attrNameLst>
                                      </p:cBhvr>
                                      <p:to>
                                        <p:strVal val="visible"/>
                                      </p:to>
                                    </p:set>
                                    <p:animEffect transition="in" filter="fade">
                                      <p:cBhvr>
                                        <p:cTn id="127" dur="1000"/>
                                        <p:tgtEl>
                                          <p:spTgt spid="28"/>
                                        </p:tgtEl>
                                      </p:cBhvr>
                                    </p:animEffect>
                                    <p:anim calcmode="lin" valueType="num">
                                      <p:cBhvr>
                                        <p:cTn id="128" dur="1000" fill="hold"/>
                                        <p:tgtEl>
                                          <p:spTgt spid="28"/>
                                        </p:tgtEl>
                                        <p:attrNameLst>
                                          <p:attrName>ppt_x</p:attrName>
                                        </p:attrNameLst>
                                      </p:cBhvr>
                                      <p:tavLst>
                                        <p:tav tm="0">
                                          <p:val>
                                            <p:strVal val="#ppt_x"/>
                                          </p:val>
                                        </p:tav>
                                        <p:tav tm="100000">
                                          <p:val>
                                            <p:strVal val="#ppt_x"/>
                                          </p:val>
                                        </p:tav>
                                      </p:tavLst>
                                    </p:anim>
                                    <p:anim calcmode="lin" valueType="num">
                                      <p:cBhvr>
                                        <p:cTn id="129" dur="1000" fill="hold"/>
                                        <p:tgtEl>
                                          <p:spTgt spid="28"/>
                                        </p:tgtEl>
                                        <p:attrNameLst>
                                          <p:attrName>ppt_y</p:attrName>
                                        </p:attrNameLst>
                                      </p:cBhvr>
                                      <p:tavLst>
                                        <p:tav tm="0">
                                          <p:val>
                                            <p:strVal val="#ppt_y+.1"/>
                                          </p:val>
                                        </p:tav>
                                        <p:tav tm="100000">
                                          <p:val>
                                            <p:strVal val="#ppt_y"/>
                                          </p:val>
                                        </p:tav>
                                      </p:tavLst>
                                    </p:anim>
                                  </p:childTnLst>
                                </p:cTn>
                              </p:par>
                              <p:par>
                                <p:cTn id="130" presetID="42" presetClass="entr" presetSubtype="0" fill="hold" grpId="0" nodeType="withEffect">
                                  <p:stCondLst>
                                    <p:cond delay="0"/>
                                  </p:stCondLst>
                                  <p:childTnLst>
                                    <p:set>
                                      <p:cBhvr>
                                        <p:cTn id="131" dur="1" fill="hold">
                                          <p:stCondLst>
                                            <p:cond delay="0"/>
                                          </p:stCondLst>
                                        </p:cTn>
                                        <p:tgtEl>
                                          <p:spTgt spid="29"/>
                                        </p:tgtEl>
                                        <p:attrNameLst>
                                          <p:attrName>style.visibility</p:attrName>
                                        </p:attrNameLst>
                                      </p:cBhvr>
                                      <p:to>
                                        <p:strVal val="visible"/>
                                      </p:to>
                                    </p:set>
                                    <p:animEffect transition="in" filter="fade">
                                      <p:cBhvr>
                                        <p:cTn id="132" dur="1000"/>
                                        <p:tgtEl>
                                          <p:spTgt spid="29"/>
                                        </p:tgtEl>
                                      </p:cBhvr>
                                    </p:animEffect>
                                    <p:anim calcmode="lin" valueType="num">
                                      <p:cBhvr>
                                        <p:cTn id="133" dur="1000" fill="hold"/>
                                        <p:tgtEl>
                                          <p:spTgt spid="29"/>
                                        </p:tgtEl>
                                        <p:attrNameLst>
                                          <p:attrName>ppt_x</p:attrName>
                                        </p:attrNameLst>
                                      </p:cBhvr>
                                      <p:tavLst>
                                        <p:tav tm="0">
                                          <p:val>
                                            <p:strVal val="#ppt_x"/>
                                          </p:val>
                                        </p:tav>
                                        <p:tav tm="100000">
                                          <p:val>
                                            <p:strVal val="#ppt_x"/>
                                          </p:val>
                                        </p:tav>
                                      </p:tavLst>
                                    </p:anim>
                                    <p:anim calcmode="lin" valueType="num">
                                      <p:cBhvr>
                                        <p:cTn id="134" dur="1000" fill="hold"/>
                                        <p:tgtEl>
                                          <p:spTgt spid="29"/>
                                        </p:tgtEl>
                                        <p:attrNameLst>
                                          <p:attrName>ppt_y</p:attrName>
                                        </p:attrNameLst>
                                      </p:cBhvr>
                                      <p:tavLst>
                                        <p:tav tm="0">
                                          <p:val>
                                            <p:strVal val="#ppt_y+.1"/>
                                          </p:val>
                                        </p:tav>
                                        <p:tav tm="100000">
                                          <p:val>
                                            <p:strVal val="#ppt_y"/>
                                          </p:val>
                                        </p:tav>
                                      </p:tavLst>
                                    </p:anim>
                                  </p:childTnLst>
                                </p:cTn>
                              </p:par>
                              <p:par>
                                <p:cTn id="135" presetID="42" presetClass="entr" presetSubtype="0" fill="hold" nodeType="withEffect">
                                  <p:stCondLst>
                                    <p:cond delay="0"/>
                                  </p:stCondLst>
                                  <p:childTnLst>
                                    <p:set>
                                      <p:cBhvr>
                                        <p:cTn id="136" dur="1" fill="hold">
                                          <p:stCondLst>
                                            <p:cond delay="0"/>
                                          </p:stCondLst>
                                        </p:cTn>
                                        <p:tgtEl>
                                          <p:spTgt spid="30"/>
                                        </p:tgtEl>
                                        <p:attrNameLst>
                                          <p:attrName>style.visibility</p:attrName>
                                        </p:attrNameLst>
                                      </p:cBhvr>
                                      <p:to>
                                        <p:strVal val="visible"/>
                                      </p:to>
                                    </p:set>
                                    <p:animEffect transition="in" filter="fade">
                                      <p:cBhvr>
                                        <p:cTn id="137" dur="1000"/>
                                        <p:tgtEl>
                                          <p:spTgt spid="30"/>
                                        </p:tgtEl>
                                      </p:cBhvr>
                                    </p:animEffect>
                                    <p:anim calcmode="lin" valueType="num">
                                      <p:cBhvr>
                                        <p:cTn id="138" dur="1000" fill="hold"/>
                                        <p:tgtEl>
                                          <p:spTgt spid="30"/>
                                        </p:tgtEl>
                                        <p:attrNameLst>
                                          <p:attrName>ppt_x</p:attrName>
                                        </p:attrNameLst>
                                      </p:cBhvr>
                                      <p:tavLst>
                                        <p:tav tm="0">
                                          <p:val>
                                            <p:strVal val="#ppt_x"/>
                                          </p:val>
                                        </p:tav>
                                        <p:tav tm="100000">
                                          <p:val>
                                            <p:strVal val="#ppt_x"/>
                                          </p:val>
                                        </p:tav>
                                      </p:tavLst>
                                    </p:anim>
                                    <p:anim calcmode="lin" valueType="num">
                                      <p:cBhvr>
                                        <p:cTn id="139" dur="1000" fill="hold"/>
                                        <p:tgtEl>
                                          <p:spTgt spid="30"/>
                                        </p:tgtEl>
                                        <p:attrNameLst>
                                          <p:attrName>ppt_y</p:attrName>
                                        </p:attrNameLst>
                                      </p:cBhvr>
                                      <p:tavLst>
                                        <p:tav tm="0">
                                          <p:val>
                                            <p:strVal val="#ppt_y+.1"/>
                                          </p:val>
                                        </p:tav>
                                        <p:tav tm="100000">
                                          <p:val>
                                            <p:strVal val="#ppt_y"/>
                                          </p:val>
                                        </p:tav>
                                      </p:tavLst>
                                    </p:anim>
                                  </p:childTnLst>
                                </p:cTn>
                              </p:par>
                              <p:par>
                                <p:cTn id="140" presetID="42" presetClass="entr" presetSubtype="0" fill="hold" grpId="0" nodeType="withEffect">
                                  <p:stCondLst>
                                    <p:cond delay="0"/>
                                  </p:stCondLst>
                                  <p:childTnLst>
                                    <p:set>
                                      <p:cBhvr>
                                        <p:cTn id="141" dur="1" fill="hold">
                                          <p:stCondLst>
                                            <p:cond delay="0"/>
                                          </p:stCondLst>
                                        </p:cTn>
                                        <p:tgtEl>
                                          <p:spTgt spid="31"/>
                                        </p:tgtEl>
                                        <p:attrNameLst>
                                          <p:attrName>style.visibility</p:attrName>
                                        </p:attrNameLst>
                                      </p:cBhvr>
                                      <p:to>
                                        <p:strVal val="visible"/>
                                      </p:to>
                                    </p:set>
                                    <p:animEffect transition="in" filter="fade">
                                      <p:cBhvr>
                                        <p:cTn id="142" dur="1000"/>
                                        <p:tgtEl>
                                          <p:spTgt spid="31"/>
                                        </p:tgtEl>
                                      </p:cBhvr>
                                    </p:animEffect>
                                    <p:anim calcmode="lin" valueType="num">
                                      <p:cBhvr>
                                        <p:cTn id="143" dur="1000" fill="hold"/>
                                        <p:tgtEl>
                                          <p:spTgt spid="31"/>
                                        </p:tgtEl>
                                        <p:attrNameLst>
                                          <p:attrName>ppt_x</p:attrName>
                                        </p:attrNameLst>
                                      </p:cBhvr>
                                      <p:tavLst>
                                        <p:tav tm="0">
                                          <p:val>
                                            <p:strVal val="#ppt_x"/>
                                          </p:val>
                                        </p:tav>
                                        <p:tav tm="100000">
                                          <p:val>
                                            <p:strVal val="#ppt_x"/>
                                          </p:val>
                                        </p:tav>
                                      </p:tavLst>
                                    </p:anim>
                                    <p:anim calcmode="lin" valueType="num">
                                      <p:cBhvr>
                                        <p:cTn id="144" dur="1000" fill="hold"/>
                                        <p:tgtEl>
                                          <p:spTgt spid="31"/>
                                        </p:tgtEl>
                                        <p:attrNameLst>
                                          <p:attrName>ppt_y</p:attrName>
                                        </p:attrNameLst>
                                      </p:cBhvr>
                                      <p:tavLst>
                                        <p:tav tm="0">
                                          <p:val>
                                            <p:strVal val="#ppt_y+.1"/>
                                          </p:val>
                                        </p:tav>
                                        <p:tav tm="100000">
                                          <p:val>
                                            <p:strVal val="#ppt_y"/>
                                          </p:val>
                                        </p:tav>
                                      </p:tavLst>
                                    </p:anim>
                                  </p:childTnLst>
                                </p:cTn>
                              </p:par>
                              <p:par>
                                <p:cTn id="145" presetID="42" presetClass="entr" presetSubtype="0" fill="hold" nodeType="withEffect">
                                  <p:stCondLst>
                                    <p:cond delay="0"/>
                                  </p:stCondLst>
                                  <p:childTnLst>
                                    <p:set>
                                      <p:cBhvr>
                                        <p:cTn id="146" dur="1" fill="hold">
                                          <p:stCondLst>
                                            <p:cond delay="0"/>
                                          </p:stCondLst>
                                        </p:cTn>
                                        <p:tgtEl>
                                          <p:spTgt spid="32"/>
                                        </p:tgtEl>
                                        <p:attrNameLst>
                                          <p:attrName>style.visibility</p:attrName>
                                        </p:attrNameLst>
                                      </p:cBhvr>
                                      <p:to>
                                        <p:strVal val="visible"/>
                                      </p:to>
                                    </p:set>
                                    <p:animEffect transition="in" filter="fade">
                                      <p:cBhvr>
                                        <p:cTn id="147" dur="1000"/>
                                        <p:tgtEl>
                                          <p:spTgt spid="32"/>
                                        </p:tgtEl>
                                      </p:cBhvr>
                                    </p:animEffect>
                                    <p:anim calcmode="lin" valueType="num">
                                      <p:cBhvr>
                                        <p:cTn id="148" dur="1000" fill="hold"/>
                                        <p:tgtEl>
                                          <p:spTgt spid="32"/>
                                        </p:tgtEl>
                                        <p:attrNameLst>
                                          <p:attrName>ppt_x</p:attrName>
                                        </p:attrNameLst>
                                      </p:cBhvr>
                                      <p:tavLst>
                                        <p:tav tm="0">
                                          <p:val>
                                            <p:strVal val="#ppt_x"/>
                                          </p:val>
                                        </p:tav>
                                        <p:tav tm="100000">
                                          <p:val>
                                            <p:strVal val="#ppt_x"/>
                                          </p:val>
                                        </p:tav>
                                      </p:tavLst>
                                    </p:anim>
                                    <p:anim calcmode="lin" valueType="num">
                                      <p:cBhvr>
                                        <p:cTn id="149" dur="1000" fill="hold"/>
                                        <p:tgtEl>
                                          <p:spTgt spid="32"/>
                                        </p:tgtEl>
                                        <p:attrNameLst>
                                          <p:attrName>ppt_y</p:attrName>
                                        </p:attrNameLst>
                                      </p:cBhvr>
                                      <p:tavLst>
                                        <p:tav tm="0">
                                          <p:val>
                                            <p:strVal val="#ppt_y+.1"/>
                                          </p:val>
                                        </p:tav>
                                        <p:tav tm="100000">
                                          <p:val>
                                            <p:strVal val="#ppt_y"/>
                                          </p:val>
                                        </p:tav>
                                      </p:tavLst>
                                    </p:anim>
                                  </p:childTnLst>
                                </p:cTn>
                              </p:par>
                              <p:par>
                                <p:cTn id="150" presetID="42" presetClass="entr" presetSubtype="0" fill="hold" grpId="0" nodeType="withEffect">
                                  <p:stCondLst>
                                    <p:cond delay="0"/>
                                  </p:stCondLst>
                                  <p:childTnLst>
                                    <p:set>
                                      <p:cBhvr>
                                        <p:cTn id="151" dur="1" fill="hold">
                                          <p:stCondLst>
                                            <p:cond delay="0"/>
                                          </p:stCondLst>
                                        </p:cTn>
                                        <p:tgtEl>
                                          <p:spTgt spid="33"/>
                                        </p:tgtEl>
                                        <p:attrNameLst>
                                          <p:attrName>style.visibility</p:attrName>
                                        </p:attrNameLst>
                                      </p:cBhvr>
                                      <p:to>
                                        <p:strVal val="visible"/>
                                      </p:to>
                                    </p:set>
                                    <p:animEffect transition="in" filter="fade">
                                      <p:cBhvr>
                                        <p:cTn id="152" dur="1000"/>
                                        <p:tgtEl>
                                          <p:spTgt spid="33"/>
                                        </p:tgtEl>
                                      </p:cBhvr>
                                    </p:animEffect>
                                    <p:anim calcmode="lin" valueType="num">
                                      <p:cBhvr>
                                        <p:cTn id="153" dur="1000" fill="hold"/>
                                        <p:tgtEl>
                                          <p:spTgt spid="33"/>
                                        </p:tgtEl>
                                        <p:attrNameLst>
                                          <p:attrName>ppt_x</p:attrName>
                                        </p:attrNameLst>
                                      </p:cBhvr>
                                      <p:tavLst>
                                        <p:tav tm="0">
                                          <p:val>
                                            <p:strVal val="#ppt_x"/>
                                          </p:val>
                                        </p:tav>
                                        <p:tav tm="100000">
                                          <p:val>
                                            <p:strVal val="#ppt_x"/>
                                          </p:val>
                                        </p:tav>
                                      </p:tavLst>
                                    </p:anim>
                                    <p:anim calcmode="lin" valueType="num">
                                      <p:cBhvr>
                                        <p:cTn id="154" dur="1000" fill="hold"/>
                                        <p:tgtEl>
                                          <p:spTgt spid="33"/>
                                        </p:tgtEl>
                                        <p:attrNameLst>
                                          <p:attrName>ppt_y</p:attrName>
                                        </p:attrNameLst>
                                      </p:cBhvr>
                                      <p:tavLst>
                                        <p:tav tm="0">
                                          <p:val>
                                            <p:strVal val="#ppt_y+.1"/>
                                          </p:val>
                                        </p:tav>
                                        <p:tav tm="100000">
                                          <p:val>
                                            <p:strVal val="#ppt_y"/>
                                          </p:val>
                                        </p:tav>
                                      </p:tavLst>
                                    </p:anim>
                                  </p:childTnLst>
                                </p:cTn>
                              </p:par>
                              <p:par>
                                <p:cTn id="155" presetID="42" presetClass="entr" presetSubtype="0" fill="hold" nodeType="withEffect">
                                  <p:stCondLst>
                                    <p:cond delay="0"/>
                                  </p:stCondLst>
                                  <p:childTnLst>
                                    <p:set>
                                      <p:cBhvr>
                                        <p:cTn id="156" dur="1" fill="hold">
                                          <p:stCondLst>
                                            <p:cond delay="0"/>
                                          </p:stCondLst>
                                        </p:cTn>
                                        <p:tgtEl>
                                          <p:spTgt spid="34"/>
                                        </p:tgtEl>
                                        <p:attrNameLst>
                                          <p:attrName>style.visibility</p:attrName>
                                        </p:attrNameLst>
                                      </p:cBhvr>
                                      <p:to>
                                        <p:strVal val="visible"/>
                                      </p:to>
                                    </p:set>
                                    <p:animEffect transition="in" filter="fade">
                                      <p:cBhvr>
                                        <p:cTn id="157" dur="1000"/>
                                        <p:tgtEl>
                                          <p:spTgt spid="34"/>
                                        </p:tgtEl>
                                      </p:cBhvr>
                                    </p:animEffect>
                                    <p:anim calcmode="lin" valueType="num">
                                      <p:cBhvr>
                                        <p:cTn id="158" dur="1000" fill="hold"/>
                                        <p:tgtEl>
                                          <p:spTgt spid="34"/>
                                        </p:tgtEl>
                                        <p:attrNameLst>
                                          <p:attrName>ppt_x</p:attrName>
                                        </p:attrNameLst>
                                      </p:cBhvr>
                                      <p:tavLst>
                                        <p:tav tm="0">
                                          <p:val>
                                            <p:strVal val="#ppt_x"/>
                                          </p:val>
                                        </p:tav>
                                        <p:tav tm="100000">
                                          <p:val>
                                            <p:strVal val="#ppt_x"/>
                                          </p:val>
                                        </p:tav>
                                      </p:tavLst>
                                    </p:anim>
                                    <p:anim calcmode="lin" valueType="num">
                                      <p:cBhvr>
                                        <p:cTn id="159" dur="1000" fill="hold"/>
                                        <p:tgtEl>
                                          <p:spTgt spid="34"/>
                                        </p:tgtEl>
                                        <p:attrNameLst>
                                          <p:attrName>ppt_y</p:attrName>
                                        </p:attrNameLst>
                                      </p:cBhvr>
                                      <p:tavLst>
                                        <p:tav tm="0">
                                          <p:val>
                                            <p:strVal val="#ppt_y+.1"/>
                                          </p:val>
                                        </p:tav>
                                        <p:tav tm="100000">
                                          <p:val>
                                            <p:strVal val="#ppt_y"/>
                                          </p:val>
                                        </p:tav>
                                      </p:tavLst>
                                    </p:anim>
                                  </p:childTnLst>
                                </p:cTn>
                              </p:par>
                              <p:par>
                                <p:cTn id="160" presetID="42" presetClass="entr" presetSubtype="0" fill="hold" grpId="0" nodeType="withEffect">
                                  <p:stCondLst>
                                    <p:cond delay="0"/>
                                  </p:stCondLst>
                                  <p:childTnLst>
                                    <p:set>
                                      <p:cBhvr>
                                        <p:cTn id="161" dur="1" fill="hold">
                                          <p:stCondLst>
                                            <p:cond delay="0"/>
                                          </p:stCondLst>
                                        </p:cTn>
                                        <p:tgtEl>
                                          <p:spTgt spid="35"/>
                                        </p:tgtEl>
                                        <p:attrNameLst>
                                          <p:attrName>style.visibility</p:attrName>
                                        </p:attrNameLst>
                                      </p:cBhvr>
                                      <p:to>
                                        <p:strVal val="visible"/>
                                      </p:to>
                                    </p:set>
                                    <p:animEffect transition="in" filter="fade">
                                      <p:cBhvr>
                                        <p:cTn id="162" dur="1000"/>
                                        <p:tgtEl>
                                          <p:spTgt spid="35"/>
                                        </p:tgtEl>
                                      </p:cBhvr>
                                    </p:animEffect>
                                    <p:anim calcmode="lin" valueType="num">
                                      <p:cBhvr>
                                        <p:cTn id="163" dur="1000" fill="hold"/>
                                        <p:tgtEl>
                                          <p:spTgt spid="35"/>
                                        </p:tgtEl>
                                        <p:attrNameLst>
                                          <p:attrName>ppt_x</p:attrName>
                                        </p:attrNameLst>
                                      </p:cBhvr>
                                      <p:tavLst>
                                        <p:tav tm="0">
                                          <p:val>
                                            <p:strVal val="#ppt_x"/>
                                          </p:val>
                                        </p:tav>
                                        <p:tav tm="100000">
                                          <p:val>
                                            <p:strVal val="#ppt_x"/>
                                          </p:val>
                                        </p:tav>
                                      </p:tavLst>
                                    </p:anim>
                                    <p:anim calcmode="lin" valueType="num">
                                      <p:cBhvr>
                                        <p:cTn id="164" dur="1000" fill="hold"/>
                                        <p:tgtEl>
                                          <p:spTgt spid="35"/>
                                        </p:tgtEl>
                                        <p:attrNameLst>
                                          <p:attrName>ppt_y</p:attrName>
                                        </p:attrNameLst>
                                      </p:cBhvr>
                                      <p:tavLst>
                                        <p:tav tm="0">
                                          <p:val>
                                            <p:strVal val="#ppt_y+.1"/>
                                          </p:val>
                                        </p:tav>
                                        <p:tav tm="100000">
                                          <p:val>
                                            <p:strVal val="#ppt_y"/>
                                          </p:val>
                                        </p:tav>
                                      </p:tavLst>
                                    </p:anim>
                                  </p:childTnLst>
                                </p:cTn>
                              </p:par>
                              <p:par>
                                <p:cTn id="165" presetID="42" presetClass="entr" presetSubtype="0" fill="hold" nodeType="withEffect">
                                  <p:stCondLst>
                                    <p:cond delay="0"/>
                                  </p:stCondLst>
                                  <p:childTnLst>
                                    <p:set>
                                      <p:cBhvr>
                                        <p:cTn id="166" dur="1" fill="hold">
                                          <p:stCondLst>
                                            <p:cond delay="0"/>
                                          </p:stCondLst>
                                        </p:cTn>
                                        <p:tgtEl>
                                          <p:spTgt spid="36"/>
                                        </p:tgtEl>
                                        <p:attrNameLst>
                                          <p:attrName>style.visibility</p:attrName>
                                        </p:attrNameLst>
                                      </p:cBhvr>
                                      <p:to>
                                        <p:strVal val="visible"/>
                                      </p:to>
                                    </p:set>
                                    <p:animEffect transition="in" filter="fade">
                                      <p:cBhvr>
                                        <p:cTn id="167" dur="1000"/>
                                        <p:tgtEl>
                                          <p:spTgt spid="36"/>
                                        </p:tgtEl>
                                      </p:cBhvr>
                                    </p:animEffect>
                                    <p:anim calcmode="lin" valueType="num">
                                      <p:cBhvr>
                                        <p:cTn id="168" dur="1000" fill="hold"/>
                                        <p:tgtEl>
                                          <p:spTgt spid="36"/>
                                        </p:tgtEl>
                                        <p:attrNameLst>
                                          <p:attrName>ppt_x</p:attrName>
                                        </p:attrNameLst>
                                      </p:cBhvr>
                                      <p:tavLst>
                                        <p:tav tm="0">
                                          <p:val>
                                            <p:strVal val="#ppt_x"/>
                                          </p:val>
                                        </p:tav>
                                        <p:tav tm="100000">
                                          <p:val>
                                            <p:strVal val="#ppt_x"/>
                                          </p:val>
                                        </p:tav>
                                      </p:tavLst>
                                    </p:anim>
                                    <p:anim calcmode="lin" valueType="num">
                                      <p:cBhvr>
                                        <p:cTn id="169" dur="1000" fill="hold"/>
                                        <p:tgtEl>
                                          <p:spTgt spid="36"/>
                                        </p:tgtEl>
                                        <p:attrNameLst>
                                          <p:attrName>ppt_y</p:attrName>
                                        </p:attrNameLst>
                                      </p:cBhvr>
                                      <p:tavLst>
                                        <p:tav tm="0">
                                          <p:val>
                                            <p:strVal val="#ppt_y+.1"/>
                                          </p:val>
                                        </p:tav>
                                        <p:tav tm="100000">
                                          <p:val>
                                            <p:strVal val="#ppt_y"/>
                                          </p:val>
                                        </p:tav>
                                      </p:tavLst>
                                    </p:anim>
                                  </p:childTnLst>
                                </p:cTn>
                              </p:par>
                              <p:par>
                                <p:cTn id="170" presetID="42" presetClass="entr" presetSubtype="0" fill="hold" grpId="0" nodeType="withEffect">
                                  <p:stCondLst>
                                    <p:cond delay="0"/>
                                  </p:stCondLst>
                                  <p:childTnLst>
                                    <p:set>
                                      <p:cBhvr>
                                        <p:cTn id="171" dur="1" fill="hold">
                                          <p:stCondLst>
                                            <p:cond delay="0"/>
                                          </p:stCondLst>
                                        </p:cTn>
                                        <p:tgtEl>
                                          <p:spTgt spid="37"/>
                                        </p:tgtEl>
                                        <p:attrNameLst>
                                          <p:attrName>style.visibility</p:attrName>
                                        </p:attrNameLst>
                                      </p:cBhvr>
                                      <p:to>
                                        <p:strVal val="visible"/>
                                      </p:to>
                                    </p:set>
                                    <p:animEffect transition="in" filter="fade">
                                      <p:cBhvr>
                                        <p:cTn id="172" dur="1000"/>
                                        <p:tgtEl>
                                          <p:spTgt spid="37"/>
                                        </p:tgtEl>
                                      </p:cBhvr>
                                    </p:animEffect>
                                    <p:anim calcmode="lin" valueType="num">
                                      <p:cBhvr>
                                        <p:cTn id="173" dur="1000" fill="hold"/>
                                        <p:tgtEl>
                                          <p:spTgt spid="37"/>
                                        </p:tgtEl>
                                        <p:attrNameLst>
                                          <p:attrName>ppt_x</p:attrName>
                                        </p:attrNameLst>
                                      </p:cBhvr>
                                      <p:tavLst>
                                        <p:tav tm="0">
                                          <p:val>
                                            <p:strVal val="#ppt_x"/>
                                          </p:val>
                                        </p:tav>
                                        <p:tav tm="100000">
                                          <p:val>
                                            <p:strVal val="#ppt_x"/>
                                          </p:val>
                                        </p:tav>
                                      </p:tavLst>
                                    </p:anim>
                                    <p:anim calcmode="lin" valueType="num">
                                      <p:cBhvr>
                                        <p:cTn id="174" dur="1000" fill="hold"/>
                                        <p:tgtEl>
                                          <p:spTgt spid="37"/>
                                        </p:tgtEl>
                                        <p:attrNameLst>
                                          <p:attrName>ppt_y</p:attrName>
                                        </p:attrNameLst>
                                      </p:cBhvr>
                                      <p:tavLst>
                                        <p:tav tm="0">
                                          <p:val>
                                            <p:strVal val="#ppt_y+.1"/>
                                          </p:val>
                                        </p:tav>
                                        <p:tav tm="100000">
                                          <p:val>
                                            <p:strVal val="#ppt_y"/>
                                          </p:val>
                                        </p:tav>
                                      </p:tavLst>
                                    </p:anim>
                                  </p:childTnLst>
                                </p:cTn>
                              </p:par>
                              <p:par>
                                <p:cTn id="175" presetID="42" presetClass="entr" presetSubtype="0" fill="hold" nodeType="withEffect">
                                  <p:stCondLst>
                                    <p:cond delay="0"/>
                                  </p:stCondLst>
                                  <p:childTnLst>
                                    <p:set>
                                      <p:cBhvr>
                                        <p:cTn id="176" dur="1" fill="hold">
                                          <p:stCondLst>
                                            <p:cond delay="0"/>
                                          </p:stCondLst>
                                        </p:cTn>
                                        <p:tgtEl>
                                          <p:spTgt spid="38"/>
                                        </p:tgtEl>
                                        <p:attrNameLst>
                                          <p:attrName>style.visibility</p:attrName>
                                        </p:attrNameLst>
                                      </p:cBhvr>
                                      <p:to>
                                        <p:strVal val="visible"/>
                                      </p:to>
                                    </p:set>
                                    <p:animEffect transition="in" filter="fade">
                                      <p:cBhvr>
                                        <p:cTn id="177" dur="1000"/>
                                        <p:tgtEl>
                                          <p:spTgt spid="38"/>
                                        </p:tgtEl>
                                      </p:cBhvr>
                                    </p:animEffect>
                                    <p:anim calcmode="lin" valueType="num">
                                      <p:cBhvr>
                                        <p:cTn id="178" dur="1000" fill="hold"/>
                                        <p:tgtEl>
                                          <p:spTgt spid="38"/>
                                        </p:tgtEl>
                                        <p:attrNameLst>
                                          <p:attrName>ppt_x</p:attrName>
                                        </p:attrNameLst>
                                      </p:cBhvr>
                                      <p:tavLst>
                                        <p:tav tm="0">
                                          <p:val>
                                            <p:strVal val="#ppt_x"/>
                                          </p:val>
                                        </p:tav>
                                        <p:tav tm="100000">
                                          <p:val>
                                            <p:strVal val="#ppt_x"/>
                                          </p:val>
                                        </p:tav>
                                      </p:tavLst>
                                    </p:anim>
                                    <p:anim calcmode="lin" valueType="num">
                                      <p:cBhvr>
                                        <p:cTn id="179" dur="1000" fill="hold"/>
                                        <p:tgtEl>
                                          <p:spTgt spid="38"/>
                                        </p:tgtEl>
                                        <p:attrNameLst>
                                          <p:attrName>ppt_y</p:attrName>
                                        </p:attrNameLst>
                                      </p:cBhvr>
                                      <p:tavLst>
                                        <p:tav tm="0">
                                          <p:val>
                                            <p:strVal val="#ppt_y+.1"/>
                                          </p:val>
                                        </p:tav>
                                        <p:tav tm="100000">
                                          <p:val>
                                            <p:strVal val="#ppt_y"/>
                                          </p:val>
                                        </p:tav>
                                      </p:tavLst>
                                    </p:anim>
                                  </p:childTnLst>
                                </p:cTn>
                              </p:par>
                              <p:par>
                                <p:cTn id="180" presetID="42" presetClass="entr" presetSubtype="0" fill="hold" grpId="0" nodeType="withEffect">
                                  <p:stCondLst>
                                    <p:cond delay="0"/>
                                  </p:stCondLst>
                                  <p:childTnLst>
                                    <p:set>
                                      <p:cBhvr>
                                        <p:cTn id="181" dur="1" fill="hold">
                                          <p:stCondLst>
                                            <p:cond delay="0"/>
                                          </p:stCondLst>
                                        </p:cTn>
                                        <p:tgtEl>
                                          <p:spTgt spid="39"/>
                                        </p:tgtEl>
                                        <p:attrNameLst>
                                          <p:attrName>style.visibility</p:attrName>
                                        </p:attrNameLst>
                                      </p:cBhvr>
                                      <p:to>
                                        <p:strVal val="visible"/>
                                      </p:to>
                                    </p:set>
                                    <p:animEffect transition="in" filter="fade">
                                      <p:cBhvr>
                                        <p:cTn id="182" dur="1000"/>
                                        <p:tgtEl>
                                          <p:spTgt spid="39"/>
                                        </p:tgtEl>
                                      </p:cBhvr>
                                    </p:animEffect>
                                    <p:anim calcmode="lin" valueType="num">
                                      <p:cBhvr>
                                        <p:cTn id="183" dur="1000" fill="hold"/>
                                        <p:tgtEl>
                                          <p:spTgt spid="39"/>
                                        </p:tgtEl>
                                        <p:attrNameLst>
                                          <p:attrName>ppt_x</p:attrName>
                                        </p:attrNameLst>
                                      </p:cBhvr>
                                      <p:tavLst>
                                        <p:tav tm="0">
                                          <p:val>
                                            <p:strVal val="#ppt_x"/>
                                          </p:val>
                                        </p:tav>
                                        <p:tav tm="100000">
                                          <p:val>
                                            <p:strVal val="#ppt_x"/>
                                          </p:val>
                                        </p:tav>
                                      </p:tavLst>
                                    </p:anim>
                                    <p:anim calcmode="lin" valueType="num">
                                      <p:cBhvr>
                                        <p:cTn id="184" dur="1000" fill="hold"/>
                                        <p:tgtEl>
                                          <p:spTgt spid="39"/>
                                        </p:tgtEl>
                                        <p:attrNameLst>
                                          <p:attrName>ppt_y</p:attrName>
                                        </p:attrNameLst>
                                      </p:cBhvr>
                                      <p:tavLst>
                                        <p:tav tm="0">
                                          <p:val>
                                            <p:strVal val="#ppt_y+.1"/>
                                          </p:val>
                                        </p:tav>
                                        <p:tav tm="100000">
                                          <p:val>
                                            <p:strVal val="#ppt_y"/>
                                          </p:val>
                                        </p:tav>
                                      </p:tavLst>
                                    </p:anim>
                                  </p:childTnLst>
                                </p:cTn>
                              </p:par>
                              <p:par>
                                <p:cTn id="185" presetID="42" presetClass="entr" presetSubtype="0" fill="hold" nodeType="withEffect">
                                  <p:stCondLst>
                                    <p:cond delay="0"/>
                                  </p:stCondLst>
                                  <p:childTnLst>
                                    <p:set>
                                      <p:cBhvr>
                                        <p:cTn id="186" dur="1" fill="hold">
                                          <p:stCondLst>
                                            <p:cond delay="0"/>
                                          </p:stCondLst>
                                        </p:cTn>
                                        <p:tgtEl>
                                          <p:spTgt spid="40"/>
                                        </p:tgtEl>
                                        <p:attrNameLst>
                                          <p:attrName>style.visibility</p:attrName>
                                        </p:attrNameLst>
                                      </p:cBhvr>
                                      <p:to>
                                        <p:strVal val="visible"/>
                                      </p:to>
                                    </p:set>
                                    <p:animEffect transition="in" filter="fade">
                                      <p:cBhvr>
                                        <p:cTn id="187" dur="1000"/>
                                        <p:tgtEl>
                                          <p:spTgt spid="40"/>
                                        </p:tgtEl>
                                      </p:cBhvr>
                                    </p:animEffect>
                                    <p:anim calcmode="lin" valueType="num">
                                      <p:cBhvr>
                                        <p:cTn id="188" dur="1000" fill="hold"/>
                                        <p:tgtEl>
                                          <p:spTgt spid="40"/>
                                        </p:tgtEl>
                                        <p:attrNameLst>
                                          <p:attrName>ppt_x</p:attrName>
                                        </p:attrNameLst>
                                      </p:cBhvr>
                                      <p:tavLst>
                                        <p:tav tm="0">
                                          <p:val>
                                            <p:strVal val="#ppt_x"/>
                                          </p:val>
                                        </p:tav>
                                        <p:tav tm="100000">
                                          <p:val>
                                            <p:strVal val="#ppt_x"/>
                                          </p:val>
                                        </p:tav>
                                      </p:tavLst>
                                    </p:anim>
                                    <p:anim calcmode="lin" valueType="num">
                                      <p:cBhvr>
                                        <p:cTn id="189" dur="1000" fill="hold"/>
                                        <p:tgtEl>
                                          <p:spTgt spid="40"/>
                                        </p:tgtEl>
                                        <p:attrNameLst>
                                          <p:attrName>ppt_y</p:attrName>
                                        </p:attrNameLst>
                                      </p:cBhvr>
                                      <p:tavLst>
                                        <p:tav tm="0">
                                          <p:val>
                                            <p:strVal val="#ppt_y+.1"/>
                                          </p:val>
                                        </p:tav>
                                        <p:tav tm="100000">
                                          <p:val>
                                            <p:strVal val="#ppt_y"/>
                                          </p:val>
                                        </p:tav>
                                      </p:tavLst>
                                    </p:anim>
                                  </p:childTnLst>
                                </p:cTn>
                              </p:par>
                              <p:par>
                                <p:cTn id="190" presetID="42" presetClass="entr" presetSubtype="0" fill="hold" grpId="0" nodeType="withEffect">
                                  <p:stCondLst>
                                    <p:cond delay="0"/>
                                  </p:stCondLst>
                                  <p:childTnLst>
                                    <p:set>
                                      <p:cBhvr>
                                        <p:cTn id="191" dur="1" fill="hold">
                                          <p:stCondLst>
                                            <p:cond delay="0"/>
                                          </p:stCondLst>
                                        </p:cTn>
                                        <p:tgtEl>
                                          <p:spTgt spid="41"/>
                                        </p:tgtEl>
                                        <p:attrNameLst>
                                          <p:attrName>style.visibility</p:attrName>
                                        </p:attrNameLst>
                                      </p:cBhvr>
                                      <p:to>
                                        <p:strVal val="visible"/>
                                      </p:to>
                                    </p:set>
                                    <p:animEffect transition="in" filter="fade">
                                      <p:cBhvr>
                                        <p:cTn id="192" dur="1000"/>
                                        <p:tgtEl>
                                          <p:spTgt spid="41"/>
                                        </p:tgtEl>
                                      </p:cBhvr>
                                    </p:animEffect>
                                    <p:anim calcmode="lin" valueType="num">
                                      <p:cBhvr>
                                        <p:cTn id="193" dur="1000" fill="hold"/>
                                        <p:tgtEl>
                                          <p:spTgt spid="41"/>
                                        </p:tgtEl>
                                        <p:attrNameLst>
                                          <p:attrName>ppt_x</p:attrName>
                                        </p:attrNameLst>
                                      </p:cBhvr>
                                      <p:tavLst>
                                        <p:tav tm="0">
                                          <p:val>
                                            <p:strVal val="#ppt_x"/>
                                          </p:val>
                                        </p:tav>
                                        <p:tav tm="100000">
                                          <p:val>
                                            <p:strVal val="#ppt_x"/>
                                          </p:val>
                                        </p:tav>
                                      </p:tavLst>
                                    </p:anim>
                                    <p:anim calcmode="lin" valueType="num">
                                      <p:cBhvr>
                                        <p:cTn id="194" dur="1000" fill="hold"/>
                                        <p:tgtEl>
                                          <p:spTgt spid="41"/>
                                        </p:tgtEl>
                                        <p:attrNameLst>
                                          <p:attrName>ppt_y</p:attrName>
                                        </p:attrNameLst>
                                      </p:cBhvr>
                                      <p:tavLst>
                                        <p:tav tm="0">
                                          <p:val>
                                            <p:strVal val="#ppt_y+.1"/>
                                          </p:val>
                                        </p:tav>
                                        <p:tav tm="100000">
                                          <p:val>
                                            <p:strVal val="#ppt_y"/>
                                          </p:val>
                                        </p:tav>
                                      </p:tavLst>
                                    </p:anim>
                                  </p:childTnLst>
                                </p:cTn>
                              </p:par>
                              <p:par>
                                <p:cTn id="195" presetID="42" presetClass="entr" presetSubtype="0" fill="hold" nodeType="withEffect">
                                  <p:stCondLst>
                                    <p:cond delay="0"/>
                                  </p:stCondLst>
                                  <p:childTnLst>
                                    <p:set>
                                      <p:cBhvr>
                                        <p:cTn id="196" dur="1" fill="hold">
                                          <p:stCondLst>
                                            <p:cond delay="0"/>
                                          </p:stCondLst>
                                        </p:cTn>
                                        <p:tgtEl>
                                          <p:spTgt spid="42"/>
                                        </p:tgtEl>
                                        <p:attrNameLst>
                                          <p:attrName>style.visibility</p:attrName>
                                        </p:attrNameLst>
                                      </p:cBhvr>
                                      <p:to>
                                        <p:strVal val="visible"/>
                                      </p:to>
                                    </p:set>
                                    <p:animEffect transition="in" filter="fade">
                                      <p:cBhvr>
                                        <p:cTn id="197" dur="1000"/>
                                        <p:tgtEl>
                                          <p:spTgt spid="42"/>
                                        </p:tgtEl>
                                      </p:cBhvr>
                                    </p:animEffect>
                                    <p:anim calcmode="lin" valueType="num">
                                      <p:cBhvr>
                                        <p:cTn id="198" dur="1000" fill="hold"/>
                                        <p:tgtEl>
                                          <p:spTgt spid="42"/>
                                        </p:tgtEl>
                                        <p:attrNameLst>
                                          <p:attrName>ppt_x</p:attrName>
                                        </p:attrNameLst>
                                      </p:cBhvr>
                                      <p:tavLst>
                                        <p:tav tm="0">
                                          <p:val>
                                            <p:strVal val="#ppt_x"/>
                                          </p:val>
                                        </p:tav>
                                        <p:tav tm="100000">
                                          <p:val>
                                            <p:strVal val="#ppt_x"/>
                                          </p:val>
                                        </p:tav>
                                      </p:tavLst>
                                    </p:anim>
                                    <p:anim calcmode="lin" valueType="num">
                                      <p:cBhvr>
                                        <p:cTn id="199" dur="1000" fill="hold"/>
                                        <p:tgtEl>
                                          <p:spTgt spid="42"/>
                                        </p:tgtEl>
                                        <p:attrNameLst>
                                          <p:attrName>ppt_y</p:attrName>
                                        </p:attrNameLst>
                                      </p:cBhvr>
                                      <p:tavLst>
                                        <p:tav tm="0">
                                          <p:val>
                                            <p:strVal val="#ppt_y+.1"/>
                                          </p:val>
                                        </p:tav>
                                        <p:tav tm="100000">
                                          <p:val>
                                            <p:strVal val="#ppt_y"/>
                                          </p:val>
                                        </p:tav>
                                      </p:tavLst>
                                    </p:anim>
                                  </p:childTnLst>
                                </p:cTn>
                              </p:par>
                              <p:par>
                                <p:cTn id="200" presetID="42" presetClass="entr" presetSubtype="0" fill="hold" grpId="0" nodeType="withEffect">
                                  <p:stCondLst>
                                    <p:cond delay="0"/>
                                  </p:stCondLst>
                                  <p:childTnLst>
                                    <p:set>
                                      <p:cBhvr>
                                        <p:cTn id="201" dur="1" fill="hold">
                                          <p:stCondLst>
                                            <p:cond delay="0"/>
                                          </p:stCondLst>
                                        </p:cTn>
                                        <p:tgtEl>
                                          <p:spTgt spid="43"/>
                                        </p:tgtEl>
                                        <p:attrNameLst>
                                          <p:attrName>style.visibility</p:attrName>
                                        </p:attrNameLst>
                                      </p:cBhvr>
                                      <p:to>
                                        <p:strVal val="visible"/>
                                      </p:to>
                                    </p:set>
                                    <p:animEffect transition="in" filter="fade">
                                      <p:cBhvr>
                                        <p:cTn id="202" dur="1000"/>
                                        <p:tgtEl>
                                          <p:spTgt spid="43"/>
                                        </p:tgtEl>
                                      </p:cBhvr>
                                    </p:animEffect>
                                    <p:anim calcmode="lin" valueType="num">
                                      <p:cBhvr>
                                        <p:cTn id="203" dur="1000" fill="hold"/>
                                        <p:tgtEl>
                                          <p:spTgt spid="43"/>
                                        </p:tgtEl>
                                        <p:attrNameLst>
                                          <p:attrName>ppt_x</p:attrName>
                                        </p:attrNameLst>
                                      </p:cBhvr>
                                      <p:tavLst>
                                        <p:tav tm="0">
                                          <p:val>
                                            <p:strVal val="#ppt_x"/>
                                          </p:val>
                                        </p:tav>
                                        <p:tav tm="100000">
                                          <p:val>
                                            <p:strVal val="#ppt_x"/>
                                          </p:val>
                                        </p:tav>
                                      </p:tavLst>
                                    </p:anim>
                                    <p:anim calcmode="lin" valueType="num">
                                      <p:cBhvr>
                                        <p:cTn id="204" dur="1000" fill="hold"/>
                                        <p:tgtEl>
                                          <p:spTgt spid="43"/>
                                        </p:tgtEl>
                                        <p:attrNameLst>
                                          <p:attrName>ppt_y</p:attrName>
                                        </p:attrNameLst>
                                      </p:cBhvr>
                                      <p:tavLst>
                                        <p:tav tm="0">
                                          <p:val>
                                            <p:strVal val="#ppt_y+.1"/>
                                          </p:val>
                                        </p:tav>
                                        <p:tav tm="100000">
                                          <p:val>
                                            <p:strVal val="#ppt_y"/>
                                          </p:val>
                                        </p:tav>
                                      </p:tavLst>
                                    </p:anim>
                                  </p:childTnLst>
                                </p:cTn>
                              </p:par>
                              <p:par>
                                <p:cTn id="205" presetID="42" presetClass="entr" presetSubtype="0" fill="hold" nodeType="withEffect">
                                  <p:stCondLst>
                                    <p:cond delay="0"/>
                                  </p:stCondLst>
                                  <p:childTnLst>
                                    <p:set>
                                      <p:cBhvr>
                                        <p:cTn id="206" dur="1" fill="hold">
                                          <p:stCondLst>
                                            <p:cond delay="0"/>
                                          </p:stCondLst>
                                        </p:cTn>
                                        <p:tgtEl>
                                          <p:spTgt spid="44"/>
                                        </p:tgtEl>
                                        <p:attrNameLst>
                                          <p:attrName>style.visibility</p:attrName>
                                        </p:attrNameLst>
                                      </p:cBhvr>
                                      <p:to>
                                        <p:strVal val="visible"/>
                                      </p:to>
                                    </p:set>
                                    <p:animEffect transition="in" filter="fade">
                                      <p:cBhvr>
                                        <p:cTn id="207" dur="1000"/>
                                        <p:tgtEl>
                                          <p:spTgt spid="44"/>
                                        </p:tgtEl>
                                      </p:cBhvr>
                                    </p:animEffect>
                                    <p:anim calcmode="lin" valueType="num">
                                      <p:cBhvr>
                                        <p:cTn id="208" dur="1000" fill="hold"/>
                                        <p:tgtEl>
                                          <p:spTgt spid="44"/>
                                        </p:tgtEl>
                                        <p:attrNameLst>
                                          <p:attrName>ppt_x</p:attrName>
                                        </p:attrNameLst>
                                      </p:cBhvr>
                                      <p:tavLst>
                                        <p:tav tm="0">
                                          <p:val>
                                            <p:strVal val="#ppt_x"/>
                                          </p:val>
                                        </p:tav>
                                        <p:tav tm="100000">
                                          <p:val>
                                            <p:strVal val="#ppt_x"/>
                                          </p:val>
                                        </p:tav>
                                      </p:tavLst>
                                    </p:anim>
                                    <p:anim calcmode="lin" valueType="num">
                                      <p:cBhvr>
                                        <p:cTn id="209" dur="1000" fill="hold"/>
                                        <p:tgtEl>
                                          <p:spTgt spid="44"/>
                                        </p:tgtEl>
                                        <p:attrNameLst>
                                          <p:attrName>ppt_y</p:attrName>
                                        </p:attrNameLst>
                                      </p:cBhvr>
                                      <p:tavLst>
                                        <p:tav tm="0">
                                          <p:val>
                                            <p:strVal val="#ppt_y+.1"/>
                                          </p:val>
                                        </p:tav>
                                        <p:tav tm="100000">
                                          <p:val>
                                            <p:strVal val="#ppt_y"/>
                                          </p:val>
                                        </p:tav>
                                      </p:tavLst>
                                    </p:anim>
                                  </p:childTnLst>
                                </p:cTn>
                              </p:par>
                              <p:par>
                                <p:cTn id="210" presetID="42" presetClass="entr" presetSubtype="0" fill="hold" grpId="0" nodeType="withEffect">
                                  <p:stCondLst>
                                    <p:cond delay="0"/>
                                  </p:stCondLst>
                                  <p:childTnLst>
                                    <p:set>
                                      <p:cBhvr>
                                        <p:cTn id="211" dur="1" fill="hold">
                                          <p:stCondLst>
                                            <p:cond delay="0"/>
                                          </p:stCondLst>
                                        </p:cTn>
                                        <p:tgtEl>
                                          <p:spTgt spid="45"/>
                                        </p:tgtEl>
                                        <p:attrNameLst>
                                          <p:attrName>style.visibility</p:attrName>
                                        </p:attrNameLst>
                                      </p:cBhvr>
                                      <p:to>
                                        <p:strVal val="visible"/>
                                      </p:to>
                                    </p:set>
                                    <p:animEffect transition="in" filter="fade">
                                      <p:cBhvr>
                                        <p:cTn id="212" dur="1000"/>
                                        <p:tgtEl>
                                          <p:spTgt spid="45"/>
                                        </p:tgtEl>
                                      </p:cBhvr>
                                    </p:animEffect>
                                    <p:anim calcmode="lin" valueType="num">
                                      <p:cBhvr>
                                        <p:cTn id="213" dur="1000" fill="hold"/>
                                        <p:tgtEl>
                                          <p:spTgt spid="45"/>
                                        </p:tgtEl>
                                        <p:attrNameLst>
                                          <p:attrName>ppt_x</p:attrName>
                                        </p:attrNameLst>
                                      </p:cBhvr>
                                      <p:tavLst>
                                        <p:tav tm="0">
                                          <p:val>
                                            <p:strVal val="#ppt_x"/>
                                          </p:val>
                                        </p:tav>
                                        <p:tav tm="100000">
                                          <p:val>
                                            <p:strVal val="#ppt_x"/>
                                          </p:val>
                                        </p:tav>
                                      </p:tavLst>
                                    </p:anim>
                                    <p:anim calcmode="lin" valueType="num">
                                      <p:cBhvr>
                                        <p:cTn id="214" dur="1000" fill="hold"/>
                                        <p:tgtEl>
                                          <p:spTgt spid="45"/>
                                        </p:tgtEl>
                                        <p:attrNameLst>
                                          <p:attrName>ppt_y</p:attrName>
                                        </p:attrNameLst>
                                      </p:cBhvr>
                                      <p:tavLst>
                                        <p:tav tm="0">
                                          <p:val>
                                            <p:strVal val="#ppt_y+.1"/>
                                          </p:val>
                                        </p:tav>
                                        <p:tav tm="100000">
                                          <p:val>
                                            <p:strVal val="#ppt_y"/>
                                          </p:val>
                                        </p:tav>
                                      </p:tavLst>
                                    </p:anim>
                                  </p:childTnLst>
                                </p:cTn>
                              </p:par>
                              <p:par>
                                <p:cTn id="215" presetID="42" presetClass="entr" presetSubtype="0" fill="hold" nodeType="withEffect">
                                  <p:stCondLst>
                                    <p:cond delay="0"/>
                                  </p:stCondLst>
                                  <p:childTnLst>
                                    <p:set>
                                      <p:cBhvr>
                                        <p:cTn id="216" dur="1" fill="hold">
                                          <p:stCondLst>
                                            <p:cond delay="0"/>
                                          </p:stCondLst>
                                        </p:cTn>
                                        <p:tgtEl>
                                          <p:spTgt spid="46"/>
                                        </p:tgtEl>
                                        <p:attrNameLst>
                                          <p:attrName>style.visibility</p:attrName>
                                        </p:attrNameLst>
                                      </p:cBhvr>
                                      <p:to>
                                        <p:strVal val="visible"/>
                                      </p:to>
                                    </p:set>
                                    <p:animEffect transition="in" filter="fade">
                                      <p:cBhvr>
                                        <p:cTn id="217" dur="1000"/>
                                        <p:tgtEl>
                                          <p:spTgt spid="46"/>
                                        </p:tgtEl>
                                      </p:cBhvr>
                                    </p:animEffect>
                                    <p:anim calcmode="lin" valueType="num">
                                      <p:cBhvr>
                                        <p:cTn id="218" dur="1000" fill="hold"/>
                                        <p:tgtEl>
                                          <p:spTgt spid="46"/>
                                        </p:tgtEl>
                                        <p:attrNameLst>
                                          <p:attrName>ppt_x</p:attrName>
                                        </p:attrNameLst>
                                      </p:cBhvr>
                                      <p:tavLst>
                                        <p:tav tm="0">
                                          <p:val>
                                            <p:strVal val="#ppt_x"/>
                                          </p:val>
                                        </p:tav>
                                        <p:tav tm="100000">
                                          <p:val>
                                            <p:strVal val="#ppt_x"/>
                                          </p:val>
                                        </p:tav>
                                      </p:tavLst>
                                    </p:anim>
                                    <p:anim calcmode="lin" valueType="num">
                                      <p:cBhvr>
                                        <p:cTn id="219" dur="1000" fill="hold"/>
                                        <p:tgtEl>
                                          <p:spTgt spid="46"/>
                                        </p:tgtEl>
                                        <p:attrNameLst>
                                          <p:attrName>ppt_y</p:attrName>
                                        </p:attrNameLst>
                                      </p:cBhvr>
                                      <p:tavLst>
                                        <p:tav tm="0">
                                          <p:val>
                                            <p:strVal val="#ppt_y+.1"/>
                                          </p:val>
                                        </p:tav>
                                        <p:tav tm="100000">
                                          <p:val>
                                            <p:strVal val="#ppt_y"/>
                                          </p:val>
                                        </p:tav>
                                      </p:tavLst>
                                    </p:anim>
                                  </p:childTnLst>
                                </p:cTn>
                              </p:par>
                              <p:par>
                                <p:cTn id="220" presetID="42" presetClass="entr" presetSubtype="0" fill="hold" grpId="0" nodeType="withEffect">
                                  <p:stCondLst>
                                    <p:cond delay="0"/>
                                  </p:stCondLst>
                                  <p:childTnLst>
                                    <p:set>
                                      <p:cBhvr>
                                        <p:cTn id="221" dur="1" fill="hold">
                                          <p:stCondLst>
                                            <p:cond delay="0"/>
                                          </p:stCondLst>
                                        </p:cTn>
                                        <p:tgtEl>
                                          <p:spTgt spid="47"/>
                                        </p:tgtEl>
                                        <p:attrNameLst>
                                          <p:attrName>style.visibility</p:attrName>
                                        </p:attrNameLst>
                                      </p:cBhvr>
                                      <p:to>
                                        <p:strVal val="visible"/>
                                      </p:to>
                                    </p:set>
                                    <p:animEffect transition="in" filter="fade">
                                      <p:cBhvr>
                                        <p:cTn id="222" dur="1000"/>
                                        <p:tgtEl>
                                          <p:spTgt spid="47"/>
                                        </p:tgtEl>
                                      </p:cBhvr>
                                    </p:animEffect>
                                    <p:anim calcmode="lin" valueType="num">
                                      <p:cBhvr>
                                        <p:cTn id="223" dur="1000" fill="hold"/>
                                        <p:tgtEl>
                                          <p:spTgt spid="47"/>
                                        </p:tgtEl>
                                        <p:attrNameLst>
                                          <p:attrName>ppt_x</p:attrName>
                                        </p:attrNameLst>
                                      </p:cBhvr>
                                      <p:tavLst>
                                        <p:tav tm="0">
                                          <p:val>
                                            <p:strVal val="#ppt_x"/>
                                          </p:val>
                                        </p:tav>
                                        <p:tav tm="100000">
                                          <p:val>
                                            <p:strVal val="#ppt_x"/>
                                          </p:val>
                                        </p:tav>
                                      </p:tavLst>
                                    </p:anim>
                                    <p:anim calcmode="lin" valueType="num">
                                      <p:cBhvr>
                                        <p:cTn id="224" dur="1000" fill="hold"/>
                                        <p:tgtEl>
                                          <p:spTgt spid="47"/>
                                        </p:tgtEl>
                                        <p:attrNameLst>
                                          <p:attrName>ppt_y</p:attrName>
                                        </p:attrNameLst>
                                      </p:cBhvr>
                                      <p:tavLst>
                                        <p:tav tm="0">
                                          <p:val>
                                            <p:strVal val="#ppt_y+.1"/>
                                          </p:val>
                                        </p:tav>
                                        <p:tav tm="100000">
                                          <p:val>
                                            <p:strVal val="#ppt_y"/>
                                          </p:val>
                                        </p:tav>
                                      </p:tavLst>
                                    </p:anim>
                                  </p:childTnLst>
                                </p:cTn>
                              </p:par>
                              <p:par>
                                <p:cTn id="225" presetID="42" presetClass="entr" presetSubtype="0" fill="hold" nodeType="withEffect">
                                  <p:stCondLst>
                                    <p:cond delay="0"/>
                                  </p:stCondLst>
                                  <p:childTnLst>
                                    <p:set>
                                      <p:cBhvr>
                                        <p:cTn id="226" dur="1" fill="hold">
                                          <p:stCondLst>
                                            <p:cond delay="0"/>
                                          </p:stCondLst>
                                        </p:cTn>
                                        <p:tgtEl>
                                          <p:spTgt spid="48"/>
                                        </p:tgtEl>
                                        <p:attrNameLst>
                                          <p:attrName>style.visibility</p:attrName>
                                        </p:attrNameLst>
                                      </p:cBhvr>
                                      <p:to>
                                        <p:strVal val="visible"/>
                                      </p:to>
                                    </p:set>
                                    <p:animEffect transition="in" filter="fade">
                                      <p:cBhvr>
                                        <p:cTn id="227" dur="1000"/>
                                        <p:tgtEl>
                                          <p:spTgt spid="48"/>
                                        </p:tgtEl>
                                      </p:cBhvr>
                                    </p:animEffect>
                                    <p:anim calcmode="lin" valueType="num">
                                      <p:cBhvr>
                                        <p:cTn id="228" dur="1000" fill="hold"/>
                                        <p:tgtEl>
                                          <p:spTgt spid="48"/>
                                        </p:tgtEl>
                                        <p:attrNameLst>
                                          <p:attrName>ppt_x</p:attrName>
                                        </p:attrNameLst>
                                      </p:cBhvr>
                                      <p:tavLst>
                                        <p:tav tm="0">
                                          <p:val>
                                            <p:strVal val="#ppt_x"/>
                                          </p:val>
                                        </p:tav>
                                        <p:tav tm="100000">
                                          <p:val>
                                            <p:strVal val="#ppt_x"/>
                                          </p:val>
                                        </p:tav>
                                      </p:tavLst>
                                    </p:anim>
                                    <p:anim calcmode="lin" valueType="num">
                                      <p:cBhvr>
                                        <p:cTn id="229" dur="1000" fill="hold"/>
                                        <p:tgtEl>
                                          <p:spTgt spid="48"/>
                                        </p:tgtEl>
                                        <p:attrNameLst>
                                          <p:attrName>ppt_y</p:attrName>
                                        </p:attrNameLst>
                                      </p:cBhvr>
                                      <p:tavLst>
                                        <p:tav tm="0">
                                          <p:val>
                                            <p:strVal val="#ppt_y+.1"/>
                                          </p:val>
                                        </p:tav>
                                        <p:tav tm="100000">
                                          <p:val>
                                            <p:strVal val="#ppt_y"/>
                                          </p:val>
                                        </p:tav>
                                      </p:tavLst>
                                    </p:anim>
                                  </p:childTnLst>
                                </p:cTn>
                              </p:par>
                              <p:par>
                                <p:cTn id="230" presetID="42" presetClass="entr" presetSubtype="0" fill="hold" grpId="0" nodeType="withEffect">
                                  <p:stCondLst>
                                    <p:cond delay="0"/>
                                  </p:stCondLst>
                                  <p:childTnLst>
                                    <p:set>
                                      <p:cBhvr>
                                        <p:cTn id="231" dur="1" fill="hold">
                                          <p:stCondLst>
                                            <p:cond delay="0"/>
                                          </p:stCondLst>
                                        </p:cTn>
                                        <p:tgtEl>
                                          <p:spTgt spid="49"/>
                                        </p:tgtEl>
                                        <p:attrNameLst>
                                          <p:attrName>style.visibility</p:attrName>
                                        </p:attrNameLst>
                                      </p:cBhvr>
                                      <p:to>
                                        <p:strVal val="visible"/>
                                      </p:to>
                                    </p:set>
                                    <p:animEffect transition="in" filter="fade">
                                      <p:cBhvr>
                                        <p:cTn id="232" dur="1000"/>
                                        <p:tgtEl>
                                          <p:spTgt spid="49"/>
                                        </p:tgtEl>
                                      </p:cBhvr>
                                    </p:animEffect>
                                    <p:anim calcmode="lin" valueType="num">
                                      <p:cBhvr>
                                        <p:cTn id="233" dur="1000" fill="hold"/>
                                        <p:tgtEl>
                                          <p:spTgt spid="49"/>
                                        </p:tgtEl>
                                        <p:attrNameLst>
                                          <p:attrName>ppt_x</p:attrName>
                                        </p:attrNameLst>
                                      </p:cBhvr>
                                      <p:tavLst>
                                        <p:tav tm="0">
                                          <p:val>
                                            <p:strVal val="#ppt_x"/>
                                          </p:val>
                                        </p:tav>
                                        <p:tav tm="100000">
                                          <p:val>
                                            <p:strVal val="#ppt_x"/>
                                          </p:val>
                                        </p:tav>
                                      </p:tavLst>
                                    </p:anim>
                                    <p:anim calcmode="lin" valueType="num">
                                      <p:cBhvr>
                                        <p:cTn id="234" dur="1000" fill="hold"/>
                                        <p:tgtEl>
                                          <p:spTgt spid="49"/>
                                        </p:tgtEl>
                                        <p:attrNameLst>
                                          <p:attrName>ppt_y</p:attrName>
                                        </p:attrNameLst>
                                      </p:cBhvr>
                                      <p:tavLst>
                                        <p:tav tm="0">
                                          <p:val>
                                            <p:strVal val="#ppt_y+.1"/>
                                          </p:val>
                                        </p:tav>
                                        <p:tav tm="100000">
                                          <p:val>
                                            <p:strVal val="#ppt_y"/>
                                          </p:val>
                                        </p:tav>
                                      </p:tavLst>
                                    </p:anim>
                                  </p:childTnLst>
                                </p:cTn>
                              </p:par>
                              <p:par>
                                <p:cTn id="235" presetID="42" presetClass="entr" presetSubtype="0" fill="hold" nodeType="withEffect">
                                  <p:stCondLst>
                                    <p:cond delay="0"/>
                                  </p:stCondLst>
                                  <p:childTnLst>
                                    <p:set>
                                      <p:cBhvr>
                                        <p:cTn id="236" dur="1" fill="hold">
                                          <p:stCondLst>
                                            <p:cond delay="0"/>
                                          </p:stCondLst>
                                        </p:cTn>
                                        <p:tgtEl>
                                          <p:spTgt spid="50"/>
                                        </p:tgtEl>
                                        <p:attrNameLst>
                                          <p:attrName>style.visibility</p:attrName>
                                        </p:attrNameLst>
                                      </p:cBhvr>
                                      <p:to>
                                        <p:strVal val="visible"/>
                                      </p:to>
                                    </p:set>
                                    <p:animEffect transition="in" filter="fade">
                                      <p:cBhvr>
                                        <p:cTn id="237" dur="1000"/>
                                        <p:tgtEl>
                                          <p:spTgt spid="50"/>
                                        </p:tgtEl>
                                      </p:cBhvr>
                                    </p:animEffect>
                                    <p:anim calcmode="lin" valueType="num">
                                      <p:cBhvr>
                                        <p:cTn id="238" dur="1000" fill="hold"/>
                                        <p:tgtEl>
                                          <p:spTgt spid="50"/>
                                        </p:tgtEl>
                                        <p:attrNameLst>
                                          <p:attrName>ppt_x</p:attrName>
                                        </p:attrNameLst>
                                      </p:cBhvr>
                                      <p:tavLst>
                                        <p:tav tm="0">
                                          <p:val>
                                            <p:strVal val="#ppt_x"/>
                                          </p:val>
                                        </p:tav>
                                        <p:tav tm="100000">
                                          <p:val>
                                            <p:strVal val="#ppt_x"/>
                                          </p:val>
                                        </p:tav>
                                      </p:tavLst>
                                    </p:anim>
                                    <p:anim calcmode="lin" valueType="num">
                                      <p:cBhvr>
                                        <p:cTn id="239" dur="1000" fill="hold"/>
                                        <p:tgtEl>
                                          <p:spTgt spid="50"/>
                                        </p:tgtEl>
                                        <p:attrNameLst>
                                          <p:attrName>ppt_y</p:attrName>
                                        </p:attrNameLst>
                                      </p:cBhvr>
                                      <p:tavLst>
                                        <p:tav tm="0">
                                          <p:val>
                                            <p:strVal val="#ppt_y+.1"/>
                                          </p:val>
                                        </p:tav>
                                        <p:tav tm="100000">
                                          <p:val>
                                            <p:strVal val="#ppt_y"/>
                                          </p:val>
                                        </p:tav>
                                      </p:tavLst>
                                    </p:anim>
                                  </p:childTnLst>
                                </p:cTn>
                              </p:par>
                              <p:par>
                                <p:cTn id="240" presetID="42" presetClass="entr" presetSubtype="0" fill="hold" grpId="0" nodeType="withEffect">
                                  <p:stCondLst>
                                    <p:cond delay="0"/>
                                  </p:stCondLst>
                                  <p:childTnLst>
                                    <p:set>
                                      <p:cBhvr>
                                        <p:cTn id="241" dur="1" fill="hold">
                                          <p:stCondLst>
                                            <p:cond delay="0"/>
                                          </p:stCondLst>
                                        </p:cTn>
                                        <p:tgtEl>
                                          <p:spTgt spid="51"/>
                                        </p:tgtEl>
                                        <p:attrNameLst>
                                          <p:attrName>style.visibility</p:attrName>
                                        </p:attrNameLst>
                                      </p:cBhvr>
                                      <p:to>
                                        <p:strVal val="visible"/>
                                      </p:to>
                                    </p:set>
                                    <p:animEffect transition="in" filter="fade">
                                      <p:cBhvr>
                                        <p:cTn id="242" dur="1000"/>
                                        <p:tgtEl>
                                          <p:spTgt spid="51"/>
                                        </p:tgtEl>
                                      </p:cBhvr>
                                    </p:animEffect>
                                    <p:anim calcmode="lin" valueType="num">
                                      <p:cBhvr>
                                        <p:cTn id="243" dur="1000" fill="hold"/>
                                        <p:tgtEl>
                                          <p:spTgt spid="51"/>
                                        </p:tgtEl>
                                        <p:attrNameLst>
                                          <p:attrName>ppt_x</p:attrName>
                                        </p:attrNameLst>
                                      </p:cBhvr>
                                      <p:tavLst>
                                        <p:tav tm="0">
                                          <p:val>
                                            <p:strVal val="#ppt_x"/>
                                          </p:val>
                                        </p:tav>
                                        <p:tav tm="100000">
                                          <p:val>
                                            <p:strVal val="#ppt_x"/>
                                          </p:val>
                                        </p:tav>
                                      </p:tavLst>
                                    </p:anim>
                                    <p:anim calcmode="lin" valueType="num">
                                      <p:cBhvr>
                                        <p:cTn id="244" dur="1000" fill="hold"/>
                                        <p:tgtEl>
                                          <p:spTgt spid="51"/>
                                        </p:tgtEl>
                                        <p:attrNameLst>
                                          <p:attrName>ppt_y</p:attrName>
                                        </p:attrNameLst>
                                      </p:cBhvr>
                                      <p:tavLst>
                                        <p:tav tm="0">
                                          <p:val>
                                            <p:strVal val="#ppt_y+.1"/>
                                          </p:val>
                                        </p:tav>
                                        <p:tav tm="100000">
                                          <p:val>
                                            <p:strVal val="#ppt_y"/>
                                          </p:val>
                                        </p:tav>
                                      </p:tavLst>
                                    </p:anim>
                                  </p:childTnLst>
                                </p:cTn>
                              </p:par>
                              <p:par>
                                <p:cTn id="245" presetID="42" presetClass="entr" presetSubtype="0" fill="hold" nodeType="withEffect">
                                  <p:stCondLst>
                                    <p:cond delay="0"/>
                                  </p:stCondLst>
                                  <p:childTnLst>
                                    <p:set>
                                      <p:cBhvr>
                                        <p:cTn id="246" dur="1" fill="hold">
                                          <p:stCondLst>
                                            <p:cond delay="0"/>
                                          </p:stCondLst>
                                        </p:cTn>
                                        <p:tgtEl>
                                          <p:spTgt spid="52"/>
                                        </p:tgtEl>
                                        <p:attrNameLst>
                                          <p:attrName>style.visibility</p:attrName>
                                        </p:attrNameLst>
                                      </p:cBhvr>
                                      <p:to>
                                        <p:strVal val="visible"/>
                                      </p:to>
                                    </p:set>
                                    <p:animEffect transition="in" filter="fade">
                                      <p:cBhvr>
                                        <p:cTn id="247" dur="1000"/>
                                        <p:tgtEl>
                                          <p:spTgt spid="52"/>
                                        </p:tgtEl>
                                      </p:cBhvr>
                                    </p:animEffect>
                                    <p:anim calcmode="lin" valueType="num">
                                      <p:cBhvr>
                                        <p:cTn id="248" dur="1000" fill="hold"/>
                                        <p:tgtEl>
                                          <p:spTgt spid="52"/>
                                        </p:tgtEl>
                                        <p:attrNameLst>
                                          <p:attrName>ppt_x</p:attrName>
                                        </p:attrNameLst>
                                      </p:cBhvr>
                                      <p:tavLst>
                                        <p:tav tm="0">
                                          <p:val>
                                            <p:strVal val="#ppt_x"/>
                                          </p:val>
                                        </p:tav>
                                        <p:tav tm="100000">
                                          <p:val>
                                            <p:strVal val="#ppt_x"/>
                                          </p:val>
                                        </p:tav>
                                      </p:tavLst>
                                    </p:anim>
                                    <p:anim calcmode="lin" valueType="num">
                                      <p:cBhvr>
                                        <p:cTn id="249" dur="1000" fill="hold"/>
                                        <p:tgtEl>
                                          <p:spTgt spid="52"/>
                                        </p:tgtEl>
                                        <p:attrNameLst>
                                          <p:attrName>ppt_y</p:attrName>
                                        </p:attrNameLst>
                                      </p:cBhvr>
                                      <p:tavLst>
                                        <p:tav tm="0">
                                          <p:val>
                                            <p:strVal val="#ppt_y+.1"/>
                                          </p:val>
                                        </p:tav>
                                        <p:tav tm="100000">
                                          <p:val>
                                            <p:strVal val="#ppt_y"/>
                                          </p:val>
                                        </p:tav>
                                      </p:tavLst>
                                    </p:anim>
                                  </p:childTnLst>
                                </p:cTn>
                              </p:par>
                              <p:par>
                                <p:cTn id="250" presetID="42" presetClass="entr" presetSubtype="0" fill="hold" grpId="0" nodeType="withEffect">
                                  <p:stCondLst>
                                    <p:cond delay="0"/>
                                  </p:stCondLst>
                                  <p:childTnLst>
                                    <p:set>
                                      <p:cBhvr>
                                        <p:cTn id="251" dur="1" fill="hold">
                                          <p:stCondLst>
                                            <p:cond delay="0"/>
                                          </p:stCondLst>
                                        </p:cTn>
                                        <p:tgtEl>
                                          <p:spTgt spid="53"/>
                                        </p:tgtEl>
                                        <p:attrNameLst>
                                          <p:attrName>style.visibility</p:attrName>
                                        </p:attrNameLst>
                                      </p:cBhvr>
                                      <p:to>
                                        <p:strVal val="visible"/>
                                      </p:to>
                                    </p:set>
                                    <p:animEffect transition="in" filter="fade">
                                      <p:cBhvr>
                                        <p:cTn id="252" dur="1000"/>
                                        <p:tgtEl>
                                          <p:spTgt spid="53"/>
                                        </p:tgtEl>
                                      </p:cBhvr>
                                    </p:animEffect>
                                    <p:anim calcmode="lin" valueType="num">
                                      <p:cBhvr>
                                        <p:cTn id="253" dur="1000" fill="hold"/>
                                        <p:tgtEl>
                                          <p:spTgt spid="53"/>
                                        </p:tgtEl>
                                        <p:attrNameLst>
                                          <p:attrName>ppt_x</p:attrName>
                                        </p:attrNameLst>
                                      </p:cBhvr>
                                      <p:tavLst>
                                        <p:tav tm="0">
                                          <p:val>
                                            <p:strVal val="#ppt_x"/>
                                          </p:val>
                                        </p:tav>
                                        <p:tav tm="100000">
                                          <p:val>
                                            <p:strVal val="#ppt_x"/>
                                          </p:val>
                                        </p:tav>
                                      </p:tavLst>
                                    </p:anim>
                                    <p:anim calcmode="lin" valueType="num">
                                      <p:cBhvr>
                                        <p:cTn id="254" dur="1000" fill="hold"/>
                                        <p:tgtEl>
                                          <p:spTgt spid="53"/>
                                        </p:tgtEl>
                                        <p:attrNameLst>
                                          <p:attrName>ppt_y</p:attrName>
                                        </p:attrNameLst>
                                      </p:cBhvr>
                                      <p:tavLst>
                                        <p:tav tm="0">
                                          <p:val>
                                            <p:strVal val="#ppt_y+.1"/>
                                          </p:val>
                                        </p:tav>
                                        <p:tav tm="100000">
                                          <p:val>
                                            <p:strVal val="#ppt_y"/>
                                          </p:val>
                                        </p:tav>
                                      </p:tavLst>
                                    </p:anim>
                                  </p:childTnLst>
                                </p:cTn>
                              </p:par>
                              <p:par>
                                <p:cTn id="255" presetID="42" presetClass="entr" presetSubtype="0" fill="hold" nodeType="withEffect">
                                  <p:stCondLst>
                                    <p:cond delay="0"/>
                                  </p:stCondLst>
                                  <p:childTnLst>
                                    <p:set>
                                      <p:cBhvr>
                                        <p:cTn id="256" dur="1" fill="hold">
                                          <p:stCondLst>
                                            <p:cond delay="0"/>
                                          </p:stCondLst>
                                        </p:cTn>
                                        <p:tgtEl>
                                          <p:spTgt spid="54"/>
                                        </p:tgtEl>
                                        <p:attrNameLst>
                                          <p:attrName>style.visibility</p:attrName>
                                        </p:attrNameLst>
                                      </p:cBhvr>
                                      <p:to>
                                        <p:strVal val="visible"/>
                                      </p:to>
                                    </p:set>
                                    <p:animEffect transition="in" filter="fade">
                                      <p:cBhvr>
                                        <p:cTn id="257" dur="1000"/>
                                        <p:tgtEl>
                                          <p:spTgt spid="54"/>
                                        </p:tgtEl>
                                      </p:cBhvr>
                                    </p:animEffect>
                                    <p:anim calcmode="lin" valueType="num">
                                      <p:cBhvr>
                                        <p:cTn id="258" dur="1000" fill="hold"/>
                                        <p:tgtEl>
                                          <p:spTgt spid="54"/>
                                        </p:tgtEl>
                                        <p:attrNameLst>
                                          <p:attrName>ppt_x</p:attrName>
                                        </p:attrNameLst>
                                      </p:cBhvr>
                                      <p:tavLst>
                                        <p:tav tm="0">
                                          <p:val>
                                            <p:strVal val="#ppt_x"/>
                                          </p:val>
                                        </p:tav>
                                        <p:tav tm="100000">
                                          <p:val>
                                            <p:strVal val="#ppt_x"/>
                                          </p:val>
                                        </p:tav>
                                      </p:tavLst>
                                    </p:anim>
                                    <p:anim calcmode="lin" valueType="num">
                                      <p:cBhvr>
                                        <p:cTn id="259" dur="1000" fill="hold"/>
                                        <p:tgtEl>
                                          <p:spTgt spid="54"/>
                                        </p:tgtEl>
                                        <p:attrNameLst>
                                          <p:attrName>ppt_y</p:attrName>
                                        </p:attrNameLst>
                                      </p:cBhvr>
                                      <p:tavLst>
                                        <p:tav tm="0">
                                          <p:val>
                                            <p:strVal val="#ppt_y+.1"/>
                                          </p:val>
                                        </p:tav>
                                        <p:tav tm="100000">
                                          <p:val>
                                            <p:strVal val="#ppt_y"/>
                                          </p:val>
                                        </p:tav>
                                      </p:tavLst>
                                    </p:anim>
                                  </p:childTnLst>
                                </p:cTn>
                              </p:par>
                              <p:par>
                                <p:cTn id="260" presetID="42" presetClass="entr" presetSubtype="0" fill="hold" grpId="0" nodeType="withEffect">
                                  <p:stCondLst>
                                    <p:cond delay="0"/>
                                  </p:stCondLst>
                                  <p:childTnLst>
                                    <p:set>
                                      <p:cBhvr>
                                        <p:cTn id="261" dur="1" fill="hold">
                                          <p:stCondLst>
                                            <p:cond delay="0"/>
                                          </p:stCondLst>
                                        </p:cTn>
                                        <p:tgtEl>
                                          <p:spTgt spid="55"/>
                                        </p:tgtEl>
                                        <p:attrNameLst>
                                          <p:attrName>style.visibility</p:attrName>
                                        </p:attrNameLst>
                                      </p:cBhvr>
                                      <p:to>
                                        <p:strVal val="visible"/>
                                      </p:to>
                                    </p:set>
                                    <p:animEffect transition="in" filter="fade">
                                      <p:cBhvr>
                                        <p:cTn id="262" dur="1000"/>
                                        <p:tgtEl>
                                          <p:spTgt spid="55"/>
                                        </p:tgtEl>
                                      </p:cBhvr>
                                    </p:animEffect>
                                    <p:anim calcmode="lin" valueType="num">
                                      <p:cBhvr>
                                        <p:cTn id="263" dur="1000" fill="hold"/>
                                        <p:tgtEl>
                                          <p:spTgt spid="55"/>
                                        </p:tgtEl>
                                        <p:attrNameLst>
                                          <p:attrName>ppt_x</p:attrName>
                                        </p:attrNameLst>
                                      </p:cBhvr>
                                      <p:tavLst>
                                        <p:tav tm="0">
                                          <p:val>
                                            <p:strVal val="#ppt_x"/>
                                          </p:val>
                                        </p:tav>
                                        <p:tav tm="100000">
                                          <p:val>
                                            <p:strVal val="#ppt_x"/>
                                          </p:val>
                                        </p:tav>
                                      </p:tavLst>
                                    </p:anim>
                                    <p:anim calcmode="lin" valueType="num">
                                      <p:cBhvr>
                                        <p:cTn id="264" dur="1000" fill="hold"/>
                                        <p:tgtEl>
                                          <p:spTgt spid="55"/>
                                        </p:tgtEl>
                                        <p:attrNameLst>
                                          <p:attrName>ppt_y</p:attrName>
                                        </p:attrNameLst>
                                      </p:cBhvr>
                                      <p:tavLst>
                                        <p:tav tm="0">
                                          <p:val>
                                            <p:strVal val="#ppt_y+.1"/>
                                          </p:val>
                                        </p:tav>
                                        <p:tav tm="100000">
                                          <p:val>
                                            <p:strVal val="#ppt_y"/>
                                          </p:val>
                                        </p:tav>
                                      </p:tavLst>
                                    </p:anim>
                                  </p:childTnLst>
                                </p:cTn>
                              </p:par>
                              <p:par>
                                <p:cTn id="265" presetID="42" presetClass="entr" presetSubtype="0" fill="hold" nodeType="withEffect">
                                  <p:stCondLst>
                                    <p:cond delay="0"/>
                                  </p:stCondLst>
                                  <p:childTnLst>
                                    <p:set>
                                      <p:cBhvr>
                                        <p:cTn id="266" dur="1" fill="hold">
                                          <p:stCondLst>
                                            <p:cond delay="0"/>
                                          </p:stCondLst>
                                        </p:cTn>
                                        <p:tgtEl>
                                          <p:spTgt spid="56"/>
                                        </p:tgtEl>
                                        <p:attrNameLst>
                                          <p:attrName>style.visibility</p:attrName>
                                        </p:attrNameLst>
                                      </p:cBhvr>
                                      <p:to>
                                        <p:strVal val="visible"/>
                                      </p:to>
                                    </p:set>
                                    <p:animEffect transition="in" filter="fade">
                                      <p:cBhvr>
                                        <p:cTn id="267" dur="1000"/>
                                        <p:tgtEl>
                                          <p:spTgt spid="56"/>
                                        </p:tgtEl>
                                      </p:cBhvr>
                                    </p:animEffect>
                                    <p:anim calcmode="lin" valueType="num">
                                      <p:cBhvr>
                                        <p:cTn id="268" dur="1000" fill="hold"/>
                                        <p:tgtEl>
                                          <p:spTgt spid="56"/>
                                        </p:tgtEl>
                                        <p:attrNameLst>
                                          <p:attrName>ppt_x</p:attrName>
                                        </p:attrNameLst>
                                      </p:cBhvr>
                                      <p:tavLst>
                                        <p:tav tm="0">
                                          <p:val>
                                            <p:strVal val="#ppt_x"/>
                                          </p:val>
                                        </p:tav>
                                        <p:tav tm="100000">
                                          <p:val>
                                            <p:strVal val="#ppt_x"/>
                                          </p:val>
                                        </p:tav>
                                      </p:tavLst>
                                    </p:anim>
                                    <p:anim calcmode="lin" valueType="num">
                                      <p:cBhvr>
                                        <p:cTn id="269" dur="1000" fill="hold"/>
                                        <p:tgtEl>
                                          <p:spTgt spid="56"/>
                                        </p:tgtEl>
                                        <p:attrNameLst>
                                          <p:attrName>ppt_y</p:attrName>
                                        </p:attrNameLst>
                                      </p:cBhvr>
                                      <p:tavLst>
                                        <p:tav tm="0">
                                          <p:val>
                                            <p:strVal val="#ppt_y+.1"/>
                                          </p:val>
                                        </p:tav>
                                        <p:tav tm="100000">
                                          <p:val>
                                            <p:strVal val="#ppt_y"/>
                                          </p:val>
                                        </p:tav>
                                      </p:tavLst>
                                    </p:anim>
                                  </p:childTnLst>
                                </p:cTn>
                              </p:par>
                              <p:par>
                                <p:cTn id="270" presetID="42" presetClass="entr" presetSubtype="0" fill="hold" nodeType="withEffect">
                                  <p:stCondLst>
                                    <p:cond delay="0"/>
                                  </p:stCondLst>
                                  <p:childTnLst>
                                    <p:set>
                                      <p:cBhvr>
                                        <p:cTn id="271" dur="1" fill="hold">
                                          <p:stCondLst>
                                            <p:cond delay="0"/>
                                          </p:stCondLst>
                                        </p:cTn>
                                        <p:tgtEl>
                                          <p:spTgt spid="57"/>
                                        </p:tgtEl>
                                        <p:attrNameLst>
                                          <p:attrName>style.visibility</p:attrName>
                                        </p:attrNameLst>
                                      </p:cBhvr>
                                      <p:to>
                                        <p:strVal val="visible"/>
                                      </p:to>
                                    </p:set>
                                    <p:animEffect transition="in" filter="fade">
                                      <p:cBhvr>
                                        <p:cTn id="272" dur="1000"/>
                                        <p:tgtEl>
                                          <p:spTgt spid="57"/>
                                        </p:tgtEl>
                                      </p:cBhvr>
                                    </p:animEffect>
                                    <p:anim calcmode="lin" valueType="num">
                                      <p:cBhvr>
                                        <p:cTn id="273" dur="1000" fill="hold"/>
                                        <p:tgtEl>
                                          <p:spTgt spid="57"/>
                                        </p:tgtEl>
                                        <p:attrNameLst>
                                          <p:attrName>ppt_x</p:attrName>
                                        </p:attrNameLst>
                                      </p:cBhvr>
                                      <p:tavLst>
                                        <p:tav tm="0">
                                          <p:val>
                                            <p:strVal val="#ppt_x"/>
                                          </p:val>
                                        </p:tav>
                                        <p:tav tm="100000">
                                          <p:val>
                                            <p:strVal val="#ppt_x"/>
                                          </p:val>
                                        </p:tav>
                                      </p:tavLst>
                                    </p:anim>
                                    <p:anim calcmode="lin" valueType="num">
                                      <p:cBhvr>
                                        <p:cTn id="274" dur="1000" fill="hold"/>
                                        <p:tgtEl>
                                          <p:spTgt spid="57"/>
                                        </p:tgtEl>
                                        <p:attrNameLst>
                                          <p:attrName>ppt_y</p:attrName>
                                        </p:attrNameLst>
                                      </p:cBhvr>
                                      <p:tavLst>
                                        <p:tav tm="0">
                                          <p:val>
                                            <p:strVal val="#ppt_y+.1"/>
                                          </p:val>
                                        </p:tav>
                                        <p:tav tm="100000">
                                          <p:val>
                                            <p:strVal val="#ppt_y"/>
                                          </p:val>
                                        </p:tav>
                                      </p:tavLst>
                                    </p:anim>
                                  </p:childTnLst>
                                </p:cTn>
                              </p:par>
                            </p:childTnLst>
                          </p:cTn>
                        </p:par>
                      </p:childTnLst>
                    </p:cTn>
                  </p:par>
                  <p:par>
                    <p:cTn id="275" fill="hold">
                      <p:stCondLst>
                        <p:cond delay="indefinite"/>
                      </p:stCondLst>
                      <p:childTnLst>
                        <p:par>
                          <p:cTn id="276" fill="hold">
                            <p:stCondLst>
                              <p:cond delay="0"/>
                            </p:stCondLst>
                            <p:childTnLst>
                              <p:par>
                                <p:cTn id="277" presetID="42" presetClass="entr" presetSubtype="0" fill="hold" grpId="0" nodeType="clickEffect">
                                  <p:stCondLst>
                                    <p:cond delay="0"/>
                                  </p:stCondLst>
                                  <p:childTnLst>
                                    <p:set>
                                      <p:cBhvr>
                                        <p:cTn id="278" dur="1" fill="hold">
                                          <p:stCondLst>
                                            <p:cond delay="0"/>
                                          </p:stCondLst>
                                        </p:cTn>
                                        <p:tgtEl>
                                          <p:spTgt spid="62"/>
                                        </p:tgtEl>
                                        <p:attrNameLst>
                                          <p:attrName>style.visibility</p:attrName>
                                        </p:attrNameLst>
                                      </p:cBhvr>
                                      <p:to>
                                        <p:strVal val="visible"/>
                                      </p:to>
                                    </p:set>
                                    <p:animEffect transition="in" filter="fade">
                                      <p:cBhvr>
                                        <p:cTn id="279" dur="1000"/>
                                        <p:tgtEl>
                                          <p:spTgt spid="62"/>
                                        </p:tgtEl>
                                      </p:cBhvr>
                                    </p:animEffect>
                                    <p:anim calcmode="lin" valueType="num">
                                      <p:cBhvr>
                                        <p:cTn id="280" dur="1000" fill="hold"/>
                                        <p:tgtEl>
                                          <p:spTgt spid="62"/>
                                        </p:tgtEl>
                                        <p:attrNameLst>
                                          <p:attrName>ppt_x</p:attrName>
                                        </p:attrNameLst>
                                      </p:cBhvr>
                                      <p:tavLst>
                                        <p:tav tm="0">
                                          <p:val>
                                            <p:strVal val="#ppt_x"/>
                                          </p:val>
                                        </p:tav>
                                        <p:tav tm="100000">
                                          <p:val>
                                            <p:strVal val="#ppt_x"/>
                                          </p:val>
                                        </p:tav>
                                      </p:tavLst>
                                    </p:anim>
                                    <p:anim calcmode="lin" valueType="num">
                                      <p:cBhvr>
                                        <p:cTn id="281" dur="1000" fill="hold"/>
                                        <p:tgtEl>
                                          <p:spTgt spid="6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9" grpId="0" animBg="1"/>
      <p:bldP spid="11" grpId="0" animBg="1"/>
      <p:bldP spid="13" grpId="0" animBg="1"/>
      <p:bldP spid="15" grpId="0" animBg="1"/>
      <p:bldP spid="17" grpId="0" animBg="1"/>
      <p:bldP spid="19" grpId="0" animBg="1"/>
      <p:bldP spid="21" grpId="0" animBg="1"/>
      <p:bldP spid="23" grpId="0" animBg="1"/>
      <p:bldP spid="25" grpId="0" animBg="1"/>
      <p:bldP spid="27" grpId="0" animBg="1"/>
      <p:bldP spid="29" grpId="0" animBg="1"/>
      <p:bldP spid="31" grpId="0" animBg="1"/>
      <p:bldP spid="33" grpId="0" animBg="1"/>
      <p:bldP spid="35" grpId="0" animBg="1"/>
      <p:bldP spid="37" grpId="0" animBg="1"/>
      <p:bldP spid="39" grpId="0" animBg="1"/>
      <p:bldP spid="41" grpId="0" animBg="1"/>
      <p:bldP spid="43" grpId="0" animBg="1"/>
      <p:bldP spid="45" grpId="0" animBg="1"/>
      <p:bldP spid="47" grpId="0" animBg="1"/>
      <p:bldP spid="49" grpId="0" animBg="1"/>
      <p:bldP spid="51" grpId="0" animBg="1"/>
      <p:bldP spid="53" grpId="0" animBg="1"/>
      <p:bldP spid="55" grpId="0" animBg="1"/>
      <p:bldP spid="62"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282451-CDF3-48EE-B5F4-CEE4AB363261}"/>
              </a:ext>
            </a:extLst>
          </p:cNvPr>
          <p:cNvSpPr>
            <a:spLocks noGrp="1"/>
          </p:cNvSpPr>
          <p:nvPr>
            <p:ph type="title"/>
          </p:nvPr>
        </p:nvSpPr>
        <p:spPr/>
        <p:txBody>
          <a:bodyPr/>
          <a:lstStyle/>
          <a:p>
            <a:r>
              <a:rPr lang="en-GB" b="1" dirty="0"/>
              <a:t>Document Model</a:t>
            </a:r>
            <a:endParaRPr lang="en-PK" dirty="0"/>
          </a:p>
        </p:txBody>
      </p:sp>
      <p:sp>
        <p:nvSpPr>
          <p:cNvPr id="3" name="Content Placeholder 2">
            <a:extLst>
              <a:ext uri="{FF2B5EF4-FFF2-40B4-BE49-F238E27FC236}">
                <a16:creationId xmlns:a16="http://schemas.microsoft.com/office/drawing/2014/main" id="{F731702C-6277-46DF-9821-4935CCB2D906}"/>
              </a:ext>
            </a:extLst>
          </p:cNvPr>
          <p:cNvSpPr>
            <a:spLocks noGrp="1"/>
          </p:cNvSpPr>
          <p:nvPr>
            <p:ph idx="1"/>
          </p:nvPr>
        </p:nvSpPr>
        <p:spPr/>
        <p:txBody>
          <a:bodyPr/>
          <a:lstStyle/>
          <a:p>
            <a:r>
              <a:rPr lang="en-GB" dirty="0"/>
              <a:t>Stores information as flexible documents, commonly in JSON-like format.</a:t>
            </a:r>
          </a:p>
          <a:p>
            <a:pPr>
              <a:buFont typeface="Arial" panose="020B0604020202020204" pitchFamily="34" charset="0"/>
              <a:buChar char="•"/>
            </a:pPr>
            <a:r>
              <a:rPr lang="en-GB" dirty="0"/>
              <a:t>Each document may have a different structure. </a:t>
            </a:r>
          </a:p>
          <a:p>
            <a:pPr>
              <a:buFont typeface="Arial" panose="020B0604020202020204" pitchFamily="34" charset="0"/>
              <a:buChar char="•"/>
            </a:pPr>
            <a:r>
              <a:rPr lang="en-GB" dirty="0"/>
              <a:t>Related information can be embedded inside one document. </a:t>
            </a:r>
          </a:p>
          <a:p>
            <a:pPr>
              <a:buFont typeface="Arial" panose="020B0604020202020204" pitchFamily="34" charset="0"/>
              <a:buChar char="•"/>
            </a:pPr>
            <a:r>
              <a:rPr lang="en-GB" dirty="0"/>
              <a:t>Suitable for content and web applications. </a:t>
            </a:r>
          </a:p>
          <a:p>
            <a:pPr>
              <a:buFont typeface="Arial" panose="020B0604020202020204" pitchFamily="34" charset="0"/>
              <a:buChar char="•"/>
            </a:pPr>
            <a:r>
              <a:rPr lang="en-GB" dirty="0"/>
              <a:t>Supports rapidly changing data structures.</a:t>
            </a:r>
          </a:p>
          <a:p>
            <a:endParaRPr lang="en-PK" dirty="0"/>
          </a:p>
        </p:txBody>
      </p:sp>
    </p:spTree>
    <p:extLst>
      <p:ext uri="{BB962C8B-B14F-4D97-AF65-F5344CB8AC3E}">
        <p14:creationId xmlns:p14="http://schemas.microsoft.com/office/powerpoint/2010/main" val="14306748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74046D-E0B4-4AF7-8B7C-8A2CD8E9F967}"/>
              </a:ext>
            </a:extLst>
          </p:cNvPr>
          <p:cNvSpPr>
            <a:spLocks noGrp="1"/>
          </p:cNvSpPr>
          <p:nvPr>
            <p:ph type="title"/>
          </p:nvPr>
        </p:nvSpPr>
        <p:spPr/>
        <p:txBody>
          <a:bodyPr/>
          <a:lstStyle/>
          <a:p>
            <a:r>
              <a:rPr lang="en-GB" dirty="0"/>
              <a:t>Document Model</a:t>
            </a:r>
            <a:endParaRPr lang="en-PK" dirty="0"/>
          </a:p>
        </p:txBody>
      </p:sp>
      <p:sp>
        <p:nvSpPr>
          <p:cNvPr id="5" name="Shape 4">
            <a:extLst>
              <a:ext uri="{FF2B5EF4-FFF2-40B4-BE49-F238E27FC236}">
                <a16:creationId xmlns:a16="http://schemas.microsoft.com/office/drawing/2014/main" id="{912612EC-13EB-4DFF-909B-52EDF8FC133A}"/>
              </a:ext>
            </a:extLst>
          </p:cNvPr>
          <p:cNvSpPr/>
          <p:nvPr/>
        </p:nvSpPr>
        <p:spPr>
          <a:xfrm>
            <a:off x="1534696" y="2012031"/>
            <a:ext cx="4312047" cy="3853510"/>
          </a:xfrm>
          <a:prstGeom prst="roundRect">
            <a:avLst>
              <a:gd name="adj" fmla="val 1702"/>
            </a:avLst>
          </a:prstGeom>
          <a:solidFill>
            <a:srgbClr val="101827"/>
          </a:solidFill>
          <a:ln w="12700">
            <a:solidFill>
              <a:srgbClr val="27354A"/>
            </a:solidFill>
            <a:prstDash val="solid"/>
          </a:ln>
        </p:spPr>
      </p:sp>
      <p:sp>
        <p:nvSpPr>
          <p:cNvPr id="6" name="Text 5">
            <a:extLst>
              <a:ext uri="{FF2B5EF4-FFF2-40B4-BE49-F238E27FC236}">
                <a16:creationId xmlns:a16="http://schemas.microsoft.com/office/drawing/2014/main" id="{6BCC0CC9-64AB-46A3-8896-F80A2A7A9755}"/>
              </a:ext>
            </a:extLst>
          </p:cNvPr>
          <p:cNvSpPr/>
          <p:nvPr/>
        </p:nvSpPr>
        <p:spPr>
          <a:xfrm>
            <a:off x="2254160" y="2221992"/>
            <a:ext cx="3277960" cy="3108959"/>
          </a:xfrm>
          <a:prstGeom prst="rect">
            <a:avLst/>
          </a:prstGeom>
          <a:noFill/>
          <a:ln/>
        </p:spPr>
        <p:txBody>
          <a:bodyPr wrap="square" lIns="381" tIns="381" rIns="381" bIns="381" rtlCol="0" anchor="ctr"/>
          <a:lstStyle/>
          <a:p>
            <a:pPr marL="0" indent="0">
              <a:buNone/>
            </a:pPr>
            <a:r>
              <a:rPr lang="en-US" sz="1600" dirty="0">
                <a:solidFill>
                  <a:srgbClr val="EAF2FF"/>
                </a:solidFill>
                <a:latin typeface="Consolas" pitchFamily="34" charset="0"/>
                <a:ea typeface="Consolas" pitchFamily="34" charset="-122"/>
                <a:cs typeface="Consolas" pitchFamily="34" charset="-120"/>
              </a:rPr>
              <a:t>{</a:t>
            </a:r>
            <a:endParaRPr lang="en-US" sz="1600" dirty="0"/>
          </a:p>
          <a:p>
            <a:pPr marL="0" indent="0">
              <a:buNone/>
            </a:pPr>
            <a:r>
              <a:rPr lang="en-US" sz="1600" dirty="0">
                <a:solidFill>
                  <a:srgbClr val="EAF2FF"/>
                </a:solidFill>
                <a:latin typeface="Consolas" pitchFamily="34" charset="0"/>
                <a:ea typeface="Consolas" pitchFamily="34" charset="-122"/>
                <a:cs typeface="Consolas" pitchFamily="34" charset="-120"/>
              </a:rPr>
              <a:t>  "studentId": 1,</a:t>
            </a:r>
            <a:endParaRPr lang="en-US" sz="1600" dirty="0"/>
          </a:p>
          <a:p>
            <a:pPr marL="0" indent="0">
              <a:buNone/>
            </a:pPr>
            <a:r>
              <a:rPr lang="en-US" sz="1600" dirty="0">
                <a:solidFill>
                  <a:srgbClr val="EAF2FF"/>
                </a:solidFill>
                <a:latin typeface="Consolas" pitchFamily="34" charset="0"/>
                <a:ea typeface="Consolas" pitchFamily="34" charset="-122"/>
                <a:cs typeface="Consolas" pitchFamily="34" charset="-120"/>
              </a:rPr>
              <a:t>  "name": "Ayesha",</a:t>
            </a:r>
            <a:endParaRPr lang="en-US" sz="1600" dirty="0"/>
          </a:p>
          <a:p>
            <a:pPr marL="0" indent="0">
              <a:buNone/>
            </a:pPr>
            <a:r>
              <a:rPr lang="en-US" sz="1600" dirty="0">
                <a:solidFill>
                  <a:srgbClr val="EAF2FF"/>
                </a:solidFill>
                <a:latin typeface="Consolas" pitchFamily="34" charset="0"/>
                <a:ea typeface="Consolas" pitchFamily="34" charset="-122"/>
                <a:cs typeface="Consolas" pitchFamily="34" charset="-120"/>
              </a:rPr>
              <a:t>  "major": "Computer Science",</a:t>
            </a:r>
            <a:endParaRPr lang="en-US" sz="1600" dirty="0"/>
          </a:p>
          <a:p>
            <a:pPr marL="0" indent="0">
              <a:buNone/>
            </a:pPr>
            <a:r>
              <a:rPr lang="en-US" sz="1600" dirty="0">
                <a:solidFill>
                  <a:srgbClr val="EAF2FF"/>
                </a:solidFill>
                <a:latin typeface="Consolas" pitchFamily="34" charset="0"/>
                <a:ea typeface="Consolas" pitchFamily="34" charset="-122"/>
                <a:cs typeface="Consolas" pitchFamily="34" charset="-120"/>
              </a:rPr>
              <a:t>  "courses": [</a:t>
            </a:r>
            <a:endParaRPr lang="en-US" sz="1600" dirty="0"/>
          </a:p>
          <a:p>
            <a:pPr marL="0" indent="0">
              <a:buNone/>
            </a:pPr>
            <a:r>
              <a:rPr lang="en-US" sz="1600" dirty="0">
                <a:solidFill>
                  <a:srgbClr val="EAF2FF"/>
                </a:solidFill>
                <a:latin typeface="Consolas" pitchFamily="34" charset="0"/>
                <a:ea typeface="Consolas" pitchFamily="34" charset="-122"/>
                <a:cs typeface="Consolas" pitchFamily="34" charset="-120"/>
              </a:rPr>
              <a:t>    {"id":101,"title":"Database Systems"},</a:t>
            </a:r>
            <a:endParaRPr lang="en-US" sz="1600" dirty="0"/>
          </a:p>
          <a:p>
            <a:pPr marL="0" indent="0">
              <a:buNone/>
            </a:pPr>
            <a:r>
              <a:rPr lang="en-US" sz="1600" dirty="0">
                <a:solidFill>
                  <a:srgbClr val="EAF2FF"/>
                </a:solidFill>
                <a:latin typeface="Consolas" pitchFamily="34" charset="0"/>
                <a:ea typeface="Consolas" pitchFamily="34" charset="-122"/>
                <a:cs typeface="Consolas" pitchFamily="34" charset="-120"/>
              </a:rPr>
              <a:t>    {"id":103,"title":"Algorithms"}</a:t>
            </a:r>
            <a:endParaRPr lang="en-US" sz="1600" dirty="0"/>
          </a:p>
          <a:p>
            <a:pPr marL="0" indent="0">
              <a:buNone/>
            </a:pPr>
            <a:r>
              <a:rPr lang="en-US" sz="1600" dirty="0">
                <a:solidFill>
                  <a:srgbClr val="EAF2FF"/>
                </a:solidFill>
                <a:latin typeface="Consolas" pitchFamily="34" charset="0"/>
                <a:ea typeface="Consolas" pitchFamily="34" charset="-122"/>
                <a:cs typeface="Consolas" pitchFamily="34" charset="-120"/>
              </a:rPr>
              <a:t>  ]</a:t>
            </a:r>
            <a:endParaRPr lang="en-US" sz="1600" dirty="0"/>
          </a:p>
          <a:p>
            <a:pPr marL="0" indent="0">
              <a:buNone/>
            </a:pPr>
            <a:r>
              <a:rPr lang="en-US" sz="1600" dirty="0">
                <a:solidFill>
                  <a:srgbClr val="EAF2FF"/>
                </a:solidFill>
                <a:latin typeface="Consolas" pitchFamily="34" charset="0"/>
                <a:ea typeface="Consolas" pitchFamily="34" charset="-122"/>
                <a:cs typeface="Consolas" pitchFamily="34" charset="-120"/>
              </a:rPr>
              <a:t>}</a:t>
            </a:r>
            <a:endParaRPr lang="en-US" sz="1600" dirty="0"/>
          </a:p>
        </p:txBody>
      </p:sp>
      <p:sp>
        <p:nvSpPr>
          <p:cNvPr id="7" name="Shape 6">
            <a:extLst>
              <a:ext uri="{FF2B5EF4-FFF2-40B4-BE49-F238E27FC236}">
                <a16:creationId xmlns:a16="http://schemas.microsoft.com/office/drawing/2014/main" id="{D2C20B3B-7D1F-45FB-A7CA-A27A6EAB30AA}"/>
              </a:ext>
            </a:extLst>
          </p:cNvPr>
          <p:cNvSpPr/>
          <p:nvPr/>
        </p:nvSpPr>
        <p:spPr>
          <a:xfrm>
            <a:off x="6345258" y="2006937"/>
            <a:ext cx="3491740" cy="1180617"/>
          </a:xfrm>
          <a:prstGeom prst="roundRect">
            <a:avLst>
              <a:gd name="adj" fmla="val 5333"/>
            </a:avLst>
          </a:prstGeom>
          <a:solidFill>
            <a:srgbClr val="FFFFFF"/>
          </a:solidFill>
          <a:ln w="13970">
            <a:solidFill>
              <a:srgbClr val="D8E0EB"/>
            </a:solidFill>
            <a:prstDash val="solid"/>
          </a:ln>
          <a:effectLst>
            <a:outerShdw blurRad="15240" dist="50800" dir="2700000" algn="bl" rotWithShape="0">
              <a:srgbClr val="B6C0CF">
                <a:alpha val="16000"/>
              </a:srgbClr>
            </a:outerShdw>
          </a:effectLst>
        </p:spPr>
      </p:sp>
      <p:sp>
        <p:nvSpPr>
          <p:cNvPr id="10" name="Text 8">
            <a:extLst>
              <a:ext uri="{FF2B5EF4-FFF2-40B4-BE49-F238E27FC236}">
                <a16:creationId xmlns:a16="http://schemas.microsoft.com/office/drawing/2014/main" id="{FCAF574C-3F2A-4B82-B9DA-3125E79FBC59}"/>
              </a:ext>
            </a:extLst>
          </p:cNvPr>
          <p:cNvSpPr/>
          <p:nvPr/>
        </p:nvSpPr>
        <p:spPr>
          <a:xfrm>
            <a:off x="6886266" y="2146342"/>
            <a:ext cx="2722132" cy="275477"/>
          </a:xfrm>
          <a:prstGeom prst="rect">
            <a:avLst/>
          </a:prstGeom>
          <a:noFill/>
          <a:ln/>
        </p:spPr>
        <p:txBody>
          <a:bodyPr wrap="square" lIns="0" tIns="0" rIns="0" bIns="0" rtlCol="0" anchor="ctr"/>
          <a:lstStyle/>
          <a:p>
            <a:pPr marL="0" indent="0">
              <a:buNone/>
            </a:pPr>
            <a:r>
              <a:rPr lang="en-US" sz="2000" b="1" dirty="0">
                <a:solidFill>
                  <a:srgbClr val="172033"/>
                </a:solidFill>
              </a:rPr>
              <a:t>Flexible structure</a:t>
            </a:r>
            <a:endParaRPr lang="en-US" sz="2000" dirty="0"/>
          </a:p>
        </p:txBody>
      </p:sp>
      <p:sp>
        <p:nvSpPr>
          <p:cNvPr id="11" name="Text 9">
            <a:extLst>
              <a:ext uri="{FF2B5EF4-FFF2-40B4-BE49-F238E27FC236}">
                <a16:creationId xmlns:a16="http://schemas.microsoft.com/office/drawing/2014/main" id="{B41A9F9B-6182-40B0-ABD3-DCBCF4CD64FC}"/>
              </a:ext>
            </a:extLst>
          </p:cNvPr>
          <p:cNvSpPr/>
          <p:nvPr/>
        </p:nvSpPr>
        <p:spPr>
          <a:xfrm>
            <a:off x="6472958" y="2496798"/>
            <a:ext cx="3135440" cy="456505"/>
          </a:xfrm>
          <a:prstGeom prst="rect">
            <a:avLst/>
          </a:prstGeom>
          <a:noFill/>
          <a:ln/>
        </p:spPr>
        <p:txBody>
          <a:bodyPr wrap="square" lIns="254" tIns="254" rIns="254" bIns="254" rtlCol="0" anchor="t"/>
          <a:lstStyle/>
          <a:p>
            <a:pPr marL="0" indent="0">
              <a:buNone/>
            </a:pPr>
            <a:r>
              <a:rPr lang="en-US" dirty="0">
                <a:solidFill>
                  <a:srgbClr val="5B677A"/>
                </a:solidFill>
              </a:rPr>
              <a:t>Different documents may contain different fields.</a:t>
            </a:r>
            <a:endParaRPr lang="en-US" dirty="0"/>
          </a:p>
        </p:txBody>
      </p:sp>
      <p:sp>
        <p:nvSpPr>
          <p:cNvPr id="12" name="Shape 10">
            <a:extLst>
              <a:ext uri="{FF2B5EF4-FFF2-40B4-BE49-F238E27FC236}">
                <a16:creationId xmlns:a16="http://schemas.microsoft.com/office/drawing/2014/main" id="{A17E5D5E-F97F-4E82-B3A0-32F22DA68461}"/>
              </a:ext>
            </a:extLst>
          </p:cNvPr>
          <p:cNvSpPr/>
          <p:nvPr/>
        </p:nvSpPr>
        <p:spPr>
          <a:xfrm>
            <a:off x="6345258" y="3601486"/>
            <a:ext cx="3491740" cy="1180617"/>
          </a:xfrm>
          <a:prstGeom prst="roundRect">
            <a:avLst>
              <a:gd name="adj" fmla="val 5333"/>
            </a:avLst>
          </a:prstGeom>
          <a:solidFill>
            <a:srgbClr val="FFFFFF"/>
          </a:solidFill>
          <a:ln w="13970">
            <a:solidFill>
              <a:srgbClr val="D8E0EB"/>
            </a:solidFill>
            <a:prstDash val="solid"/>
          </a:ln>
          <a:effectLst>
            <a:outerShdw blurRad="15240" dist="50800" dir="2700000" algn="bl" rotWithShape="0">
              <a:srgbClr val="B6C0CF">
                <a:alpha val="16000"/>
              </a:srgbClr>
            </a:outerShdw>
          </a:effectLst>
        </p:spPr>
      </p:sp>
      <p:sp>
        <p:nvSpPr>
          <p:cNvPr id="15" name="Text 12">
            <a:extLst>
              <a:ext uri="{FF2B5EF4-FFF2-40B4-BE49-F238E27FC236}">
                <a16:creationId xmlns:a16="http://schemas.microsoft.com/office/drawing/2014/main" id="{71634440-7DF8-4B36-A54E-B88C32DDAE0F}"/>
              </a:ext>
            </a:extLst>
          </p:cNvPr>
          <p:cNvSpPr/>
          <p:nvPr/>
        </p:nvSpPr>
        <p:spPr>
          <a:xfrm>
            <a:off x="6913698" y="3619658"/>
            <a:ext cx="2722132" cy="275477"/>
          </a:xfrm>
          <a:prstGeom prst="rect">
            <a:avLst/>
          </a:prstGeom>
          <a:noFill/>
          <a:ln/>
        </p:spPr>
        <p:txBody>
          <a:bodyPr wrap="square" lIns="0" tIns="0" rIns="0" bIns="0" rtlCol="0" anchor="ctr"/>
          <a:lstStyle/>
          <a:p>
            <a:pPr marL="0" indent="0">
              <a:buNone/>
            </a:pPr>
            <a:r>
              <a:rPr lang="en-US" sz="2000" b="1" dirty="0">
                <a:solidFill>
                  <a:srgbClr val="172033"/>
                </a:solidFill>
              </a:rPr>
              <a:t>Embedding</a:t>
            </a:r>
            <a:endParaRPr lang="en-US" sz="2000" dirty="0"/>
          </a:p>
        </p:txBody>
      </p:sp>
      <p:sp>
        <p:nvSpPr>
          <p:cNvPr id="16" name="Text 13">
            <a:extLst>
              <a:ext uri="{FF2B5EF4-FFF2-40B4-BE49-F238E27FC236}">
                <a16:creationId xmlns:a16="http://schemas.microsoft.com/office/drawing/2014/main" id="{54E83F80-B902-4240-96C3-9A02526DB026}"/>
              </a:ext>
            </a:extLst>
          </p:cNvPr>
          <p:cNvSpPr/>
          <p:nvPr/>
        </p:nvSpPr>
        <p:spPr>
          <a:xfrm>
            <a:off x="6472958" y="4142718"/>
            <a:ext cx="3135440" cy="456505"/>
          </a:xfrm>
          <a:prstGeom prst="rect">
            <a:avLst/>
          </a:prstGeom>
          <a:noFill/>
          <a:ln/>
        </p:spPr>
        <p:txBody>
          <a:bodyPr wrap="square" lIns="254" tIns="254" rIns="254" bIns="254" rtlCol="0" anchor="t"/>
          <a:lstStyle/>
          <a:p>
            <a:pPr marL="0" indent="0">
              <a:buNone/>
            </a:pPr>
            <a:r>
              <a:rPr lang="en-US" dirty="0">
                <a:solidFill>
                  <a:srgbClr val="5B677A"/>
                </a:solidFill>
              </a:rPr>
              <a:t>Related information can live together in one document.</a:t>
            </a:r>
            <a:endParaRPr lang="en-US" dirty="0"/>
          </a:p>
        </p:txBody>
      </p:sp>
      <p:sp>
        <p:nvSpPr>
          <p:cNvPr id="17" name="Shape 14">
            <a:extLst>
              <a:ext uri="{FF2B5EF4-FFF2-40B4-BE49-F238E27FC236}">
                <a16:creationId xmlns:a16="http://schemas.microsoft.com/office/drawing/2014/main" id="{9A3DBB6E-8A23-46AA-B960-1E811EE15470}"/>
              </a:ext>
            </a:extLst>
          </p:cNvPr>
          <p:cNvSpPr/>
          <p:nvPr/>
        </p:nvSpPr>
        <p:spPr>
          <a:xfrm>
            <a:off x="6345258" y="5190112"/>
            <a:ext cx="3491740" cy="826432"/>
          </a:xfrm>
          <a:prstGeom prst="roundRect">
            <a:avLst>
              <a:gd name="adj" fmla="val 7619"/>
            </a:avLst>
          </a:prstGeom>
          <a:solidFill>
            <a:srgbClr val="FFFFFF"/>
          </a:solidFill>
          <a:ln w="13970">
            <a:solidFill>
              <a:srgbClr val="D8E0EB"/>
            </a:solidFill>
            <a:prstDash val="solid"/>
          </a:ln>
          <a:effectLst>
            <a:outerShdw blurRad="15240" dist="50800" dir="2700000" algn="bl" rotWithShape="0">
              <a:srgbClr val="B6C0CF">
                <a:alpha val="16000"/>
              </a:srgbClr>
            </a:outerShdw>
          </a:effectLst>
        </p:spPr>
      </p:sp>
      <p:sp>
        <p:nvSpPr>
          <p:cNvPr id="20" name="Text 16">
            <a:extLst>
              <a:ext uri="{FF2B5EF4-FFF2-40B4-BE49-F238E27FC236}">
                <a16:creationId xmlns:a16="http://schemas.microsoft.com/office/drawing/2014/main" id="{E0AD1C7F-8F46-449C-9FF5-93D7713514ED}"/>
              </a:ext>
            </a:extLst>
          </p:cNvPr>
          <p:cNvSpPr/>
          <p:nvPr/>
        </p:nvSpPr>
        <p:spPr>
          <a:xfrm>
            <a:off x="6913698" y="5265578"/>
            <a:ext cx="2722132" cy="275477"/>
          </a:xfrm>
          <a:prstGeom prst="rect">
            <a:avLst/>
          </a:prstGeom>
          <a:noFill/>
          <a:ln/>
        </p:spPr>
        <p:txBody>
          <a:bodyPr wrap="square" lIns="0" tIns="0" rIns="0" bIns="0" rtlCol="0" anchor="ctr"/>
          <a:lstStyle/>
          <a:p>
            <a:pPr marL="0" indent="0">
              <a:buNone/>
            </a:pPr>
            <a:r>
              <a:rPr lang="en-US" sz="2000" b="1" dirty="0">
                <a:solidFill>
                  <a:srgbClr val="172033"/>
                </a:solidFill>
              </a:rPr>
              <a:t>Good fit</a:t>
            </a:r>
            <a:endParaRPr lang="en-US" sz="2000" dirty="0"/>
          </a:p>
        </p:txBody>
      </p:sp>
      <p:sp>
        <p:nvSpPr>
          <p:cNvPr id="21" name="Text 17">
            <a:extLst>
              <a:ext uri="{FF2B5EF4-FFF2-40B4-BE49-F238E27FC236}">
                <a16:creationId xmlns:a16="http://schemas.microsoft.com/office/drawing/2014/main" id="{C1DA8CD5-5044-41A3-9D07-215CFA4E8195}"/>
              </a:ext>
            </a:extLst>
          </p:cNvPr>
          <p:cNvSpPr/>
          <p:nvPr/>
        </p:nvSpPr>
        <p:spPr>
          <a:xfrm>
            <a:off x="6500390" y="5643534"/>
            <a:ext cx="3135440" cy="102320"/>
          </a:xfrm>
          <a:prstGeom prst="rect">
            <a:avLst/>
          </a:prstGeom>
          <a:noFill/>
          <a:ln/>
        </p:spPr>
        <p:txBody>
          <a:bodyPr wrap="square" lIns="254" tIns="254" rIns="254" bIns="254" rtlCol="0" anchor="t"/>
          <a:lstStyle/>
          <a:p>
            <a:pPr marL="0" indent="0">
              <a:buNone/>
            </a:pPr>
            <a:r>
              <a:rPr lang="en-US" sz="1600" dirty="0">
                <a:solidFill>
                  <a:srgbClr val="5B677A"/>
                </a:solidFill>
              </a:rPr>
              <a:t>Content-heavy and rapidly changing web applications.</a:t>
            </a:r>
            <a:endParaRPr lang="en-US" sz="1600" dirty="0"/>
          </a:p>
        </p:txBody>
      </p:sp>
    </p:spTree>
    <p:extLst>
      <p:ext uri="{BB962C8B-B14F-4D97-AF65-F5344CB8AC3E}">
        <p14:creationId xmlns:p14="http://schemas.microsoft.com/office/powerpoint/2010/main" val="13808921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1000"/>
                                        <p:tgtEl>
                                          <p:spTgt spid="10"/>
                                        </p:tgtEl>
                                      </p:cBhvr>
                                    </p:animEffect>
                                    <p:anim calcmode="lin" valueType="num">
                                      <p:cBhvr>
                                        <p:cTn id="13" dur="1000" fill="hold"/>
                                        <p:tgtEl>
                                          <p:spTgt spid="10"/>
                                        </p:tgtEl>
                                        <p:attrNameLst>
                                          <p:attrName>ppt_x</p:attrName>
                                        </p:attrNameLst>
                                      </p:cBhvr>
                                      <p:tavLst>
                                        <p:tav tm="0">
                                          <p:val>
                                            <p:strVal val="#ppt_x"/>
                                          </p:val>
                                        </p:tav>
                                        <p:tav tm="100000">
                                          <p:val>
                                            <p:strVal val="#ppt_x"/>
                                          </p:val>
                                        </p:tav>
                                      </p:tavLst>
                                    </p:anim>
                                    <p:anim calcmode="lin" valueType="num">
                                      <p:cBhvr>
                                        <p:cTn id="14" dur="1000" fill="hold"/>
                                        <p:tgtEl>
                                          <p:spTgt spid="10"/>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1000"/>
                                        <p:tgtEl>
                                          <p:spTgt spid="11"/>
                                        </p:tgtEl>
                                      </p:cBhvr>
                                    </p:animEffect>
                                    <p:anim calcmode="lin" valueType="num">
                                      <p:cBhvr>
                                        <p:cTn id="18" dur="1000" fill="hold"/>
                                        <p:tgtEl>
                                          <p:spTgt spid="11"/>
                                        </p:tgtEl>
                                        <p:attrNameLst>
                                          <p:attrName>ppt_x</p:attrName>
                                        </p:attrNameLst>
                                      </p:cBhvr>
                                      <p:tavLst>
                                        <p:tav tm="0">
                                          <p:val>
                                            <p:strVal val="#ppt_x"/>
                                          </p:val>
                                        </p:tav>
                                        <p:tav tm="100000">
                                          <p:val>
                                            <p:strVal val="#ppt_x"/>
                                          </p:val>
                                        </p:tav>
                                      </p:tavLst>
                                    </p:anim>
                                    <p:anim calcmode="lin" valueType="num">
                                      <p:cBhvr>
                                        <p:cTn id="1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1000"/>
                                        <p:tgtEl>
                                          <p:spTgt spid="12"/>
                                        </p:tgtEl>
                                      </p:cBhvr>
                                    </p:animEffect>
                                    <p:anim calcmode="lin" valueType="num">
                                      <p:cBhvr>
                                        <p:cTn id="25" dur="1000" fill="hold"/>
                                        <p:tgtEl>
                                          <p:spTgt spid="12"/>
                                        </p:tgtEl>
                                        <p:attrNameLst>
                                          <p:attrName>ppt_x</p:attrName>
                                        </p:attrNameLst>
                                      </p:cBhvr>
                                      <p:tavLst>
                                        <p:tav tm="0">
                                          <p:val>
                                            <p:strVal val="#ppt_x"/>
                                          </p:val>
                                        </p:tav>
                                        <p:tav tm="100000">
                                          <p:val>
                                            <p:strVal val="#ppt_x"/>
                                          </p:val>
                                        </p:tav>
                                      </p:tavLst>
                                    </p:anim>
                                    <p:anim calcmode="lin" valueType="num">
                                      <p:cBhvr>
                                        <p:cTn id="26" dur="1000" fill="hold"/>
                                        <p:tgtEl>
                                          <p:spTgt spid="12"/>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1000"/>
                                        <p:tgtEl>
                                          <p:spTgt spid="15"/>
                                        </p:tgtEl>
                                      </p:cBhvr>
                                    </p:animEffect>
                                    <p:anim calcmode="lin" valueType="num">
                                      <p:cBhvr>
                                        <p:cTn id="30" dur="1000" fill="hold"/>
                                        <p:tgtEl>
                                          <p:spTgt spid="15"/>
                                        </p:tgtEl>
                                        <p:attrNameLst>
                                          <p:attrName>ppt_x</p:attrName>
                                        </p:attrNameLst>
                                      </p:cBhvr>
                                      <p:tavLst>
                                        <p:tav tm="0">
                                          <p:val>
                                            <p:strVal val="#ppt_x"/>
                                          </p:val>
                                        </p:tav>
                                        <p:tav tm="100000">
                                          <p:val>
                                            <p:strVal val="#ppt_x"/>
                                          </p:val>
                                        </p:tav>
                                      </p:tavLst>
                                    </p:anim>
                                    <p:anim calcmode="lin" valueType="num">
                                      <p:cBhvr>
                                        <p:cTn id="31" dur="1000" fill="hold"/>
                                        <p:tgtEl>
                                          <p:spTgt spid="15"/>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1000"/>
                                        <p:tgtEl>
                                          <p:spTgt spid="16"/>
                                        </p:tgtEl>
                                      </p:cBhvr>
                                    </p:animEffect>
                                    <p:anim calcmode="lin" valueType="num">
                                      <p:cBhvr>
                                        <p:cTn id="35" dur="1000" fill="hold"/>
                                        <p:tgtEl>
                                          <p:spTgt spid="16"/>
                                        </p:tgtEl>
                                        <p:attrNameLst>
                                          <p:attrName>ppt_x</p:attrName>
                                        </p:attrNameLst>
                                      </p:cBhvr>
                                      <p:tavLst>
                                        <p:tav tm="0">
                                          <p:val>
                                            <p:strVal val="#ppt_x"/>
                                          </p:val>
                                        </p:tav>
                                        <p:tav tm="100000">
                                          <p:val>
                                            <p:strVal val="#ppt_x"/>
                                          </p:val>
                                        </p:tav>
                                      </p:tavLst>
                                    </p:anim>
                                    <p:anim calcmode="lin" valueType="num">
                                      <p:cBhvr>
                                        <p:cTn id="36"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1000"/>
                                        <p:tgtEl>
                                          <p:spTgt spid="17"/>
                                        </p:tgtEl>
                                      </p:cBhvr>
                                    </p:animEffect>
                                    <p:anim calcmode="lin" valueType="num">
                                      <p:cBhvr>
                                        <p:cTn id="42" dur="1000" fill="hold"/>
                                        <p:tgtEl>
                                          <p:spTgt spid="17"/>
                                        </p:tgtEl>
                                        <p:attrNameLst>
                                          <p:attrName>ppt_x</p:attrName>
                                        </p:attrNameLst>
                                      </p:cBhvr>
                                      <p:tavLst>
                                        <p:tav tm="0">
                                          <p:val>
                                            <p:strVal val="#ppt_x"/>
                                          </p:val>
                                        </p:tav>
                                        <p:tav tm="100000">
                                          <p:val>
                                            <p:strVal val="#ppt_x"/>
                                          </p:val>
                                        </p:tav>
                                      </p:tavLst>
                                    </p:anim>
                                    <p:anim calcmode="lin" valueType="num">
                                      <p:cBhvr>
                                        <p:cTn id="43" dur="1000" fill="hold"/>
                                        <p:tgtEl>
                                          <p:spTgt spid="17"/>
                                        </p:tgtEl>
                                        <p:attrNameLst>
                                          <p:attrName>ppt_y</p:attrName>
                                        </p:attrNameLst>
                                      </p:cBhvr>
                                      <p:tavLst>
                                        <p:tav tm="0">
                                          <p:val>
                                            <p:strVal val="#ppt_y+.1"/>
                                          </p:val>
                                        </p:tav>
                                        <p:tav tm="100000">
                                          <p:val>
                                            <p:strVal val="#ppt_y"/>
                                          </p:val>
                                        </p:tav>
                                      </p:tavLst>
                                    </p:anim>
                                  </p:childTnLst>
                                </p:cTn>
                              </p:par>
                              <p:par>
                                <p:cTn id="44" presetID="42" presetClass="entr" presetSubtype="0" fill="hold" grpId="0" nodeType="withEffect">
                                  <p:stCondLst>
                                    <p:cond delay="0"/>
                                  </p:stCondLst>
                                  <p:childTnLst>
                                    <p:set>
                                      <p:cBhvr>
                                        <p:cTn id="45" dur="1" fill="hold">
                                          <p:stCondLst>
                                            <p:cond delay="0"/>
                                          </p:stCondLst>
                                        </p:cTn>
                                        <p:tgtEl>
                                          <p:spTgt spid="20"/>
                                        </p:tgtEl>
                                        <p:attrNameLst>
                                          <p:attrName>style.visibility</p:attrName>
                                        </p:attrNameLst>
                                      </p:cBhvr>
                                      <p:to>
                                        <p:strVal val="visible"/>
                                      </p:to>
                                    </p:set>
                                    <p:animEffect transition="in" filter="fade">
                                      <p:cBhvr>
                                        <p:cTn id="46" dur="1000"/>
                                        <p:tgtEl>
                                          <p:spTgt spid="20"/>
                                        </p:tgtEl>
                                      </p:cBhvr>
                                    </p:animEffect>
                                    <p:anim calcmode="lin" valueType="num">
                                      <p:cBhvr>
                                        <p:cTn id="47" dur="1000" fill="hold"/>
                                        <p:tgtEl>
                                          <p:spTgt spid="20"/>
                                        </p:tgtEl>
                                        <p:attrNameLst>
                                          <p:attrName>ppt_x</p:attrName>
                                        </p:attrNameLst>
                                      </p:cBhvr>
                                      <p:tavLst>
                                        <p:tav tm="0">
                                          <p:val>
                                            <p:strVal val="#ppt_x"/>
                                          </p:val>
                                        </p:tav>
                                        <p:tav tm="100000">
                                          <p:val>
                                            <p:strVal val="#ppt_x"/>
                                          </p:val>
                                        </p:tav>
                                      </p:tavLst>
                                    </p:anim>
                                    <p:anim calcmode="lin" valueType="num">
                                      <p:cBhvr>
                                        <p:cTn id="48" dur="1000" fill="hold"/>
                                        <p:tgtEl>
                                          <p:spTgt spid="20"/>
                                        </p:tgtEl>
                                        <p:attrNameLst>
                                          <p:attrName>ppt_y</p:attrName>
                                        </p:attrNameLst>
                                      </p:cBhvr>
                                      <p:tavLst>
                                        <p:tav tm="0">
                                          <p:val>
                                            <p:strVal val="#ppt_y+.1"/>
                                          </p:val>
                                        </p:tav>
                                        <p:tav tm="100000">
                                          <p:val>
                                            <p:strVal val="#ppt_y"/>
                                          </p:val>
                                        </p:tav>
                                      </p:tavLst>
                                    </p:anim>
                                  </p:childTnLst>
                                </p:cTn>
                              </p:par>
                              <p:par>
                                <p:cTn id="49" presetID="42" presetClass="entr" presetSubtype="0" fill="hold" grpId="0" nodeType="withEffect">
                                  <p:stCondLst>
                                    <p:cond delay="0"/>
                                  </p:stCondLst>
                                  <p:childTnLst>
                                    <p:set>
                                      <p:cBhvr>
                                        <p:cTn id="50" dur="1" fill="hold">
                                          <p:stCondLst>
                                            <p:cond delay="0"/>
                                          </p:stCondLst>
                                        </p:cTn>
                                        <p:tgtEl>
                                          <p:spTgt spid="21"/>
                                        </p:tgtEl>
                                        <p:attrNameLst>
                                          <p:attrName>style.visibility</p:attrName>
                                        </p:attrNameLst>
                                      </p:cBhvr>
                                      <p:to>
                                        <p:strVal val="visible"/>
                                      </p:to>
                                    </p:set>
                                    <p:animEffect transition="in" filter="fade">
                                      <p:cBhvr>
                                        <p:cTn id="51" dur="1000"/>
                                        <p:tgtEl>
                                          <p:spTgt spid="21"/>
                                        </p:tgtEl>
                                      </p:cBhvr>
                                    </p:animEffect>
                                    <p:anim calcmode="lin" valueType="num">
                                      <p:cBhvr>
                                        <p:cTn id="52" dur="1000" fill="hold"/>
                                        <p:tgtEl>
                                          <p:spTgt spid="21"/>
                                        </p:tgtEl>
                                        <p:attrNameLst>
                                          <p:attrName>ppt_x</p:attrName>
                                        </p:attrNameLst>
                                      </p:cBhvr>
                                      <p:tavLst>
                                        <p:tav tm="0">
                                          <p:val>
                                            <p:strVal val="#ppt_x"/>
                                          </p:val>
                                        </p:tav>
                                        <p:tav tm="100000">
                                          <p:val>
                                            <p:strVal val="#ppt_x"/>
                                          </p:val>
                                        </p:tav>
                                      </p:tavLst>
                                    </p:anim>
                                    <p:anim calcmode="lin" valueType="num">
                                      <p:cBhvr>
                                        <p:cTn id="53"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5" grpId="0" animBg="1"/>
      <p:bldP spid="16" grpId="0" animBg="1"/>
      <p:bldP spid="20" grpId="0" animBg="1"/>
      <p:bldP spid="21"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8949C0-BC4B-4DDF-B0C0-B86715828F66}"/>
              </a:ext>
            </a:extLst>
          </p:cNvPr>
          <p:cNvSpPr>
            <a:spLocks noGrp="1"/>
          </p:cNvSpPr>
          <p:nvPr>
            <p:ph type="title"/>
          </p:nvPr>
        </p:nvSpPr>
        <p:spPr/>
        <p:txBody>
          <a:bodyPr/>
          <a:lstStyle/>
          <a:p>
            <a:r>
              <a:rPr lang="en-GB" b="1" dirty="0"/>
              <a:t>Graph Model</a:t>
            </a:r>
            <a:endParaRPr lang="en-PK" dirty="0"/>
          </a:p>
        </p:txBody>
      </p:sp>
      <p:sp>
        <p:nvSpPr>
          <p:cNvPr id="3" name="Content Placeholder 2">
            <a:extLst>
              <a:ext uri="{FF2B5EF4-FFF2-40B4-BE49-F238E27FC236}">
                <a16:creationId xmlns:a16="http://schemas.microsoft.com/office/drawing/2014/main" id="{A481A481-0C51-4878-AE8C-8A84C1B803D5}"/>
              </a:ext>
            </a:extLst>
          </p:cNvPr>
          <p:cNvSpPr>
            <a:spLocks noGrp="1"/>
          </p:cNvSpPr>
          <p:nvPr>
            <p:ph idx="1"/>
          </p:nvPr>
        </p:nvSpPr>
        <p:spPr/>
        <p:txBody>
          <a:bodyPr/>
          <a:lstStyle/>
          <a:p>
            <a:r>
              <a:rPr lang="en-GB" dirty="0"/>
              <a:t>Represents data using nodes, relationships and properties.</a:t>
            </a:r>
          </a:p>
          <a:p>
            <a:pPr>
              <a:buFont typeface="Arial" panose="020B0604020202020204" pitchFamily="34" charset="0"/>
              <a:buChar char="•"/>
            </a:pPr>
            <a:r>
              <a:rPr lang="en-GB" dirty="0"/>
              <a:t>Nodes represent entities. </a:t>
            </a:r>
          </a:p>
          <a:p>
            <a:pPr>
              <a:buFont typeface="Arial" panose="020B0604020202020204" pitchFamily="34" charset="0"/>
              <a:buChar char="•"/>
            </a:pPr>
            <a:r>
              <a:rPr lang="en-GB" dirty="0"/>
              <a:t>Edges represent relationships. </a:t>
            </a:r>
          </a:p>
          <a:p>
            <a:pPr>
              <a:buFont typeface="Arial" panose="020B0604020202020204" pitchFamily="34" charset="0"/>
              <a:buChar char="•"/>
            </a:pPr>
            <a:r>
              <a:rPr lang="en-GB" dirty="0"/>
              <a:t>Designed for highly connected information. </a:t>
            </a:r>
          </a:p>
          <a:p>
            <a:pPr>
              <a:buFont typeface="Arial" panose="020B0604020202020204" pitchFamily="34" charset="0"/>
              <a:buChar char="•"/>
            </a:pPr>
            <a:r>
              <a:rPr lang="en-GB" dirty="0"/>
              <a:t>Efficient for relationship exploration.</a:t>
            </a:r>
          </a:p>
          <a:p>
            <a:endParaRPr lang="en-PK" dirty="0"/>
          </a:p>
        </p:txBody>
      </p:sp>
    </p:spTree>
    <p:extLst>
      <p:ext uri="{BB962C8B-B14F-4D97-AF65-F5344CB8AC3E}">
        <p14:creationId xmlns:p14="http://schemas.microsoft.com/office/powerpoint/2010/main" val="30922290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685177-0CDD-4722-883D-5313F5C0B5F7}"/>
              </a:ext>
            </a:extLst>
          </p:cNvPr>
          <p:cNvSpPr>
            <a:spLocks noGrp="1"/>
          </p:cNvSpPr>
          <p:nvPr>
            <p:ph type="title"/>
          </p:nvPr>
        </p:nvSpPr>
        <p:spPr/>
        <p:txBody>
          <a:bodyPr/>
          <a:lstStyle/>
          <a:p>
            <a:r>
              <a:rPr lang="en-GB" dirty="0"/>
              <a:t>Graph Model</a:t>
            </a:r>
            <a:endParaRPr lang="en-PK" dirty="0"/>
          </a:p>
        </p:txBody>
      </p:sp>
      <p:sp>
        <p:nvSpPr>
          <p:cNvPr id="4" name="Shape 4">
            <a:extLst>
              <a:ext uri="{FF2B5EF4-FFF2-40B4-BE49-F238E27FC236}">
                <a16:creationId xmlns:a16="http://schemas.microsoft.com/office/drawing/2014/main" id="{508087CC-4F36-4B08-80DC-BAC0D96828AB}"/>
              </a:ext>
            </a:extLst>
          </p:cNvPr>
          <p:cNvSpPr/>
          <p:nvPr/>
        </p:nvSpPr>
        <p:spPr>
          <a:xfrm>
            <a:off x="1295400" y="2121561"/>
            <a:ext cx="1463040" cy="1463040"/>
          </a:xfrm>
          <a:prstGeom prst="ellipse">
            <a:avLst/>
          </a:prstGeom>
          <a:solidFill>
            <a:srgbClr val="E7F7F6"/>
          </a:solidFill>
          <a:ln w="13970">
            <a:solidFill>
              <a:srgbClr val="D8E0EB"/>
            </a:solidFill>
            <a:prstDash val="solid"/>
          </a:ln>
        </p:spPr>
      </p:sp>
      <p:sp>
        <p:nvSpPr>
          <p:cNvPr id="6" name="Text 5">
            <a:extLst>
              <a:ext uri="{FF2B5EF4-FFF2-40B4-BE49-F238E27FC236}">
                <a16:creationId xmlns:a16="http://schemas.microsoft.com/office/drawing/2014/main" id="{374DB3F2-8F0F-46CB-B6A1-F9527141B2F0}"/>
              </a:ext>
            </a:extLst>
          </p:cNvPr>
          <p:cNvSpPr/>
          <p:nvPr/>
        </p:nvSpPr>
        <p:spPr>
          <a:xfrm>
            <a:off x="1432560" y="3081681"/>
            <a:ext cx="1188720" cy="182880"/>
          </a:xfrm>
          <a:prstGeom prst="rect">
            <a:avLst/>
          </a:prstGeom>
          <a:noFill/>
          <a:ln/>
        </p:spPr>
        <p:txBody>
          <a:bodyPr wrap="square" lIns="0" tIns="0" rIns="0" bIns="0" rtlCol="0" anchor="ctr"/>
          <a:lstStyle/>
          <a:p>
            <a:pPr marL="0" indent="0" algn="ctr">
              <a:buNone/>
            </a:pPr>
            <a:r>
              <a:rPr lang="en-US" sz="1600" b="1" dirty="0">
                <a:solidFill>
                  <a:srgbClr val="172033"/>
                </a:solidFill>
              </a:rPr>
              <a:t>Ayesha</a:t>
            </a:r>
            <a:endParaRPr lang="en-US" sz="1600" dirty="0"/>
          </a:p>
        </p:txBody>
      </p:sp>
      <p:sp>
        <p:nvSpPr>
          <p:cNvPr id="7" name="Shape 6">
            <a:extLst>
              <a:ext uri="{FF2B5EF4-FFF2-40B4-BE49-F238E27FC236}">
                <a16:creationId xmlns:a16="http://schemas.microsoft.com/office/drawing/2014/main" id="{CC593FD5-751A-4955-A79C-535ADD86472C}"/>
              </a:ext>
            </a:extLst>
          </p:cNvPr>
          <p:cNvSpPr/>
          <p:nvPr/>
        </p:nvSpPr>
        <p:spPr>
          <a:xfrm>
            <a:off x="5364480" y="1390041"/>
            <a:ext cx="1463040" cy="1463040"/>
          </a:xfrm>
          <a:prstGeom prst="ellipse">
            <a:avLst/>
          </a:prstGeom>
          <a:solidFill>
            <a:srgbClr val="EAF2FF"/>
          </a:solidFill>
          <a:ln w="13970">
            <a:solidFill>
              <a:srgbClr val="D8E0EB"/>
            </a:solidFill>
            <a:prstDash val="solid"/>
          </a:ln>
        </p:spPr>
      </p:sp>
      <p:sp>
        <p:nvSpPr>
          <p:cNvPr id="9" name="Text 7">
            <a:extLst>
              <a:ext uri="{FF2B5EF4-FFF2-40B4-BE49-F238E27FC236}">
                <a16:creationId xmlns:a16="http://schemas.microsoft.com/office/drawing/2014/main" id="{F4E2E852-CD22-416B-981F-F33EBD6FB1CD}"/>
              </a:ext>
            </a:extLst>
          </p:cNvPr>
          <p:cNvSpPr/>
          <p:nvPr/>
        </p:nvSpPr>
        <p:spPr>
          <a:xfrm>
            <a:off x="5501640" y="2350161"/>
            <a:ext cx="1188720" cy="182880"/>
          </a:xfrm>
          <a:prstGeom prst="rect">
            <a:avLst/>
          </a:prstGeom>
          <a:noFill/>
          <a:ln/>
        </p:spPr>
        <p:txBody>
          <a:bodyPr wrap="square" lIns="0" tIns="0" rIns="0" bIns="0" rtlCol="0" anchor="ctr"/>
          <a:lstStyle/>
          <a:p>
            <a:pPr marL="0" indent="0" algn="ctr">
              <a:buNone/>
            </a:pPr>
            <a:r>
              <a:rPr lang="en-US" sz="1600" b="1" dirty="0">
                <a:solidFill>
                  <a:srgbClr val="172033"/>
                </a:solidFill>
              </a:rPr>
              <a:t>DB Systems</a:t>
            </a:r>
            <a:endParaRPr lang="en-US" sz="1600" dirty="0"/>
          </a:p>
        </p:txBody>
      </p:sp>
      <p:sp>
        <p:nvSpPr>
          <p:cNvPr id="10" name="Shape 8">
            <a:extLst>
              <a:ext uri="{FF2B5EF4-FFF2-40B4-BE49-F238E27FC236}">
                <a16:creationId xmlns:a16="http://schemas.microsoft.com/office/drawing/2014/main" id="{6260DFA4-A736-4CEB-982B-8744B04AFA15}"/>
              </a:ext>
            </a:extLst>
          </p:cNvPr>
          <p:cNvSpPr/>
          <p:nvPr/>
        </p:nvSpPr>
        <p:spPr>
          <a:xfrm>
            <a:off x="8747760" y="2121561"/>
            <a:ext cx="1463040" cy="1463040"/>
          </a:xfrm>
          <a:prstGeom prst="ellipse">
            <a:avLst/>
          </a:prstGeom>
          <a:solidFill>
            <a:srgbClr val="E7F7F6"/>
          </a:solidFill>
          <a:ln w="13970">
            <a:solidFill>
              <a:srgbClr val="D8E0EB"/>
            </a:solidFill>
            <a:prstDash val="solid"/>
          </a:ln>
        </p:spPr>
      </p:sp>
      <p:sp>
        <p:nvSpPr>
          <p:cNvPr id="12" name="Text 9">
            <a:extLst>
              <a:ext uri="{FF2B5EF4-FFF2-40B4-BE49-F238E27FC236}">
                <a16:creationId xmlns:a16="http://schemas.microsoft.com/office/drawing/2014/main" id="{C611853D-FFDA-4332-B91E-022B2C6D172B}"/>
              </a:ext>
            </a:extLst>
          </p:cNvPr>
          <p:cNvSpPr/>
          <p:nvPr/>
        </p:nvSpPr>
        <p:spPr>
          <a:xfrm>
            <a:off x="8884920" y="3081681"/>
            <a:ext cx="1188720" cy="182880"/>
          </a:xfrm>
          <a:prstGeom prst="rect">
            <a:avLst/>
          </a:prstGeom>
          <a:noFill/>
          <a:ln/>
        </p:spPr>
        <p:txBody>
          <a:bodyPr wrap="square" lIns="0" tIns="0" rIns="0" bIns="0" rtlCol="0" anchor="ctr"/>
          <a:lstStyle/>
          <a:p>
            <a:pPr marL="0" indent="0" algn="ctr">
              <a:buNone/>
            </a:pPr>
            <a:r>
              <a:rPr lang="en-US" sz="1600" b="1" dirty="0">
                <a:solidFill>
                  <a:srgbClr val="172033"/>
                </a:solidFill>
              </a:rPr>
              <a:t>Bilal</a:t>
            </a:r>
            <a:endParaRPr lang="en-US" sz="1600" dirty="0"/>
          </a:p>
        </p:txBody>
      </p:sp>
      <p:sp>
        <p:nvSpPr>
          <p:cNvPr id="13" name="Shape 10">
            <a:extLst>
              <a:ext uri="{FF2B5EF4-FFF2-40B4-BE49-F238E27FC236}">
                <a16:creationId xmlns:a16="http://schemas.microsoft.com/office/drawing/2014/main" id="{47ED3D7B-963B-44D5-BCBB-DF28C68B925F}"/>
              </a:ext>
            </a:extLst>
          </p:cNvPr>
          <p:cNvSpPr/>
          <p:nvPr/>
        </p:nvSpPr>
        <p:spPr>
          <a:xfrm>
            <a:off x="5501640" y="4499001"/>
            <a:ext cx="1463040" cy="1463040"/>
          </a:xfrm>
          <a:prstGeom prst="ellipse">
            <a:avLst/>
          </a:prstGeom>
          <a:solidFill>
            <a:srgbClr val="F0ECFD"/>
          </a:solidFill>
          <a:ln w="13970">
            <a:solidFill>
              <a:srgbClr val="D8E0EB"/>
            </a:solidFill>
            <a:prstDash val="solid"/>
          </a:ln>
        </p:spPr>
      </p:sp>
      <p:sp>
        <p:nvSpPr>
          <p:cNvPr id="15" name="Text 11">
            <a:extLst>
              <a:ext uri="{FF2B5EF4-FFF2-40B4-BE49-F238E27FC236}">
                <a16:creationId xmlns:a16="http://schemas.microsoft.com/office/drawing/2014/main" id="{0A756904-58C1-47BE-8667-2C46AC4C6784}"/>
              </a:ext>
            </a:extLst>
          </p:cNvPr>
          <p:cNvSpPr/>
          <p:nvPr/>
        </p:nvSpPr>
        <p:spPr>
          <a:xfrm>
            <a:off x="5638800" y="5459121"/>
            <a:ext cx="1188720" cy="182880"/>
          </a:xfrm>
          <a:prstGeom prst="rect">
            <a:avLst/>
          </a:prstGeom>
          <a:noFill/>
          <a:ln/>
        </p:spPr>
        <p:txBody>
          <a:bodyPr wrap="square" lIns="0" tIns="0" rIns="0" bIns="0" rtlCol="0" anchor="ctr"/>
          <a:lstStyle/>
          <a:p>
            <a:pPr marL="0" indent="0" algn="ctr">
              <a:buNone/>
            </a:pPr>
            <a:r>
              <a:rPr lang="en-US" sz="1600" b="1" dirty="0">
                <a:solidFill>
                  <a:srgbClr val="172033"/>
                </a:solidFill>
              </a:rPr>
              <a:t>Algorithms</a:t>
            </a:r>
            <a:endParaRPr lang="en-US" sz="1600" dirty="0"/>
          </a:p>
        </p:txBody>
      </p:sp>
      <p:sp>
        <p:nvSpPr>
          <p:cNvPr id="16" name="Shape 12">
            <a:extLst>
              <a:ext uri="{FF2B5EF4-FFF2-40B4-BE49-F238E27FC236}">
                <a16:creationId xmlns:a16="http://schemas.microsoft.com/office/drawing/2014/main" id="{78F7CB46-1D2E-4DDF-BB7F-28BF7554CBA0}"/>
              </a:ext>
            </a:extLst>
          </p:cNvPr>
          <p:cNvSpPr/>
          <p:nvPr/>
        </p:nvSpPr>
        <p:spPr>
          <a:xfrm>
            <a:off x="2209800" y="4590441"/>
            <a:ext cx="1463040" cy="1463040"/>
          </a:xfrm>
          <a:prstGeom prst="ellipse">
            <a:avLst/>
          </a:prstGeom>
          <a:solidFill>
            <a:srgbClr val="EAF7F0"/>
          </a:solidFill>
          <a:ln w="13970">
            <a:solidFill>
              <a:srgbClr val="D8E0EB"/>
            </a:solidFill>
            <a:prstDash val="solid"/>
          </a:ln>
        </p:spPr>
      </p:sp>
      <p:sp>
        <p:nvSpPr>
          <p:cNvPr id="18" name="Text 13">
            <a:extLst>
              <a:ext uri="{FF2B5EF4-FFF2-40B4-BE49-F238E27FC236}">
                <a16:creationId xmlns:a16="http://schemas.microsoft.com/office/drawing/2014/main" id="{E43E9454-3A96-42B3-B80C-D7D7874A16AC}"/>
              </a:ext>
            </a:extLst>
          </p:cNvPr>
          <p:cNvSpPr/>
          <p:nvPr/>
        </p:nvSpPr>
        <p:spPr>
          <a:xfrm>
            <a:off x="2346960" y="5550561"/>
            <a:ext cx="1188720" cy="182880"/>
          </a:xfrm>
          <a:prstGeom prst="rect">
            <a:avLst/>
          </a:prstGeom>
          <a:noFill/>
          <a:ln/>
        </p:spPr>
        <p:txBody>
          <a:bodyPr wrap="square" lIns="0" tIns="0" rIns="0" bIns="0" rtlCol="0" anchor="ctr"/>
          <a:lstStyle/>
          <a:p>
            <a:pPr marL="0" indent="0" algn="ctr">
              <a:buNone/>
            </a:pPr>
            <a:r>
              <a:rPr lang="en-US" sz="1600" b="1" dirty="0">
                <a:solidFill>
                  <a:srgbClr val="172033"/>
                </a:solidFill>
              </a:rPr>
              <a:t>Hina</a:t>
            </a:r>
            <a:endParaRPr lang="en-US" sz="1600" dirty="0"/>
          </a:p>
        </p:txBody>
      </p:sp>
      <p:sp>
        <p:nvSpPr>
          <p:cNvPr id="19" name="Shape 14">
            <a:extLst>
              <a:ext uri="{FF2B5EF4-FFF2-40B4-BE49-F238E27FC236}">
                <a16:creationId xmlns:a16="http://schemas.microsoft.com/office/drawing/2014/main" id="{B065F601-62F0-4E29-8C76-4606642A7CF2}"/>
              </a:ext>
            </a:extLst>
          </p:cNvPr>
          <p:cNvSpPr/>
          <p:nvPr/>
        </p:nvSpPr>
        <p:spPr>
          <a:xfrm>
            <a:off x="2758440" y="2670201"/>
            <a:ext cx="2542032" cy="0"/>
          </a:xfrm>
          <a:prstGeom prst="line">
            <a:avLst/>
          </a:prstGeom>
          <a:noFill/>
          <a:ln w="15240">
            <a:solidFill>
              <a:srgbClr val="16A6A1"/>
            </a:solidFill>
            <a:prstDash val="solid"/>
            <a:headEnd type="none"/>
            <a:tailEnd type="triangle"/>
          </a:ln>
        </p:spPr>
      </p:sp>
      <p:sp>
        <p:nvSpPr>
          <p:cNvPr id="20" name="Shape 15">
            <a:extLst>
              <a:ext uri="{FF2B5EF4-FFF2-40B4-BE49-F238E27FC236}">
                <a16:creationId xmlns:a16="http://schemas.microsoft.com/office/drawing/2014/main" id="{27614B86-51B4-45E8-9CCA-1A994181BEE5}"/>
              </a:ext>
            </a:extLst>
          </p:cNvPr>
          <p:cNvSpPr/>
          <p:nvPr/>
        </p:nvSpPr>
        <p:spPr>
          <a:xfrm>
            <a:off x="2758440" y="3127401"/>
            <a:ext cx="2697480" cy="1508760"/>
          </a:xfrm>
          <a:prstGeom prst="line">
            <a:avLst/>
          </a:prstGeom>
          <a:noFill/>
          <a:ln w="15240">
            <a:solidFill>
              <a:srgbClr val="16A6A1"/>
            </a:solidFill>
            <a:prstDash val="solid"/>
            <a:headEnd type="none"/>
            <a:tailEnd type="triangle"/>
          </a:ln>
        </p:spPr>
      </p:sp>
      <p:sp>
        <p:nvSpPr>
          <p:cNvPr id="21" name="Shape 16">
            <a:extLst>
              <a:ext uri="{FF2B5EF4-FFF2-40B4-BE49-F238E27FC236}">
                <a16:creationId xmlns:a16="http://schemas.microsoft.com/office/drawing/2014/main" id="{2A849FCE-1F19-44C6-9C5C-23139C6F692A}"/>
              </a:ext>
            </a:extLst>
          </p:cNvPr>
          <p:cNvSpPr/>
          <p:nvPr/>
        </p:nvSpPr>
        <p:spPr>
          <a:xfrm>
            <a:off x="8702040" y="2715921"/>
            <a:ext cx="0" cy="0"/>
          </a:xfrm>
          <a:prstGeom prst="line">
            <a:avLst/>
          </a:prstGeom>
          <a:noFill/>
          <a:ln w="15240">
            <a:solidFill>
              <a:srgbClr val="16A6A1"/>
            </a:solidFill>
            <a:prstDash val="solid"/>
            <a:headEnd type="none"/>
            <a:tailEnd type="triangle"/>
          </a:ln>
        </p:spPr>
      </p:sp>
      <p:sp>
        <p:nvSpPr>
          <p:cNvPr id="22" name="Shape 17">
            <a:extLst>
              <a:ext uri="{FF2B5EF4-FFF2-40B4-BE49-F238E27FC236}">
                <a16:creationId xmlns:a16="http://schemas.microsoft.com/office/drawing/2014/main" id="{67D656C2-45FC-49E6-9CD1-FE22E8BE98EF}"/>
              </a:ext>
            </a:extLst>
          </p:cNvPr>
          <p:cNvSpPr/>
          <p:nvPr/>
        </p:nvSpPr>
        <p:spPr>
          <a:xfrm flipH="1">
            <a:off x="6964680" y="3428999"/>
            <a:ext cx="1920240" cy="1287247"/>
          </a:xfrm>
          <a:prstGeom prst="line">
            <a:avLst/>
          </a:prstGeom>
          <a:noFill/>
          <a:ln w="15240">
            <a:solidFill>
              <a:srgbClr val="16A6A1"/>
            </a:solidFill>
            <a:prstDash val="solid"/>
            <a:headEnd type="none"/>
            <a:tailEnd type="triangle"/>
          </a:ln>
        </p:spPr>
      </p:sp>
      <p:sp>
        <p:nvSpPr>
          <p:cNvPr id="23" name="Shape 18">
            <a:extLst>
              <a:ext uri="{FF2B5EF4-FFF2-40B4-BE49-F238E27FC236}">
                <a16:creationId xmlns:a16="http://schemas.microsoft.com/office/drawing/2014/main" id="{E49755E1-0B4E-4848-9BB1-395D75203C85}"/>
              </a:ext>
            </a:extLst>
          </p:cNvPr>
          <p:cNvSpPr/>
          <p:nvPr/>
        </p:nvSpPr>
        <p:spPr>
          <a:xfrm>
            <a:off x="3672840" y="5001921"/>
            <a:ext cx="1783080" cy="0"/>
          </a:xfrm>
          <a:prstGeom prst="line">
            <a:avLst/>
          </a:prstGeom>
          <a:noFill/>
          <a:ln w="15240">
            <a:solidFill>
              <a:srgbClr val="16A6A1"/>
            </a:solidFill>
            <a:prstDash val="solid"/>
            <a:headEnd type="none"/>
            <a:tailEnd type="triangle"/>
          </a:ln>
        </p:spPr>
      </p:sp>
      <p:sp>
        <p:nvSpPr>
          <p:cNvPr id="24" name="Shape 17">
            <a:extLst>
              <a:ext uri="{FF2B5EF4-FFF2-40B4-BE49-F238E27FC236}">
                <a16:creationId xmlns:a16="http://schemas.microsoft.com/office/drawing/2014/main" id="{4A86FF1F-BF15-48AD-A74C-666E14B3FE22}"/>
              </a:ext>
            </a:extLst>
          </p:cNvPr>
          <p:cNvSpPr/>
          <p:nvPr/>
        </p:nvSpPr>
        <p:spPr>
          <a:xfrm flipH="1" flipV="1">
            <a:off x="6964680" y="2039266"/>
            <a:ext cx="1645920" cy="630935"/>
          </a:xfrm>
          <a:prstGeom prst="line">
            <a:avLst/>
          </a:prstGeom>
          <a:noFill/>
          <a:ln w="15240">
            <a:solidFill>
              <a:srgbClr val="16A6A1"/>
            </a:solidFill>
            <a:prstDash val="solid"/>
            <a:headEnd type="none"/>
            <a:tailEnd type="triangle"/>
          </a:ln>
        </p:spPr>
      </p:sp>
      <p:sp>
        <p:nvSpPr>
          <p:cNvPr id="26" name="TextBox 25">
            <a:extLst>
              <a:ext uri="{FF2B5EF4-FFF2-40B4-BE49-F238E27FC236}">
                <a16:creationId xmlns:a16="http://schemas.microsoft.com/office/drawing/2014/main" id="{B02B322C-8489-442E-B866-C38FBD27DC52}"/>
              </a:ext>
            </a:extLst>
          </p:cNvPr>
          <p:cNvSpPr txBox="1"/>
          <p:nvPr/>
        </p:nvSpPr>
        <p:spPr>
          <a:xfrm>
            <a:off x="2268021" y="6199785"/>
            <a:ext cx="8003429" cy="646331"/>
          </a:xfrm>
          <a:prstGeom prst="rect">
            <a:avLst/>
          </a:prstGeom>
          <a:noFill/>
        </p:spPr>
        <p:txBody>
          <a:bodyPr wrap="square">
            <a:spAutoFit/>
          </a:bodyPr>
          <a:lstStyle/>
          <a:p>
            <a:pPr marL="0" indent="0">
              <a:buNone/>
            </a:pPr>
            <a:r>
              <a:rPr lang="en-US" sz="1800" b="1" dirty="0">
                <a:solidFill>
                  <a:srgbClr val="81570D"/>
                </a:solidFill>
              </a:rPr>
              <a:t>Best when the central question is about paths, connections, influence, recommendations, or relationship exploration.</a:t>
            </a:r>
            <a:endParaRPr lang="en-US" sz="1800" dirty="0"/>
          </a:p>
        </p:txBody>
      </p:sp>
    </p:spTree>
    <p:extLst>
      <p:ext uri="{BB962C8B-B14F-4D97-AF65-F5344CB8AC3E}">
        <p14:creationId xmlns:p14="http://schemas.microsoft.com/office/powerpoint/2010/main" val="24166041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1000"/>
                                        <p:tgtEl>
                                          <p:spTgt spid="26"/>
                                        </p:tgtEl>
                                      </p:cBhvr>
                                    </p:animEffect>
                                    <p:anim calcmode="lin" valueType="num">
                                      <p:cBhvr>
                                        <p:cTn id="8" dur="1000" fill="hold"/>
                                        <p:tgtEl>
                                          <p:spTgt spid="26"/>
                                        </p:tgtEl>
                                        <p:attrNameLst>
                                          <p:attrName>ppt_x</p:attrName>
                                        </p:attrNameLst>
                                      </p:cBhvr>
                                      <p:tavLst>
                                        <p:tav tm="0">
                                          <p:val>
                                            <p:strVal val="#ppt_x"/>
                                          </p:val>
                                        </p:tav>
                                        <p:tav tm="100000">
                                          <p:val>
                                            <p:strVal val="#ppt_x"/>
                                          </p:val>
                                        </p:tav>
                                      </p:tavLst>
                                    </p:anim>
                                    <p:anim calcmode="lin" valueType="num">
                                      <p:cBhvr>
                                        <p:cTn id="9"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E49199-CD90-4D0A-8418-17F19BD933AF}"/>
              </a:ext>
            </a:extLst>
          </p:cNvPr>
          <p:cNvSpPr>
            <a:spLocks noGrp="1"/>
          </p:cNvSpPr>
          <p:nvPr>
            <p:ph type="title"/>
          </p:nvPr>
        </p:nvSpPr>
        <p:spPr/>
        <p:txBody>
          <a:bodyPr/>
          <a:lstStyle/>
          <a:p>
            <a:r>
              <a:rPr lang="en-GB" b="1" dirty="0"/>
              <a:t>Class activity</a:t>
            </a:r>
            <a:endParaRPr lang="en-PK" dirty="0"/>
          </a:p>
        </p:txBody>
      </p:sp>
      <p:sp>
        <p:nvSpPr>
          <p:cNvPr id="3" name="Content Placeholder 2">
            <a:extLst>
              <a:ext uri="{FF2B5EF4-FFF2-40B4-BE49-F238E27FC236}">
                <a16:creationId xmlns:a16="http://schemas.microsoft.com/office/drawing/2014/main" id="{A11AA48F-7783-4000-BA05-9406DBF725A5}"/>
              </a:ext>
            </a:extLst>
          </p:cNvPr>
          <p:cNvSpPr>
            <a:spLocks noGrp="1"/>
          </p:cNvSpPr>
          <p:nvPr>
            <p:ph idx="1"/>
          </p:nvPr>
        </p:nvSpPr>
        <p:spPr>
          <a:xfrm>
            <a:off x="838200" y="1846234"/>
            <a:ext cx="10515600" cy="4351338"/>
          </a:xfrm>
        </p:spPr>
        <p:txBody>
          <a:bodyPr>
            <a:normAutofit/>
          </a:bodyPr>
          <a:lstStyle/>
          <a:p>
            <a:r>
              <a:rPr lang="en-GB" dirty="0"/>
              <a:t>Match each system with the most suitable model:</a:t>
            </a:r>
          </a:p>
          <a:p>
            <a:pPr lvl="1">
              <a:buFont typeface="+mj-lt"/>
              <a:buAutoNum type="arabicPeriod"/>
            </a:pPr>
            <a:r>
              <a:rPr lang="en-GB" sz="3200" dirty="0"/>
              <a:t>Organizational reporting structure </a:t>
            </a:r>
          </a:p>
          <a:p>
            <a:pPr lvl="1">
              <a:buFont typeface="+mj-lt"/>
              <a:buAutoNum type="arabicPeriod"/>
            </a:pPr>
            <a:r>
              <a:rPr lang="en-GB" sz="3200" dirty="0"/>
              <a:t>University registration system </a:t>
            </a:r>
          </a:p>
          <a:p>
            <a:pPr lvl="1">
              <a:buFont typeface="+mj-lt"/>
              <a:buAutoNum type="arabicPeriod"/>
            </a:pPr>
            <a:r>
              <a:rPr lang="en-GB" sz="3200" dirty="0"/>
              <a:t>Student profile with flexible fields </a:t>
            </a:r>
          </a:p>
          <a:p>
            <a:pPr lvl="1">
              <a:buFont typeface="+mj-lt"/>
              <a:buAutoNum type="arabicPeriod"/>
            </a:pPr>
            <a:r>
              <a:rPr lang="en-GB" sz="3200" dirty="0"/>
              <a:t>Social-network connections </a:t>
            </a:r>
          </a:p>
          <a:p>
            <a:endParaRPr lang="en-PK" dirty="0"/>
          </a:p>
        </p:txBody>
      </p:sp>
      <p:sp>
        <p:nvSpPr>
          <p:cNvPr id="4" name="Text 8">
            <a:extLst>
              <a:ext uri="{FF2B5EF4-FFF2-40B4-BE49-F238E27FC236}">
                <a16:creationId xmlns:a16="http://schemas.microsoft.com/office/drawing/2014/main" id="{EB5925F0-07B8-4811-AAAA-015B0FE0A407}"/>
              </a:ext>
            </a:extLst>
          </p:cNvPr>
          <p:cNvSpPr/>
          <p:nvPr/>
        </p:nvSpPr>
        <p:spPr>
          <a:xfrm>
            <a:off x="8490484" y="2462284"/>
            <a:ext cx="1965960" cy="339969"/>
          </a:xfrm>
          <a:prstGeom prst="rect">
            <a:avLst/>
          </a:prstGeom>
          <a:noFill/>
          <a:ln/>
        </p:spPr>
        <p:txBody>
          <a:bodyPr wrap="square" lIns="0" tIns="0" rIns="0" bIns="0" rtlCol="0" anchor="ctr"/>
          <a:lstStyle/>
          <a:p>
            <a:pPr marL="0" indent="0" algn="ctr">
              <a:buNone/>
            </a:pPr>
            <a:r>
              <a:rPr lang="en-US" b="1" dirty="0">
                <a:solidFill>
                  <a:srgbClr val="0F7F7A"/>
                </a:solidFill>
              </a:rPr>
              <a:t>Hierarchical</a:t>
            </a:r>
            <a:endParaRPr lang="en-US" dirty="0"/>
          </a:p>
        </p:txBody>
      </p:sp>
      <p:sp>
        <p:nvSpPr>
          <p:cNvPr id="6" name="Text 13">
            <a:extLst>
              <a:ext uri="{FF2B5EF4-FFF2-40B4-BE49-F238E27FC236}">
                <a16:creationId xmlns:a16="http://schemas.microsoft.com/office/drawing/2014/main" id="{59F68503-8E12-4615-842B-2069F0E1C5DD}"/>
              </a:ext>
            </a:extLst>
          </p:cNvPr>
          <p:cNvSpPr/>
          <p:nvPr/>
        </p:nvSpPr>
        <p:spPr>
          <a:xfrm>
            <a:off x="8440807" y="3158660"/>
            <a:ext cx="1965960" cy="339969"/>
          </a:xfrm>
          <a:prstGeom prst="rect">
            <a:avLst/>
          </a:prstGeom>
          <a:noFill/>
          <a:ln/>
        </p:spPr>
        <p:txBody>
          <a:bodyPr wrap="square" lIns="0" tIns="0" rIns="0" bIns="0" rtlCol="0" anchor="ctr"/>
          <a:lstStyle/>
          <a:p>
            <a:pPr marL="0" indent="0" algn="ctr">
              <a:buNone/>
            </a:pPr>
            <a:r>
              <a:rPr lang="en-US" b="1" dirty="0">
                <a:solidFill>
                  <a:srgbClr val="2F6BFF"/>
                </a:solidFill>
              </a:rPr>
              <a:t>Relational</a:t>
            </a:r>
            <a:endParaRPr lang="en-US" dirty="0"/>
          </a:p>
        </p:txBody>
      </p:sp>
      <p:sp>
        <p:nvSpPr>
          <p:cNvPr id="8" name="Text 18">
            <a:extLst>
              <a:ext uri="{FF2B5EF4-FFF2-40B4-BE49-F238E27FC236}">
                <a16:creationId xmlns:a16="http://schemas.microsoft.com/office/drawing/2014/main" id="{99D1F94F-79A4-47D7-97C9-499E176277CE}"/>
              </a:ext>
            </a:extLst>
          </p:cNvPr>
          <p:cNvSpPr/>
          <p:nvPr/>
        </p:nvSpPr>
        <p:spPr>
          <a:xfrm>
            <a:off x="8490484" y="3811592"/>
            <a:ext cx="1965960" cy="339969"/>
          </a:xfrm>
          <a:prstGeom prst="rect">
            <a:avLst/>
          </a:prstGeom>
          <a:noFill/>
          <a:ln/>
        </p:spPr>
        <p:txBody>
          <a:bodyPr wrap="square" lIns="0" tIns="0" rIns="0" bIns="0" rtlCol="0" anchor="ctr"/>
          <a:lstStyle/>
          <a:p>
            <a:pPr marL="0" indent="0" algn="ctr">
              <a:buNone/>
            </a:pPr>
            <a:r>
              <a:rPr lang="en-US" b="1" dirty="0">
                <a:solidFill>
                  <a:srgbClr val="7C5CE5"/>
                </a:solidFill>
              </a:rPr>
              <a:t>Document</a:t>
            </a:r>
            <a:endParaRPr lang="en-US" dirty="0"/>
          </a:p>
        </p:txBody>
      </p:sp>
      <p:sp>
        <p:nvSpPr>
          <p:cNvPr id="10" name="Text 23">
            <a:extLst>
              <a:ext uri="{FF2B5EF4-FFF2-40B4-BE49-F238E27FC236}">
                <a16:creationId xmlns:a16="http://schemas.microsoft.com/office/drawing/2014/main" id="{B033F5DF-ECF7-4A5C-9C50-C530C4A42F13}"/>
              </a:ext>
            </a:extLst>
          </p:cNvPr>
          <p:cNvSpPr/>
          <p:nvPr/>
        </p:nvSpPr>
        <p:spPr>
          <a:xfrm>
            <a:off x="8490484" y="4456451"/>
            <a:ext cx="1965960" cy="339969"/>
          </a:xfrm>
          <a:prstGeom prst="rect">
            <a:avLst/>
          </a:prstGeom>
          <a:noFill/>
          <a:ln/>
        </p:spPr>
        <p:txBody>
          <a:bodyPr wrap="square" lIns="0" tIns="0" rIns="0" bIns="0" rtlCol="0" anchor="ctr"/>
          <a:lstStyle/>
          <a:p>
            <a:pPr marL="0" indent="0" algn="ctr">
              <a:buNone/>
            </a:pPr>
            <a:r>
              <a:rPr lang="en-US" b="1" dirty="0">
                <a:solidFill>
                  <a:srgbClr val="27A06B"/>
                </a:solidFill>
              </a:rPr>
              <a:t>Graph</a:t>
            </a:r>
            <a:endParaRPr lang="en-US" dirty="0"/>
          </a:p>
        </p:txBody>
      </p:sp>
    </p:spTree>
    <p:extLst>
      <p:ext uri="{BB962C8B-B14F-4D97-AF65-F5344CB8AC3E}">
        <p14:creationId xmlns:p14="http://schemas.microsoft.com/office/powerpoint/2010/main" val="21618349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1000"/>
                                        <p:tgtEl>
                                          <p:spTgt spid="10"/>
                                        </p:tgtEl>
                                      </p:cBhvr>
                                    </p:animEffect>
                                    <p:anim calcmode="lin" valueType="num">
                                      <p:cBhvr>
                                        <p:cTn id="29" dur="1000" fill="hold"/>
                                        <p:tgtEl>
                                          <p:spTgt spid="10"/>
                                        </p:tgtEl>
                                        <p:attrNameLst>
                                          <p:attrName>ppt_x</p:attrName>
                                        </p:attrNameLst>
                                      </p:cBhvr>
                                      <p:tavLst>
                                        <p:tav tm="0">
                                          <p:val>
                                            <p:strVal val="#ppt_x"/>
                                          </p:val>
                                        </p:tav>
                                        <p:tav tm="100000">
                                          <p:val>
                                            <p:strVal val="#ppt_x"/>
                                          </p:val>
                                        </p:tav>
                                      </p:tavLst>
                                    </p:anim>
                                    <p:anim calcmode="lin" valueType="num">
                                      <p:cBhvr>
                                        <p:cTn id="30"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8" grpId="0" animBg="1"/>
      <p:bldP spid="10"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6CD355-C0E5-4811-B902-C1D9ABC7A989}"/>
              </a:ext>
            </a:extLst>
          </p:cNvPr>
          <p:cNvSpPr>
            <a:spLocks noGrp="1"/>
          </p:cNvSpPr>
          <p:nvPr>
            <p:ph type="title"/>
          </p:nvPr>
        </p:nvSpPr>
        <p:spPr/>
        <p:txBody>
          <a:bodyPr/>
          <a:lstStyle/>
          <a:p>
            <a:r>
              <a:rPr lang="en-GB" dirty="0"/>
              <a:t>How a DBMS Processes a Request</a:t>
            </a:r>
            <a:endParaRPr lang="en-PK" dirty="0"/>
          </a:p>
        </p:txBody>
      </p:sp>
      <p:sp>
        <p:nvSpPr>
          <p:cNvPr id="6" name="Shape 4">
            <a:extLst>
              <a:ext uri="{FF2B5EF4-FFF2-40B4-BE49-F238E27FC236}">
                <a16:creationId xmlns:a16="http://schemas.microsoft.com/office/drawing/2014/main" id="{2F149ADB-288C-402E-8E36-795F997B8855}"/>
              </a:ext>
            </a:extLst>
          </p:cNvPr>
          <p:cNvSpPr/>
          <p:nvPr/>
        </p:nvSpPr>
        <p:spPr>
          <a:xfrm>
            <a:off x="671725" y="2927108"/>
            <a:ext cx="1572768" cy="1600200"/>
          </a:xfrm>
          <a:prstGeom prst="roundRect">
            <a:avLst>
              <a:gd name="adj" fmla="val 3488"/>
            </a:avLst>
          </a:prstGeom>
          <a:solidFill>
            <a:srgbClr val="E7F7F6"/>
          </a:solidFill>
          <a:ln w="12700">
            <a:solidFill>
              <a:srgbClr val="D8E0EB"/>
            </a:solidFill>
            <a:prstDash val="solid"/>
          </a:ln>
        </p:spPr>
      </p:sp>
      <p:sp>
        <p:nvSpPr>
          <p:cNvPr id="8" name="Text 5">
            <a:extLst>
              <a:ext uri="{FF2B5EF4-FFF2-40B4-BE49-F238E27FC236}">
                <a16:creationId xmlns:a16="http://schemas.microsoft.com/office/drawing/2014/main" id="{96C27F3C-F033-447B-A2BC-851AC56264AE}"/>
              </a:ext>
            </a:extLst>
          </p:cNvPr>
          <p:cNvSpPr/>
          <p:nvPr/>
        </p:nvSpPr>
        <p:spPr>
          <a:xfrm>
            <a:off x="781453" y="3569760"/>
            <a:ext cx="1353312" cy="411480"/>
          </a:xfrm>
          <a:prstGeom prst="rect">
            <a:avLst/>
          </a:prstGeom>
          <a:noFill/>
          <a:ln/>
        </p:spPr>
        <p:txBody>
          <a:bodyPr wrap="square" lIns="0" tIns="0" rIns="0" bIns="0" rtlCol="0" anchor="ctr"/>
          <a:lstStyle/>
          <a:p>
            <a:pPr marL="0" indent="0" algn="ctr">
              <a:buNone/>
            </a:pPr>
            <a:r>
              <a:rPr lang="en-US" sz="1600" b="1" dirty="0">
                <a:solidFill>
                  <a:srgbClr val="172033"/>
                </a:solidFill>
              </a:rPr>
              <a:t>User / App</a:t>
            </a:r>
            <a:endParaRPr lang="en-US" sz="1600" dirty="0"/>
          </a:p>
        </p:txBody>
      </p:sp>
      <p:sp>
        <p:nvSpPr>
          <p:cNvPr id="9" name="Shape 6">
            <a:extLst>
              <a:ext uri="{FF2B5EF4-FFF2-40B4-BE49-F238E27FC236}">
                <a16:creationId xmlns:a16="http://schemas.microsoft.com/office/drawing/2014/main" id="{A0C4DDD1-B692-4B94-AD50-865E08DA5010}"/>
              </a:ext>
            </a:extLst>
          </p:cNvPr>
          <p:cNvSpPr/>
          <p:nvPr/>
        </p:nvSpPr>
        <p:spPr>
          <a:xfrm>
            <a:off x="2262781" y="3478320"/>
            <a:ext cx="265176" cy="0"/>
          </a:xfrm>
          <a:prstGeom prst="line">
            <a:avLst/>
          </a:prstGeom>
          <a:noFill/>
          <a:ln w="17145">
            <a:solidFill>
              <a:srgbClr val="16A6A1"/>
            </a:solidFill>
            <a:prstDash val="solid"/>
            <a:headEnd type="none"/>
            <a:tailEnd type="triangle"/>
          </a:ln>
        </p:spPr>
      </p:sp>
      <p:sp>
        <p:nvSpPr>
          <p:cNvPr id="10" name="Shape 7">
            <a:extLst>
              <a:ext uri="{FF2B5EF4-FFF2-40B4-BE49-F238E27FC236}">
                <a16:creationId xmlns:a16="http://schemas.microsoft.com/office/drawing/2014/main" id="{59F3B793-24F0-4C53-9926-B3E1F44380FE}"/>
              </a:ext>
            </a:extLst>
          </p:cNvPr>
          <p:cNvSpPr/>
          <p:nvPr/>
        </p:nvSpPr>
        <p:spPr>
          <a:xfrm>
            <a:off x="2610253" y="2927108"/>
            <a:ext cx="1572768" cy="1600200"/>
          </a:xfrm>
          <a:prstGeom prst="roundRect">
            <a:avLst>
              <a:gd name="adj" fmla="val 3488"/>
            </a:avLst>
          </a:prstGeom>
          <a:solidFill>
            <a:srgbClr val="EAF2FF"/>
          </a:solidFill>
          <a:ln w="12700">
            <a:solidFill>
              <a:srgbClr val="D8E0EB"/>
            </a:solidFill>
            <a:prstDash val="solid"/>
          </a:ln>
        </p:spPr>
      </p:sp>
      <p:sp>
        <p:nvSpPr>
          <p:cNvPr id="12" name="Text 8">
            <a:extLst>
              <a:ext uri="{FF2B5EF4-FFF2-40B4-BE49-F238E27FC236}">
                <a16:creationId xmlns:a16="http://schemas.microsoft.com/office/drawing/2014/main" id="{30DA846A-E1DC-481A-A120-76262956A4C5}"/>
              </a:ext>
            </a:extLst>
          </p:cNvPr>
          <p:cNvSpPr/>
          <p:nvPr/>
        </p:nvSpPr>
        <p:spPr>
          <a:xfrm>
            <a:off x="2719981" y="3569760"/>
            <a:ext cx="1353312" cy="411480"/>
          </a:xfrm>
          <a:prstGeom prst="rect">
            <a:avLst/>
          </a:prstGeom>
          <a:noFill/>
          <a:ln/>
        </p:spPr>
        <p:txBody>
          <a:bodyPr wrap="square" lIns="0" tIns="0" rIns="0" bIns="0" rtlCol="0" anchor="ctr"/>
          <a:lstStyle/>
          <a:p>
            <a:pPr marL="0" indent="0" algn="ctr">
              <a:buNone/>
            </a:pPr>
            <a:r>
              <a:rPr lang="en-US" sz="1600" b="1" dirty="0">
                <a:solidFill>
                  <a:srgbClr val="172033"/>
                </a:solidFill>
              </a:rPr>
              <a:t>SQL / Schema</a:t>
            </a:r>
            <a:endParaRPr lang="en-US" sz="1600" dirty="0"/>
          </a:p>
        </p:txBody>
      </p:sp>
      <p:sp>
        <p:nvSpPr>
          <p:cNvPr id="13" name="Shape 9">
            <a:extLst>
              <a:ext uri="{FF2B5EF4-FFF2-40B4-BE49-F238E27FC236}">
                <a16:creationId xmlns:a16="http://schemas.microsoft.com/office/drawing/2014/main" id="{151A3546-C16C-4331-892E-7FA192041FD9}"/>
              </a:ext>
            </a:extLst>
          </p:cNvPr>
          <p:cNvSpPr/>
          <p:nvPr/>
        </p:nvSpPr>
        <p:spPr>
          <a:xfrm>
            <a:off x="4201309" y="3478320"/>
            <a:ext cx="265176" cy="0"/>
          </a:xfrm>
          <a:prstGeom prst="line">
            <a:avLst/>
          </a:prstGeom>
          <a:noFill/>
          <a:ln w="17145">
            <a:solidFill>
              <a:srgbClr val="16A6A1"/>
            </a:solidFill>
            <a:prstDash val="solid"/>
            <a:headEnd type="none"/>
            <a:tailEnd type="triangle"/>
          </a:ln>
        </p:spPr>
      </p:sp>
      <p:sp>
        <p:nvSpPr>
          <p:cNvPr id="14" name="Shape 10">
            <a:extLst>
              <a:ext uri="{FF2B5EF4-FFF2-40B4-BE49-F238E27FC236}">
                <a16:creationId xmlns:a16="http://schemas.microsoft.com/office/drawing/2014/main" id="{0A3BD992-C978-4E3D-9759-A1A610CA55E4}"/>
              </a:ext>
            </a:extLst>
          </p:cNvPr>
          <p:cNvSpPr/>
          <p:nvPr/>
        </p:nvSpPr>
        <p:spPr>
          <a:xfrm>
            <a:off x="4548781" y="2927108"/>
            <a:ext cx="1572768" cy="1600200"/>
          </a:xfrm>
          <a:prstGeom prst="roundRect">
            <a:avLst>
              <a:gd name="adj" fmla="val 3488"/>
            </a:avLst>
          </a:prstGeom>
          <a:solidFill>
            <a:srgbClr val="E7F7F6"/>
          </a:solidFill>
          <a:ln w="12700">
            <a:solidFill>
              <a:srgbClr val="D8E0EB"/>
            </a:solidFill>
            <a:prstDash val="solid"/>
          </a:ln>
        </p:spPr>
      </p:sp>
      <p:sp>
        <p:nvSpPr>
          <p:cNvPr id="16" name="Text 11">
            <a:extLst>
              <a:ext uri="{FF2B5EF4-FFF2-40B4-BE49-F238E27FC236}">
                <a16:creationId xmlns:a16="http://schemas.microsoft.com/office/drawing/2014/main" id="{E9D58421-F74B-4D9C-9CF2-8CA8FF78D6E7}"/>
              </a:ext>
            </a:extLst>
          </p:cNvPr>
          <p:cNvSpPr/>
          <p:nvPr/>
        </p:nvSpPr>
        <p:spPr>
          <a:xfrm>
            <a:off x="4658509" y="3569760"/>
            <a:ext cx="1353312" cy="411480"/>
          </a:xfrm>
          <a:prstGeom prst="rect">
            <a:avLst/>
          </a:prstGeom>
          <a:noFill/>
          <a:ln/>
        </p:spPr>
        <p:txBody>
          <a:bodyPr wrap="square" lIns="0" tIns="0" rIns="0" bIns="0" rtlCol="0" anchor="ctr"/>
          <a:lstStyle/>
          <a:p>
            <a:pPr marL="0" indent="0" algn="ctr">
              <a:buNone/>
            </a:pPr>
            <a:r>
              <a:rPr lang="en-US" sz="1600" b="1" dirty="0">
                <a:solidFill>
                  <a:srgbClr val="172033"/>
                </a:solidFill>
              </a:rPr>
              <a:t>Query / DDL</a:t>
            </a:r>
            <a:endParaRPr lang="en-US" sz="1600" dirty="0"/>
          </a:p>
          <a:p>
            <a:pPr marL="0" indent="0" algn="ctr">
              <a:buNone/>
            </a:pPr>
            <a:r>
              <a:rPr lang="en-US" sz="1600" b="1" dirty="0">
                <a:solidFill>
                  <a:srgbClr val="172033"/>
                </a:solidFill>
              </a:rPr>
              <a:t>Processor</a:t>
            </a:r>
            <a:endParaRPr lang="en-US" sz="1600" dirty="0"/>
          </a:p>
        </p:txBody>
      </p:sp>
      <p:sp>
        <p:nvSpPr>
          <p:cNvPr id="17" name="Shape 12">
            <a:extLst>
              <a:ext uri="{FF2B5EF4-FFF2-40B4-BE49-F238E27FC236}">
                <a16:creationId xmlns:a16="http://schemas.microsoft.com/office/drawing/2014/main" id="{2C5C3701-66F5-46C3-A54B-1DDF6F1B3B8A}"/>
              </a:ext>
            </a:extLst>
          </p:cNvPr>
          <p:cNvSpPr/>
          <p:nvPr/>
        </p:nvSpPr>
        <p:spPr>
          <a:xfrm>
            <a:off x="6139837" y="3478320"/>
            <a:ext cx="265176" cy="0"/>
          </a:xfrm>
          <a:prstGeom prst="line">
            <a:avLst/>
          </a:prstGeom>
          <a:noFill/>
          <a:ln w="17145">
            <a:solidFill>
              <a:srgbClr val="16A6A1"/>
            </a:solidFill>
            <a:prstDash val="solid"/>
            <a:headEnd type="none"/>
            <a:tailEnd type="triangle"/>
          </a:ln>
        </p:spPr>
      </p:sp>
      <p:sp>
        <p:nvSpPr>
          <p:cNvPr id="18" name="Shape 13">
            <a:extLst>
              <a:ext uri="{FF2B5EF4-FFF2-40B4-BE49-F238E27FC236}">
                <a16:creationId xmlns:a16="http://schemas.microsoft.com/office/drawing/2014/main" id="{405BD32D-1448-4444-99DA-AD40254F44B4}"/>
              </a:ext>
            </a:extLst>
          </p:cNvPr>
          <p:cNvSpPr/>
          <p:nvPr/>
        </p:nvSpPr>
        <p:spPr>
          <a:xfrm>
            <a:off x="6487309" y="2927108"/>
            <a:ext cx="1572768" cy="1600200"/>
          </a:xfrm>
          <a:prstGeom prst="roundRect">
            <a:avLst>
              <a:gd name="adj" fmla="val 3488"/>
            </a:avLst>
          </a:prstGeom>
          <a:solidFill>
            <a:srgbClr val="EAF2FF"/>
          </a:solidFill>
          <a:ln w="12700">
            <a:solidFill>
              <a:srgbClr val="D8E0EB"/>
            </a:solidFill>
            <a:prstDash val="solid"/>
          </a:ln>
        </p:spPr>
      </p:sp>
      <p:sp>
        <p:nvSpPr>
          <p:cNvPr id="20" name="Text 14">
            <a:extLst>
              <a:ext uri="{FF2B5EF4-FFF2-40B4-BE49-F238E27FC236}">
                <a16:creationId xmlns:a16="http://schemas.microsoft.com/office/drawing/2014/main" id="{7BA1C6D2-3BF4-442B-A2F5-062D2F1B111E}"/>
              </a:ext>
            </a:extLst>
          </p:cNvPr>
          <p:cNvSpPr/>
          <p:nvPr/>
        </p:nvSpPr>
        <p:spPr>
          <a:xfrm>
            <a:off x="6597037" y="3569760"/>
            <a:ext cx="1353312" cy="411480"/>
          </a:xfrm>
          <a:prstGeom prst="rect">
            <a:avLst/>
          </a:prstGeom>
          <a:noFill/>
          <a:ln/>
        </p:spPr>
        <p:txBody>
          <a:bodyPr wrap="square" lIns="0" tIns="0" rIns="0" bIns="0" rtlCol="0" anchor="ctr"/>
          <a:lstStyle/>
          <a:p>
            <a:pPr marL="0" indent="0" algn="ctr">
              <a:buNone/>
            </a:pPr>
            <a:r>
              <a:rPr lang="en-US" sz="1600" b="1" dirty="0">
                <a:solidFill>
                  <a:srgbClr val="172033"/>
                </a:solidFill>
              </a:rPr>
              <a:t>Execution</a:t>
            </a:r>
            <a:endParaRPr lang="en-US" sz="1600" dirty="0"/>
          </a:p>
          <a:p>
            <a:pPr marL="0" indent="0" algn="ctr">
              <a:buNone/>
            </a:pPr>
            <a:r>
              <a:rPr lang="en-US" sz="1600" b="1" dirty="0">
                <a:solidFill>
                  <a:srgbClr val="172033"/>
                </a:solidFill>
              </a:rPr>
              <a:t>Engine</a:t>
            </a:r>
            <a:endParaRPr lang="en-US" sz="1600" dirty="0"/>
          </a:p>
        </p:txBody>
      </p:sp>
      <p:sp>
        <p:nvSpPr>
          <p:cNvPr id="21" name="Shape 15">
            <a:extLst>
              <a:ext uri="{FF2B5EF4-FFF2-40B4-BE49-F238E27FC236}">
                <a16:creationId xmlns:a16="http://schemas.microsoft.com/office/drawing/2014/main" id="{A15F6851-FD2D-49F0-8F65-F8232CDDB6A8}"/>
              </a:ext>
            </a:extLst>
          </p:cNvPr>
          <p:cNvSpPr/>
          <p:nvPr/>
        </p:nvSpPr>
        <p:spPr>
          <a:xfrm>
            <a:off x="8078365" y="3478320"/>
            <a:ext cx="265176" cy="0"/>
          </a:xfrm>
          <a:prstGeom prst="line">
            <a:avLst/>
          </a:prstGeom>
          <a:noFill/>
          <a:ln w="17145">
            <a:solidFill>
              <a:srgbClr val="16A6A1"/>
            </a:solidFill>
            <a:prstDash val="solid"/>
            <a:headEnd type="none"/>
            <a:tailEnd type="triangle"/>
          </a:ln>
        </p:spPr>
      </p:sp>
      <p:sp>
        <p:nvSpPr>
          <p:cNvPr id="22" name="Shape 16">
            <a:extLst>
              <a:ext uri="{FF2B5EF4-FFF2-40B4-BE49-F238E27FC236}">
                <a16:creationId xmlns:a16="http://schemas.microsoft.com/office/drawing/2014/main" id="{AD841E77-9E66-4D0F-AE52-5DFE2FEBFF18}"/>
              </a:ext>
            </a:extLst>
          </p:cNvPr>
          <p:cNvSpPr/>
          <p:nvPr/>
        </p:nvSpPr>
        <p:spPr>
          <a:xfrm>
            <a:off x="8425837" y="2927108"/>
            <a:ext cx="1572768" cy="1600200"/>
          </a:xfrm>
          <a:prstGeom prst="roundRect">
            <a:avLst>
              <a:gd name="adj" fmla="val 3488"/>
            </a:avLst>
          </a:prstGeom>
          <a:solidFill>
            <a:srgbClr val="E7F7F6"/>
          </a:solidFill>
          <a:ln w="12700">
            <a:solidFill>
              <a:srgbClr val="D8E0EB"/>
            </a:solidFill>
            <a:prstDash val="solid"/>
          </a:ln>
        </p:spPr>
      </p:sp>
      <p:sp>
        <p:nvSpPr>
          <p:cNvPr id="24" name="Text 17">
            <a:extLst>
              <a:ext uri="{FF2B5EF4-FFF2-40B4-BE49-F238E27FC236}">
                <a16:creationId xmlns:a16="http://schemas.microsoft.com/office/drawing/2014/main" id="{61486DA5-1466-4A68-9313-6DBED68226E0}"/>
              </a:ext>
            </a:extLst>
          </p:cNvPr>
          <p:cNvSpPr/>
          <p:nvPr/>
        </p:nvSpPr>
        <p:spPr>
          <a:xfrm>
            <a:off x="8535565" y="3569760"/>
            <a:ext cx="1353312" cy="411480"/>
          </a:xfrm>
          <a:prstGeom prst="rect">
            <a:avLst/>
          </a:prstGeom>
          <a:noFill/>
          <a:ln/>
        </p:spPr>
        <p:txBody>
          <a:bodyPr wrap="square" lIns="0" tIns="0" rIns="0" bIns="0" rtlCol="0" anchor="ctr"/>
          <a:lstStyle/>
          <a:p>
            <a:pPr marL="0" indent="0" algn="ctr">
              <a:buNone/>
            </a:pPr>
            <a:r>
              <a:rPr lang="en-US" sz="1600" b="1" dirty="0">
                <a:solidFill>
                  <a:srgbClr val="172033"/>
                </a:solidFill>
              </a:rPr>
              <a:t>Storage</a:t>
            </a:r>
            <a:endParaRPr lang="en-US" sz="1600" dirty="0"/>
          </a:p>
          <a:p>
            <a:pPr marL="0" indent="0" algn="ctr">
              <a:buNone/>
            </a:pPr>
            <a:r>
              <a:rPr lang="en-US" sz="1600" b="1" dirty="0">
                <a:solidFill>
                  <a:srgbClr val="172033"/>
                </a:solidFill>
              </a:rPr>
              <a:t>Manager</a:t>
            </a:r>
            <a:endParaRPr lang="en-US" sz="1600" dirty="0"/>
          </a:p>
        </p:txBody>
      </p:sp>
      <p:sp>
        <p:nvSpPr>
          <p:cNvPr id="25" name="Shape 18">
            <a:extLst>
              <a:ext uri="{FF2B5EF4-FFF2-40B4-BE49-F238E27FC236}">
                <a16:creationId xmlns:a16="http://schemas.microsoft.com/office/drawing/2014/main" id="{4E428DAF-19B5-4FEA-8B75-5982C455013C}"/>
              </a:ext>
            </a:extLst>
          </p:cNvPr>
          <p:cNvSpPr/>
          <p:nvPr/>
        </p:nvSpPr>
        <p:spPr>
          <a:xfrm>
            <a:off x="10016893" y="3478320"/>
            <a:ext cx="265176" cy="0"/>
          </a:xfrm>
          <a:prstGeom prst="line">
            <a:avLst/>
          </a:prstGeom>
          <a:noFill/>
          <a:ln w="17145">
            <a:solidFill>
              <a:srgbClr val="16A6A1"/>
            </a:solidFill>
            <a:prstDash val="solid"/>
            <a:headEnd type="none"/>
            <a:tailEnd type="triangle"/>
          </a:ln>
        </p:spPr>
      </p:sp>
      <p:sp>
        <p:nvSpPr>
          <p:cNvPr id="26" name="Shape 19">
            <a:extLst>
              <a:ext uri="{FF2B5EF4-FFF2-40B4-BE49-F238E27FC236}">
                <a16:creationId xmlns:a16="http://schemas.microsoft.com/office/drawing/2014/main" id="{F653A482-16D1-4469-8143-3D1B9C55C2CD}"/>
              </a:ext>
            </a:extLst>
          </p:cNvPr>
          <p:cNvSpPr/>
          <p:nvPr/>
        </p:nvSpPr>
        <p:spPr>
          <a:xfrm>
            <a:off x="10364365" y="2927108"/>
            <a:ext cx="1572768" cy="1600200"/>
          </a:xfrm>
          <a:prstGeom prst="roundRect">
            <a:avLst>
              <a:gd name="adj" fmla="val 3488"/>
            </a:avLst>
          </a:prstGeom>
          <a:solidFill>
            <a:srgbClr val="EAF2FF"/>
          </a:solidFill>
          <a:ln w="12700">
            <a:solidFill>
              <a:srgbClr val="D8E0EB"/>
            </a:solidFill>
            <a:prstDash val="solid"/>
          </a:ln>
        </p:spPr>
      </p:sp>
      <p:sp>
        <p:nvSpPr>
          <p:cNvPr id="28" name="Text 20">
            <a:extLst>
              <a:ext uri="{FF2B5EF4-FFF2-40B4-BE49-F238E27FC236}">
                <a16:creationId xmlns:a16="http://schemas.microsoft.com/office/drawing/2014/main" id="{835735A2-0EBD-4916-A41D-17BF14B00810}"/>
              </a:ext>
            </a:extLst>
          </p:cNvPr>
          <p:cNvSpPr/>
          <p:nvPr/>
        </p:nvSpPr>
        <p:spPr>
          <a:xfrm>
            <a:off x="10474093" y="3569760"/>
            <a:ext cx="1353312" cy="411480"/>
          </a:xfrm>
          <a:prstGeom prst="rect">
            <a:avLst/>
          </a:prstGeom>
          <a:noFill/>
          <a:ln/>
        </p:spPr>
        <p:txBody>
          <a:bodyPr wrap="square" lIns="0" tIns="0" rIns="0" bIns="0" rtlCol="0" anchor="ctr"/>
          <a:lstStyle/>
          <a:p>
            <a:pPr marL="0" indent="0" algn="ctr">
              <a:buNone/>
            </a:pPr>
            <a:r>
              <a:rPr lang="en-US" sz="1600" b="1" dirty="0">
                <a:solidFill>
                  <a:srgbClr val="172033"/>
                </a:solidFill>
              </a:rPr>
              <a:t>Database</a:t>
            </a:r>
            <a:endParaRPr lang="en-US" sz="1600" dirty="0"/>
          </a:p>
        </p:txBody>
      </p:sp>
    </p:spTree>
    <p:extLst>
      <p:ext uri="{BB962C8B-B14F-4D97-AF65-F5344CB8AC3E}">
        <p14:creationId xmlns:p14="http://schemas.microsoft.com/office/powerpoint/2010/main" val="31017324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1000"/>
                                        <p:tgtEl>
                                          <p:spTgt spid="8"/>
                                        </p:tgtEl>
                                      </p:cBhvr>
                                    </p:animEffect>
                                    <p:anim calcmode="lin" valueType="num">
                                      <p:cBhvr>
                                        <p:cTn id="13" dur="1000" fill="hold"/>
                                        <p:tgtEl>
                                          <p:spTgt spid="8"/>
                                        </p:tgtEl>
                                        <p:attrNameLst>
                                          <p:attrName>ppt_x</p:attrName>
                                        </p:attrNameLst>
                                      </p:cBhvr>
                                      <p:tavLst>
                                        <p:tav tm="0">
                                          <p:val>
                                            <p:strVal val="#ppt_x"/>
                                          </p:val>
                                        </p:tav>
                                        <p:tav tm="100000">
                                          <p:val>
                                            <p:strVal val="#ppt_x"/>
                                          </p:val>
                                        </p:tav>
                                      </p:tavLst>
                                    </p:anim>
                                    <p:anim calcmode="lin" valueType="num">
                                      <p:cBhvr>
                                        <p:cTn id="14" dur="1000" fill="hold"/>
                                        <p:tgtEl>
                                          <p:spTgt spid="8"/>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1000"/>
                                        <p:tgtEl>
                                          <p:spTgt spid="9"/>
                                        </p:tgtEl>
                                      </p:cBhvr>
                                    </p:animEffect>
                                    <p:anim calcmode="lin" valueType="num">
                                      <p:cBhvr>
                                        <p:cTn id="18" dur="1000" fill="hold"/>
                                        <p:tgtEl>
                                          <p:spTgt spid="9"/>
                                        </p:tgtEl>
                                        <p:attrNameLst>
                                          <p:attrName>ppt_x</p:attrName>
                                        </p:attrNameLst>
                                      </p:cBhvr>
                                      <p:tavLst>
                                        <p:tav tm="0">
                                          <p:val>
                                            <p:strVal val="#ppt_x"/>
                                          </p:val>
                                        </p:tav>
                                        <p:tav tm="100000">
                                          <p:val>
                                            <p:strVal val="#ppt_x"/>
                                          </p:val>
                                        </p:tav>
                                      </p:tavLst>
                                    </p:anim>
                                    <p:anim calcmode="lin" valueType="num">
                                      <p:cBhvr>
                                        <p:cTn id="1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1000"/>
                                        <p:tgtEl>
                                          <p:spTgt spid="10"/>
                                        </p:tgtEl>
                                      </p:cBhvr>
                                    </p:animEffect>
                                    <p:anim calcmode="lin" valueType="num">
                                      <p:cBhvr>
                                        <p:cTn id="25" dur="1000" fill="hold"/>
                                        <p:tgtEl>
                                          <p:spTgt spid="10"/>
                                        </p:tgtEl>
                                        <p:attrNameLst>
                                          <p:attrName>ppt_x</p:attrName>
                                        </p:attrNameLst>
                                      </p:cBhvr>
                                      <p:tavLst>
                                        <p:tav tm="0">
                                          <p:val>
                                            <p:strVal val="#ppt_x"/>
                                          </p:val>
                                        </p:tav>
                                        <p:tav tm="100000">
                                          <p:val>
                                            <p:strVal val="#ppt_x"/>
                                          </p:val>
                                        </p:tav>
                                      </p:tavLst>
                                    </p:anim>
                                    <p:anim calcmode="lin" valueType="num">
                                      <p:cBhvr>
                                        <p:cTn id="26" dur="1000" fill="hold"/>
                                        <p:tgtEl>
                                          <p:spTgt spid="10"/>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1000"/>
                                        <p:tgtEl>
                                          <p:spTgt spid="12"/>
                                        </p:tgtEl>
                                      </p:cBhvr>
                                    </p:animEffect>
                                    <p:anim calcmode="lin" valueType="num">
                                      <p:cBhvr>
                                        <p:cTn id="30" dur="1000" fill="hold"/>
                                        <p:tgtEl>
                                          <p:spTgt spid="12"/>
                                        </p:tgtEl>
                                        <p:attrNameLst>
                                          <p:attrName>ppt_x</p:attrName>
                                        </p:attrNameLst>
                                      </p:cBhvr>
                                      <p:tavLst>
                                        <p:tav tm="0">
                                          <p:val>
                                            <p:strVal val="#ppt_x"/>
                                          </p:val>
                                        </p:tav>
                                        <p:tav tm="100000">
                                          <p:val>
                                            <p:strVal val="#ppt_x"/>
                                          </p:val>
                                        </p:tav>
                                      </p:tavLst>
                                    </p:anim>
                                    <p:anim calcmode="lin" valueType="num">
                                      <p:cBhvr>
                                        <p:cTn id="31" dur="1000" fill="hold"/>
                                        <p:tgtEl>
                                          <p:spTgt spid="12"/>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1000"/>
                                        <p:tgtEl>
                                          <p:spTgt spid="13"/>
                                        </p:tgtEl>
                                      </p:cBhvr>
                                    </p:animEffect>
                                    <p:anim calcmode="lin" valueType="num">
                                      <p:cBhvr>
                                        <p:cTn id="35" dur="1000" fill="hold"/>
                                        <p:tgtEl>
                                          <p:spTgt spid="13"/>
                                        </p:tgtEl>
                                        <p:attrNameLst>
                                          <p:attrName>ppt_x</p:attrName>
                                        </p:attrNameLst>
                                      </p:cBhvr>
                                      <p:tavLst>
                                        <p:tav tm="0">
                                          <p:val>
                                            <p:strVal val="#ppt_x"/>
                                          </p:val>
                                        </p:tav>
                                        <p:tav tm="100000">
                                          <p:val>
                                            <p:strVal val="#ppt_x"/>
                                          </p:val>
                                        </p:tav>
                                      </p:tavLst>
                                    </p:anim>
                                    <p:anim calcmode="lin" valueType="num">
                                      <p:cBhvr>
                                        <p:cTn id="36"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nodeType="click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1000"/>
                                        <p:tgtEl>
                                          <p:spTgt spid="14"/>
                                        </p:tgtEl>
                                      </p:cBhvr>
                                    </p:animEffect>
                                    <p:anim calcmode="lin" valueType="num">
                                      <p:cBhvr>
                                        <p:cTn id="42" dur="1000" fill="hold"/>
                                        <p:tgtEl>
                                          <p:spTgt spid="14"/>
                                        </p:tgtEl>
                                        <p:attrNameLst>
                                          <p:attrName>ppt_x</p:attrName>
                                        </p:attrNameLst>
                                      </p:cBhvr>
                                      <p:tavLst>
                                        <p:tav tm="0">
                                          <p:val>
                                            <p:strVal val="#ppt_x"/>
                                          </p:val>
                                        </p:tav>
                                        <p:tav tm="100000">
                                          <p:val>
                                            <p:strVal val="#ppt_x"/>
                                          </p:val>
                                        </p:tav>
                                      </p:tavLst>
                                    </p:anim>
                                    <p:anim calcmode="lin" valueType="num">
                                      <p:cBhvr>
                                        <p:cTn id="43" dur="1000" fill="hold"/>
                                        <p:tgtEl>
                                          <p:spTgt spid="14"/>
                                        </p:tgtEl>
                                        <p:attrNameLst>
                                          <p:attrName>ppt_y</p:attrName>
                                        </p:attrNameLst>
                                      </p:cBhvr>
                                      <p:tavLst>
                                        <p:tav tm="0">
                                          <p:val>
                                            <p:strVal val="#ppt_y+.1"/>
                                          </p:val>
                                        </p:tav>
                                        <p:tav tm="100000">
                                          <p:val>
                                            <p:strVal val="#ppt_y"/>
                                          </p:val>
                                        </p:tav>
                                      </p:tavLst>
                                    </p:anim>
                                  </p:childTnLst>
                                </p:cTn>
                              </p:par>
                              <p:par>
                                <p:cTn id="44" presetID="42" presetClass="entr" presetSubtype="0" fill="hold" grpId="0" nodeType="with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1000"/>
                                        <p:tgtEl>
                                          <p:spTgt spid="16"/>
                                        </p:tgtEl>
                                      </p:cBhvr>
                                    </p:animEffect>
                                    <p:anim calcmode="lin" valueType="num">
                                      <p:cBhvr>
                                        <p:cTn id="47" dur="1000" fill="hold"/>
                                        <p:tgtEl>
                                          <p:spTgt spid="16"/>
                                        </p:tgtEl>
                                        <p:attrNameLst>
                                          <p:attrName>ppt_x</p:attrName>
                                        </p:attrNameLst>
                                      </p:cBhvr>
                                      <p:tavLst>
                                        <p:tav tm="0">
                                          <p:val>
                                            <p:strVal val="#ppt_x"/>
                                          </p:val>
                                        </p:tav>
                                        <p:tav tm="100000">
                                          <p:val>
                                            <p:strVal val="#ppt_x"/>
                                          </p:val>
                                        </p:tav>
                                      </p:tavLst>
                                    </p:anim>
                                    <p:anim calcmode="lin" valueType="num">
                                      <p:cBhvr>
                                        <p:cTn id="48" dur="1000" fill="hold"/>
                                        <p:tgtEl>
                                          <p:spTgt spid="16"/>
                                        </p:tgtEl>
                                        <p:attrNameLst>
                                          <p:attrName>ppt_y</p:attrName>
                                        </p:attrNameLst>
                                      </p:cBhvr>
                                      <p:tavLst>
                                        <p:tav tm="0">
                                          <p:val>
                                            <p:strVal val="#ppt_y+.1"/>
                                          </p:val>
                                        </p:tav>
                                        <p:tav tm="100000">
                                          <p:val>
                                            <p:strVal val="#ppt_y"/>
                                          </p:val>
                                        </p:tav>
                                      </p:tavLst>
                                    </p:anim>
                                  </p:childTnLst>
                                </p:cTn>
                              </p:par>
                              <p:par>
                                <p:cTn id="49" presetID="42" presetClass="entr" presetSubtype="0" fill="hold" nodeType="withEffect">
                                  <p:stCondLst>
                                    <p:cond delay="0"/>
                                  </p:stCondLst>
                                  <p:childTnLst>
                                    <p:set>
                                      <p:cBhvr>
                                        <p:cTn id="50" dur="1" fill="hold">
                                          <p:stCondLst>
                                            <p:cond delay="0"/>
                                          </p:stCondLst>
                                        </p:cTn>
                                        <p:tgtEl>
                                          <p:spTgt spid="17"/>
                                        </p:tgtEl>
                                        <p:attrNameLst>
                                          <p:attrName>style.visibility</p:attrName>
                                        </p:attrNameLst>
                                      </p:cBhvr>
                                      <p:to>
                                        <p:strVal val="visible"/>
                                      </p:to>
                                    </p:set>
                                    <p:animEffect transition="in" filter="fade">
                                      <p:cBhvr>
                                        <p:cTn id="51" dur="1000"/>
                                        <p:tgtEl>
                                          <p:spTgt spid="17"/>
                                        </p:tgtEl>
                                      </p:cBhvr>
                                    </p:animEffect>
                                    <p:anim calcmode="lin" valueType="num">
                                      <p:cBhvr>
                                        <p:cTn id="52" dur="1000" fill="hold"/>
                                        <p:tgtEl>
                                          <p:spTgt spid="17"/>
                                        </p:tgtEl>
                                        <p:attrNameLst>
                                          <p:attrName>ppt_x</p:attrName>
                                        </p:attrNameLst>
                                      </p:cBhvr>
                                      <p:tavLst>
                                        <p:tav tm="0">
                                          <p:val>
                                            <p:strVal val="#ppt_x"/>
                                          </p:val>
                                        </p:tav>
                                        <p:tav tm="100000">
                                          <p:val>
                                            <p:strVal val="#ppt_x"/>
                                          </p:val>
                                        </p:tav>
                                      </p:tavLst>
                                    </p:anim>
                                    <p:anim calcmode="lin" valueType="num">
                                      <p:cBhvr>
                                        <p:cTn id="53"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42" presetClass="entr" presetSubtype="0" fill="hold" nodeType="clickEffect">
                                  <p:stCondLst>
                                    <p:cond delay="0"/>
                                  </p:stCondLst>
                                  <p:childTnLst>
                                    <p:set>
                                      <p:cBhvr>
                                        <p:cTn id="57" dur="1" fill="hold">
                                          <p:stCondLst>
                                            <p:cond delay="0"/>
                                          </p:stCondLst>
                                        </p:cTn>
                                        <p:tgtEl>
                                          <p:spTgt spid="18"/>
                                        </p:tgtEl>
                                        <p:attrNameLst>
                                          <p:attrName>style.visibility</p:attrName>
                                        </p:attrNameLst>
                                      </p:cBhvr>
                                      <p:to>
                                        <p:strVal val="visible"/>
                                      </p:to>
                                    </p:set>
                                    <p:animEffect transition="in" filter="fade">
                                      <p:cBhvr>
                                        <p:cTn id="58" dur="1000"/>
                                        <p:tgtEl>
                                          <p:spTgt spid="18"/>
                                        </p:tgtEl>
                                      </p:cBhvr>
                                    </p:animEffect>
                                    <p:anim calcmode="lin" valueType="num">
                                      <p:cBhvr>
                                        <p:cTn id="59" dur="1000" fill="hold"/>
                                        <p:tgtEl>
                                          <p:spTgt spid="18"/>
                                        </p:tgtEl>
                                        <p:attrNameLst>
                                          <p:attrName>ppt_x</p:attrName>
                                        </p:attrNameLst>
                                      </p:cBhvr>
                                      <p:tavLst>
                                        <p:tav tm="0">
                                          <p:val>
                                            <p:strVal val="#ppt_x"/>
                                          </p:val>
                                        </p:tav>
                                        <p:tav tm="100000">
                                          <p:val>
                                            <p:strVal val="#ppt_x"/>
                                          </p:val>
                                        </p:tav>
                                      </p:tavLst>
                                    </p:anim>
                                    <p:anim calcmode="lin" valueType="num">
                                      <p:cBhvr>
                                        <p:cTn id="60" dur="1000" fill="hold"/>
                                        <p:tgtEl>
                                          <p:spTgt spid="18"/>
                                        </p:tgtEl>
                                        <p:attrNameLst>
                                          <p:attrName>ppt_y</p:attrName>
                                        </p:attrNameLst>
                                      </p:cBhvr>
                                      <p:tavLst>
                                        <p:tav tm="0">
                                          <p:val>
                                            <p:strVal val="#ppt_y+.1"/>
                                          </p:val>
                                        </p:tav>
                                        <p:tav tm="100000">
                                          <p:val>
                                            <p:strVal val="#ppt_y"/>
                                          </p:val>
                                        </p:tav>
                                      </p:tavLst>
                                    </p:anim>
                                  </p:childTnLst>
                                </p:cTn>
                              </p:par>
                              <p:par>
                                <p:cTn id="61" presetID="42" presetClass="entr" presetSubtype="0" fill="hold" grpId="0" nodeType="withEffect">
                                  <p:stCondLst>
                                    <p:cond delay="0"/>
                                  </p:stCondLst>
                                  <p:childTnLst>
                                    <p:set>
                                      <p:cBhvr>
                                        <p:cTn id="62" dur="1" fill="hold">
                                          <p:stCondLst>
                                            <p:cond delay="0"/>
                                          </p:stCondLst>
                                        </p:cTn>
                                        <p:tgtEl>
                                          <p:spTgt spid="20"/>
                                        </p:tgtEl>
                                        <p:attrNameLst>
                                          <p:attrName>style.visibility</p:attrName>
                                        </p:attrNameLst>
                                      </p:cBhvr>
                                      <p:to>
                                        <p:strVal val="visible"/>
                                      </p:to>
                                    </p:set>
                                    <p:animEffect transition="in" filter="fade">
                                      <p:cBhvr>
                                        <p:cTn id="63" dur="1000"/>
                                        <p:tgtEl>
                                          <p:spTgt spid="20"/>
                                        </p:tgtEl>
                                      </p:cBhvr>
                                    </p:animEffect>
                                    <p:anim calcmode="lin" valueType="num">
                                      <p:cBhvr>
                                        <p:cTn id="64" dur="1000" fill="hold"/>
                                        <p:tgtEl>
                                          <p:spTgt spid="20"/>
                                        </p:tgtEl>
                                        <p:attrNameLst>
                                          <p:attrName>ppt_x</p:attrName>
                                        </p:attrNameLst>
                                      </p:cBhvr>
                                      <p:tavLst>
                                        <p:tav tm="0">
                                          <p:val>
                                            <p:strVal val="#ppt_x"/>
                                          </p:val>
                                        </p:tav>
                                        <p:tav tm="100000">
                                          <p:val>
                                            <p:strVal val="#ppt_x"/>
                                          </p:val>
                                        </p:tav>
                                      </p:tavLst>
                                    </p:anim>
                                    <p:anim calcmode="lin" valueType="num">
                                      <p:cBhvr>
                                        <p:cTn id="65" dur="1000" fill="hold"/>
                                        <p:tgtEl>
                                          <p:spTgt spid="20"/>
                                        </p:tgtEl>
                                        <p:attrNameLst>
                                          <p:attrName>ppt_y</p:attrName>
                                        </p:attrNameLst>
                                      </p:cBhvr>
                                      <p:tavLst>
                                        <p:tav tm="0">
                                          <p:val>
                                            <p:strVal val="#ppt_y+.1"/>
                                          </p:val>
                                        </p:tav>
                                        <p:tav tm="100000">
                                          <p:val>
                                            <p:strVal val="#ppt_y"/>
                                          </p:val>
                                        </p:tav>
                                      </p:tavLst>
                                    </p:anim>
                                  </p:childTnLst>
                                </p:cTn>
                              </p:par>
                              <p:par>
                                <p:cTn id="66" presetID="42" presetClass="entr" presetSubtype="0" fill="hold" nodeType="withEffect">
                                  <p:stCondLst>
                                    <p:cond delay="0"/>
                                  </p:stCondLst>
                                  <p:childTnLst>
                                    <p:set>
                                      <p:cBhvr>
                                        <p:cTn id="67" dur="1" fill="hold">
                                          <p:stCondLst>
                                            <p:cond delay="0"/>
                                          </p:stCondLst>
                                        </p:cTn>
                                        <p:tgtEl>
                                          <p:spTgt spid="21"/>
                                        </p:tgtEl>
                                        <p:attrNameLst>
                                          <p:attrName>style.visibility</p:attrName>
                                        </p:attrNameLst>
                                      </p:cBhvr>
                                      <p:to>
                                        <p:strVal val="visible"/>
                                      </p:to>
                                    </p:set>
                                    <p:animEffect transition="in" filter="fade">
                                      <p:cBhvr>
                                        <p:cTn id="68" dur="1000"/>
                                        <p:tgtEl>
                                          <p:spTgt spid="21"/>
                                        </p:tgtEl>
                                      </p:cBhvr>
                                    </p:animEffect>
                                    <p:anim calcmode="lin" valueType="num">
                                      <p:cBhvr>
                                        <p:cTn id="69" dur="1000" fill="hold"/>
                                        <p:tgtEl>
                                          <p:spTgt spid="21"/>
                                        </p:tgtEl>
                                        <p:attrNameLst>
                                          <p:attrName>ppt_x</p:attrName>
                                        </p:attrNameLst>
                                      </p:cBhvr>
                                      <p:tavLst>
                                        <p:tav tm="0">
                                          <p:val>
                                            <p:strVal val="#ppt_x"/>
                                          </p:val>
                                        </p:tav>
                                        <p:tav tm="100000">
                                          <p:val>
                                            <p:strVal val="#ppt_x"/>
                                          </p:val>
                                        </p:tav>
                                      </p:tavLst>
                                    </p:anim>
                                    <p:anim calcmode="lin" valueType="num">
                                      <p:cBhvr>
                                        <p:cTn id="70"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42" presetClass="entr" presetSubtype="0" fill="hold" nodeType="clickEffect">
                                  <p:stCondLst>
                                    <p:cond delay="0"/>
                                  </p:stCondLst>
                                  <p:childTnLst>
                                    <p:set>
                                      <p:cBhvr>
                                        <p:cTn id="74" dur="1" fill="hold">
                                          <p:stCondLst>
                                            <p:cond delay="0"/>
                                          </p:stCondLst>
                                        </p:cTn>
                                        <p:tgtEl>
                                          <p:spTgt spid="22"/>
                                        </p:tgtEl>
                                        <p:attrNameLst>
                                          <p:attrName>style.visibility</p:attrName>
                                        </p:attrNameLst>
                                      </p:cBhvr>
                                      <p:to>
                                        <p:strVal val="visible"/>
                                      </p:to>
                                    </p:set>
                                    <p:animEffect transition="in" filter="fade">
                                      <p:cBhvr>
                                        <p:cTn id="75" dur="1000"/>
                                        <p:tgtEl>
                                          <p:spTgt spid="22"/>
                                        </p:tgtEl>
                                      </p:cBhvr>
                                    </p:animEffect>
                                    <p:anim calcmode="lin" valueType="num">
                                      <p:cBhvr>
                                        <p:cTn id="76" dur="1000" fill="hold"/>
                                        <p:tgtEl>
                                          <p:spTgt spid="22"/>
                                        </p:tgtEl>
                                        <p:attrNameLst>
                                          <p:attrName>ppt_x</p:attrName>
                                        </p:attrNameLst>
                                      </p:cBhvr>
                                      <p:tavLst>
                                        <p:tav tm="0">
                                          <p:val>
                                            <p:strVal val="#ppt_x"/>
                                          </p:val>
                                        </p:tav>
                                        <p:tav tm="100000">
                                          <p:val>
                                            <p:strVal val="#ppt_x"/>
                                          </p:val>
                                        </p:tav>
                                      </p:tavLst>
                                    </p:anim>
                                    <p:anim calcmode="lin" valueType="num">
                                      <p:cBhvr>
                                        <p:cTn id="77" dur="1000" fill="hold"/>
                                        <p:tgtEl>
                                          <p:spTgt spid="22"/>
                                        </p:tgtEl>
                                        <p:attrNameLst>
                                          <p:attrName>ppt_y</p:attrName>
                                        </p:attrNameLst>
                                      </p:cBhvr>
                                      <p:tavLst>
                                        <p:tav tm="0">
                                          <p:val>
                                            <p:strVal val="#ppt_y+.1"/>
                                          </p:val>
                                        </p:tav>
                                        <p:tav tm="100000">
                                          <p:val>
                                            <p:strVal val="#ppt_y"/>
                                          </p:val>
                                        </p:tav>
                                      </p:tavLst>
                                    </p:anim>
                                  </p:childTnLst>
                                </p:cTn>
                              </p:par>
                              <p:par>
                                <p:cTn id="78" presetID="42" presetClass="entr" presetSubtype="0" fill="hold" grpId="0" nodeType="withEffect">
                                  <p:stCondLst>
                                    <p:cond delay="0"/>
                                  </p:stCondLst>
                                  <p:childTnLst>
                                    <p:set>
                                      <p:cBhvr>
                                        <p:cTn id="79" dur="1" fill="hold">
                                          <p:stCondLst>
                                            <p:cond delay="0"/>
                                          </p:stCondLst>
                                        </p:cTn>
                                        <p:tgtEl>
                                          <p:spTgt spid="24"/>
                                        </p:tgtEl>
                                        <p:attrNameLst>
                                          <p:attrName>style.visibility</p:attrName>
                                        </p:attrNameLst>
                                      </p:cBhvr>
                                      <p:to>
                                        <p:strVal val="visible"/>
                                      </p:to>
                                    </p:set>
                                    <p:animEffect transition="in" filter="fade">
                                      <p:cBhvr>
                                        <p:cTn id="80" dur="1000"/>
                                        <p:tgtEl>
                                          <p:spTgt spid="24"/>
                                        </p:tgtEl>
                                      </p:cBhvr>
                                    </p:animEffect>
                                    <p:anim calcmode="lin" valueType="num">
                                      <p:cBhvr>
                                        <p:cTn id="81" dur="1000" fill="hold"/>
                                        <p:tgtEl>
                                          <p:spTgt spid="24"/>
                                        </p:tgtEl>
                                        <p:attrNameLst>
                                          <p:attrName>ppt_x</p:attrName>
                                        </p:attrNameLst>
                                      </p:cBhvr>
                                      <p:tavLst>
                                        <p:tav tm="0">
                                          <p:val>
                                            <p:strVal val="#ppt_x"/>
                                          </p:val>
                                        </p:tav>
                                        <p:tav tm="100000">
                                          <p:val>
                                            <p:strVal val="#ppt_x"/>
                                          </p:val>
                                        </p:tav>
                                      </p:tavLst>
                                    </p:anim>
                                    <p:anim calcmode="lin" valueType="num">
                                      <p:cBhvr>
                                        <p:cTn id="82" dur="1000" fill="hold"/>
                                        <p:tgtEl>
                                          <p:spTgt spid="24"/>
                                        </p:tgtEl>
                                        <p:attrNameLst>
                                          <p:attrName>ppt_y</p:attrName>
                                        </p:attrNameLst>
                                      </p:cBhvr>
                                      <p:tavLst>
                                        <p:tav tm="0">
                                          <p:val>
                                            <p:strVal val="#ppt_y+.1"/>
                                          </p:val>
                                        </p:tav>
                                        <p:tav tm="100000">
                                          <p:val>
                                            <p:strVal val="#ppt_y"/>
                                          </p:val>
                                        </p:tav>
                                      </p:tavLst>
                                    </p:anim>
                                  </p:childTnLst>
                                </p:cTn>
                              </p:par>
                              <p:par>
                                <p:cTn id="83" presetID="42" presetClass="entr" presetSubtype="0" fill="hold" nodeType="withEffect">
                                  <p:stCondLst>
                                    <p:cond delay="0"/>
                                  </p:stCondLst>
                                  <p:childTnLst>
                                    <p:set>
                                      <p:cBhvr>
                                        <p:cTn id="84" dur="1" fill="hold">
                                          <p:stCondLst>
                                            <p:cond delay="0"/>
                                          </p:stCondLst>
                                        </p:cTn>
                                        <p:tgtEl>
                                          <p:spTgt spid="25"/>
                                        </p:tgtEl>
                                        <p:attrNameLst>
                                          <p:attrName>style.visibility</p:attrName>
                                        </p:attrNameLst>
                                      </p:cBhvr>
                                      <p:to>
                                        <p:strVal val="visible"/>
                                      </p:to>
                                    </p:set>
                                    <p:animEffect transition="in" filter="fade">
                                      <p:cBhvr>
                                        <p:cTn id="85" dur="1000"/>
                                        <p:tgtEl>
                                          <p:spTgt spid="25"/>
                                        </p:tgtEl>
                                      </p:cBhvr>
                                    </p:animEffect>
                                    <p:anim calcmode="lin" valueType="num">
                                      <p:cBhvr>
                                        <p:cTn id="86" dur="1000" fill="hold"/>
                                        <p:tgtEl>
                                          <p:spTgt spid="25"/>
                                        </p:tgtEl>
                                        <p:attrNameLst>
                                          <p:attrName>ppt_x</p:attrName>
                                        </p:attrNameLst>
                                      </p:cBhvr>
                                      <p:tavLst>
                                        <p:tav tm="0">
                                          <p:val>
                                            <p:strVal val="#ppt_x"/>
                                          </p:val>
                                        </p:tav>
                                        <p:tav tm="100000">
                                          <p:val>
                                            <p:strVal val="#ppt_x"/>
                                          </p:val>
                                        </p:tav>
                                      </p:tavLst>
                                    </p:anim>
                                    <p:anim calcmode="lin" valueType="num">
                                      <p:cBhvr>
                                        <p:cTn id="87"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88" fill="hold">
                      <p:stCondLst>
                        <p:cond delay="indefinite"/>
                      </p:stCondLst>
                      <p:childTnLst>
                        <p:par>
                          <p:cTn id="89" fill="hold">
                            <p:stCondLst>
                              <p:cond delay="0"/>
                            </p:stCondLst>
                            <p:childTnLst>
                              <p:par>
                                <p:cTn id="90" presetID="42" presetClass="entr" presetSubtype="0" fill="hold" nodeType="clickEffect">
                                  <p:stCondLst>
                                    <p:cond delay="0"/>
                                  </p:stCondLst>
                                  <p:childTnLst>
                                    <p:set>
                                      <p:cBhvr>
                                        <p:cTn id="91" dur="1" fill="hold">
                                          <p:stCondLst>
                                            <p:cond delay="0"/>
                                          </p:stCondLst>
                                        </p:cTn>
                                        <p:tgtEl>
                                          <p:spTgt spid="26"/>
                                        </p:tgtEl>
                                        <p:attrNameLst>
                                          <p:attrName>style.visibility</p:attrName>
                                        </p:attrNameLst>
                                      </p:cBhvr>
                                      <p:to>
                                        <p:strVal val="visible"/>
                                      </p:to>
                                    </p:set>
                                    <p:animEffect transition="in" filter="fade">
                                      <p:cBhvr>
                                        <p:cTn id="92" dur="1000"/>
                                        <p:tgtEl>
                                          <p:spTgt spid="26"/>
                                        </p:tgtEl>
                                      </p:cBhvr>
                                    </p:animEffect>
                                    <p:anim calcmode="lin" valueType="num">
                                      <p:cBhvr>
                                        <p:cTn id="93" dur="1000" fill="hold"/>
                                        <p:tgtEl>
                                          <p:spTgt spid="26"/>
                                        </p:tgtEl>
                                        <p:attrNameLst>
                                          <p:attrName>ppt_x</p:attrName>
                                        </p:attrNameLst>
                                      </p:cBhvr>
                                      <p:tavLst>
                                        <p:tav tm="0">
                                          <p:val>
                                            <p:strVal val="#ppt_x"/>
                                          </p:val>
                                        </p:tav>
                                        <p:tav tm="100000">
                                          <p:val>
                                            <p:strVal val="#ppt_x"/>
                                          </p:val>
                                        </p:tav>
                                      </p:tavLst>
                                    </p:anim>
                                    <p:anim calcmode="lin" valueType="num">
                                      <p:cBhvr>
                                        <p:cTn id="94" dur="1000" fill="hold"/>
                                        <p:tgtEl>
                                          <p:spTgt spid="26"/>
                                        </p:tgtEl>
                                        <p:attrNameLst>
                                          <p:attrName>ppt_y</p:attrName>
                                        </p:attrNameLst>
                                      </p:cBhvr>
                                      <p:tavLst>
                                        <p:tav tm="0">
                                          <p:val>
                                            <p:strVal val="#ppt_y+.1"/>
                                          </p:val>
                                        </p:tav>
                                        <p:tav tm="100000">
                                          <p:val>
                                            <p:strVal val="#ppt_y"/>
                                          </p:val>
                                        </p:tav>
                                      </p:tavLst>
                                    </p:anim>
                                  </p:childTnLst>
                                </p:cTn>
                              </p:par>
                              <p:par>
                                <p:cTn id="95" presetID="42" presetClass="entr" presetSubtype="0" fill="hold" grpId="0" nodeType="withEffect">
                                  <p:stCondLst>
                                    <p:cond delay="0"/>
                                  </p:stCondLst>
                                  <p:childTnLst>
                                    <p:set>
                                      <p:cBhvr>
                                        <p:cTn id="96" dur="1" fill="hold">
                                          <p:stCondLst>
                                            <p:cond delay="0"/>
                                          </p:stCondLst>
                                        </p:cTn>
                                        <p:tgtEl>
                                          <p:spTgt spid="28"/>
                                        </p:tgtEl>
                                        <p:attrNameLst>
                                          <p:attrName>style.visibility</p:attrName>
                                        </p:attrNameLst>
                                      </p:cBhvr>
                                      <p:to>
                                        <p:strVal val="visible"/>
                                      </p:to>
                                    </p:set>
                                    <p:animEffect transition="in" filter="fade">
                                      <p:cBhvr>
                                        <p:cTn id="97" dur="1000"/>
                                        <p:tgtEl>
                                          <p:spTgt spid="28"/>
                                        </p:tgtEl>
                                      </p:cBhvr>
                                    </p:animEffect>
                                    <p:anim calcmode="lin" valueType="num">
                                      <p:cBhvr>
                                        <p:cTn id="98" dur="1000" fill="hold"/>
                                        <p:tgtEl>
                                          <p:spTgt spid="28"/>
                                        </p:tgtEl>
                                        <p:attrNameLst>
                                          <p:attrName>ppt_x</p:attrName>
                                        </p:attrNameLst>
                                      </p:cBhvr>
                                      <p:tavLst>
                                        <p:tav tm="0">
                                          <p:val>
                                            <p:strVal val="#ppt_x"/>
                                          </p:val>
                                        </p:tav>
                                        <p:tav tm="100000">
                                          <p:val>
                                            <p:strVal val="#ppt_x"/>
                                          </p:val>
                                        </p:tav>
                                      </p:tavLst>
                                    </p:anim>
                                    <p:anim calcmode="lin" valueType="num">
                                      <p:cBhvr>
                                        <p:cTn id="99"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2" grpId="0" animBg="1"/>
      <p:bldP spid="16" grpId="0" animBg="1"/>
      <p:bldP spid="20" grpId="0" animBg="1"/>
      <p:bldP spid="24" grpId="0" animBg="1"/>
      <p:bldP spid="28"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0803C7-8800-4C6D-AE9F-F69F6C855C63}"/>
              </a:ext>
            </a:extLst>
          </p:cNvPr>
          <p:cNvSpPr>
            <a:spLocks noGrp="1"/>
          </p:cNvSpPr>
          <p:nvPr>
            <p:ph type="title"/>
          </p:nvPr>
        </p:nvSpPr>
        <p:spPr/>
        <p:txBody>
          <a:bodyPr/>
          <a:lstStyle/>
          <a:p>
            <a:r>
              <a:rPr lang="en-GB" dirty="0"/>
              <a:t>DBMS Component</a:t>
            </a:r>
            <a:endParaRPr lang="en-PK" dirty="0"/>
          </a:p>
        </p:txBody>
      </p:sp>
      <p:graphicFrame>
        <p:nvGraphicFramePr>
          <p:cNvPr id="4" name="Content Placeholder 3">
            <a:extLst>
              <a:ext uri="{FF2B5EF4-FFF2-40B4-BE49-F238E27FC236}">
                <a16:creationId xmlns:a16="http://schemas.microsoft.com/office/drawing/2014/main" id="{13E1833E-5D5F-4B41-9161-B5100C9C3B1A}"/>
              </a:ext>
            </a:extLst>
          </p:cNvPr>
          <p:cNvGraphicFramePr>
            <a:graphicFrameLocks noGrp="1"/>
          </p:cNvGraphicFramePr>
          <p:nvPr>
            <p:ph idx="1"/>
          </p:nvPr>
        </p:nvGraphicFramePr>
        <p:xfrm>
          <a:off x="1535113" y="2016125"/>
          <a:ext cx="9520237" cy="34496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43855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graphicEl>
                                              <a:dgm id="{EC636B1B-B711-42F6-AE37-92EB34234F72}"/>
                                            </p:graphicEl>
                                          </p:spTgt>
                                        </p:tgtEl>
                                        <p:attrNameLst>
                                          <p:attrName>style.visibility</p:attrName>
                                        </p:attrNameLst>
                                      </p:cBhvr>
                                      <p:to>
                                        <p:strVal val="visible"/>
                                      </p:to>
                                    </p:set>
                                    <p:animEffect transition="in" filter="fade">
                                      <p:cBhvr>
                                        <p:cTn id="7" dur="1000"/>
                                        <p:tgtEl>
                                          <p:spTgt spid="4">
                                            <p:graphicEl>
                                              <a:dgm id="{EC636B1B-B711-42F6-AE37-92EB34234F72}"/>
                                            </p:graphicEl>
                                          </p:spTgt>
                                        </p:tgtEl>
                                      </p:cBhvr>
                                    </p:animEffect>
                                    <p:anim calcmode="lin" valueType="num">
                                      <p:cBhvr>
                                        <p:cTn id="8" dur="1000" fill="hold"/>
                                        <p:tgtEl>
                                          <p:spTgt spid="4">
                                            <p:graphicEl>
                                              <a:dgm id="{EC636B1B-B711-42F6-AE37-92EB34234F72}"/>
                                            </p:graphicEl>
                                          </p:spTgt>
                                        </p:tgtEl>
                                        <p:attrNameLst>
                                          <p:attrName>ppt_x</p:attrName>
                                        </p:attrNameLst>
                                      </p:cBhvr>
                                      <p:tavLst>
                                        <p:tav tm="0">
                                          <p:val>
                                            <p:strVal val="#ppt_x"/>
                                          </p:val>
                                        </p:tav>
                                        <p:tav tm="100000">
                                          <p:val>
                                            <p:strVal val="#ppt_x"/>
                                          </p:val>
                                        </p:tav>
                                      </p:tavLst>
                                    </p:anim>
                                    <p:anim calcmode="lin" valueType="num">
                                      <p:cBhvr>
                                        <p:cTn id="9" dur="1000" fill="hold"/>
                                        <p:tgtEl>
                                          <p:spTgt spid="4">
                                            <p:graphicEl>
                                              <a:dgm id="{EC636B1B-B711-42F6-AE37-92EB34234F72}"/>
                                            </p:graphic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graphicEl>
                                              <a:dgm id="{EFD11F6D-8909-4854-BC4A-F7CC0501AE34}"/>
                                            </p:graphicEl>
                                          </p:spTgt>
                                        </p:tgtEl>
                                        <p:attrNameLst>
                                          <p:attrName>style.visibility</p:attrName>
                                        </p:attrNameLst>
                                      </p:cBhvr>
                                      <p:to>
                                        <p:strVal val="visible"/>
                                      </p:to>
                                    </p:set>
                                    <p:animEffect transition="in" filter="fade">
                                      <p:cBhvr>
                                        <p:cTn id="14" dur="1000"/>
                                        <p:tgtEl>
                                          <p:spTgt spid="4">
                                            <p:graphicEl>
                                              <a:dgm id="{EFD11F6D-8909-4854-BC4A-F7CC0501AE34}"/>
                                            </p:graphicEl>
                                          </p:spTgt>
                                        </p:tgtEl>
                                      </p:cBhvr>
                                    </p:animEffect>
                                    <p:anim calcmode="lin" valueType="num">
                                      <p:cBhvr>
                                        <p:cTn id="15" dur="1000" fill="hold"/>
                                        <p:tgtEl>
                                          <p:spTgt spid="4">
                                            <p:graphicEl>
                                              <a:dgm id="{EFD11F6D-8909-4854-BC4A-F7CC0501AE34}"/>
                                            </p:graphicEl>
                                          </p:spTgt>
                                        </p:tgtEl>
                                        <p:attrNameLst>
                                          <p:attrName>ppt_x</p:attrName>
                                        </p:attrNameLst>
                                      </p:cBhvr>
                                      <p:tavLst>
                                        <p:tav tm="0">
                                          <p:val>
                                            <p:strVal val="#ppt_x"/>
                                          </p:val>
                                        </p:tav>
                                        <p:tav tm="100000">
                                          <p:val>
                                            <p:strVal val="#ppt_x"/>
                                          </p:val>
                                        </p:tav>
                                      </p:tavLst>
                                    </p:anim>
                                    <p:anim calcmode="lin" valueType="num">
                                      <p:cBhvr>
                                        <p:cTn id="16" dur="1000" fill="hold"/>
                                        <p:tgtEl>
                                          <p:spTgt spid="4">
                                            <p:graphicEl>
                                              <a:dgm id="{EFD11F6D-8909-4854-BC4A-F7CC0501AE34}"/>
                                            </p:graphic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graphicEl>
                                              <a:dgm id="{79E6B866-4EAD-4655-888D-DE8FB7CFAD17}"/>
                                            </p:graphicEl>
                                          </p:spTgt>
                                        </p:tgtEl>
                                        <p:attrNameLst>
                                          <p:attrName>style.visibility</p:attrName>
                                        </p:attrNameLst>
                                      </p:cBhvr>
                                      <p:to>
                                        <p:strVal val="visible"/>
                                      </p:to>
                                    </p:set>
                                    <p:animEffect transition="in" filter="fade">
                                      <p:cBhvr>
                                        <p:cTn id="21" dur="1000"/>
                                        <p:tgtEl>
                                          <p:spTgt spid="4">
                                            <p:graphicEl>
                                              <a:dgm id="{79E6B866-4EAD-4655-888D-DE8FB7CFAD17}"/>
                                            </p:graphicEl>
                                          </p:spTgt>
                                        </p:tgtEl>
                                      </p:cBhvr>
                                    </p:animEffect>
                                    <p:anim calcmode="lin" valueType="num">
                                      <p:cBhvr>
                                        <p:cTn id="22" dur="1000" fill="hold"/>
                                        <p:tgtEl>
                                          <p:spTgt spid="4">
                                            <p:graphicEl>
                                              <a:dgm id="{79E6B866-4EAD-4655-888D-DE8FB7CFAD17}"/>
                                            </p:graphicEl>
                                          </p:spTgt>
                                        </p:tgtEl>
                                        <p:attrNameLst>
                                          <p:attrName>ppt_x</p:attrName>
                                        </p:attrNameLst>
                                      </p:cBhvr>
                                      <p:tavLst>
                                        <p:tav tm="0">
                                          <p:val>
                                            <p:strVal val="#ppt_x"/>
                                          </p:val>
                                        </p:tav>
                                        <p:tav tm="100000">
                                          <p:val>
                                            <p:strVal val="#ppt_x"/>
                                          </p:val>
                                        </p:tav>
                                      </p:tavLst>
                                    </p:anim>
                                    <p:anim calcmode="lin" valueType="num">
                                      <p:cBhvr>
                                        <p:cTn id="23" dur="1000" fill="hold"/>
                                        <p:tgtEl>
                                          <p:spTgt spid="4">
                                            <p:graphicEl>
                                              <a:dgm id="{79E6B866-4EAD-4655-888D-DE8FB7CFAD17}"/>
                                            </p:graphic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4">
                                            <p:graphicEl>
                                              <a:dgm id="{1EEA17D1-DAF2-47F9-8BD5-D469C19E9FC1}"/>
                                            </p:graphicEl>
                                          </p:spTgt>
                                        </p:tgtEl>
                                        <p:attrNameLst>
                                          <p:attrName>style.visibility</p:attrName>
                                        </p:attrNameLst>
                                      </p:cBhvr>
                                      <p:to>
                                        <p:strVal val="visible"/>
                                      </p:to>
                                    </p:set>
                                    <p:animEffect transition="in" filter="fade">
                                      <p:cBhvr>
                                        <p:cTn id="28" dur="1000"/>
                                        <p:tgtEl>
                                          <p:spTgt spid="4">
                                            <p:graphicEl>
                                              <a:dgm id="{1EEA17D1-DAF2-47F9-8BD5-D469C19E9FC1}"/>
                                            </p:graphicEl>
                                          </p:spTgt>
                                        </p:tgtEl>
                                      </p:cBhvr>
                                    </p:animEffect>
                                    <p:anim calcmode="lin" valueType="num">
                                      <p:cBhvr>
                                        <p:cTn id="29" dur="1000" fill="hold"/>
                                        <p:tgtEl>
                                          <p:spTgt spid="4">
                                            <p:graphicEl>
                                              <a:dgm id="{1EEA17D1-DAF2-47F9-8BD5-D469C19E9FC1}"/>
                                            </p:graphicEl>
                                          </p:spTgt>
                                        </p:tgtEl>
                                        <p:attrNameLst>
                                          <p:attrName>ppt_x</p:attrName>
                                        </p:attrNameLst>
                                      </p:cBhvr>
                                      <p:tavLst>
                                        <p:tav tm="0">
                                          <p:val>
                                            <p:strVal val="#ppt_x"/>
                                          </p:val>
                                        </p:tav>
                                        <p:tav tm="100000">
                                          <p:val>
                                            <p:strVal val="#ppt_x"/>
                                          </p:val>
                                        </p:tav>
                                      </p:tavLst>
                                    </p:anim>
                                    <p:anim calcmode="lin" valueType="num">
                                      <p:cBhvr>
                                        <p:cTn id="30" dur="1000" fill="hold"/>
                                        <p:tgtEl>
                                          <p:spTgt spid="4">
                                            <p:graphicEl>
                                              <a:dgm id="{1EEA17D1-DAF2-47F9-8BD5-D469C19E9FC1}"/>
                                            </p:graphic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4">
                                            <p:graphicEl>
                                              <a:dgm id="{E20B9230-3C92-492B-85B1-609636AA01C1}"/>
                                            </p:graphicEl>
                                          </p:spTgt>
                                        </p:tgtEl>
                                        <p:attrNameLst>
                                          <p:attrName>style.visibility</p:attrName>
                                        </p:attrNameLst>
                                      </p:cBhvr>
                                      <p:to>
                                        <p:strVal val="visible"/>
                                      </p:to>
                                    </p:set>
                                    <p:animEffect transition="in" filter="fade">
                                      <p:cBhvr>
                                        <p:cTn id="35" dur="1000"/>
                                        <p:tgtEl>
                                          <p:spTgt spid="4">
                                            <p:graphicEl>
                                              <a:dgm id="{E20B9230-3C92-492B-85B1-609636AA01C1}"/>
                                            </p:graphicEl>
                                          </p:spTgt>
                                        </p:tgtEl>
                                      </p:cBhvr>
                                    </p:animEffect>
                                    <p:anim calcmode="lin" valueType="num">
                                      <p:cBhvr>
                                        <p:cTn id="36" dur="1000" fill="hold"/>
                                        <p:tgtEl>
                                          <p:spTgt spid="4">
                                            <p:graphicEl>
                                              <a:dgm id="{E20B9230-3C92-492B-85B1-609636AA01C1}"/>
                                            </p:graphicEl>
                                          </p:spTgt>
                                        </p:tgtEl>
                                        <p:attrNameLst>
                                          <p:attrName>ppt_x</p:attrName>
                                        </p:attrNameLst>
                                      </p:cBhvr>
                                      <p:tavLst>
                                        <p:tav tm="0">
                                          <p:val>
                                            <p:strVal val="#ppt_x"/>
                                          </p:val>
                                        </p:tav>
                                        <p:tav tm="100000">
                                          <p:val>
                                            <p:strVal val="#ppt_x"/>
                                          </p:val>
                                        </p:tav>
                                      </p:tavLst>
                                    </p:anim>
                                    <p:anim calcmode="lin" valueType="num">
                                      <p:cBhvr>
                                        <p:cTn id="37" dur="1000" fill="hold"/>
                                        <p:tgtEl>
                                          <p:spTgt spid="4">
                                            <p:graphicEl>
                                              <a:dgm id="{E20B9230-3C92-492B-85B1-609636AA01C1}"/>
                                            </p:graphic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4">
                                            <p:graphicEl>
                                              <a:dgm id="{0F0ED457-3F28-4781-B03E-9BFA53451DF0}"/>
                                            </p:graphicEl>
                                          </p:spTgt>
                                        </p:tgtEl>
                                        <p:attrNameLst>
                                          <p:attrName>style.visibility</p:attrName>
                                        </p:attrNameLst>
                                      </p:cBhvr>
                                      <p:to>
                                        <p:strVal val="visible"/>
                                      </p:to>
                                    </p:set>
                                    <p:animEffect transition="in" filter="fade">
                                      <p:cBhvr>
                                        <p:cTn id="42" dur="1000"/>
                                        <p:tgtEl>
                                          <p:spTgt spid="4">
                                            <p:graphicEl>
                                              <a:dgm id="{0F0ED457-3F28-4781-B03E-9BFA53451DF0}"/>
                                            </p:graphicEl>
                                          </p:spTgt>
                                        </p:tgtEl>
                                      </p:cBhvr>
                                    </p:animEffect>
                                    <p:anim calcmode="lin" valueType="num">
                                      <p:cBhvr>
                                        <p:cTn id="43" dur="1000" fill="hold"/>
                                        <p:tgtEl>
                                          <p:spTgt spid="4">
                                            <p:graphicEl>
                                              <a:dgm id="{0F0ED457-3F28-4781-B03E-9BFA53451DF0}"/>
                                            </p:graphicEl>
                                          </p:spTgt>
                                        </p:tgtEl>
                                        <p:attrNameLst>
                                          <p:attrName>ppt_x</p:attrName>
                                        </p:attrNameLst>
                                      </p:cBhvr>
                                      <p:tavLst>
                                        <p:tav tm="0">
                                          <p:val>
                                            <p:strVal val="#ppt_x"/>
                                          </p:val>
                                        </p:tav>
                                        <p:tav tm="100000">
                                          <p:val>
                                            <p:strVal val="#ppt_x"/>
                                          </p:val>
                                        </p:tav>
                                      </p:tavLst>
                                    </p:anim>
                                    <p:anim calcmode="lin" valueType="num">
                                      <p:cBhvr>
                                        <p:cTn id="44" dur="1000" fill="hold"/>
                                        <p:tgtEl>
                                          <p:spTgt spid="4">
                                            <p:graphicEl>
                                              <a:dgm id="{0F0ED457-3F28-4781-B03E-9BFA53451DF0}"/>
                                            </p:graphic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Sub>
          <a:bldDgm bld="one"/>
        </p:bldSub>
      </p:bldGraphic>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F088E0-FC94-4B7F-8C11-EA917F5E3E74}"/>
              </a:ext>
            </a:extLst>
          </p:cNvPr>
          <p:cNvSpPr>
            <a:spLocks noGrp="1"/>
          </p:cNvSpPr>
          <p:nvPr>
            <p:ph type="title"/>
          </p:nvPr>
        </p:nvSpPr>
        <p:spPr/>
        <p:txBody>
          <a:bodyPr/>
          <a:lstStyle/>
          <a:p>
            <a:r>
              <a:rPr lang="en-GB" dirty="0"/>
              <a:t>DDL Processor</a:t>
            </a:r>
            <a:endParaRPr lang="en-PK" dirty="0"/>
          </a:p>
        </p:txBody>
      </p:sp>
      <p:sp>
        <p:nvSpPr>
          <p:cNvPr id="3" name="Content Placeholder 2">
            <a:extLst>
              <a:ext uri="{FF2B5EF4-FFF2-40B4-BE49-F238E27FC236}">
                <a16:creationId xmlns:a16="http://schemas.microsoft.com/office/drawing/2014/main" id="{FFF40CE2-D1F0-4752-B53E-D219BEA322CC}"/>
              </a:ext>
            </a:extLst>
          </p:cNvPr>
          <p:cNvSpPr>
            <a:spLocks noGrp="1"/>
          </p:cNvSpPr>
          <p:nvPr>
            <p:ph idx="1"/>
          </p:nvPr>
        </p:nvSpPr>
        <p:spPr/>
        <p:txBody>
          <a:bodyPr/>
          <a:lstStyle/>
          <a:p>
            <a:r>
              <a:rPr lang="en-GB" dirty="0"/>
              <a:t>The DDL processor handles commands that define or modify the database structure.</a:t>
            </a:r>
          </a:p>
          <a:p>
            <a:r>
              <a:rPr lang="en-GB" dirty="0"/>
              <a:t>Responsibilities</a:t>
            </a:r>
          </a:p>
          <a:p>
            <a:pPr lvl="1"/>
            <a:r>
              <a:rPr lang="en-GB" dirty="0"/>
              <a:t>Processes CREATE, ALTER and DROP</a:t>
            </a:r>
          </a:p>
          <a:p>
            <a:pPr lvl="1"/>
            <a:r>
              <a:rPr lang="en-GB" dirty="0"/>
              <a:t>Validates table and attribute definitions</a:t>
            </a:r>
          </a:p>
          <a:p>
            <a:pPr lvl="1"/>
            <a:r>
              <a:rPr lang="en-GB" dirty="0"/>
              <a:t>Processes keys and constraints</a:t>
            </a:r>
          </a:p>
          <a:p>
            <a:pPr lvl="1"/>
            <a:r>
              <a:rPr lang="en-GB" dirty="0"/>
              <a:t>Updates the system catalogue</a:t>
            </a:r>
          </a:p>
          <a:p>
            <a:pPr lvl="1"/>
            <a:r>
              <a:rPr lang="en-GB" dirty="0"/>
              <a:t>Requests creation of required storage structures</a:t>
            </a:r>
            <a:endParaRPr lang="en-PK" dirty="0"/>
          </a:p>
        </p:txBody>
      </p:sp>
    </p:spTree>
    <p:extLst>
      <p:ext uri="{BB962C8B-B14F-4D97-AF65-F5344CB8AC3E}">
        <p14:creationId xmlns:p14="http://schemas.microsoft.com/office/powerpoint/2010/main" val="42546433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1000"/>
                                        <p:tgtEl>
                                          <p:spTgt spid="3">
                                            <p:txEl>
                                              <p:pRg st="2" end="2"/>
                                            </p:txEl>
                                          </p:spTgt>
                                        </p:tgtEl>
                                      </p:cBhvr>
                                    </p:animEffect>
                                    <p:anim calcmode="lin" valueType="num">
                                      <p:cBhvr>
                                        <p:cTn id="13"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1000"/>
                                        <p:tgtEl>
                                          <p:spTgt spid="3">
                                            <p:txEl>
                                              <p:pRg st="3" end="3"/>
                                            </p:txEl>
                                          </p:spTgt>
                                        </p:tgtEl>
                                      </p:cBhvr>
                                    </p:animEffect>
                                    <p:anim calcmode="lin" valueType="num">
                                      <p:cBhvr>
                                        <p:cTn id="18"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1000"/>
                                        <p:tgtEl>
                                          <p:spTgt spid="3">
                                            <p:txEl>
                                              <p:pRg st="4" end="4"/>
                                            </p:txEl>
                                          </p:spTgt>
                                        </p:tgtEl>
                                      </p:cBhvr>
                                    </p:animEffect>
                                    <p:anim calcmode="lin" valueType="num">
                                      <p:cBhvr>
                                        <p:cTn id="23"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4" end="4"/>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1000"/>
                                        <p:tgtEl>
                                          <p:spTgt spid="3">
                                            <p:txEl>
                                              <p:pRg st="5" end="5"/>
                                            </p:txEl>
                                          </p:spTgt>
                                        </p:tgtEl>
                                      </p:cBhvr>
                                    </p:animEffect>
                                    <p:anim calcmode="lin" valueType="num">
                                      <p:cBhvr>
                                        <p:cTn id="28"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5" end="5"/>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1000"/>
                                        <p:tgtEl>
                                          <p:spTgt spid="3">
                                            <p:txEl>
                                              <p:pRg st="6" end="6"/>
                                            </p:txEl>
                                          </p:spTgt>
                                        </p:tgtEl>
                                      </p:cBhvr>
                                    </p:animEffect>
                                    <p:anim calcmode="lin" valueType="num">
                                      <p:cBhvr>
                                        <p:cTn id="33"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4"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488477-45B7-4E19-A398-ABEB46D83C99}"/>
              </a:ext>
            </a:extLst>
          </p:cNvPr>
          <p:cNvSpPr>
            <a:spLocks noGrp="1"/>
          </p:cNvSpPr>
          <p:nvPr>
            <p:ph type="title"/>
          </p:nvPr>
        </p:nvSpPr>
        <p:spPr/>
        <p:txBody>
          <a:bodyPr/>
          <a:lstStyle/>
          <a:p>
            <a:r>
              <a:rPr lang="en-GB" dirty="0"/>
              <a:t>The System Catalogue</a:t>
            </a:r>
            <a:endParaRPr lang="en-PK" dirty="0"/>
          </a:p>
        </p:txBody>
      </p:sp>
      <p:sp>
        <p:nvSpPr>
          <p:cNvPr id="3" name="Content Placeholder 2">
            <a:extLst>
              <a:ext uri="{FF2B5EF4-FFF2-40B4-BE49-F238E27FC236}">
                <a16:creationId xmlns:a16="http://schemas.microsoft.com/office/drawing/2014/main" id="{8332B88D-6F83-4D67-944C-E1FE3EF8D16F}"/>
              </a:ext>
            </a:extLst>
          </p:cNvPr>
          <p:cNvSpPr>
            <a:spLocks noGrp="1"/>
          </p:cNvSpPr>
          <p:nvPr>
            <p:ph idx="1"/>
          </p:nvPr>
        </p:nvSpPr>
        <p:spPr/>
        <p:txBody>
          <a:bodyPr>
            <a:normAutofit lnSpcReduction="10000"/>
          </a:bodyPr>
          <a:lstStyle/>
          <a:p>
            <a:r>
              <a:rPr lang="en-GB" b="1" dirty="0"/>
              <a:t>The system catalogue is the DBMS’s database about the database.</a:t>
            </a:r>
            <a:endParaRPr lang="en-GB" dirty="0"/>
          </a:p>
          <a:p>
            <a:r>
              <a:rPr lang="en-GB" dirty="0"/>
              <a:t>It stores metadata such as:</a:t>
            </a:r>
          </a:p>
          <a:p>
            <a:pPr lvl="1"/>
            <a:r>
              <a:rPr lang="en-GB" dirty="0"/>
              <a:t>Table names </a:t>
            </a:r>
          </a:p>
          <a:p>
            <a:pPr lvl="1"/>
            <a:r>
              <a:rPr lang="en-GB" dirty="0"/>
              <a:t>Column names and data types </a:t>
            </a:r>
          </a:p>
          <a:p>
            <a:pPr lvl="1"/>
            <a:r>
              <a:rPr lang="en-GB" dirty="0"/>
              <a:t>Primary and foreign keys </a:t>
            </a:r>
          </a:p>
          <a:p>
            <a:pPr lvl="1"/>
            <a:r>
              <a:rPr lang="en-GB" dirty="0"/>
              <a:t>Constraints </a:t>
            </a:r>
          </a:p>
          <a:p>
            <a:pPr lvl="1"/>
            <a:r>
              <a:rPr lang="en-GB" dirty="0"/>
              <a:t>Indexes </a:t>
            </a:r>
          </a:p>
          <a:p>
            <a:pPr lvl="1"/>
            <a:r>
              <a:rPr lang="en-GB" dirty="0"/>
              <a:t>User permissions </a:t>
            </a:r>
          </a:p>
          <a:p>
            <a:pPr lvl="1"/>
            <a:r>
              <a:rPr lang="en-GB" dirty="0"/>
              <a:t>Storage information</a:t>
            </a:r>
          </a:p>
        </p:txBody>
      </p:sp>
    </p:spTree>
    <p:extLst>
      <p:ext uri="{BB962C8B-B14F-4D97-AF65-F5344CB8AC3E}">
        <p14:creationId xmlns:p14="http://schemas.microsoft.com/office/powerpoint/2010/main" val="6192458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1000"/>
                                        <p:tgtEl>
                                          <p:spTgt spid="3">
                                            <p:txEl>
                                              <p:pRg st="2" end="2"/>
                                            </p:txEl>
                                          </p:spTgt>
                                        </p:tgtEl>
                                      </p:cBhvr>
                                    </p:animEffect>
                                    <p:anim calcmode="lin" valueType="num">
                                      <p:cBhvr>
                                        <p:cTn id="13"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1000"/>
                                        <p:tgtEl>
                                          <p:spTgt spid="3">
                                            <p:txEl>
                                              <p:pRg st="3" end="3"/>
                                            </p:txEl>
                                          </p:spTgt>
                                        </p:tgtEl>
                                      </p:cBhvr>
                                    </p:animEffect>
                                    <p:anim calcmode="lin" valueType="num">
                                      <p:cBhvr>
                                        <p:cTn id="18"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1000"/>
                                        <p:tgtEl>
                                          <p:spTgt spid="3">
                                            <p:txEl>
                                              <p:pRg st="4" end="4"/>
                                            </p:txEl>
                                          </p:spTgt>
                                        </p:tgtEl>
                                      </p:cBhvr>
                                    </p:animEffect>
                                    <p:anim calcmode="lin" valueType="num">
                                      <p:cBhvr>
                                        <p:cTn id="23"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4" end="4"/>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1000"/>
                                        <p:tgtEl>
                                          <p:spTgt spid="3">
                                            <p:txEl>
                                              <p:pRg st="5" end="5"/>
                                            </p:txEl>
                                          </p:spTgt>
                                        </p:tgtEl>
                                      </p:cBhvr>
                                    </p:animEffect>
                                    <p:anim calcmode="lin" valueType="num">
                                      <p:cBhvr>
                                        <p:cTn id="28"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5" end="5"/>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1000"/>
                                        <p:tgtEl>
                                          <p:spTgt spid="3">
                                            <p:txEl>
                                              <p:pRg st="6" end="6"/>
                                            </p:txEl>
                                          </p:spTgt>
                                        </p:tgtEl>
                                      </p:cBhvr>
                                    </p:animEffect>
                                    <p:anim calcmode="lin" valueType="num">
                                      <p:cBhvr>
                                        <p:cTn id="33"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4" dur="1000" fill="hold"/>
                                        <p:tgtEl>
                                          <p:spTgt spid="3">
                                            <p:txEl>
                                              <p:pRg st="6" end="6"/>
                                            </p:txEl>
                                          </p:spTgt>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1000"/>
                                        <p:tgtEl>
                                          <p:spTgt spid="3">
                                            <p:txEl>
                                              <p:pRg st="7" end="7"/>
                                            </p:txEl>
                                          </p:spTgt>
                                        </p:tgtEl>
                                      </p:cBhvr>
                                    </p:animEffect>
                                    <p:anim calcmode="lin" valueType="num">
                                      <p:cBhvr>
                                        <p:cTn id="38"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39" dur="1000" fill="hold"/>
                                        <p:tgtEl>
                                          <p:spTgt spid="3">
                                            <p:txEl>
                                              <p:pRg st="7" end="7"/>
                                            </p:txEl>
                                          </p:spTgt>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fade">
                                      <p:cBhvr>
                                        <p:cTn id="42" dur="1000"/>
                                        <p:tgtEl>
                                          <p:spTgt spid="3">
                                            <p:txEl>
                                              <p:pRg st="8" end="8"/>
                                            </p:txEl>
                                          </p:spTgt>
                                        </p:tgtEl>
                                      </p:cBhvr>
                                    </p:animEffect>
                                    <p:anim calcmode="lin" valueType="num">
                                      <p:cBhvr>
                                        <p:cTn id="43"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00A12-4E23-4E06-BCF8-6AE24DAA5F2C}"/>
              </a:ext>
            </a:extLst>
          </p:cNvPr>
          <p:cNvSpPr>
            <a:spLocks noGrp="1"/>
          </p:cNvSpPr>
          <p:nvPr>
            <p:ph type="title"/>
          </p:nvPr>
        </p:nvSpPr>
        <p:spPr/>
        <p:txBody>
          <a:bodyPr/>
          <a:lstStyle/>
          <a:p>
            <a:r>
              <a:rPr lang="en-GB" dirty="0"/>
              <a:t>Query Processor: Understanding the Request</a:t>
            </a:r>
            <a:endParaRPr lang="en-PK" dirty="0"/>
          </a:p>
        </p:txBody>
      </p:sp>
      <p:sp>
        <p:nvSpPr>
          <p:cNvPr id="3" name="Content Placeholder 2">
            <a:extLst>
              <a:ext uri="{FF2B5EF4-FFF2-40B4-BE49-F238E27FC236}">
                <a16:creationId xmlns:a16="http://schemas.microsoft.com/office/drawing/2014/main" id="{4A136947-44B1-429F-8FFC-9FE241A8D801}"/>
              </a:ext>
            </a:extLst>
          </p:cNvPr>
          <p:cNvSpPr>
            <a:spLocks noGrp="1"/>
          </p:cNvSpPr>
          <p:nvPr>
            <p:ph idx="1"/>
          </p:nvPr>
        </p:nvSpPr>
        <p:spPr/>
        <p:txBody>
          <a:bodyPr/>
          <a:lstStyle/>
          <a:p>
            <a:r>
              <a:rPr lang="en-GB" dirty="0"/>
              <a:t>The query processor translates an SQL request into an executable plan.</a:t>
            </a:r>
          </a:p>
          <a:p>
            <a:pPr marL="0" indent="0">
              <a:buNone/>
            </a:pPr>
            <a:r>
              <a:rPr lang="en-GB" b="1" dirty="0"/>
              <a:t>Main tasks</a:t>
            </a:r>
          </a:p>
          <a:p>
            <a:pPr lvl="1">
              <a:buFont typeface="+mj-lt"/>
              <a:buAutoNum type="arabicPeriod"/>
            </a:pPr>
            <a:r>
              <a:rPr lang="en-GB" b="1" dirty="0"/>
              <a:t>Parsing</a:t>
            </a:r>
            <a:r>
              <a:rPr lang="en-GB" dirty="0"/>
              <a:t> — checks SQL syntax. </a:t>
            </a:r>
          </a:p>
          <a:p>
            <a:pPr lvl="1">
              <a:buFont typeface="+mj-lt"/>
              <a:buAutoNum type="arabicPeriod"/>
            </a:pPr>
            <a:r>
              <a:rPr lang="en-GB" b="1" dirty="0"/>
              <a:t>Validation</a:t>
            </a:r>
            <a:r>
              <a:rPr lang="en-GB" dirty="0"/>
              <a:t> — confirms that tables and columns exist. </a:t>
            </a:r>
          </a:p>
          <a:p>
            <a:pPr lvl="1">
              <a:buFont typeface="+mj-lt"/>
              <a:buAutoNum type="arabicPeriod"/>
            </a:pPr>
            <a:r>
              <a:rPr lang="en-GB" b="1" dirty="0"/>
              <a:t>Authorization</a:t>
            </a:r>
            <a:r>
              <a:rPr lang="en-GB" dirty="0"/>
              <a:t> — checks whether access is permitted. </a:t>
            </a:r>
          </a:p>
          <a:p>
            <a:pPr lvl="1">
              <a:buFont typeface="+mj-lt"/>
              <a:buAutoNum type="arabicPeriod"/>
            </a:pPr>
            <a:r>
              <a:rPr lang="en-GB" b="1" dirty="0"/>
              <a:t>Translation</a:t>
            </a:r>
            <a:r>
              <a:rPr lang="en-GB" dirty="0"/>
              <a:t> — converts SQL into internal operations. </a:t>
            </a:r>
          </a:p>
          <a:p>
            <a:pPr lvl="1">
              <a:buFont typeface="+mj-lt"/>
              <a:buAutoNum type="arabicPeriod"/>
            </a:pPr>
            <a:r>
              <a:rPr lang="en-GB" b="1" dirty="0"/>
              <a:t>Optimization</a:t>
            </a:r>
            <a:r>
              <a:rPr lang="en-GB" dirty="0"/>
              <a:t> — selects an efficient execution plan.</a:t>
            </a:r>
          </a:p>
          <a:p>
            <a:pPr marL="0" indent="0">
              <a:buNone/>
            </a:pPr>
            <a:r>
              <a:rPr lang="en-GB" dirty="0"/>
              <a:t>SQL describes </a:t>
            </a:r>
            <a:r>
              <a:rPr lang="en-GB" i="1" dirty="0"/>
              <a:t>what</a:t>
            </a:r>
            <a:r>
              <a:rPr lang="en-GB" dirty="0"/>
              <a:t> result is required; the DBMS decides </a:t>
            </a:r>
            <a:r>
              <a:rPr lang="en-GB" i="1" dirty="0"/>
              <a:t>how</a:t>
            </a:r>
            <a:r>
              <a:rPr lang="en-GB" dirty="0"/>
              <a:t> to obtain it</a:t>
            </a:r>
            <a:endParaRPr lang="en-PK" dirty="0"/>
          </a:p>
        </p:txBody>
      </p:sp>
    </p:spTree>
    <p:extLst>
      <p:ext uri="{BB962C8B-B14F-4D97-AF65-F5344CB8AC3E}">
        <p14:creationId xmlns:p14="http://schemas.microsoft.com/office/powerpoint/2010/main" val="25048521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1000"/>
                                        <p:tgtEl>
                                          <p:spTgt spid="3">
                                            <p:txEl>
                                              <p:pRg st="2" end="2"/>
                                            </p:txEl>
                                          </p:spTgt>
                                        </p:tgtEl>
                                      </p:cBhvr>
                                    </p:animEffect>
                                    <p:anim calcmode="lin" valueType="num">
                                      <p:cBhvr>
                                        <p:cTn id="13"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1000"/>
                                        <p:tgtEl>
                                          <p:spTgt spid="3">
                                            <p:txEl>
                                              <p:pRg st="3" end="3"/>
                                            </p:txEl>
                                          </p:spTgt>
                                        </p:tgtEl>
                                      </p:cBhvr>
                                    </p:animEffect>
                                    <p:anim calcmode="lin" valueType="num">
                                      <p:cBhvr>
                                        <p:cTn id="18"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1000"/>
                                        <p:tgtEl>
                                          <p:spTgt spid="3">
                                            <p:txEl>
                                              <p:pRg st="4" end="4"/>
                                            </p:txEl>
                                          </p:spTgt>
                                        </p:tgtEl>
                                      </p:cBhvr>
                                    </p:animEffect>
                                    <p:anim calcmode="lin" valueType="num">
                                      <p:cBhvr>
                                        <p:cTn id="23"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4" end="4"/>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1000"/>
                                        <p:tgtEl>
                                          <p:spTgt spid="3">
                                            <p:txEl>
                                              <p:pRg st="5" end="5"/>
                                            </p:txEl>
                                          </p:spTgt>
                                        </p:tgtEl>
                                      </p:cBhvr>
                                    </p:animEffect>
                                    <p:anim calcmode="lin" valueType="num">
                                      <p:cBhvr>
                                        <p:cTn id="28"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5" end="5"/>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1000"/>
                                        <p:tgtEl>
                                          <p:spTgt spid="3">
                                            <p:txEl>
                                              <p:pRg st="6" end="6"/>
                                            </p:txEl>
                                          </p:spTgt>
                                        </p:tgtEl>
                                      </p:cBhvr>
                                    </p:animEffect>
                                    <p:anim calcmode="lin" valueType="num">
                                      <p:cBhvr>
                                        <p:cTn id="33"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4"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nodeType="click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animEffect transition="in" filter="fade">
                                      <p:cBhvr>
                                        <p:cTn id="39" dur="1000"/>
                                        <p:tgtEl>
                                          <p:spTgt spid="3">
                                            <p:txEl>
                                              <p:pRg st="7" end="7"/>
                                            </p:txEl>
                                          </p:spTgt>
                                        </p:tgtEl>
                                      </p:cBhvr>
                                    </p:animEffect>
                                    <p:anim calcmode="lin" valueType="num">
                                      <p:cBhvr>
                                        <p:cTn id="40"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41"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E5BD1E-7B2C-4DAC-8FDA-5467CEBC3AC9}"/>
              </a:ext>
            </a:extLst>
          </p:cNvPr>
          <p:cNvSpPr>
            <a:spLocks noGrp="1"/>
          </p:cNvSpPr>
          <p:nvPr>
            <p:ph type="title"/>
          </p:nvPr>
        </p:nvSpPr>
        <p:spPr/>
        <p:txBody>
          <a:bodyPr/>
          <a:lstStyle/>
          <a:p>
            <a:r>
              <a:rPr lang="en-GB" dirty="0"/>
              <a:t>Execution Engine: Running the Plan</a:t>
            </a:r>
            <a:endParaRPr lang="en-PK" dirty="0"/>
          </a:p>
        </p:txBody>
      </p:sp>
      <p:sp>
        <p:nvSpPr>
          <p:cNvPr id="3" name="Content Placeholder 2">
            <a:extLst>
              <a:ext uri="{FF2B5EF4-FFF2-40B4-BE49-F238E27FC236}">
                <a16:creationId xmlns:a16="http://schemas.microsoft.com/office/drawing/2014/main" id="{61C1EAF2-B6EC-4B79-B8FF-A9B7162D3126}"/>
              </a:ext>
            </a:extLst>
          </p:cNvPr>
          <p:cNvSpPr>
            <a:spLocks noGrp="1"/>
          </p:cNvSpPr>
          <p:nvPr>
            <p:ph idx="1"/>
          </p:nvPr>
        </p:nvSpPr>
        <p:spPr/>
        <p:txBody>
          <a:bodyPr>
            <a:normAutofit lnSpcReduction="10000"/>
          </a:bodyPr>
          <a:lstStyle/>
          <a:p>
            <a:r>
              <a:rPr lang="en-GB" dirty="0"/>
              <a:t>The execution engine performs the operations selected by the query processor.</a:t>
            </a:r>
          </a:p>
          <a:p>
            <a:r>
              <a:rPr lang="en-GB" b="1" dirty="0"/>
              <a:t>Possible operations</a:t>
            </a:r>
          </a:p>
          <a:p>
            <a:pPr lvl="1"/>
            <a:r>
              <a:rPr lang="en-GB" dirty="0"/>
              <a:t>Scan a table </a:t>
            </a:r>
          </a:p>
          <a:p>
            <a:pPr lvl="1"/>
            <a:r>
              <a:rPr lang="en-GB" dirty="0"/>
              <a:t>Search an index </a:t>
            </a:r>
          </a:p>
          <a:p>
            <a:pPr lvl="1"/>
            <a:r>
              <a:rPr lang="en-GB" dirty="0"/>
              <a:t>Filter records </a:t>
            </a:r>
          </a:p>
          <a:p>
            <a:pPr lvl="1"/>
            <a:r>
              <a:rPr lang="en-GB" dirty="0"/>
              <a:t>Join tables </a:t>
            </a:r>
          </a:p>
          <a:p>
            <a:pPr lvl="1"/>
            <a:r>
              <a:rPr lang="en-GB" dirty="0"/>
              <a:t>Sort results </a:t>
            </a:r>
          </a:p>
          <a:p>
            <a:pPr lvl="1"/>
            <a:r>
              <a:rPr lang="en-GB" dirty="0"/>
              <a:t>Calculate aggregates </a:t>
            </a:r>
          </a:p>
          <a:p>
            <a:pPr lvl="1"/>
            <a:r>
              <a:rPr lang="en-GB" dirty="0"/>
              <a:t>Insert, update or delete records</a:t>
            </a:r>
          </a:p>
          <a:p>
            <a:endParaRPr lang="en-PK" dirty="0"/>
          </a:p>
        </p:txBody>
      </p:sp>
    </p:spTree>
    <p:extLst>
      <p:ext uri="{BB962C8B-B14F-4D97-AF65-F5344CB8AC3E}">
        <p14:creationId xmlns:p14="http://schemas.microsoft.com/office/powerpoint/2010/main" val="7825029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1000"/>
                                        <p:tgtEl>
                                          <p:spTgt spid="3">
                                            <p:txEl>
                                              <p:pRg st="2" end="2"/>
                                            </p:txEl>
                                          </p:spTgt>
                                        </p:tgtEl>
                                      </p:cBhvr>
                                    </p:animEffect>
                                    <p:anim calcmode="lin" valueType="num">
                                      <p:cBhvr>
                                        <p:cTn id="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3" end="3"/>
                                            </p:txEl>
                                          </p:spTgt>
                                        </p:tgtEl>
                                        <p:attrNameLst>
                                          <p:attrName>style.visibility</p:attrName>
                                        </p:attrNameLst>
                                      </p:cBhvr>
                                      <p:to>
                                        <p:strVal val="visible"/>
                                      </p:to>
                                    </p:set>
                                    <p:animEffect transition="in" filter="fade">
                                      <p:cBhvr>
                                        <p:cTn id="14" dur="1000"/>
                                        <p:tgtEl>
                                          <p:spTgt spid="3">
                                            <p:txEl>
                                              <p:pRg st="3" end="3"/>
                                            </p:txEl>
                                          </p:spTgt>
                                        </p:tgtEl>
                                      </p:cBhvr>
                                    </p:animEffect>
                                    <p:anim calcmode="lin" valueType="num">
                                      <p:cBhvr>
                                        <p:cTn id="1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1000"/>
                                        <p:tgtEl>
                                          <p:spTgt spid="3">
                                            <p:txEl>
                                              <p:pRg st="4" end="4"/>
                                            </p:txEl>
                                          </p:spTgt>
                                        </p:tgtEl>
                                      </p:cBhvr>
                                    </p:animEffect>
                                    <p:anim calcmode="lin" valueType="num">
                                      <p:cBhvr>
                                        <p:cTn id="22"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fade">
                                      <p:cBhvr>
                                        <p:cTn id="28" dur="1000"/>
                                        <p:tgtEl>
                                          <p:spTgt spid="3">
                                            <p:txEl>
                                              <p:pRg st="5" end="5"/>
                                            </p:txEl>
                                          </p:spTgt>
                                        </p:tgtEl>
                                      </p:cBhvr>
                                    </p:animEffect>
                                    <p:anim calcmode="lin" valueType="num">
                                      <p:cBhvr>
                                        <p:cTn id="29"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Effect transition="in" filter="fade">
                                      <p:cBhvr>
                                        <p:cTn id="35" dur="1000"/>
                                        <p:tgtEl>
                                          <p:spTgt spid="3">
                                            <p:txEl>
                                              <p:pRg st="6" end="6"/>
                                            </p:txEl>
                                          </p:spTgt>
                                        </p:tgtEl>
                                      </p:cBhvr>
                                    </p:animEffect>
                                    <p:anim calcmode="lin" valueType="num">
                                      <p:cBhvr>
                                        <p:cTn id="36"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1000"/>
                                        <p:tgtEl>
                                          <p:spTgt spid="3">
                                            <p:txEl>
                                              <p:pRg st="7" end="7"/>
                                            </p:txEl>
                                          </p:spTgt>
                                        </p:tgtEl>
                                      </p:cBhvr>
                                    </p:animEffect>
                                    <p:anim calcmode="lin" valueType="num">
                                      <p:cBhvr>
                                        <p:cTn id="43"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3">
                                            <p:txEl>
                                              <p:pRg st="8" end="8"/>
                                            </p:txEl>
                                          </p:spTgt>
                                        </p:tgtEl>
                                        <p:attrNameLst>
                                          <p:attrName>style.visibility</p:attrName>
                                        </p:attrNameLst>
                                      </p:cBhvr>
                                      <p:to>
                                        <p:strVal val="visible"/>
                                      </p:to>
                                    </p:set>
                                    <p:animEffect transition="in" filter="fade">
                                      <p:cBhvr>
                                        <p:cTn id="49" dur="1000"/>
                                        <p:tgtEl>
                                          <p:spTgt spid="3">
                                            <p:txEl>
                                              <p:pRg st="8" end="8"/>
                                            </p:txEl>
                                          </p:spTgt>
                                        </p:tgtEl>
                                      </p:cBhvr>
                                    </p:animEffect>
                                    <p:anim calcmode="lin" valueType="num">
                                      <p:cBhvr>
                                        <p:cTn id="50"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C15C5A-FE64-42DB-B642-95D900662631}"/>
              </a:ext>
            </a:extLst>
          </p:cNvPr>
          <p:cNvSpPr>
            <a:spLocks noGrp="1"/>
          </p:cNvSpPr>
          <p:nvPr>
            <p:ph type="title"/>
          </p:nvPr>
        </p:nvSpPr>
        <p:spPr/>
        <p:txBody>
          <a:bodyPr/>
          <a:lstStyle/>
          <a:p>
            <a:r>
              <a:rPr lang="en-GB" dirty="0"/>
              <a:t>Query Processing</a:t>
            </a:r>
            <a:endParaRPr lang="en-PK" dirty="0"/>
          </a:p>
        </p:txBody>
      </p:sp>
      <p:sp>
        <p:nvSpPr>
          <p:cNvPr id="3" name="Content Placeholder 2">
            <a:extLst>
              <a:ext uri="{FF2B5EF4-FFF2-40B4-BE49-F238E27FC236}">
                <a16:creationId xmlns:a16="http://schemas.microsoft.com/office/drawing/2014/main" id="{9F04B7B4-894D-40CA-AAC1-791845F68D6B}"/>
              </a:ext>
            </a:extLst>
          </p:cNvPr>
          <p:cNvSpPr>
            <a:spLocks noGrp="1"/>
          </p:cNvSpPr>
          <p:nvPr>
            <p:ph idx="1"/>
          </p:nvPr>
        </p:nvSpPr>
        <p:spPr/>
        <p:txBody>
          <a:bodyPr/>
          <a:lstStyle/>
          <a:p>
            <a:pPr marL="0" indent="0">
              <a:buNone/>
            </a:pPr>
            <a:r>
              <a:rPr lang="en-GB" b="1" dirty="0"/>
              <a:t>Query processor:</a:t>
            </a:r>
            <a:r>
              <a:rPr lang="en-GB" dirty="0"/>
              <a:t> Creates the plan.</a:t>
            </a:r>
            <a:br>
              <a:rPr lang="en-GB" dirty="0"/>
            </a:br>
            <a:r>
              <a:rPr lang="en-GB" b="1" dirty="0"/>
              <a:t>Execution engine:</a:t>
            </a:r>
            <a:r>
              <a:rPr lang="en-GB" dirty="0"/>
              <a:t> Performs the plan.</a:t>
            </a:r>
          </a:p>
          <a:p>
            <a:pPr marL="0" indent="0">
              <a:buNone/>
            </a:pPr>
            <a:endParaRPr lang="en-GB" dirty="0"/>
          </a:p>
          <a:p>
            <a:pPr marL="0" indent="0">
              <a:buNone/>
            </a:pPr>
            <a:r>
              <a:rPr lang="en-GB" dirty="0"/>
              <a:t>Who decides to use an index?</a:t>
            </a:r>
          </a:p>
          <a:p>
            <a:pPr marL="0" indent="0">
              <a:buNone/>
            </a:pPr>
            <a:r>
              <a:rPr lang="en-GB" dirty="0"/>
              <a:t>	</a:t>
            </a:r>
            <a:r>
              <a:rPr lang="en-GB" b="1" dirty="0"/>
              <a:t>The query processor or optimizer.</a:t>
            </a:r>
          </a:p>
          <a:p>
            <a:pPr marL="0" indent="0">
              <a:buNone/>
            </a:pPr>
            <a:r>
              <a:rPr lang="en-GB" dirty="0"/>
              <a:t>Who actually performs the index search?</a:t>
            </a:r>
          </a:p>
          <a:p>
            <a:pPr marL="0" indent="0">
              <a:buNone/>
            </a:pPr>
            <a:r>
              <a:rPr lang="en-GB" dirty="0"/>
              <a:t>	</a:t>
            </a:r>
            <a:r>
              <a:rPr lang="en-GB" b="1" dirty="0"/>
              <a:t>Execution Engine</a:t>
            </a:r>
            <a:endParaRPr lang="en-PK" b="1" dirty="0"/>
          </a:p>
        </p:txBody>
      </p:sp>
    </p:spTree>
    <p:extLst>
      <p:ext uri="{BB962C8B-B14F-4D97-AF65-F5344CB8AC3E}">
        <p14:creationId xmlns:p14="http://schemas.microsoft.com/office/powerpoint/2010/main" val="16176240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1000"/>
                                        <p:tgtEl>
                                          <p:spTgt spid="3">
                                            <p:txEl>
                                              <p:pRg st="2" end="2"/>
                                            </p:txEl>
                                          </p:spTgt>
                                        </p:tgtEl>
                                      </p:cBhvr>
                                    </p:animEffect>
                                    <p:anim calcmode="lin" valueType="num">
                                      <p:cBhvr>
                                        <p:cTn id="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3" end="3"/>
                                            </p:txEl>
                                          </p:spTgt>
                                        </p:tgtEl>
                                        <p:attrNameLst>
                                          <p:attrName>style.visibility</p:attrName>
                                        </p:attrNameLst>
                                      </p:cBhvr>
                                      <p:to>
                                        <p:strVal val="visible"/>
                                      </p:to>
                                    </p:set>
                                    <p:animEffect transition="in" filter="fade">
                                      <p:cBhvr>
                                        <p:cTn id="14" dur="1000"/>
                                        <p:tgtEl>
                                          <p:spTgt spid="3">
                                            <p:txEl>
                                              <p:pRg st="3" end="3"/>
                                            </p:txEl>
                                          </p:spTgt>
                                        </p:tgtEl>
                                      </p:cBhvr>
                                    </p:animEffect>
                                    <p:anim calcmode="lin" valueType="num">
                                      <p:cBhvr>
                                        <p:cTn id="1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1000"/>
                                        <p:tgtEl>
                                          <p:spTgt spid="3">
                                            <p:txEl>
                                              <p:pRg st="4" end="4"/>
                                            </p:txEl>
                                          </p:spTgt>
                                        </p:tgtEl>
                                      </p:cBhvr>
                                    </p:animEffect>
                                    <p:anim calcmode="lin" valueType="num">
                                      <p:cBhvr>
                                        <p:cTn id="22"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fade">
                                      <p:cBhvr>
                                        <p:cTn id="28" dur="1000"/>
                                        <p:tgtEl>
                                          <p:spTgt spid="3">
                                            <p:txEl>
                                              <p:pRg st="5" end="5"/>
                                            </p:txEl>
                                          </p:spTgt>
                                        </p:tgtEl>
                                      </p:cBhvr>
                                    </p:animEffect>
                                    <p:anim calcmode="lin" valueType="num">
                                      <p:cBhvr>
                                        <p:cTn id="29"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F76E8-C859-4ACA-8410-A7E9A1BF1A7D}"/>
              </a:ext>
            </a:extLst>
          </p:cNvPr>
          <p:cNvSpPr>
            <a:spLocks noGrp="1"/>
          </p:cNvSpPr>
          <p:nvPr>
            <p:ph type="title"/>
          </p:nvPr>
        </p:nvSpPr>
        <p:spPr/>
        <p:txBody>
          <a:bodyPr/>
          <a:lstStyle/>
          <a:p>
            <a:r>
              <a:rPr lang="en-GB" dirty="0"/>
              <a:t>Buffer Manager: Managing Main Memory</a:t>
            </a:r>
            <a:endParaRPr lang="en-PK" dirty="0"/>
          </a:p>
        </p:txBody>
      </p:sp>
      <p:sp>
        <p:nvSpPr>
          <p:cNvPr id="3" name="Content Placeholder 2">
            <a:extLst>
              <a:ext uri="{FF2B5EF4-FFF2-40B4-BE49-F238E27FC236}">
                <a16:creationId xmlns:a16="http://schemas.microsoft.com/office/drawing/2014/main" id="{E6B6F891-6398-44F9-B977-9052B2EC2A49}"/>
              </a:ext>
            </a:extLst>
          </p:cNvPr>
          <p:cNvSpPr>
            <a:spLocks noGrp="1"/>
          </p:cNvSpPr>
          <p:nvPr>
            <p:ph idx="1"/>
          </p:nvPr>
        </p:nvSpPr>
        <p:spPr/>
        <p:txBody>
          <a:bodyPr/>
          <a:lstStyle/>
          <a:p>
            <a:r>
              <a:rPr lang="en-GB" dirty="0"/>
              <a:t>Accessing data from memory is faster than repeatedly reading it from disk.</a:t>
            </a:r>
          </a:p>
          <a:p>
            <a:r>
              <a:rPr lang="en-GB" dirty="0"/>
              <a:t>The buffer manager:</a:t>
            </a:r>
          </a:p>
          <a:p>
            <a:pPr lvl="1"/>
            <a:r>
              <a:rPr lang="en-GB" dirty="0"/>
              <a:t>Loads database pages into main memory </a:t>
            </a:r>
          </a:p>
          <a:p>
            <a:pPr lvl="1"/>
            <a:r>
              <a:rPr lang="en-GB" dirty="0"/>
              <a:t>Keeps frequently accessed pages available </a:t>
            </a:r>
          </a:p>
          <a:p>
            <a:pPr lvl="1"/>
            <a:r>
              <a:rPr lang="en-GB" dirty="0"/>
              <a:t>Reuses available memory space </a:t>
            </a:r>
          </a:p>
          <a:p>
            <a:pPr lvl="1"/>
            <a:r>
              <a:rPr lang="en-GB" dirty="0"/>
              <a:t>Tracks modified or “dirty” pages </a:t>
            </a:r>
          </a:p>
          <a:p>
            <a:pPr lvl="1"/>
            <a:r>
              <a:rPr lang="en-GB" dirty="0"/>
              <a:t>Writes modified pages back to storage</a:t>
            </a:r>
          </a:p>
          <a:p>
            <a:pPr marL="0" indent="0">
              <a:buNone/>
            </a:pPr>
            <a:r>
              <a:rPr lang="en-GB" dirty="0"/>
              <a:t>What should happen when the required page is not in the buffer?</a:t>
            </a:r>
            <a:endParaRPr lang="en-PK" dirty="0"/>
          </a:p>
        </p:txBody>
      </p:sp>
      <p:sp>
        <p:nvSpPr>
          <p:cNvPr id="5" name="TextBox 4">
            <a:extLst>
              <a:ext uri="{FF2B5EF4-FFF2-40B4-BE49-F238E27FC236}">
                <a16:creationId xmlns:a16="http://schemas.microsoft.com/office/drawing/2014/main" id="{05EC034C-D1A0-45CD-BD69-4C9E77C60494}"/>
              </a:ext>
            </a:extLst>
          </p:cNvPr>
          <p:cNvSpPr txBox="1"/>
          <p:nvPr/>
        </p:nvSpPr>
        <p:spPr>
          <a:xfrm>
            <a:off x="1654140" y="6211669"/>
            <a:ext cx="9400714" cy="646331"/>
          </a:xfrm>
          <a:prstGeom prst="rect">
            <a:avLst/>
          </a:prstGeom>
          <a:noFill/>
        </p:spPr>
        <p:txBody>
          <a:bodyPr wrap="square">
            <a:spAutoFit/>
          </a:bodyPr>
          <a:lstStyle/>
          <a:p>
            <a:pPr marL="0" indent="0">
              <a:buNone/>
            </a:pPr>
            <a:r>
              <a:rPr lang="en-US" sz="1800" b="1" dirty="0"/>
              <a:t>If the requested page is not in memory → the buffer manager asks storage to read it, then places it in the buffer pool.</a:t>
            </a:r>
            <a:endParaRPr lang="en-US" sz="1800" dirty="0"/>
          </a:p>
        </p:txBody>
      </p:sp>
    </p:spTree>
    <p:extLst>
      <p:ext uri="{BB962C8B-B14F-4D97-AF65-F5344CB8AC3E}">
        <p14:creationId xmlns:p14="http://schemas.microsoft.com/office/powerpoint/2010/main" val="38806230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FB589E-2E1C-4D7F-8580-1FCCE660E00D}"/>
              </a:ext>
            </a:extLst>
          </p:cNvPr>
          <p:cNvSpPr>
            <a:spLocks noGrp="1"/>
          </p:cNvSpPr>
          <p:nvPr>
            <p:ph type="title"/>
          </p:nvPr>
        </p:nvSpPr>
        <p:spPr/>
        <p:txBody>
          <a:bodyPr/>
          <a:lstStyle/>
          <a:p>
            <a:r>
              <a:rPr lang="en-GB" dirty="0"/>
              <a:t>Storage Manager: Organizing Persistent Data</a:t>
            </a:r>
            <a:endParaRPr lang="en-PK" dirty="0"/>
          </a:p>
        </p:txBody>
      </p:sp>
      <p:sp>
        <p:nvSpPr>
          <p:cNvPr id="3" name="Content Placeholder 2">
            <a:extLst>
              <a:ext uri="{FF2B5EF4-FFF2-40B4-BE49-F238E27FC236}">
                <a16:creationId xmlns:a16="http://schemas.microsoft.com/office/drawing/2014/main" id="{67138562-FA71-4074-8130-7A55741AD75B}"/>
              </a:ext>
            </a:extLst>
          </p:cNvPr>
          <p:cNvSpPr>
            <a:spLocks noGrp="1"/>
          </p:cNvSpPr>
          <p:nvPr>
            <p:ph idx="1"/>
          </p:nvPr>
        </p:nvSpPr>
        <p:spPr/>
        <p:txBody>
          <a:bodyPr/>
          <a:lstStyle/>
          <a:p>
            <a:r>
              <a:rPr lang="en-GB" dirty="0"/>
              <a:t>The storage manager controls how database information is stored and retrieved.</a:t>
            </a:r>
          </a:p>
          <a:p>
            <a:r>
              <a:rPr lang="en-GB" b="1" dirty="0"/>
              <a:t>Responsibilities</a:t>
            </a:r>
          </a:p>
          <a:p>
            <a:pPr lvl="1"/>
            <a:r>
              <a:rPr lang="en-GB" dirty="0"/>
              <a:t>Organizes files, records and pages </a:t>
            </a:r>
          </a:p>
          <a:p>
            <a:pPr lvl="1"/>
            <a:r>
              <a:rPr lang="en-GB" dirty="0"/>
              <a:t>Maintains indexes </a:t>
            </a:r>
          </a:p>
          <a:p>
            <a:pPr lvl="1"/>
            <a:r>
              <a:rPr lang="en-GB" dirty="0"/>
              <a:t>Allocates and releases storage space </a:t>
            </a:r>
          </a:p>
          <a:p>
            <a:pPr lvl="1"/>
            <a:r>
              <a:rPr lang="en-GB" dirty="0"/>
              <a:t>Performs physical read and write operations </a:t>
            </a:r>
          </a:p>
          <a:p>
            <a:pPr lvl="1"/>
            <a:r>
              <a:rPr lang="en-GB" dirty="0"/>
              <a:t>Coordinates storage access with the buffer manager</a:t>
            </a:r>
          </a:p>
          <a:p>
            <a:endParaRPr lang="en-PK" dirty="0"/>
          </a:p>
        </p:txBody>
      </p:sp>
    </p:spTree>
    <p:extLst>
      <p:ext uri="{BB962C8B-B14F-4D97-AF65-F5344CB8AC3E}">
        <p14:creationId xmlns:p14="http://schemas.microsoft.com/office/powerpoint/2010/main" val="39287360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1000"/>
                                        <p:tgtEl>
                                          <p:spTgt spid="3">
                                            <p:txEl>
                                              <p:pRg st="2" end="2"/>
                                            </p:txEl>
                                          </p:spTgt>
                                        </p:tgtEl>
                                      </p:cBhvr>
                                    </p:animEffect>
                                    <p:anim calcmode="lin" valueType="num">
                                      <p:cBhvr>
                                        <p:cTn id="13"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1000"/>
                                        <p:tgtEl>
                                          <p:spTgt spid="3">
                                            <p:txEl>
                                              <p:pRg st="3" end="3"/>
                                            </p:txEl>
                                          </p:spTgt>
                                        </p:tgtEl>
                                      </p:cBhvr>
                                    </p:animEffect>
                                    <p:anim calcmode="lin" valueType="num">
                                      <p:cBhvr>
                                        <p:cTn id="18"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1000"/>
                                        <p:tgtEl>
                                          <p:spTgt spid="3">
                                            <p:txEl>
                                              <p:pRg st="4" end="4"/>
                                            </p:txEl>
                                          </p:spTgt>
                                        </p:tgtEl>
                                      </p:cBhvr>
                                    </p:animEffect>
                                    <p:anim calcmode="lin" valueType="num">
                                      <p:cBhvr>
                                        <p:cTn id="23"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4" end="4"/>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1000"/>
                                        <p:tgtEl>
                                          <p:spTgt spid="3">
                                            <p:txEl>
                                              <p:pRg st="5" end="5"/>
                                            </p:txEl>
                                          </p:spTgt>
                                        </p:tgtEl>
                                      </p:cBhvr>
                                    </p:animEffect>
                                    <p:anim calcmode="lin" valueType="num">
                                      <p:cBhvr>
                                        <p:cTn id="28"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5" end="5"/>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1000"/>
                                        <p:tgtEl>
                                          <p:spTgt spid="3">
                                            <p:txEl>
                                              <p:pRg st="6" end="6"/>
                                            </p:txEl>
                                          </p:spTgt>
                                        </p:tgtEl>
                                      </p:cBhvr>
                                    </p:animEffect>
                                    <p:anim calcmode="lin" valueType="num">
                                      <p:cBhvr>
                                        <p:cTn id="33"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4"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E8312A-C4E3-41DA-A479-109ABEB6B7AB}"/>
              </a:ext>
            </a:extLst>
          </p:cNvPr>
          <p:cNvSpPr>
            <a:spLocks noGrp="1"/>
          </p:cNvSpPr>
          <p:nvPr>
            <p:ph type="title"/>
          </p:nvPr>
        </p:nvSpPr>
        <p:spPr/>
        <p:txBody>
          <a:bodyPr/>
          <a:lstStyle/>
          <a:p>
            <a:r>
              <a:rPr lang="en-GB" dirty="0"/>
              <a:t>Buffer Manager vs. Storage Manager</a:t>
            </a:r>
            <a:endParaRPr lang="en-PK" dirty="0"/>
          </a:p>
        </p:txBody>
      </p:sp>
      <p:graphicFrame>
        <p:nvGraphicFramePr>
          <p:cNvPr id="4" name="Content Placeholder 3">
            <a:extLst>
              <a:ext uri="{FF2B5EF4-FFF2-40B4-BE49-F238E27FC236}">
                <a16:creationId xmlns:a16="http://schemas.microsoft.com/office/drawing/2014/main" id="{C6027F10-BA68-4349-9003-AF9CAFB95A14}"/>
              </a:ext>
            </a:extLst>
          </p:cNvPr>
          <p:cNvGraphicFramePr>
            <a:graphicFrameLocks noGrp="1"/>
          </p:cNvGraphicFramePr>
          <p:nvPr>
            <p:ph idx="1"/>
          </p:nvPr>
        </p:nvGraphicFramePr>
        <p:xfrm>
          <a:off x="2226325" y="2583657"/>
          <a:ext cx="7049878" cy="2286000"/>
        </p:xfrm>
        <a:graphic>
          <a:graphicData uri="http://schemas.openxmlformats.org/drawingml/2006/table">
            <a:tbl>
              <a:tblPr>
                <a:tableStyleId>{616DA210-FB5B-4158-B5E0-FEB733F419BA}</a:tableStyleId>
              </a:tblPr>
              <a:tblGrid>
                <a:gridCol w="3524939">
                  <a:extLst>
                    <a:ext uri="{9D8B030D-6E8A-4147-A177-3AD203B41FA5}">
                      <a16:colId xmlns:a16="http://schemas.microsoft.com/office/drawing/2014/main" val="1882810614"/>
                    </a:ext>
                  </a:extLst>
                </a:gridCol>
                <a:gridCol w="3524939">
                  <a:extLst>
                    <a:ext uri="{9D8B030D-6E8A-4147-A177-3AD203B41FA5}">
                      <a16:colId xmlns:a16="http://schemas.microsoft.com/office/drawing/2014/main" val="2635339218"/>
                    </a:ext>
                  </a:extLst>
                </a:gridCol>
              </a:tblGrid>
              <a:tr h="226405">
                <a:tc>
                  <a:txBody>
                    <a:bodyPr/>
                    <a:lstStyle/>
                    <a:p>
                      <a:r>
                        <a:rPr lang="en-GB" b="1"/>
                        <a:t>Buffer manager</a:t>
                      </a:r>
                    </a:p>
                  </a:txBody>
                  <a:tcPr anchor="ctr"/>
                </a:tc>
                <a:tc>
                  <a:txBody>
                    <a:bodyPr/>
                    <a:lstStyle/>
                    <a:p>
                      <a:r>
                        <a:rPr lang="en-GB" b="1" dirty="0"/>
                        <a:t>Storage manager</a:t>
                      </a:r>
                    </a:p>
                  </a:txBody>
                  <a:tcPr anchor="ctr"/>
                </a:tc>
                <a:extLst>
                  <a:ext uri="{0D108BD9-81ED-4DB2-BD59-A6C34878D82A}">
                    <a16:rowId xmlns:a16="http://schemas.microsoft.com/office/drawing/2014/main" val="1732351007"/>
                  </a:ext>
                </a:extLst>
              </a:tr>
              <a:tr h="226405">
                <a:tc>
                  <a:txBody>
                    <a:bodyPr/>
                    <a:lstStyle/>
                    <a:p>
                      <a:r>
                        <a:rPr lang="en-GB"/>
                        <a:t>Manages pages in memory</a:t>
                      </a:r>
                    </a:p>
                  </a:txBody>
                  <a:tcPr anchor="ctr"/>
                </a:tc>
                <a:tc>
                  <a:txBody>
                    <a:bodyPr/>
                    <a:lstStyle/>
                    <a:p>
                      <a:r>
                        <a:rPr lang="en-GB" dirty="0"/>
                        <a:t>Manages data on persistent storage</a:t>
                      </a:r>
                    </a:p>
                  </a:txBody>
                  <a:tcPr anchor="ctr"/>
                </a:tc>
                <a:extLst>
                  <a:ext uri="{0D108BD9-81ED-4DB2-BD59-A6C34878D82A}">
                    <a16:rowId xmlns:a16="http://schemas.microsoft.com/office/drawing/2014/main" val="1340562929"/>
                  </a:ext>
                </a:extLst>
              </a:tr>
              <a:tr h="226405">
                <a:tc>
                  <a:txBody>
                    <a:bodyPr/>
                    <a:lstStyle/>
                    <a:p>
                      <a:r>
                        <a:rPr lang="en-GB" dirty="0"/>
                        <a:t>Decides which pages remain in RAM</a:t>
                      </a:r>
                    </a:p>
                  </a:txBody>
                  <a:tcPr anchor="ctr"/>
                </a:tc>
                <a:tc>
                  <a:txBody>
                    <a:bodyPr/>
                    <a:lstStyle/>
                    <a:p>
                      <a:r>
                        <a:rPr lang="en-GB"/>
                        <a:t>Organizes files, records and indexes</a:t>
                      </a:r>
                    </a:p>
                  </a:txBody>
                  <a:tcPr anchor="ctr"/>
                </a:tc>
                <a:extLst>
                  <a:ext uri="{0D108BD9-81ED-4DB2-BD59-A6C34878D82A}">
                    <a16:rowId xmlns:a16="http://schemas.microsoft.com/office/drawing/2014/main" val="1048842342"/>
                  </a:ext>
                </a:extLst>
              </a:tr>
              <a:tr h="226405">
                <a:tc>
                  <a:txBody>
                    <a:bodyPr/>
                    <a:lstStyle/>
                    <a:p>
                      <a:r>
                        <a:rPr lang="en-GB"/>
                        <a:t>Reduces disk access</a:t>
                      </a:r>
                    </a:p>
                  </a:txBody>
                  <a:tcPr anchor="ctr"/>
                </a:tc>
                <a:tc>
                  <a:txBody>
                    <a:bodyPr/>
                    <a:lstStyle/>
                    <a:p>
                      <a:r>
                        <a:rPr lang="en-GB" dirty="0"/>
                        <a:t>Performs physical storage operations</a:t>
                      </a:r>
                    </a:p>
                  </a:txBody>
                  <a:tcPr anchor="ctr"/>
                </a:tc>
                <a:extLst>
                  <a:ext uri="{0D108BD9-81ED-4DB2-BD59-A6C34878D82A}">
                    <a16:rowId xmlns:a16="http://schemas.microsoft.com/office/drawing/2014/main" val="1192107598"/>
                  </a:ext>
                </a:extLst>
              </a:tr>
            </a:tbl>
          </a:graphicData>
        </a:graphic>
      </p:graphicFrame>
    </p:spTree>
    <p:extLst>
      <p:ext uri="{BB962C8B-B14F-4D97-AF65-F5344CB8AC3E}">
        <p14:creationId xmlns:p14="http://schemas.microsoft.com/office/powerpoint/2010/main" val="18428937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34301A-5502-4CF5-9702-4720AE60AF80}"/>
              </a:ext>
            </a:extLst>
          </p:cNvPr>
          <p:cNvSpPr>
            <a:spLocks noGrp="1"/>
          </p:cNvSpPr>
          <p:nvPr>
            <p:ph type="title"/>
          </p:nvPr>
        </p:nvSpPr>
        <p:spPr/>
        <p:txBody>
          <a:bodyPr/>
          <a:lstStyle/>
          <a:p>
            <a:r>
              <a:rPr lang="en-GB" dirty="0"/>
              <a:t>Transaction Manager: Protecting Correctness</a:t>
            </a:r>
            <a:endParaRPr lang="en-PK" dirty="0"/>
          </a:p>
        </p:txBody>
      </p:sp>
      <p:sp>
        <p:nvSpPr>
          <p:cNvPr id="3" name="Content Placeholder 2">
            <a:extLst>
              <a:ext uri="{FF2B5EF4-FFF2-40B4-BE49-F238E27FC236}">
                <a16:creationId xmlns:a16="http://schemas.microsoft.com/office/drawing/2014/main" id="{75DED666-7619-4AAE-9EFF-17A90620F789}"/>
              </a:ext>
            </a:extLst>
          </p:cNvPr>
          <p:cNvSpPr>
            <a:spLocks noGrp="1"/>
          </p:cNvSpPr>
          <p:nvPr>
            <p:ph idx="1"/>
          </p:nvPr>
        </p:nvSpPr>
        <p:spPr/>
        <p:txBody>
          <a:bodyPr/>
          <a:lstStyle/>
          <a:p>
            <a:r>
              <a:rPr lang="en-GB" dirty="0"/>
              <a:t>A transaction is a logical unit of work containing one or more operations.</a:t>
            </a:r>
          </a:p>
          <a:p>
            <a:r>
              <a:rPr lang="en-GB" dirty="0"/>
              <a:t>The transaction manager:</a:t>
            </a:r>
          </a:p>
          <a:p>
            <a:pPr lvl="1"/>
            <a:r>
              <a:rPr lang="en-GB" dirty="0"/>
              <a:t>Coordinates simultaneous transactions</a:t>
            </a:r>
          </a:p>
          <a:p>
            <a:pPr lvl="1"/>
            <a:r>
              <a:rPr lang="en-GB" dirty="0"/>
              <a:t>Prevents conflicting updates</a:t>
            </a:r>
          </a:p>
          <a:p>
            <a:pPr lvl="1"/>
            <a:r>
              <a:rPr lang="en-GB" dirty="0"/>
              <a:t>Supports COMMIT and ROLLBACK</a:t>
            </a:r>
          </a:p>
          <a:p>
            <a:pPr lvl="1"/>
            <a:r>
              <a:rPr lang="en-GB" dirty="0"/>
              <a:t>Maintains transaction isolation</a:t>
            </a:r>
          </a:p>
          <a:p>
            <a:pPr lvl="1"/>
            <a:r>
              <a:rPr lang="en-GB" dirty="0"/>
              <a:t>Helps restore consistency after failure</a:t>
            </a:r>
          </a:p>
          <a:p>
            <a:pPr lvl="1"/>
            <a:r>
              <a:rPr lang="en-GB" dirty="0"/>
              <a:t>Supports ACID properties</a:t>
            </a:r>
            <a:endParaRPr lang="en-PK" dirty="0"/>
          </a:p>
        </p:txBody>
      </p:sp>
    </p:spTree>
    <p:extLst>
      <p:ext uri="{BB962C8B-B14F-4D97-AF65-F5344CB8AC3E}">
        <p14:creationId xmlns:p14="http://schemas.microsoft.com/office/powerpoint/2010/main" val="21382977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1000"/>
                                        <p:tgtEl>
                                          <p:spTgt spid="3">
                                            <p:txEl>
                                              <p:pRg st="2" end="2"/>
                                            </p:txEl>
                                          </p:spTgt>
                                        </p:tgtEl>
                                      </p:cBhvr>
                                    </p:animEffect>
                                    <p:anim calcmode="lin" valueType="num">
                                      <p:cBhvr>
                                        <p:cTn id="1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1000"/>
                                        <p:tgtEl>
                                          <p:spTgt spid="3">
                                            <p:txEl>
                                              <p:pRg st="3" end="3"/>
                                            </p:txEl>
                                          </p:spTgt>
                                        </p:tgtEl>
                                      </p:cBhvr>
                                    </p:animEffect>
                                    <p:anim calcmode="lin" valueType="num">
                                      <p:cBhvr>
                                        <p:cTn id="22"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Effect transition="in" filter="fade">
                                      <p:cBhvr>
                                        <p:cTn id="28" dur="1000"/>
                                        <p:tgtEl>
                                          <p:spTgt spid="3">
                                            <p:txEl>
                                              <p:pRg st="4" end="4"/>
                                            </p:txEl>
                                          </p:spTgt>
                                        </p:tgtEl>
                                      </p:cBhvr>
                                    </p:animEffect>
                                    <p:anim calcmode="lin" valueType="num">
                                      <p:cBhvr>
                                        <p:cTn id="29"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Effect transition="in" filter="fade">
                                      <p:cBhvr>
                                        <p:cTn id="35" dur="1000"/>
                                        <p:tgtEl>
                                          <p:spTgt spid="3">
                                            <p:txEl>
                                              <p:pRg st="5" end="5"/>
                                            </p:txEl>
                                          </p:spTgt>
                                        </p:tgtEl>
                                      </p:cBhvr>
                                    </p:animEffect>
                                    <p:anim calcmode="lin" valueType="num">
                                      <p:cBhvr>
                                        <p:cTn id="36"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3">
                                            <p:txEl>
                                              <p:pRg st="6" end="6"/>
                                            </p:txEl>
                                          </p:spTgt>
                                        </p:tgtEl>
                                        <p:attrNameLst>
                                          <p:attrName>style.visibility</p:attrName>
                                        </p:attrNameLst>
                                      </p:cBhvr>
                                      <p:to>
                                        <p:strVal val="visible"/>
                                      </p:to>
                                    </p:set>
                                    <p:animEffect transition="in" filter="fade">
                                      <p:cBhvr>
                                        <p:cTn id="42" dur="1000"/>
                                        <p:tgtEl>
                                          <p:spTgt spid="3">
                                            <p:txEl>
                                              <p:pRg st="6" end="6"/>
                                            </p:txEl>
                                          </p:spTgt>
                                        </p:tgtEl>
                                      </p:cBhvr>
                                    </p:animEffect>
                                    <p:anim calcmode="lin" valueType="num">
                                      <p:cBhvr>
                                        <p:cTn id="43"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Effect transition="in" filter="fade">
                                      <p:cBhvr>
                                        <p:cTn id="49" dur="1000"/>
                                        <p:tgtEl>
                                          <p:spTgt spid="3">
                                            <p:txEl>
                                              <p:pRg st="7" end="7"/>
                                            </p:txEl>
                                          </p:spTgt>
                                        </p:tgtEl>
                                      </p:cBhvr>
                                    </p:animEffect>
                                    <p:anim calcmode="lin" valueType="num">
                                      <p:cBhvr>
                                        <p:cTn id="50"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D465BB-BF7A-41B4-B649-B9B0EA09371C}"/>
              </a:ext>
            </a:extLst>
          </p:cNvPr>
          <p:cNvSpPr>
            <a:spLocks noGrp="1"/>
          </p:cNvSpPr>
          <p:nvPr>
            <p:ph type="title"/>
          </p:nvPr>
        </p:nvSpPr>
        <p:spPr/>
        <p:txBody>
          <a:bodyPr/>
          <a:lstStyle/>
          <a:p>
            <a:r>
              <a:rPr lang="en-GB" dirty="0"/>
              <a:t>One Course Registration Request Through All Components</a:t>
            </a:r>
            <a:endParaRPr lang="en-PK" dirty="0"/>
          </a:p>
        </p:txBody>
      </p:sp>
      <p:sp>
        <p:nvSpPr>
          <p:cNvPr id="5" name="Shape 4">
            <a:extLst>
              <a:ext uri="{FF2B5EF4-FFF2-40B4-BE49-F238E27FC236}">
                <a16:creationId xmlns:a16="http://schemas.microsoft.com/office/drawing/2014/main" id="{A35C53FD-2839-4C20-8593-62AF34E5FE81}"/>
              </a:ext>
            </a:extLst>
          </p:cNvPr>
          <p:cNvSpPr/>
          <p:nvPr/>
        </p:nvSpPr>
        <p:spPr>
          <a:xfrm>
            <a:off x="495933" y="2220225"/>
            <a:ext cx="1600200" cy="3246120"/>
          </a:xfrm>
          <a:prstGeom prst="roundRect">
            <a:avLst>
              <a:gd name="adj" fmla="val 3429"/>
            </a:avLst>
          </a:prstGeom>
          <a:solidFill>
            <a:srgbClr val="EAF2FF"/>
          </a:solidFill>
          <a:ln w="10160">
            <a:solidFill>
              <a:srgbClr val="D8E0EB"/>
            </a:solidFill>
            <a:prstDash val="solid"/>
          </a:ln>
        </p:spPr>
      </p:sp>
      <p:sp>
        <p:nvSpPr>
          <p:cNvPr id="8" name="Text 5">
            <a:extLst>
              <a:ext uri="{FF2B5EF4-FFF2-40B4-BE49-F238E27FC236}">
                <a16:creationId xmlns:a16="http://schemas.microsoft.com/office/drawing/2014/main" id="{D42BFE4D-AD43-40F9-82C3-F56EF619D0F1}"/>
              </a:ext>
            </a:extLst>
          </p:cNvPr>
          <p:cNvSpPr/>
          <p:nvPr/>
        </p:nvSpPr>
        <p:spPr>
          <a:xfrm>
            <a:off x="605661" y="3207777"/>
            <a:ext cx="1371600" cy="219456"/>
          </a:xfrm>
          <a:prstGeom prst="rect">
            <a:avLst/>
          </a:prstGeom>
          <a:noFill/>
          <a:ln/>
        </p:spPr>
        <p:txBody>
          <a:bodyPr wrap="square" lIns="0" tIns="0" rIns="0" bIns="0" rtlCol="0" anchor="ctr"/>
          <a:lstStyle/>
          <a:p>
            <a:pPr marL="0" indent="0" algn="ctr">
              <a:buNone/>
            </a:pPr>
            <a:r>
              <a:rPr lang="en-US" sz="2000" b="1" dirty="0">
                <a:solidFill>
                  <a:srgbClr val="172033"/>
                </a:solidFill>
              </a:rPr>
              <a:t>DDL</a:t>
            </a:r>
            <a:endParaRPr lang="en-US" sz="2000" dirty="0"/>
          </a:p>
        </p:txBody>
      </p:sp>
      <p:sp>
        <p:nvSpPr>
          <p:cNvPr id="9" name="Text 6">
            <a:extLst>
              <a:ext uri="{FF2B5EF4-FFF2-40B4-BE49-F238E27FC236}">
                <a16:creationId xmlns:a16="http://schemas.microsoft.com/office/drawing/2014/main" id="{5438149A-3120-4130-B028-2CF07016C27C}"/>
              </a:ext>
            </a:extLst>
          </p:cNvPr>
          <p:cNvSpPr/>
          <p:nvPr/>
        </p:nvSpPr>
        <p:spPr>
          <a:xfrm>
            <a:off x="633093" y="3701553"/>
            <a:ext cx="1325880" cy="1143000"/>
          </a:xfrm>
          <a:prstGeom prst="rect">
            <a:avLst/>
          </a:prstGeom>
          <a:noFill/>
          <a:ln/>
        </p:spPr>
        <p:txBody>
          <a:bodyPr wrap="square" lIns="254" tIns="254" rIns="254" bIns="254" rtlCol="0" anchor="ctr"/>
          <a:lstStyle/>
          <a:p>
            <a:pPr marL="0" indent="0" algn="ctr">
              <a:buNone/>
            </a:pPr>
            <a:r>
              <a:rPr lang="en-US" sz="1600" dirty="0">
                <a:solidFill>
                  <a:srgbClr val="5B677A"/>
                </a:solidFill>
              </a:rPr>
              <a:t>Tables + constraints already defined</a:t>
            </a:r>
            <a:endParaRPr lang="en-US" sz="1600" dirty="0"/>
          </a:p>
        </p:txBody>
      </p:sp>
      <p:sp>
        <p:nvSpPr>
          <p:cNvPr id="10" name="Shape 7">
            <a:extLst>
              <a:ext uri="{FF2B5EF4-FFF2-40B4-BE49-F238E27FC236}">
                <a16:creationId xmlns:a16="http://schemas.microsoft.com/office/drawing/2014/main" id="{02991811-5D51-49F2-B2A4-9AC956EAA996}"/>
              </a:ext>
            </a:extLst>
          </p:cNvPr>
          <p:cNvSpPr/>
          <p:nvPr/>
        </p:nvSpPr>
        <p:spPr>
          <a:xfrm>
            <a:off x="2114421" y="3802137"/>
            <a:ext cx="228600" cy="0"/>
          </a:xfrm>
          <a:prstGeom prst="line">
            <a:avLst/>
          </a:prstGeom>
          <a:noFill/>
          <a:ln w="15875">
            <a:solidFill>
              <a:srgbClr val="16A6A1"/>
            </a:solidFill>
            <a:prstDash val="solid"/>
            <a:headEnd type="none"/>
            <a:tailEnd type="triangle"/>
          </a:ln>
        </p:spPr>
      </p:sp>
      <p:sp>
        <p:nvSpPr>
          <p:cNvPr id="11" name="Shape 8">
            <a:extLst>
              <a:ext uri="{FF2B5EF4-FFF2-40B4-BE49-F238E27FC236}">
                <a16:creationId xmlns:a16="http://schemas.microsoft.com/office/drawing/2014/main" id="{76B8748E-B487-445E-A33C-2241B0995108}"/>
              </a:ext>
            </a:extLst>
          </p:cNvPr>
          <p:cNvSpPr/>
          <p:nvPr/>
        </p:nvSpPr>
        <p:spPr>
          <a:xfrm>
            <a:off x="2397885" y="2220225"/>
            <a:ext cx="1600200" cy="3246120"/>
          </a:xfrm>
          <a:prstGeom prst="roundRect">
            <a:avLst>
              <a:gd name="adj" fmla="val 3429"/>
            </a:avLst>
          </a:prstGeom>
          <a:solidFill>
            <a:srgbClr val="E7F7F6"/>
          </a:solidFill>
          <a:ln w="10160">
            <a:solidFill>
              <a:srgbClr val="D8E0EB"/>
            </a:solidFill>
            <a:prstDash val="solid"/>
          </a:ln>
        </p:spPr>
      </p:sp>
      <p:sp>
        <p:nvSpPr>
          <p:cNvPr id="13" name="Text 9">
            <a:extLst>
              <a:ext uri="{FF2B5EF4-FFF2-40B4-BE49-F238E27FC236}">
                <a16:creationId xmlns:a16="http://schemas.microsoft.com/office/drawing/2014/main" id="{0AFD0227-7D3A-46A6-90FF-8CEA78A537EB}"/>
              </a:ext>
            </a:extLst>
          </p:cNvPr>
          <p:cNvSpPr/>
          <p:nvPr/>
        </p:nvSpPr>
        <p:spPr>
          <a:xfrm>
            <a:off x="2507613" y="3207777"/>
            <a:ext cx="1371600" cy="219456"/>
          </a:xfrm>
          <a:prstGeom prst="rect">
            <a:avLst/>
          </a:prstGeom>
          <a:noFill/>
          <a:ln/>
        </p:spPr>
        <p:txBody>
          <a:bodyPr wrap="square" lIns="0" tIns="0" rIns="0" bIns="0" rtlCol="0" anchor="ctr"/>
          <a:lstStyle/>
          <a:p>
            <a:pPr marL="0" indent="0" algn="ctr">
              <a:buNone/>
            </a:pPr>
            <a:r>
              <a:rPr lang="en-US" sz="2000" b="1" dirty="0">
                <a:solidFill>
                  <a:srgbClr val="172033"/>
                </a:solidFill>
              </a:rPr>
              <a:t>QUERY</a:t>
            </a:r>
            <a:endParaRPr lang="en-US" sz="2000" dirty="0"/>
          </a:p>
        </p:txBody>
      </p:sp>
      <p:sp>
        <p:nvSpPr>
          <p:cNvPr id="14" name="Text 10">
            <a:extLst>
              <a:ext uri="{FF2B5EF4-FFF2-40B4-BE49-F238E27FC236}">
                <a16:creationId xmlns:a16="http://schemas.microsoft.com/office/drawing/2014/main" id="{7CC2430B-64B4-4B6C-9C2C-6742C90642FE}"/>
              </a:ext>
            </a:extLst>
          </p:cNvPr>
          <p:cNvSpPr/>
          <p:nvPr/>
        </p:nvSpPr>
        <p:spPr>
          <a:xfrm>
            <a:off x="2535045" y="3701553"/>
            <a:ext cx="1325880" cy="1143000"/>
          </a:xfrm>
          <a:prstGeom prst="rect">
            <a:avLst/>
          </a:prstGeom>
          <a:noFill/>
          <a:ln/>
        </p:spPr>
        <p:txBody>
          <a:bodyPr wrap="square" lIns="254" tIns="254" rIns="254" bIns="254" rtlCol="0" anchor="ctr"/>
          <a:lstStyle/>
          <a:p>
            <a:pPr marL="0" indent="0" algn="ctr">
              <a:buNone/>
            </a:pPr>
            <a:r>
              <a:rPr lang="en-US" sz="1600" dirty="0">
                <a:solidFill>
                  <a:srgbClr val="5B677A"/>
                </a:solidFill>
              </a:rPr>
              <a:t>Validate request + choose plan</a:t>
            </a:r>
            <a:endParaRPr lang="en-US" sz="1600" dirty="0"/>
          </a:p>
        </p:txBody>
      </p:sp>
      <p:sp>
        <p:nvSpPr>
          <p:cNvPr id="15" name="Shape 11">
            <a:extLst>
              <a:ext uri="{FF2B5EF4-FFF2-40B4-BE49-F238E27FC236}">
                <a16:creationId xmlns:a16="http://schemas.microsoft.com/office/drawing/2014/main" id="{0CB48ABF-E8FD-415F-B21D-A00229814040}"/>
              </a:ext>
            </a:extLst>
          </p:cNvPr>
          <p:cNvSpPr/>
          <p:nvPr/>
        </p:nvSpPr>
        <p:spPr>
          <a:xfrm>
            <a:off x="4016373" y="3802137"/>
            <a:ext cx="228600" cy="0"/>
          </a:xfrm>
          <a:prstGeom prst="line">
            <a:avLst/>
          </a:prstGeom>
          <a:noFill/>
          <a:ln w="15875">
            <a:solidFill>
              <a:srgbClr val="16A6A1"/>
            </a:solidFill>
            <a:prstDash val="solid"/>
            <a:headEnd type="none"/>
            <a:tailEnd type="triangle"/>
          </a:ln>
        </p:spPr>
      </p:sp>
      <p:sp>
        <p:nvSpPr>
          <p:cNvPr id="16" name="Shape 12">
            <a:extLst>
              <a:ext uri="{FF2B5EF4-FFF2-40B4-BE49-F238E27FC236}">
                <a16:creationId xmlns:a16="http://schemas.microsoft.com/office/drawing/2014/main" id="{BA5FE9AD-1259-477B-8D0D-4D22E001B91A}"/>
              </a:ext>
            </a:extLst>
          </p:cNvPr>
          <p:cNvSpPr/>
          <p:nvPr/>
        </p:nvSpPr>
        <p:spPr>
          <a:xfrm>
            <a:off x="4299837" y="2220225"/>
            <a:ext cx="1600200" cy="3246120"/>
          </a:xfrm>
          <a:prstGeom prst="roundRect">
            <a:avLst>
              <a:gd name="adj" fmla="val 3429"/>
            </a:avLst>
          </a:prstGeom>
          <a:solidFill>
            <a:srgbClr val="FFF4DE"/>
          </a:solidFill>
          <a:ln w="10160">
            <a:solidFill>
              <a:srgbClr val="D8E0EB"/>
            </a:solidFill>
            <a:prstDash val="solid"/>
          </a:ln>
        </p:spPr>
      </p:sp>
      <p:sp>
        <p:nvSpPr>
          <p:cNvPr id="18" name="Text 13">
            <a:extLst>
              <a:ext uri="{FF2B5EF4-FFF2-40B4-BE49-F238E27FC236}">
                <a16:creationId xmlns:a16="http://schemas.microsoft.com/office/drawing/2014/main" id="{945E7F6E-675A-4DC5-A1E8-9239E699EF8C}"/>
              </a:ext>
            </a:extLst>
          </p:cNvPr>
          <p:cNvSpPr/>
          <p:nvPr/>
        </p:nvSpPr>
        <p:spPr>
          <a:xfrm>
            <a:off x="4409565" y="3207777"/>
            <a:ext cx="1371600" cy="219456"/>
          </a:xfrm>
          <a:prstGeom prst="rect">
            <a:avLst/>
          </a:prstGeom>
          <a:noFill/>
          <a:ln/>
        </p:spPr>
        <p:txBody>
          <a:bodyPr wrap="square" lIns="0" tIns="0" rIns="0" bIns="0" rtlCol="0" anchor="ctr"/>
          <a:lstStyle/>
          <a:p>
            <a:pPr marL="0" indent="0" algn="ctr">
              <a:buNone/>
            </a:pPr>
            <a:r>
              <a:rPr lang="en-US" sz="2000" b="1" dirty="0">
                <a:solidFill>
                  <a:srgbClr val="172033"/>
                </a:solidFill>
              </a:rPr>
              <a:t>EXECUTE</a:t>
            </a:r>
            <a:endParaRPr lang="en-US" sz="2000" dirty="0"/>
          </a:p>
        </p:txBody>
      </p:sp>
      <p:sp>
        <p:nvSpPr>
          <p:cNvPr id="19" name="Text 14">
            <a:extLst>
              <a:ext uri="{FF2B5EF4-FFF2-40B4-BE49-F238E27FC236}">
                <a16:creationId xmlns:a16="http://schemas.microsoft.com/office/drawing/2014/main" id="{6FC3E900-1630-49DD-B5B9-730B53A86460}"/>
              </a:ext>
            </a:extLst>
          </p:cNvPr>
          <p:cNvSpPr/>
          <p:nvPr/>
        </p:nvSpPr>
        <p:spPr>
          <a:xfrm>
            <a:off x="4436997" y="3701553"/>
            <a:ext cx="1325880" cy="1143000"/>
          </a:xfrm>
          <a:prstGeom prst="rect">
            <a:avLst/>
          </a:prstGeom>
          <a:noFill/>
          <a:ln/>
        </p:spPr>
        <p:txBody>
          <a:bodyPr wrap="square" lIns="254" tIns="254" rIns="254" bIns="254" rtlCol="0" anchor="ctr"/>
          <a:lstStyle/>
          <a:p>
            <a:pPr marL="0" indent="0" algn="ctr">
              <a:buNone/>
            </a:pPr>
            <a:r>
              <a:rPr lang="en-US" sz="1600" dirty="0">
                <a:solidFill>
                  <a:srgbClr val="5B677A"/>
                </a:solidFill>
              </a:rPr>
              <a:t>Check student, prerequisites &amp; seat</a:t>
            </a:r>
            <a:endParaRPr lang="en-US" sz="1600" dirty="0"/>
          </a:p>
        </p:txBody>
      </p:sp>
      <p:sp>
        <p:nvSpPr>
          <p:cNvPr id="20" name="Shape 15">
            <a:extLst>
              <a:ext uri="{FF2B5EF4-FFF2-40B4-BE49-F238E27FC236}">
                <a16:creationId xmlns:a16="http://schemas.microsoft.com/office/drawing/2014/main" id="{51BC41AB-AC1B-406F-8913-50960097DF31}"/>
              </a:ext>
            </a:extLst>
          </p:cNvPr>
          <p:cNvSpPr/>
          <p:nvPr/>
        </p:nvSpPr>
        <p:spPr>
          <a:xfrm>
            <a:off x="5918325" y="3802137"/>
            <a:ext cx="228600" cy="0"/>
          </a:xfrm>
          <a:prstGeom prst="line">
            <a:avLst/>
          </a:prstGeom>
          <a:noFill/>
          <a:ln w="15875">
            <a:solidFill>
              <a:srgbClr val="16A6A1"/>
            </a:solidFill>
            <a:prstDash val="solid"/>
            <a:headEnd type="none"/>
            <a:tailEnd type="triangle"/>
          </a:ln>
        </p:spPr>
      </p:sp>
      <p:sp>
        <p:nvSpPr>
          <p:cNvPr id="21" name="Shape 16">
            <a:extLst>
              <a:ext uri="{FF2B5EF4-FFF2-40B4-BE49-F238E27FC236}">
                <a16:creationId xmlns:a16="http://schemas.microsoft.com/office/drawing/2014/main" id="{11CFA77E-DF4D-47C9-9941-14AE02BC88A7}"/>
              </a:ext>
            </a:extLst>
          </p:cNvPr>
          <p:cNvSpPr/>
          <p:nvPr/>
        </p:nvSpPr>
        <p:spPr>
          <a:xfrm>
            <a:off x="6201789" y="2220225"/>
            <a:ext cx="1600200" cy="3246120"/>
          </a:xfrm>
          <a:prstGeom prst="roundRect">
            <a:avLst>
              <a:gd name="adj" fmla="val 3429"/>
            </a:avLst>
          </a:prstGeom>
          <a:solidFill>
            <a:srgbClr val="F0ECFD"/>
          </a:solidFill>
          <a:ln w="10160">
            <a:solidFill>
              <a:srgbClr val="D8E0EB"/>
            </a:solidFill>
            <a:prstDash val="solid"/>
          </a:ln>
        </p:spPr>
      </p:sp>
      <p:sp>
        <p:nvSpPr>
          <p:cNvPr id="23" name="Text 17">
            <a:extLst>
              <a:ext uri="{FF2B5EF4-FFF2-40B4-BE49-F238E27FC236}">
                <a16:creationId xmlns:a16="http://schemas.microsoft.com/office/drawing/2014/main" id="{1C7E038A-1A38-4DFC-85FE-153BE94EFD8A}"/>
              </a:ext>
            </a:extLst>
          </p:cNvPr>
          <p:cNvSpPr/>
          <p:nvPr/>
        </p:nvSpPr>
        <p:spPr>
          <a:xfrm>
            <a:off x="6311517" y="3207777"/>
            <a:ext cx="1371600" cy="219456"/>
          </a:xfrm>
          <a:prstGeom prst="rect">
            <a:avLst/>
          </a:prstGeom>
          <a:noFill/>
          <a:ln/>
        </p:spPr>
        <p:txBody>
          <a:bodyPr wrap="square" lIns="0" tIns="0" rIns="0" bIns="0" rtlCol="0" anchor="ctr"/>
          <a:lstStyle/>
          <a:p>
            <a:pPr marL="0" indent="0" algn="ctr">
              <a:buNone/>
            </a:pPr>
            <a:r>
              <a:rPr lang="en-US" sz="2000" b="1" dirty="0">
                <a:solidFill>
                  <a:srgbClr val="172033"/>
                </a:solidFill>
              </a:rPr>
              <a:t>BUFFER</a:t>
            </a:r>
            <a:endParaRPr lang="en-US" sz="2000" dirty="0"/>
          </a:p>
        </p:txBody>
      </p:sp>
      <p:sp>
        <p:nvSpPr>
          <p:cNvPr id="24" name="Text 18">
            <a:extLst>
              <a:ext uri="{FF2B5EF4-FFF2-40B4-BE49-F238E27FC236}">
                <a16:creationId xmlns:a16="http://schemas.microsoft.com/office/drawing/2014/main" id="{170D55D5-264A-4669-BD67-A317E5EC34D9}"/>
              </a:ext>
            </a:extLst>
          </p:cNvPr>
          <p:cNvSpPr/>
          <p:nvPr/>
        </p:nvSpPr>
        <p:spPr>
          <a:xfrm>
            <a:off x="6338949" y="3701553"/>
            <a:ext cx="1325880" cy="1143000"/>
          </a:xfrm>
          <a:prstGeom prst="rect">
            <a:avLst/>
          </a:prstGeom>
          <a:noFill/>
          <a:ln/>
        </p:spPr>
        <p:txBody>
          <a:bodyPr wrap="square" lIns="254" tIns="254" rIns="254" bIns="254" rtlCol="0" anchor="ctr"/>
          <a:lstStyle/>
          <a:p>
            <a:pPr marL="0" indent="0" algn="ctr">
              <a:buNone/>
            </a:pPr>
            <a:r>
              <a:rPr lang="en-US" sz="1600" dirty="0">
                <a:solidFill>
                  <a:srgbClr val="5B677A"/>
                </a:solidFill>
              </a:rPr>
              <a:t>Load Student/Course/Enrollment pages</a:t>
            </a:r>
            <a:endParaRPr lang="en-US" sz="1600" dirty="0"/>
          </a:p>
        </p:txBody>
      </p:sp>
      <p:sp>
        <p:nvSpPr>
          <p:cNvPr id="25" name="Shape 19">
            <a:extLst>
              <a:ext uri="{FF2B5EF4-FFF2-40B4-BE49-F238E27FC236}">
                <a16:creationId xmlns:a16="http://schemas.microsoft.com/office/drawing/2014/main" id="{DDBC4D7A-7173-45FD-88EF-5DF57EF11EE8}"/>
              </a:ext>
            </a:extLst>
          </p:cNvPr>
          <p:cNvSpPr/>
          <p:nvPr/>
        </p:nvSpPr>
        <p:spPr>
          <a:xfrm>
            <a:off x="7820277" y="3802137"/>
            <a:ext cx="228600" cy="0"/>
          </a:xfrm>
          <a:prstGeom prst="line">
            <a:avLst/>
          </a:prstGeom>
          <a:noFill/>
          <a:ln w="15875">
            <a:solidFill>
              <a:srgbClr val="16A6A1"/>
            </a:solidFill>
            <a:prstDash val="solid"/>
            <a:headEnd type="none"/>
            <a:tailEnd type="triangle"/>
          </a:ln>
        </p:spPr>
      </p:sp>
      <p:sp>
        <p:nvSpPr>
          <p:cNvPr id="26" name="Shape 20">
            <a:extLst>
              <a:ext uri="{FF2B5EF4-FFF2-40B4-BE49-F238E27FC236}">
                <a16:creationId xmlns:a16="http://schemas.microsoft.com/office/drawing/2014/main" id="{88B08A68-26B9-4040-85E9-1D98D6DF0520}"/>
              </a:ext>
            </a:extLst>
          </p:cNvPr>
          <p:cNvSpPr/>
          <p:nvPr/>
        </p:nvSpPr>
        <p:spPr>
          <a:xfrm>
            <a:off x="8103741" y="2220225"/>
            <a:ext cx="1600200" cy="3246120"/>
          </a:xfrm>
          <a:prstGeom prst="roundRect">
            <a:avLst>
              <a:gd name="adj" fmla="val 3429"/>
            </a:avLst>
          </a:prstGeom>
          <a:solidFill>
            <a:srgbClr val="EAF2FF"/>
          </a:solidFill>
          <a:ln w="10160">
            <a:solidFill>
              <a:srgbClr val="D8E0EB"/>
            </a:solidFill>
            <a:prstDash val="solid"/>
          </a:ln>
        </p:spPr>
      </p:sp>
      <p:sp>
        <p:nvSpPr>
          <p:cNvPr id="28" name="Text 21">
            <a:extLst>
              <a:ext uri="{FF2B5EF4-FFF2-40B4-BE49-F238E27FC236}">
                <a16:creationId xmlns:a16="http://schemas.microsoft.com/office/drawing/2014/main" id="{171F1925-7FF1-4424-B9BC-C17F85BF792D}"/>
              </a:ext>
            </a:extLst>
          </p:cNvPr>
          <p:cNvSpPr/>
          <p:nvPr/>
        </p:nvSpPr>
        <p:spPr>
          <a:xfrm>
            <a:off x="8213469" y="3207777"/>
            <a:ext cx="1371600" cy="219456"/>
          </a:xfrm>
          <a:prstGeom prst="rect">
            <a:avLst/>
          </a:prstGeom>
          <a:noFill/>
          <a:ln/>
        </p:spPr>
        <p:txBody>
          <a:bodyPr wrap="square" lIns="0" tIns="0" rIns="0" bIns="0" rtlCol="0" anchor="ctr"/>
          <a:lstStyle/>
          <a:p>
            <a:pPr marL="0" indent="0" algn="ctr">
              <a:buNone/>
            </a:pPr>
            <a:r>
              <a:rPr lang="en-US" sz="2000" b="1" dirty="0">
                <a:solidFill>
                  <a:srgbClr val="172033"/>
                </a:solidFill>
              </a:rPr>
              <a:t>STORAGE</a:t>
            </a:r>
            <a:endParaRPr lang="en-US" sz="2000" dirty="0"/>
          </a:p>
        </p:txBody>
      </p:sp>
      <p:sp>
        <p:nvSpPr>
          <p:cNvPr id="29" name="Text 22">
            <a:extLst>
              <a:ext uri="{FF2B5EF4-FFF2-40B4-BE49-F238E27FC236}">
                <a16:creationId xmlns:a16="http://schemas.microsoft.com/office/drawing/2014/main" id="{97FA8927-6F4D-4144-B27F-FBE1A76C2CC7}"/>
              </a:ext>
            </a:extLst>
          </p:cNvPr>
          <p:cNvSpPr/>
          <p:nvPr/>
        </p:nvSpPr>
        <p:spPr>
          <a:xfrm>
            <a:off x="8240901" y="3701553"/>
            <a:ext cx="1325880" cy="1143000"/>
          </a:xfrm>
          <a:prstGeom prst="rect">
            <a:avLst/>
          </a:prstGeom>
          <a:noFill/>
          <a:ln/>
        </p:spPr>
        <p:txBody>
          <a:bodyPr wrap="square" lIns="254" tIns="254" rIns="254" bIns="254" rtlCol="0" anchor="ctr"/>
          <a:lstStyle/>
          <a:p>
            <a:pPr marL="0" indent="0" algn="ctr">
              <a:buNone/>
            </a:pPr>
            <a:r>
              <a:rPr lang="en-US" sz="1600" dirty="0">
                <a:solidFill>
                  <a:srgbClr val="5B677A"/>
                </a:solidFill>
              </a:rPr>
              <a:t>Read records + write enrollment</a:t>
            </a:r>
            <a:endParaRPr lang="en-US" sz="1600" dirty="0"/>
          </a:p>
        </p:txBody>
      </p:sp>
      <p:sp>
        <p:nvSpPr>
          <p:cNvPr id="30" name="Shape 23">
            <a:extLst>
              <a:ext uri="{FF2B5EF4-FFF2-40B4-BE49-F238E27FC236}">
                <a16:creationId xmlns:a16="http://schemas.microsoft.com/office/drawing/2014/main" id="{AC0F0E5C-2BC4-4EFD-8F95-2E820D9B40FF}"/>
              </a:ext>
            </a:extLst>
          </p:cNvPr>
          <p:cNvSpPr/>
          <p:nvPr/>
        </p:nvSpPr>
        <p:spPr>
          <a:xfrm>
            <a:off x="9722229" y="3802137"/>
            <a:ext cx="228600" cy="0"/>
          </a:xfrm>
          <a:prstGeom prst="line">
            <a:avLst/>
          </a:prstGeom>
          <a:noFill/>
          <a:ln w="15875">
            <a:solidFill>
              <a:srgbClr val="16A6A1"/>
            </a:solidFill>
            <a:prstDash val="solid"/>
            <a:headEnd type="none"/>
            <a:tailEnd type="triangle"/>
          </a:ln>
        </p:spPr>
      </p:sp>
      <p:sp>
        <p:nvSpPr>
          <p:cNvPr id="31" name="Shape 24">
            <a:extLst>
              <a:ext uri="{FF2B5EF4-FFF2-40B4-BE49-F238E27FC236}">
                <a16:creationId xmlns:a16="http://schemas.microsoft.com/office/drawing/2014/main" id="{1D4D6717-B825-4DC6-A9FB-2A3863B0A2B4}"/>
              </a:ext>
            </a:extLst>
          </p:cNvPr>
          <p:cNvSpPr/>
          <p:nvPr/>
        </p:nvSpPr>
        <p:spPr>
          <a:xfrm>
            <a:off x="10005693" y="2235317"/>
            <a:ext cx="1914962" cy="3246120"/>
          </a:xfrm>
          <a:prstGeom prst="roundRect">
            <a:avLst>
              <a:gd name="adj" fmla="val 3429"/>
            </a:avLst>
          </a:prstGeom>
          <a:solidFill>
            <a:srgbClr val="EAF7F0"/>
          </a:solidFill>
          <a:ln w="10160">
            <a:solidFill>
              <a:srgbClr val="D8E0EB"/>
            </a:solidFill>
            <a:prstDash val="solid"/>
          </a:ln>
        </p:spPr>
      </p:sp>
      <p:sp>
        <p:nvSpPr>
          <p:cNvPr id="33" name="Text 25">
            <a:extLst>
              <a:ext uri="{FF2B5EF4-FFF2-40B4-BE49-F238E27FC236}">
                <a16:creationId xmlns:a16="http://schemas.microsoft.com/office/drawing/2014/main" id="{8E27A7D8-0270-4DA2-B762-A0C6CE05E58B}"/>
              </a:ext>
            </a:extLst>
          </p:cNvPr>
          <p:cNvSpPr/>
          <p:nvPr/>
        </p:nvSpPr>
        <p:spPr>
          <a:xfrm>
            <a:off x="10060557" y="3079761"/>
            <a:ext cx="1805234" cy="405218"/>
          </a:xfrm>
          <a:prstGeom prst="rect">
            <a:avLst/>
          </a:prstGeom>
          <a:noFill/>
          <a:ln/>
        </p:spPr>
        <p:txBody>
          <a:bodyPr wrap="square" lIns="0" tIns="0" rIns="0" bIns="0" rtlCol="0" anchor="ctr"/>
          <a:lstStyle/>
          <a:p>
            <a:pPr marL="0" indent="0" algn="ctr">
              <a:buNone/>
            </a:pPr>
            <a:r>
              <a:rPr lang="en-US" b="1" dirty="0">
                <a:solidFill>
                  <a:srgbClr val="172033"/>
                </a:solidFill>
              </a:rPr>
              <a:t>TRANSACTION</a:t>
            </a:r>
            <a:endParaRPr lang="en-US" sz="2000" dirty="0"/>
          </a:p>
        </p:txBody>
      </p:sp>
      <p:sp>
        <p:nvSpPr>
          <p:cNvPr id="34" name="Text 26">
            <a:extLst>
              <a:ext uri="{FF2B5EF4-FFF2-40B4-BE49-F238E27FC236}">
                <a16:creationId xmlns:a16="http://schemas.microsoft.com/office/drawing/2014/main" id="{7FF20CF9-E302-4B2A-9693-256C529F9134}"/>
              </a:ext>
            </a:extLst>
          </p:cNvPr>
          <p:cNvSpPr/>
          <p:nvPr/>
        </p:nvSpPr>
        <p:spPr>
          <a:xfrm>
            <a:off x="10142853" y="3701553"/>
            <a:ext cx="1325880" cy="1143000"/>
          </a:xfrm>
          <a:prstGeom prst="rect">
            <a:avLst/>
          </a:prstGeom>
          <a:noFill/>
          <a:ln/>
        </p:spPr>
        <p:txBody>
          <a:bodyPr wrap="square" lIns="254" tIns="254" rIns="254" bIns="254" rtlCol="0" anchor="ctr"/>
          <a:lstStyle/>
          <a:p>
            <a:pPr marL="0" indent="0" algn="ctr">
              <a:buNone/>
            </a:pPr>
            <a:r>
              <a:rPr lang="en-US" sz="1600" dirty="0">
                <a:solidFill>
                  <a:srgbClr val="5B677A"/>
                </a:solidFill>
              </a:rPr>
              <a:t>Commit one correct registration</a:t>
            </a:r>
            <a:endParaRPr lang="en-US" sz="1600" dirty="0"/>
          </a:p>
        </p:txBody>
      </p:sp>
      <p:sp>
        <p:nvSpPr>
          <p:cNvPr id="35" name="TextBox 34">
            <a:extLst>
              <a:ext uri="{FF2B5EF4-FFF2-40B4-BE49-F238E27FC236}">
                <a16:creationId xmlns:a16="http://schemas.microsoft.com/office/drawing/2014/main" id="{29783A0F-5A08-40BE-ACC4-219D92F19E6F}"/>
              </a:ext>
            </a:extLst>
          </p:cNvPr>
          <p:cNvSpPr txBox="1"/>
          <p:nvPr/>
        </p:nvSpPr>
        <p:spPr>
          <a:xfrm>
            <a:off x="1941507" y="6211669"/>
            <a:ext cx="8859714" cy="646331"/>
          </a:xfrm>
          <a:prstGeom prst="rect">
            <a:avLst/>
          </a:prstGeom>
          <a:noFill/>
        </p:spPr>
        <p:txBody>
          <a:bodyPr wrap="square">
            <a:spAutoFit/>
          </a:bodyPr>
          <a:lstStyle/>
          <a:p>
            <a:pPr marL="0" indent="0">
              <a:buNone/>
            </a:pPr>
            <a:r>
              <a:rPr lang="en-US" sz="1800" b="1" dirty="0"/>
              <a:t>Concurrency challenge: Two students request the final seat at the same time. Which component guarantees that only one registration commits?</a:t>
            </a:r>
            <a:endParaRPr lang="en-US" sz="1800" dirty="0"/>
          </a:p>
        </p:txBody>
      </p:sp>
    </p:spTree>
    <p:extLst>
      <p:ext uri="{BB962C8B-B14F-4D97-AF65-F5344CB8AC3E}">
        <p14:creationId xmlns:p14="http://schemas.microsoft.com/office/powerpoint/2010/main" val="996289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1000"/>
                                        <p:tgtEl>
                                          <p:spTgt spid="8"/>
                                        </p:tgtEl>
                                      </p:cBhvr>
                                    </p:animEffect>
                                    <p:anim calcmode="lin" valueType="num">
                                      <p:cBhvr>
                                        <p:cTn id="13" dur="1000" fill="hold"/>
                                        <p:tgtEl>
                                          <p:spTgt spid="8"/>
                                        </p:tgtEl>
                                        <p:attrNameLst>
                                          <p:attrName>ppt_x</p:attrName>
                                        </p:attrNameLst>
                                      </p:cBhvr>
                                      <p:tavLst>
                                        <p:tav tm="0">
                                          <p:val>
                                            <p:strVal val="#ppt_x"/>
                                          </p:val>
                                        </p:tav>
                                        <p:tav tm="100000">
                                          <p:val>
                                            <p:strVal val="#ppt_x"/>
                                          </p:val>
                                        </p:tav>
                                      </p:tavLst>
                                    </p:anim>
                                    <p:anim calcmode="lin" valueType="num">
                                      <p:cBhvr>
                                        <p:cTn id="14" dur="1000" fill="hold"/>
                                        <p:tgtEl>
                                          <p:spTgt spid="8"/>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1000"/>
                                        <p:tgtEl>
                                          <p:spTgt spid="9"/>
                                        </p:tgtEl>
                                      </p:cBhvr>
                                    </p:animEffect>
                                    <p:anim calcmode="lin" valueType="num">
                                      <p:cBhvr>
                                        <p:cTn id="18" dur="1000" fill="hold"/>
                                        <p:tgtEl>
                                          <p:spTgt spid="9"/>
                                        </p:tgtEl>
                                        <p:attrNameLst>
                                          <p:attrName>ppt_x</p:attrName>
                                        </p:attrNameLst>
                                      </p:cBhvr>
                                      <p:tavLst>
                                        <p:tav tm="0">
                                          <p:val>
                                            <p:strVal val="#ppt_x"/>
                                          </p:val>
                                        </p:tav>
                                        <p:tav tm="100000">
                                          <p:val>
                                            <p:strVal val="#ppt_x"/>
                                          </p:val>
                                        </p:tav>
                                      </p:tavLst>
                                    </p:anim>
                                    <p:anim calcmode="lin" valueType="num">
                                      <p:cBhvr>
                                        <p:cTn id="19" dur="1000" fill="hold"/>
                                        <p:tgtEl>
                                          <p:spTgt spid="9"/>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1000"/>
                                        <p:tgtEl>
                                          <p:spTgt spid="10"/>
                                        </p:tgtEl>
                                      </p:cBhvr>
                                    </p:animEffect>
                                    <p:anim calcmode="lin" valueType="num">
                                      <p:cBhvr>
                                        <p:cTn id="23" dur="1000" fill="hold"/>
                                        <p:tgtEl>
                                          <p:spTgt spid="10"/>
                                        </p:tgtEl>
                                        <p:attrNameLst>
                                          <p:attrName>ppt_x</p:attrName>
                                        </p:attrNameLst>
                                      </p:cBhvr>
                                      <p:tavLst>
                                        <p:tav tm="0">
                                          <p:val>
                                            <p:strVal val="#ppt_x"/>
                                          </p:val>
                                        </p:tav>
                                        <p:tav tm="100000">
                                          <p:val>
                                            <p:strVal val="#ppt_x"/>
                                          </p:val>
                                        </p:tav>
                                      </p:tavLst>
                                    </p:anim>
                                    <p:anim calcmode="lin" valueType="num">
                                      <p:cBhvr>
                                        <p:cTn id="24"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1000"/>
                                        <p:tgtEl>
                                          <p:spTgt spid="11"/>
                                        </p:tgtEl>
                                      </p:cBhvr>
                                    </p:animEffect>
                                    <p:anim calcmode="lin" valueType="num">
                                      <p:cBhvr>
                                        <p:cTn id="30" dur="1000" fill="hold"/>
                                        <p:tgtEl>
                                          <p:spTgt spid="11"/>
                                        </p:tgtEl>
                                        <p:attrNameLst>
                                          <p:attrName>ppt_x</p:attrName>
                                        </p:attrNameLst>
                                      </p:cBhvr>
                                      <p:tavLst>
                                        <p:tav tm="0">
                                          <p:val>
                                            <p:strVal val="#ppt_x"/>
                                          </p:val>
                                        </p:tav>
                                        <p:tav tm="100000">
                                          <p:val>
                                            <p:strVal val="#ppt_x"/>
                                          </p:val>
                                        </p:tav>
                                      </p:tavLst>
                                    </p:anim>
                                    <p:anim calcmode="lin" valueType="num">
                                      <p:cBhvr>
                                        <p:cTn id="31" dur="1000" fill="hold"/>
                                        <p:tgtEl>
                                          <p:spTgt spid="11"/>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1000"/>
                                        <p:tgtEl>
                                          <p:spTgt spid="13"/>
                                        </p:tgtEl>
                                      </p:cBhvr>
                                    </p:animEffect>
                                    <p:anim calcmode="lin" valueType="num">
                                      <p:cBhvr>
                                        <p:cTn id="35" dur="1000" fill="hold"/>
                                        <p:tgtEl>
                                          <p:spTgt spid="13"/>
                                        </p:tgtEl>
                                        <p:attrNameLst>
                                          <p:attrName>ppt_x</p:attrName>
                                        </p:attrNameLst>
                                      </p:cBhvr>
                                      <p:tavLst>
                                        <p:tav tm="0">
                                          <p:val>
                                            <p:strVal val="#ppt_x"/>
                                          </p:val>
                                        </p:tav>
                                        <p:tav tm="100000">
                                          <p:val>
                                            <p:strVal val="#ppt_x"/>
                                          </p:val>
                                        </p:tav>
                                      </p:tavLst>
                                    </p:anim>
                                    <p:anim calcmode="lin" valueType="num">
                                      <p:cBhvr>
                                        <p:cTn id="36" dur="1000" fill="hold"/>
                                        <p:tgtEl>
                                          <p:spTgt spid="13"/>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1000"/>
                                        <p:tgtEl>
                                          <p:spTgt spid="14"/>
                                        </p:tgtEl>
                                      </p:cBhvr>
                                    </p:animEffect>
                                    <p:anim calcmode="lin" valueType="num">
                                      <p:cBhvr>
                                        <p:cTn id="40" dur="1000" fill="hold"/>
                                        <p:tgtEl>
                                          <p:spTgt spid="14"/>
                                        </p:tgtEl>
                                        <p:attrNameLst>
                                          <p:attrName>ppt_x</p:attrName>
                                        </p:attrNameLst>
                                      </p:cBhvr>
                                      <p:tavLst>
                                        <p:tav tm="0">
                                          <p:val>
                                            <p:strVal val="#ppt_x"/>
                                          </p:val>
                                        </p:tav>
                                        <p:tav tm="100000">
                                          <p:val>
                                            <p:strVal val="#ppt_x"/>
                                          </p:val>
                                        </p:tav>
                                      </p:tavLst>
                                    </p:anim>
                                    <p:anim calcmode="lin" valueType="num">
                                      <p:cBhvr>
                                        <p:cTn id="41" dur="1000" fill="hold"/>
                                        <p:tgtEl>
                                          <p:spTgt spid="14"/>
                                        </p:tgtEl>
                                        <p:attrNameLst>
                                          <p:attrName>ppt_y</p:attrName>
                                        </p:attrNameLst>
                                      </p:cBhvr>
                                      <p:tavLst>
                                        <p:tav tm="0">
                                          <p:val>
                                            <p:strVal val="#ppt_y+.1"/>
                                          </p:val>
                                        </p:tav>
                                        <p:tav tm="100000">
                                          <p:val>
                                            <p:strVal val="#ppt_y"/>
                                          </p:val>
                                        </p:tav>
                                      </p:tavLst>
                                    </p:anim>
                                  </p:childTnLst>
                                </p:cTn>
                              </p:par>
                              <p:par>
                                <p:cTn id="42" presetID="42" presetClass="entr" presetSubtype="0" fill="hold" nodeType="with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fade">
                                      <p:cBhvr>
                                        <p:cTn id="44" dur="1000"/>
                                        <p:tgtEl>
                                          <p:spTgt spid="15"/>
                                        </p:tgtEl>
                                      </p:cBhvr>
                                    </p:animEffect>
                                    <p:anim calcmode="lin" valueType="num">
                                      <p:cBhvr>
                                        <p:cTn id="45" dur="1000" fill="hold"/>
                                        <p:tgtEl>
                                          <p:spTgt spid="15"/>
                                        </p:tgtEl>
                                        <p:attrNameLst>
                                          <p:attrName>ppt_x</p:attrName>
                                        </p:attrNameLst>
                                      </p:cBhvr>
                                      <p:tavLst>
                                        <p:tav tm="0">
                                          <p:val>
                                            <p:strVal val="#ppt_x"/>
                                          </p:val>
                                        </p:tav>
                                        <p:tav tm="100000">
                                          <p:val>
                                            <p:strVal val="#ppt_x"/>
                                          </p:val>
                                        </p:tav>
                                      </p:tavLst>
                                    </p:anim>
                                    <p:anim calcmode="lin" valueType="num">
                                      <p:cBhvr>
                                        <p:cTn id="46"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42" presetClass="entr" presetSubtype="0" fill="hold" nodeType="clickEffect">
                                  <p:stCondLst>
                                    <p:cond delay="0"/>
                                  </p:stCondLst>
                                  <p:childTnLst>
                                    <p:set>
                                      <p:cBhvr>
                                        <p:cTn id="50" dur="1" fill="hold">
                                          <p:stCondLst>
                                            <p:cond delay="0"/>
                                          </p:stCondLst>
                                        </p:cTn>
                                        <p:tgtEl>
                                          <p:spTgt spid="16"/>
                                        </p:tgtEl>
                                        <p:attrNameLst>
                                          <p:attrName>style.visibility</p:attrName>
                                        </p:attrNameLst>
                                      </p:cBhvr>
                                      <p:to>
                                        <p:strVal val="visible"/>
                                      </p:to>
                                    </p:set>
                                    <p:animEffect transition="in" filter="fade">
                                      <p:cBhvr>
                                        <p:cTn id="51" dur="1000"/>
                                        <p:tgtEl>
                                          <p:spTgt spid="16"/>
                                        </p:tgtEl>
                                      </p:cBhvr>
                                    </p:animEffect>
                                    <p:anim calcmode="lin" valueType="num">
                                      <p:cBhvr>
                                        <p:cTn id="52" dur="1000" fill="hold"/>
                                        <p:tgtEl>
                                          <p:spTgt spid="16"/>
                                        </p:tgtEl>
                                        <p:attrNameLst>
                                          <p:attrName>ppt_x</p:attrName>
                                        </p:attrNameLst>
                                      </p:cBhvr>
                                      <p:tavLst>
                                        <p:tav tm="0">
                                          <p:val>
                                            <p:strVal val="#ppt_x"/>
                                          </p:val>
                                        </p:tav>
                                        <p:tav tm="100000">
                                          <p:val>
                                            <p:strVal val="#ppt_x"/>
                                          </p:val>
                                        </p:tav>
                                      </p:tavLst>
                                    </p:anim>
                                    <p:anim calcmode="lin" valueType="num">
                                      <p:cBhvr>
                                        <p:cTn id="53" dur="1000" fill="hold"/>
                                        <p:tgtEl>
                                          <p:spTgt spid="16"/>
                                        </p:tgtEl>
                                        <p:attrNameLst>
                                          <p:attrName>ppt_y</p:attrName>
                                        </p:attrNameLst>
                                      </p:cBhvr>
                                      <p:tavLst>
                                        <p:tav tm="0">
                                          <p:val>
                                            <p:strVal val="#ppt_y+.1"/>
                                          </p:val>
                                        </p:tav>
                                        <p:tav tm="100000">
                                          <p:val>
                                            <p:strVal val="#ppt_y"/>
                                          </p:val>
                                        </p:tav>
                                      </p:tavLst>
                                    </p:anim>
                                  </p:childTnLst>
                                </p:cTn>
                              </p:par>
                              <p:par>
                                <p:cTn id="54" presetID="42" presetClass="entr" presetSubtype="0" fill="hold" grpId="0" nodeType="withEffect">
                                  <p:stCondLst>
                                    <p:cond delay="0"/>
                                  </p:stCondLst>
                                  <p:childTnLst>
                                    <p:set>
                                      <p:cBhvr>
                                        <p:cTn id="55" dur="1" fill="hold">
                                          <p:stCondLst>
                                            <p:cond delay="0"/>
                                          </p:stCondLst>
                                        </p:cTn>
                                        <p:tgtEl>
                                          <p:spTgt spid="18"/>
                                        </p:tgtEl>
                                        <p:attrNameLst>
                                          <p:attrName>style.visibility</p:attrName>
                                        </p:attrNameLst>
                                      </p:cBhvr>
                                      <p:to>
                                        <p:strVal val="visible"/>
                                      </p:to>
                                    </p:set>
                                    <p:animEffect transition="in" filter="fade">
                                      <p:cBhvr>
                                        <p:cTn id="56" dur="1000"/>
                                        <p:tgtEl>
                                          <p:spTgt spid="18"/>
                                        </p:tgtEl>
                                      </p:cBhvr>
                                    </p:animEffect>
                                    <p:anim calcmode="lin" valueType="num">
                                      <p:cBhvr>
                                        <p:cTn id="57" dur="1000" fill="hold"/>
                                        <p:tgtEl>
                                          <p:spTgt spid="18"/>
                                        </p:tgtEl>
                                        <p:attrNameLst>
                                          <p:attrName>ppt_x</p:attrName>
                                        </p:attrNameLst>
                                      </p:cBhvr>
                                      <p:tavLst>
                                        <p:tav tm="0">
                                          <p:val>
                                            <p:strVal val="#ppt_x"/>
                                          </p:val>
                                        </p:tav>
                                        <p:tav tm="100000">
                                          <p:val>
                                            <p:strVal val="#ppt_x"/>
                                          </p:val>
                                        </p:tav>
                                      </p:tavLst>
                                    </p:anim>
                                    <p:anim calcmode="lin" valueType="num">
                                      <p:cBhvr>
                                        <p:cTn id="58" dur="1000" fill="hold"/>
                                        <p:tgtEl>
                                          <p:spTgt spid="18"/>
                                        </p:tgtEl>
                                        <p:attrNameLst>
                                          <p:attrName>ppt_y</p:attrName>
                                        </p:attrNameLst>
                                      </p:cBhvr>
                                      <p:tavLst>
                                        <p:tav tm="0">
                                          <p:val>
                                            <p:strVal val="#ppt_y+.1"/>
                                          </p:val>
                                        </p:tav>
                                        <p:tav tm="100000">
                                          <p:val>
                                            <p:strVal val="#ppt_y"/>
                                          </p:val>
                                        </p:tav>
                                      </p:tavLst>
                                    </p:anim>
                                  </p:childTnLst>
                                </p:cTn>
                              </p:par>
                              <p:par>
                                <p:cTn id="59" presetID="42" presetClass="entr" presetSubtype="0" fill="hold" grpId="0" nodeType="withEffect">
                                  <p:stCondLst>
                                    <p:cond delay="0"/>
                                  </p:stCondLst>
                                  <p:childTnLst>
                                    <p:set>
                                      <p:cBhvr>
                                        <p:cTn id="60" dur="1" fill="hold">
                                          <p:stCondLst>
                                            <p:cond delay="0"/>
                                          </p:stCondLst>
                                        </p:cTn>
                                        <p:tgtEl>
                                          <p:spTgt spid="19"/>
                                        </p:tgtEl>
                                        <p:attrNameLst>
                                          <p:attrName>style.visibility</p:attrName>
                                        </p:attrNameLst>
                                      </p:cBhvr>
                                      <p:to>
                                        <p:strVal val="visible"/>
                                      </p:to>
                                    </p:set>
                                    <p:animEffect transition="in" filter="fade">
                                      <p:cBhvr>
                                        <p:cTn id="61" dur="1000"/>
                                        <p:tgtEl>
                                          <p:spTgt spid="19"/>
                                        </p:tgtEl>
                                      </p:cBhvr>
                                    </p:animEffect>
                                    <p:anim calcmode="lin" valueType="num">
                                      <p:cBhvr>
                                        <p:cTn id="62" dur="1000" fill="hold"/>
                                        <p:tgtEl>
                                          <p:spTgt spid="19"/>
                                        </p:tgtEl>
                                        <p:attrNameLst>
                                          <p:attrName>ppt_x</p:attrName>
                                        </p:attrNameLst>
                                      </p:cBhvr>
                                      <p:tavLst>
                                        <p:tav tm="0">
                                          <p:val>
                                            <p:strVal val="#ppt_x"/>
                                          </p:val>
                                        </p:tav>
                                        <p:tav tm="100000">
                                          <p:val>
                                            <p:strVal val="#ppt_x"/>
                                          </p:val>
                                        </p:tav>
                                      </p:tavLst>
                                    </p:anim>
                                    <p:anim calcmode="lin" valueType="num">
                                      <p:cBhvr>
                                        <p:cTn id="63" dur="1000" fill="hold"/>
                                        <p:tgtEl>
                                          <p:spTgt spid="19"/>
                                        </p:tgtEl>
                                        <p:attrNameLst>
                                          <p:attrName>ppt_y</p:attrName>
                                        </p:attrNameLst>
                                      </p:cBhvr>
                                      <p:tavLst>
                                        <p:tav tm="0">
                                          <p:val>
                                            <p:strVal val="#ppt_y+.1"/>
                                          </p:val>
                                        </p:tav>
                                        <p:tav tm="100000">
                                          <p:val>
                                            <p:strVal val="#ppt_y"/>
                                          </p:val>
                                        </p:tav>
                                      </p:tavLst>
                                    </p:anim>
                                  </p:childTnLst>
                                </p:cTn>
                              </p:par>
                              <p:par>
                                <p:cTn id="64" presetID="42" presetClass="entr" presetSubtype="0" fill="hold" nodeType="withEffect">
                                  <p:stCondLst>
                                    <p:cond delay="0"/>
                                  </p:stCondLst>
                                  <p:childTnLst>
                                    <p:set>
                                      <p:cBhvr>
                                        <p:cTn id="65" dur="1" fill="hold">
                                          <p:stCondLst>
                                            <p:cond delay="0"/>
                                          </p:stCondLst>
                                        </p:cTn>
                                        <p:tgtEl>
                                          <p:spTgt spid="20"/>
                                        </p:tgtEl>
                                        <p:attrNameLst>
                                          <p:attrName>style.visibility</p:attrName>
                                        </p:attrNameLst>
                                      </p:cBhvr>
                                      <p:to>
                                        <p:strVal val="visible"/>
                                      </p:to>
                                    </p:set>
                                    <p:animEffect transition="in" filter="fade">
                                      <p:cBhvr>
                                        <p:cTn id="66" dur="1000"/>
                                        <p:tgtEl>
                                          <p:spTgt spid="20"/>
                                        </p:tgtEl>
                                      </p:cBhvr>
                                    </p:animEffect>
                                    <p:anim calcmode="lin" valueType="num">
                                      <p:cBhvr>
                                        <p:cTn id="67" dur="1000" fill="hold"/>
                                        <p:tgtEl>
                                          <p:spTgt spid="20"/>
                                        </p:tgtEl>
                                        <p:attrNameLst>
                                          <p:attrName>ppt_x</p:attrName>
                                        </p:attrNameLst>
                                      </p:cBhvr>
                                      <p:tavLst>
                                        <p:tav tm="0">
                                          <p:val>
                                            <p:strVal val="#ppt_x"/>
                                          </p:val>
                                        </p:tav>
                                        <p:tav tm="100000">
                                          <p:val>
                                            <p:strVal val="#ppt_x"/>
                                          </p:val>
                                        </p:tav>
                                      </p:tavLst>
                                    </p:anim>
                                    <p:anim calcmode="lin" valueType="num">
                                      <p:cBhvr>
                                        <p:cTn id="68"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42" presetClass="entr" presetSubtype="0" fill="hold" nodeType="clickEffect">
                                  <p:stCondLst>
                                    <p:cond delay="0"/>
                                  </p:stCondLst>
                                  <p:childTnLst>
                                    <p:set>
                                      <p:cBhvr>
                                        <p:cTn id="72" dur="1" fill="hold">
                                          <p:stCondLst>
                                            <p:cond delay="0"/>
                                          </p:stCondLst>
                                        </p:cTn>
                                        <p:tgtEl>
                                          <p:spTgt spid="21"/>
                                        </p:tgtEl>
                                        <p:attrNameLst>
                                          <p:attrName>style.visibility</p:attrName>
                                        </p:attrNameLst>
                                      </p:cBhvr>
                                      <p:to>
                                        <p:strVal val="visible"/>
                                      </p:to>
                                    </p:set>
                                    <p:animEffect transition="in" filter="fade">
                                      <p:cBhvr>
                                        <p:cTn id="73" dur="1000"/>
                                        <p:tgtEl>
                                          <p:spTgt spid="21"/>
                                        </p:tgtEl>
                                      </p:cBhvr>
                                    </p:animEffect>
                                    <p:anim calcmode="lin" valueType="num">
                                      <p:cBhvr>
                                        <p:cTn id="74" dur="1000" fill="hold"/>
                                        <p:tgtEl>
                                          <p:spTgt spid="21"/>
                                        </p:tgtEl>
                                        <p:attrNameLst>
                                          <p:attrName>ppt_x</p:attrName>
                                        </p:attrNameLst>
                                      </p:cBhvr>
                                      <p:tavLst>
                                        <p:tav tm="0">
                                          <p:val>
                                            <p:strVal val="#ppt_x"/>
                                          </p:val>
                                        </p:tav>
                                        <p:tav tm="100000">
                                          <p:val>
                                            <p:strVal val="#ppt_x"/>
                                          </p:val>
                                        </p:tav>
                                      </p:tavLst>
                                    </p:anim>
                                    <p:anim calcmode="lin" valueType="num">
                                      <p:cBhvr>
                                        <p:cTn id="75" dur="1000" fill="hold"/>
                                        <p:tgtEl>
                                          <p:spTgt spid="21"/>
                                        </p:tgtEl>
                                        <p:attrNameLst>
                                          <p:attrName>ppt_y</p:attrName>
                                        </p:attrNameLst>
                                      </p:cBhvr>
                                      <p:tavLst>
                                        <p:tav tm="0">
                                          <p:val>
                                            <p:strVal val="#ppt_y+.1"/>
                                          </p:val>
                                        </p:tav>
                                        <p:tav tm="100000">
                                          <p:val>
                                            <p:strVal val="#ppt_y"/>
                                          </p:val>
                                        </p:tav>
                                      </p:tavLst>
                                    </p:anim>
                                  </p:childTnLst>
                                </p:cTn>
                              </p:par>
                              <p:par>
                                <p:cTn id="76" presetID="42" presetClass="entr" presetSubtype="0" fill="hold" grpId="0" nodeType="withEffect">
                                  <p:stCondLst>
                                    <p:cond delay="0"/>
                                  </p:stCondLst>
                                  <p:childTnLst>
                                    <p:set>
                                      <p:cBhvr>
                                        <p:cTn id="77" dur="1" fill="hold">
                                          <p:stCondLst>
                                            <p:cond delay="0"/>
                                          </p:stCondLst>
                                        </p:cTn>
                                        <p:tgtEl>
                                          <p:spTgt spid="23"/>
                                        </p:tgtEl>
                                        <p:attrNameLst>
                                          <p:attrName>style.visibility</p:attrName>
                                        </p:attrNameLst>
                                      </p:cBhvr>
                                      <p:to>
                                        <p:strVal val="visible"/>
                                      </p:to>
                                    </p:set>
                                    <p:animEffect transition="in" filter="fade">
                                      <p:cBhvr>
                                        <p:cTn id="78" dur="1000"/>
                                        <p:tgtEl>
                                          <p:spTgt spid="23"/>
                                        </p:tgtEl>
                                      </p:cBhvr>
                                    </p:animEffect>
                                    <p:anim calcmode="lin" valueType="num">
                                      <p:cBhvr>
                                        <p:cTn id="79" dur="1000" fill="hold"/>
                                        <p:tgtEl>
                                          <p:spTgt spid="23"/>
                                        </p:tgtEl>
                                        <p:attrNameLst>
                                          <p:attrName>ppt_x</p:attrName>
                                        </p:attrNameLst>
                                      </p:cBhvr>
                                      <p:tavLst>
                                        <p:tav tm="0">
                                          <p:val>
                                            <p:strVal val="#ppt_x"/>
                                          </p:val>
                                        </p:tav>
                                        <p:tav tm="100000">
                                          <p:val>
                                            <p:strVal val="#ppt_x"/>
                                          </p:val>
                                        </p:tav>
                                      </p:tavLst>
                                    </p:anim>
                                    <p:anim calcmode="lin" valueType="num">
                                      <p:cBhvr>
                                        <p:cTn id="80" dur="1000" fill="hold"/>
                                        <p:tgtEl>
                                          <p:spTgt spid="23"/>
                                        </p:tgtEl>
                                        <p:attrNameLst>
                                          <p:attrName>ppt_y</p:attrName>
                                        </p:attrNameLst>
                                      </p:cBhvr>
                                      <p:tavLst>
                                        <p:tav tm="0">
                                          <p:val>
                                            <p:strVal val="#ppt_y+.1"/>
                                          </p:val>
                                        </p:tav>
                                        <p:tav tm="100000">
                                          <p:val>
                                            <p:strVal val="#ppt_y"/>
                                          </p:val>
                                        </p:tav>
                                      </p:tavLst>
                                    </p:anim>
                                  </p:childTnLst>
                                </p:cTn>
                              </p:par>
                              <p:par>
                                <p:cTn id="81" presetID="42" presetClass="entr" presetSubtype="0" fill="hold" grpId="0" nodeType="withEffect">
                                  <p:stCondLst>
                                    <p:cond delay="0"/>
                                  </p:stCondLst>
                                  <p:childTnLst>
                                    <p:set>
                                      <p:cBhvr>
                                        <p:cTn id="82" dur="1" fill="hold">
                                          <p:stCondLst>
                                            <p:cond delay="0"/>
                                          </p:stCondLst>
                                        </p:cTn>
                                        <p:tgtEl>
                                          <p:spTgt spid="24"/>
                                        </p:tgtEl>
                                        <p:attrNameLst>
                                          <p:attrName>style.visibility</p:attrName>
                                        </p:attrNameLst>
                                      </p:cBhvr>
                                      <p:to>
                                        <p:strVal val="visible"/>
                                      </p:to>
                                    </p:set>
                                    <p:animEffect transition="in" filter="fade">
                                      <p:cBhvr>
                                        <p:cTn id="83" dur="1000"/>
                                        <p:tgtEl>
                                          <p:spTgt spid="24"/>
                                        </p:tgtEl>
                                      </p:cBhvr>
                                    </p:animEffect>
                                    <p:anim calcmode="lin" valueType="num">
                                      <p:cBhvr>
                                        <p:cTn id="84" dur="1000" fill="hold"/>
                                        <p:tgtEl>
                                          <p:spTgt spid="24"/>
                                        </p:tgtEl>
                                        <p:attrNameLst>
                                          <p:attrName>ppt_x</p:attrName>
                                        </p:attrNameLst>
                                      </p:cBhvr>
                                      <p:tavLst>
                                        <p:tav tm="0">
                                          <p:val>
                                            <p:strVal val="#ppt_x"/>
                                          </p:val>
                                        </p:tav>
                                        <p:tav tm="100000">
                                          <p:val>
                                            <p:strVal val="#ppt_x"/>
                                          </p:val>
                                        </p:tav>
                                      </p:tavLst>
                                    </p:anim>
                                    <p:anim calcmode="lin" valueType="num">
                                      <p:cBhvr>
                                        <p:cTn id="85" dur="1000" fill="hold"/>
                                        <p:tgtEl>
                                          <p:spTgt spid="24"/>
                                        </p:tgtEl>
                                        <p:attrNameLst>
                                          <p:attrName>ppt_y</p:attrName>
                                        </p:attrNameLst>
                                      </p:cBhvr>
                                      <p:tavLst>
                                        <p:tav tm="0">
                                          <p:val>
                                            <p:strVal val="#ppt_y+.1"/>
                                          </p:val>
                                        </p:tav>
                                        <p:tav tm="100000">
                                          <p:val>
                                            <p:strVal val="#ppt_y"/>
                                          </p:val>
                                        </p:tav>
                                      </p:tavLst>
                                    </p:anim>
                                  </p:childTnLst>
                                </p:cTn>
                              </p:par>
                              <p:par>
                                <p:cTn id="86" presetID="42" presetClass="entr" presetSubtype="0" fill="hold" nodeType="withEffect">
                                  <p:stCondLst>
                                    <p:cond delay="0"/>
                                  </p:stCondLst>
                                  <p:childTnLst>
                                    <p:set>
                                      <p:cBhvr>
                                        <p:cTn id="87" dur="1" fill="hold">
                                          <p:stCondLst>
                                            <p:cond delay="0"/>
                                          </p:stCondLst>
                                        </p:cTn>
                                        <p:tgtEl>
                                          <p:spTgt spid="25"/>
                                        </p:tgtEl>
                                        <p:attrNameLst>
                                          <p:attrName>style.visibility</p:attrName>
                                        </p:attrNameLst>
                                      </p:cBhvr>
                                      <p:to>
                                        <p:strVal val="visible"/>
                                      </p:to>
                                    </p:set>
                                    <p:animEffect transition="in" filter="fade">
                                      <p:cBhvr>
                                        <p:cTn id="88" dur="1000"/>
                                        <p:tgtEl>
                                          <p:spTgt spid="25"/>
                                        </p:tgtEl>
                                      </p:cBhvr>
                                    </p:animEffect>
                                    <p:anim calcmode="lin" valueType="num">
                                      <p:cBhvr>
                                        <p:cTn id="89" dur="1000" fill="hold"/>
                                        <p:tgtEl>
                                          <p:spTgt spid="25"/>
                                        </p:tgtEl>
                                        <p:attrNameLst>
                                          <p:attrName>ppt_x</p:attrName>
                                        </p:attrNameLst>
                                      </p:cBhvr>
                                      <p:tavLst>
                                        <p:tav tm="0">
                                          <p:val>
                                            <p:strVal val="#ppt_x"/>
                                          </p:val>
                                        </p:tav>
                                        <p:tav tm="100000">
                                          <p:val>
                                            <p:strVal val="#ppt_x"/>
                                          </p:val>
                                        </p:tav>
                                      </p:tavLst>
                                    </p:anim>
                                    <p:anim calcmode="lin" valueType="num">
                                      <p:cBhvr>
                                        <p:cTn id="90"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91" fill="hold">
                      <p:stCondLst>
                        <p:cond delay="indefinite"/>
                      </p:stCondLst>
                      <p:childTnLst>
                        <p:par>
                          <p:cTn id="92" fill="hold">
                            <p:stCondLst>
                              <p:cond delay="0"/>
                            </p:stCondLst>
                            <p:childTnLst>
                              <p:par>
                                <p:cTn id="93" presetID="42" presetClass="entr" presetSubtype="0" fill="hold" nodeType="clickEffect">
                                  <p:stCondLst>
                                    <p:cond delay="0"/>
                                  </p:stCondLst>
                                  <p:childTnLst>
                                    <p:set>
                                      <p:cBhvr>
                                        <p:cTn id="94" dur="1" fill="hold">
                                          <p:stCondLst>
                                            <p:cond delay="0"/>
                                          </p:stCondLst>
                                        </p:cTn>
                                        <p:tgtEl>
                                          <p:spTgt spid="26"/>
                                        </p:tgtEl>
                                        <p:attrNameLst>
                                          <p:attrName>style.visibility</p:attrName>
                                        </p:attrNameLst>
                                      </p:cBhvr>
                                      <p:to>
                                        <p:strVal val="visible"/>
                                      </p:to>
                                    </p:set>
                                    <p:animEffect transition="in" filter="fade">
                                      <p:cBhvr>
                                        <p:cTn id="95" dur="1000"/>
                                        <p:tgtEl>
                                          <p:spTgt spid="26"/>
                                        </p:tgtEl>
                                      </p:cBhvr>
                                    </p:animEffect>
                                    <p:anim calcmode="lin" valueType="num">
                                      <p:cBhvr>
                                        <p:cTn id="96" dur="1000" fill="hold"/>
                                        <p:tgtEl>
                                          <p:spTgt spid="26"/>
                                        </p:tgtEl>
                                        <p:attrNameLst>
                                          <p:attrName>ppt_x</p:attrName>
                                        </p:attrNameLst>
                                      </p:cBhvr>
                                      <p:tavLst>
                                        <p:tav tm="0">
                                          <p:val>
                                            <p:strVal val="#ppt_x"/>
                                          </p:val>
                                        </p:tav>
                                        <p:tav tm="100000">
                                          <p:val>
                                            <p:strVal val="#ppt_x"/>
                                          </p:val>
                                        </p:tav>
                                      </p:tavLst>
                                    </p:anim>
                                    <p:anim calcmode="lin" valueType="num">
                                      <p:cBhvr>
                                        <p:cTn id="97" dur="1000" fill="hold"/>
                                        <p:tgtEl>
                                          <p:spTgt spid="26"/>
                                        </p:tgtEl>
                                        <p:attrNameLst>
                                          <p:attrName>ppt_y</p:attrName>
                                        </p:attrNameLst>
                                      </p:cBhvr>
                                      <p:tavLst>
                                        <p:tav tm="0">
                                          <p:val>
                                            <p:strVal val="#ppt_y+.1"/>
                                          </p:val>
                                        </p:tav>
                                        <p:tav tm="100000">
                                          <p:val>
                                            <p:strVal val="#ppt_y"/>
                                          </p:val>
                                        </p:tav>
                                      </p:tavLst>
                                    </p:anim>
                                  </p:childTnLst>
                                </p:cTn>
                              </p:par>
                              <p:par>
                                <p:cTn id="98" presetID="42" presetClass="entr" presetSubtype="0" fill="hold" grpId="0" nodeType="withEffect">
                                  <p:stCondLst>
                                    <p:cond delay="0"/>
                                  </p:stCondLst>
                                  <p:childTnLst>
                                    <p:set>
                                      <p:cBhvr>
                                        <p:cTn id="99" dur="1" fill="hold">
                                          <p:stCondLst>
                                            <p:cond delay="0"/>
                                          </p:stCondLst>
                                        </p:cTn>
                                        <p:tgtEl>
                                          <p:spTgt spid="28"/>
                                        </p:tgtEl>
                                        <p:attrNameLst>
                                          <p:attrName>style.visibility</p:attrName>
                                        </p:attrNameLst>
                                      </p:cBhvr>
                                      <p:to>
                                        <p:strVal val="visible"/>
                                      </p:to>
                                    </p:set>
                                    <p:animEffect transition="in" filter="fade">
                                      <p:cBhvr>
                                        <p:cTn id="100" dur="1000"/>
                                        <p:tgtEl>
                                          <p:spTgt spid="28"/>
                                        </p:tgtEl>
                                      </p:cBhvr>
                                    </p:animEffect>
                                    <p:anim calcmode="lin" valueType="num">
                                      <p:cBhvr>
                                        <p:cTn id="101" dur="1000" fill="hold"/>
                                        <p:tgtEl>
                                          <p:spTgt spid="28"/>
                                        </p:tgtEl>
                                        <p:attrNameLst>
                                          <p:attrName>ppt_x</p:attrName>
                                        </p:attrNameLst>
                                      </p:cBhvr>
                                      <p:tavLst>
                                        <p:tav tm="0">
                                          <p:val>
                                            <p:strVal val="#ppt_x"/>
                                          </p:val>
                                        </p:tav>
                                        <p:tav tm="100000">
                                          <p:val>
                                            <p:strVal val="#ppt_x"/>
                                          </p:val>
                                        </p:tav>
                                      </p:tavLst>
                                    </p:anim>
                                    <p:anim calcmode="lin" valueType="num">
                                      <p:cBhvr>
                                        <p:cTn id="102" dur="1000" fill="hold"/>
                                        <p:tgtEl>
                                          <p:spTgt spid="28"/>
                                        </p:tgtEl>
                                        <p:attrNameLst>
                                          <p:attrName>ppt_y</p:attrName>
                                        </p:attrNameLst>
                                      </p:cBhvr>
                                      <p:tavLst>
                                        <p:tav tm="0">
                                          <p:val>
                                            <p:strVal val="#ppt_y+.1"/>
                                          </p:val>
                                        </p:tav>
                                        <p:tav tm="100000">
                                          <p:val>
                                            <p:strVal val="#ppt_y"/>
                                          </p:val>
                                        </p:tav>
                                      </p:tavLst>
                                    </p:anim>
                                  </p:childTnLst>
                                </p:cTn>
                              </p:par>
                              <p:par>
                                <p:cTn id="103" presetID="42" presetClass="entr" presetSubtype="0" fill="hold" grpId="0" nodeType="withEffect">
                                  <p:stCondLst>
                                    <p:cond delay="0"/>
                                  </p:stCondLst>
                                  <p:childTnLst>
                                    <p:set>
                                      <p:cBhvr>
                                        <p:cTn id="104" dur="1" fill="hold">
                                          <p:stCondLst>
                                            <p:cond delay="0"/>
                                          </p:stCondLst>
                                        </p:cTn>
                                        <p:tgtEl>
                                          <p:spTgt spid="29"/>
                                        </p:tgtEl>
                                        <p:attrNameLst>
                                          <p:attrName>style.visibility</p:attrName>
                                        </p:attrNameLst>
                                      </p:cBhvr>
                                      <p:to>
                                        <p:strVal val="visible"/>
                                      </p:to>
                                    </p:set>
                                    <p:animEffect transition="in" filter="fade">
                                      <p:cBhvr>
                                        <p:cTn id="105" dur="1000"/>
                                        <p:tgtEl>
                                          <p:spTgt spid="29"/>
                                        </p:tgtEl>
                                      </p:cBhvr>
                                    </p:animEffect>
                                    <p:anim calcmode="lin" valueType="num">
                                      <p:cBhvr>
                                        <p:cTn id="106" dur="1000" fill="hold"/>
                                        <p:tgtEl>
                                          <p:spTgt spid="29"/>
                                        </p:tgtEl>
                                        <p:attrNameLst>
                                          <p:attrName>ppt_x</p:attrName>
                                        </p:attrNameLst>
                                      </p:cBhvr>
                                      <p:tavLst>
                                        <p:tav tm="0">
                                          <p:val>
                                            <p:strVal val="#ppt_x"/>
                                          </p:val>
                                        </p:tav>
                                        <p:tav tm="100000">
                                          <p:val>
                                            <p:strVal val="#ppt_x"/>
                                          </p:val>
                                        </p:tav>
                                      </p:tavLst>
                                    </p:anim>
                                    <p:anim calcmode="lin" valueType="num">
                                      <p:cBhvr>
                                        <p:cTn id="107" dur="1000" fill="hold"/>
                                        <p:tgtEl>
                                          <p:spTgt spid="29"/>
                                        </p:tgtEl>
                                        <p:attrNameLst>
                                          <p:attrName>ppt_y</p:attrName>
                                        </p:attrNameLst>
                                      </p:cBhvr>
                                      <p:tavLst>
                                        <p:tav tm="0">
                                          <p:val>
                                            <p:strVal val="#ppt_y+.1"/>
                                          </p:val>
                                        </p:tav>
                                        <p:tav tm="100000">
                                          <p:val>
                                            <p:strVal val="#ppt_y"/>
                                          </p:val>
                                        </p:tav>
                                      </p:tavLst>
                                    </p:anim>
                                  </p:childTnLst>
                                </p:cTn>
                              </p:par>
                              <p:par>
                                <p:cTn id="108" presetID="42" presetClass="entr" presetSubtype="0" fill="hold" nodeType="withEffect">
                                  <p:stCondLst>
                                    <p:cond delay="0"/>
                                  </p:stCondLst>
                                  <p:childTnLst>
                                    <p:set>
                                      <p:cBhvr>
                                        <p:cTn id="109" dur="1" fill="hold">
                                          <p:stCondLst>
                                            <p:cond delay="0"/>
                                          </p:stCondLst>
                                        </p:cTn>
                                        <p:tgtEl>
                                          <p:spTgt spid="30"/>
                                        </p:tgtEl>
                                        <p:attrNameLst>
                                          <p:attrName>style.visibility</p:attrName>
                                        </p:attrNameLst>
                                      </p:cBhvr>
                                      <p:to>
                                        <p:strVal val="visible"/>
                                      </p:to>
                                    </p:set>
                                    <p:animEffect transition="in" filter="fade">
                                      <p:cBhvr>
                                        <p:cTn id="110" dur="1000"/>
                                        <p:tgtEl>
                                          <p:spTgt spid="30"/>
                                        </p:tgtEl>
                                      </p:cBhvr>
                                    </p:animEffect>
                                    <p:anim calcmode="lin" valueType="num">
                                      <p:cBhvr>
                                        <p:cTn id="111" dur="1000" fill="hold"/>
                                        <p:tgtEl>
                                          <p:spTgt spid="30"/>
                                        </p:tgtEl>
                                        <p:attrNameLst>
                                          <p:attrName>ppt_x</p:attrName>
                                        </p:attrNameLst>
                                      </p:cBhvr>
                                      <p:tavLst>
                                        <p:tav tm="0">
                                          <p:val>
                                            <p:strVal val="#ppt_x"/>
                                          </p:val>
                                        </p:tav>
                                        <p:tav tm="100000">
                                          <p:val>
                                            <p:strVal val="#ppt_x"/>
                                          </p:val>
                                        </p:tav>
                                      </p:tavLst>
                                    </p:anim>
                                    <p:anim calcmode="lin" valueType="num">
                                      <p:cBhvr>
                                        <p:cTn id="112" dur="1000" fill="hold"/>
                                        <p:tgtEl>
                                          <p:spTgt spid="30"/>
                                        </p:tgtEl>
                                        <p:attrNameLst>
                                          <p:attrName>ppt_y</p:attrName>
                                        </p:attrNameLst>
                                      </p:cBhvr>
                                      <p:tavLst>
                                        <p:tav tm="0">
                                          <p:val>
                                            <p:strVal val="#ppt_y+.1"/>
                                          </p:val>
                                        </p:tav>
                                        <p:tav tm="100000">
                                          <p:val>
                                            <p:strVal val="#ppt_y"/>
                                          </p:val>
                                        </p:tav>
                                      </p:tavLst>
                                    </p:anim>
                                  </p:childTnLst>
                                </p:cTn>
                              </p:par>
                            </p:childTnLst>
                          </p:cTn>
                        </p:par>
                      </p:childTnLst>
                    </p:cTn>
                  </p:par>
                  <p:par>
                    <p:cTn id="113" fill="hold">
                      <p:stCondLst>
                        <p:cond delay="indefinite"/>
                      </p:stCondLst>
                      <p:childTnLst>
                        <p:par>
                          <p:cTn id="114" fill="hold">
                            <p:stCondLst>
                              <p:cond delay="0"/>
                            </p:stCondLst>
                            <p:childTnLst>
                              <p:par>
                                <p:cTn id="115" presetID="42" presetClass="entr" presetSubtype="0" fill="hold" nodeType="clickEffect">
                                  <p:stCondLst>
                                    <p:cond delay="0"/>
                                  </p:stCondLst>
                                  <p:childTnLst>
                                    <p:set>
                                      <p:cBhvr>
                                        <p:cTn id="116" dur="1" fill="hold">
                                          <p:stCondLst>
                                            <p:cond delay="0"/>
                                          </p:stCondLst>
                                        </p:cTn>
                                        <p:tgtEl>
                                          <p:spTgt spid="31"/>
                                        </p:tgtEl>
                                        <p:attrNameLst>
                                          <p:attrName>style.visibility</p:attrName>
                                        </p:attrNameLst>
                                      </p:cBhvr>
                                      <p:to>
                                        <p:strVal val="visible"/>
                                      </p:to>
                                    </p:set>
                                    <p:animEffect transition="in" filter="fade">
                                      <p:cBhvr>
                                        <p:cTn id="117" dur="1000"/>
                                        <p:tgtEl>
                                          <p:spTgt spid="31"/>
                                        </p:tgtEl>
                                      </p:cBhvr>
                                    </p:animEffect>
                                    <p:anim calcmode="lin" valueType="num">
                                      <p:cBhvr>
                                        <p:cTn id="118" dur="1000" fill="hold"/>
                                        <p:tgtEl>
                                          <p:spTgt spid="31"/>
                                        </p:tgtEl>
                                        <p:attrNameLst>
                                          <p:attrName>ppt_x</p:attrName>
                                        </p:attrNameLst>
                                      </p:cBhvr>
                                      <p:tavLst>
                                        <p:tav tm="0">
                                          <p:val>
                                            <p:strVal val="#ppt_x"/>
                                          </p:val>
                                        </p:tav>
                                        <p:tav tm="100000">
                                          <p:val>
                                            <p:strVal val="#ppt_x"/>
                                          </p:val>
                                        </p:tav>
                                      </p:tavLst>
                                    </p:anim>
                                    <p:anim calcmode="lin" valueType="num">
                                      <p:cBhvr>
                                        <p:cTn id="119" dur="1000" fill="hold"/>
                                        <p:tgtEl>
                                          <p:spTgt spid="31"/>
                                        </p:tgtEl>
                                        <p:attrNameLst>
                                          <p:attrName>ppt_y</p:attrName>
                                        </p:attrNameLst>
                                      </p:cBhvr>
                                      <p:tavLst>
                                        <p:tav tm="0">
                                          <p:val>
                                            <p:strVal val="#ppt_y+.1"/>
                                          </p:val>
                                        </p:tav>
                                        <p:tav tm="100000">
                                          <p:val>
                                            <p:strVal val="#ppt_y"/>
                                          </p:val>
                                        </p:tav>
                                      </p:tavLst>
                                    </p:anim>
                                  </p:childTnLst>
                                </p:cTn>
                              </p:par>
                              <p:par>
                                <p:cTn id="120" presetID="42" presetClass="entr" presetSubtype="0" fill="hold" grpId="0" nodeType="withEffect">
                                  <p:stCondLst>
                                    <p:cond delay="0"/>
                                  </p:stCondLst>
                                  <p:childTnLst>
                                    <p:set>
                                      <p:cBhvr>
                                        <p:cTn id="121" dur="1" fill="hold">
                                          <p:stCondLst>
                                            <p:cond delay="0"/>
                                          </p:stCondLst>
                                        </p:cTn>
                                        <p:tgtEl>
                                          <p:spTgt spid="33"/>
                                        </p:tgtEl>
                                        <p:attrNameLst>
                                          <p:attrName>style.visibility</p:attrName>
                                        </p:attrNameLst>
                                      </p:cBhvr>
                                      <p:to>
                                        <p:strVal val="visible"/>
                                      </p:to>
                                    </p:set>
                                    <p:animEffect transition="in" filter="fade">
                                      <p:cBhvr>
                                        <p:cTn id="122" dur="1000"/>
                                        <p:tgtEl>
                                          <p:spTgt spid="33"/>
                                        </p:tgtEl>
                                      </p:cBhvr>
                                    </p:animEffect>
                                    <p:anim calcmode="lin" valueType="num">
                                      <p:cBhvr>
                                        <p:cTn id="123" dur="1000" fill="hold"/>
                                        <p:tgtEl>
                                          <p:spTgt spid="33"/>
                                        </p:tgtEl>
                                        <p:attrNameLst>
                                          <p:attrName>ppt_x</p:attrName>
                                        </p:attrNameLst>
                                      </p:cBhvr>
                                      <p:tavLst>
                                        <p:tav tm="0">
                                          <p:val>
                                            <p:strVal val="#ppt_x"/>
                                          </p:val>
                                        </p:tav>
                                        <p:tav tm="100000">
                                          <p:val>
                                            <p:strVal val="#ppt_x"/>
                                          </p:val>
                                        </p:tav>
                                      </p:tavLst>
                                    </p:anim>
                                    <p:anim calcmode="lin" valueType="num">
                                      <p:cBhvr>
                                        <p:cTn id="124" dur="1000" fill="hold"/>
                                        <p:tgtEl>
                                          <p:spTgt spid="33"/>
                                        </p:tgtEl>
                                        <p:attrNameLst>
                                          <p:attrName>ppt_y</p:attrName>
                                        </p:attrNameLst>
                                      </p:cBhvr>
                                      <p:tavLst>
                                        <p:tav tm="0">
                                          <p:val>
                                            <p:strVal val="#ppt_y+.1"/>
                                          </p:val>
                                        </p:tav>
                                        <p:tav tm="100000">
                                          <p:val>
                                            <p:strVal val="#ppt_y"/>
                                          </p:val>
                                        </p:tav>
                                      </p:tavLst>
                                    </p:anim>
                                  </p:childTnLst>
                                </p:cTn>
                              </p:par>
                              <p:par>
                                <p:cTn id="125" presetID="42" presetClass="entr" presetSubtype="0" fill="hold" grpId="0" nodeType="withEffect">
                                  <p:stCondLst>
                                    <p:cond delay="0"/>
                                  </p:stCondLst>
                                  <p:childTnLst>
                                    <p:set>
                                      <p:cBhvr>
                                        <p:cTn id="126" dur="1" fill="hold">
                                          <p:stCondLst>
                                            <p:cond delay="0"/>
                                          </p:stCondLst>
                                        </p:cTn>
                                        <p:tgtEl>
                                          <p:spTgt spid="34"/>
                                        </p:tgtEl>
                                        <p:attrNameLst>
                                          <p:attrName>style.visibility</p:attrName>
                                        </p:attrNameLst>
                                      </p:cBhvr>
                                      <p:to>
                                        <p:strVal val="visible"/>
                                      </p:to>
                                    </p:set>
                                    <p:animEffect transition="in" filter="fade">
                                      <p:cBhvr>
                                        <p:cTn id="127" dur="1000"/>
                                        <p:tgtEl>
                                          <p:spTgt spid="34"/>
                                        </p:tgtEl>
                                      </p:cBhvr>
                                    </p:animEffect>
                                    <p:anim calcmode="lin" valueType="num">
                                      <p:cBhvr>
                                        <p:cTn id="128" dur="1000" fill="hold"/>
                                        <p:tgtEl>
                                          <p:spTgt spid="34"/>
                                        </p:tgtEl>
                                        <p:attrNameLst>
                                          <p:attrName>ppt_x</p:attrName>
                                        </p:attrNameLst>
                                      </p:cBhvr>
                                      <p:tavLst>
                                        <p:tav tm="0">
                                          <p:val>
                                            <p:strVal val="#ppt_x"/>
                                          </p:val>
                                        </p:tav>
                                        <p:tav tm="100000">
                                          <p:val>
                                            <p:strVal val="#ppt_x"/>
                                          </p:val>
                                        </p:tav>
                                      </p:tavLst>
                                    </p:anim>
                                    <p:anim calcmode="lin" valueType="num">
                                      <p:cBhvr>
                                        <p:cTn id="129" dur="1000" fill="hold"/>
                                        <p:tgtEl>
                                          <p:spTgt spid="34"/>
                                        </p:tgtEl>
                                        <p:attrNameLst>
                                          <p:attrName>ppt_y</p:attrName>
                                        </p:attrNameLst>
                                      </p:cBhvr>
                                      <p:tavLst>
                                        <p:tav tm="0">
                                          <p:val>
                                            <p:strVal val="#ppt_y+.1"/>
                                          </p:val>
                                        </p:tav>
                                        <p:tav tm="100000">
                                          <p:val>
                                            <p:strVal val="#ppt_y"/>
                                          </p:val>
                                        </p:tav>
                                      </p:tavLst>
                                    </p:anim>
                                  </p:childTnLst>
                                </p:cTn>
                              </p:par>
                            </p:childTnLst>
                          </p:cTn>
                        </p:par>
                      </p:childTnLst>
                    </p:cTn>
                  </p:par>
                  <p:par>
                    <p:cTn id="130" fill="hold">
                      <p:stCondLst>
                        <p:cond delay="indefinite"/>
                      </p:stCondLst>
                      <p:childTnLst>
                        <p:par>
                          <p:cTn id="131" fill="hold">
                            <p:stCondLst>
                              <p:cond delay="0"/>
                            </p:stCondLst>
                            <p:childTnLst>
                              <p:par>
                                <p:cTn id="132" presetID="42" presetClass="entr" presetSubtype="0" fill="hold" grpId="0" nodeType="clickEffect">
                                  <p:stCondLst>
                                    <p:cond delay="0"/>
                                  </p:stCondLst>
                                  <p:childTnLst>
                                    <p:set>
                                      <p:cBhvr>
                                        <p:cTn id="133" dur="1" fill="hold">
                                          <p:stCondLst>
                                            <p:cond delay="0"/>
                                          </p:stCondLst>
                                        </p:cTn>
                                        <p:tgtEl>
                                          <p:spTgt spid="35"/>
                                        </p:tgtEl>
                                        <p:attrNameLst>
                                          <p:attrName>style.visibility</p:attrName>
                                        </p:attrNameLst>
                                      </p:cBhvr>
                                      <p:to>
                                        <p:strVal val="visible"/>
                                      </p:to>
                                    </p:set>
                                    <p:animEffect transition="in" filter="fade">
                                      <p:cBhvr>
                                        <p:cTn id="134" dur="1000"/>
                                        <p:tgtEl>
                                          <p:spTgt spid="35"/>
                                        </p:tgtEl>
                                      </p:cBhvr>
                                    </p:animEffect>
                                    <p:anim calcmode="lin" valueType="num">
                                      <p:cBhvr>
                                        <p:cTn id="135" dur="1000" fill="hold"/>
                                        <p:tgtEl>
                                          <p:spTgt spid="35"/>
                                        </p:tgtEl>
                                        <p:attrNameLst>
                                          <p:attrName>ppt_x</p:attrName>
                                        </p:attrNameLst>
                                      </p:cBhvr>
                                      <p:tavLst>
                                        <p:tav tm="0">
                                          <p:val>
                                            <p:strVal val="#ppt_x"/>
                                          </p:val>
                                        </p:tav>
                                        <p:tav tm="100000">
                                          <p:val>
                                            <p:strVal val="#ppt_x"/>
                                          </p:val>
                                        </p:tav>
                                      </p:tavLst>
                                    </p:anim>
                                    <p:anim calcmode="lin" valueType="num">
                                      <p:cBhvr>
                                        <p:cTn id="136" dur="1000" fill="hold"/>
                                        <p:tgtEl>
                                          <p:spTgt spid="3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3" grpId="0" animBg="1"/>
      <p:bldP spid="14" grpId="0" animBg="1"/>
      <p:bldP spid="18" grpId="0" animBg="1"/>
      <p:bldP spid="19" grpId="0" animBg="1"/>
      <p:bldP spid="23" grpId="0" animBg="1"/>
      <p:bldP spid="24" grpId="0" animBg="1"/>
      <p:bldP spid="28" grpId="0" animBg="1"/>
      <p:bldP spid="29" grpId="0" animBg="1"/>
      <p:bldP spid="33" grpId="0" animBg="1"/>
      <p:bldP spid="34" grpId="0" animBg="1"/>
      <p:bldP spid="35"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E4D61-60F6-42E7-AFEC-1190DD610B98}"/>
              </a:ext>
            </a:extLst>
          </p:cNvPr>
          <p:cNvSpPr>
            <a:spLocks noGrp="1"/>
          </p:cNvSpPr>
          <p:nvPr>
            <p:ph type="title"/>
          </p:nvPr>
        </p:nvSpPr>
        <p:spPr/>
        <p:txBody>
          <a:bodyPr/>
          <a:lstStyle/>
          <a:p>
            <a:r>
              <a:rPr lang="en-GB" dirty="0"/>
              <a:t>Class Activity</a:t>
            </a:r>
            <a:endParaRPr lang="en-PK" dirty="0"/>
          </a:p>
        </p:txBody>
      </p:sp>
      <p:sp>
        <p:nvSpPr>
          <p:cNvPr id="3" name="Content Placeholder 2">
            <a:extLst>
              <a:ext uri="{FF2B5EF4-FFF2-40B4-BE49-F238E27FC236}">
                <a16:creationId xmlns:a16="http://schemas.microsoft.com/office/drawing/2014/main" id="{9123E599-28C9-4FA3-851F-6EEFFF89B35D}"/>
              </a:ext>
            </a:extLst>
          </p:cNvPr>
          <p:cNvSpPr>
            <a:spLocks noGrp="1"/>
          </p:cNvSpPr>
          <p:nvPr>
            <p:ph idx="1"/>
          </p:nvPr>
        </p:nvSpPr>
        <p:spPr>
          <a:xfrm>
            <a:off x="1534696" y="2475571"/>
            <a:ext cx="9520158" cy="2990774"/>
          </a:xfrm>
        </p:spPr>
        <p:txBody>
          <a:bodyPr/>
          <a:lstStyle/>
          <a:p>
            <a:r>
              <a:rPr lang="en-GB" dirty="0"/>
              <a:t>Borrowing the Last Library Book</a:t>
            </a:r>
          </a:p>
          <a:p>
            <a:endParaRPr lang="en-GB" dirty="0"/>
          </a:p>
          <a:p>
            <a:r>
              <a:rPr lang="en-GB" dirty="0"/>
              <a:t>Which component involve in Database Design?</a:t>
            </a:r>
            <a:endParaRPr lang="en-PK" dirty="0"/>
          </a:p>
        </p:txBody>
      </p:sp>
    </p:spTree>
    <p:extLst>
      <p:ext uri="{BB962C8B-B14F-4D97-AF65-F5344CB8AC3E}">
        <p14:creationId xmlns:p14="http://schemas.microsoft.com/office/powerpoint/2010/main" val="16340280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1000"/>
                                        <p:tgtEl>
                                          <p:spTgt spid="3">
                                            <p:txEl>
                                              <p:pRg st="2" end="2"/>
                                            </p:txEl>
                                          </p:spTgt>
                                        </p:tgtEl>
                                      </p:cBhvr>
                                    </p:animEffect>
                                    <p:anim calcmode="lin" valueType="num">
                                      <p:cBhvr>
                                        <p:cTn id="1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hape 4">
            <a:extLst>
              <a:ext uri="{FF2B5EF4-FFF2-40B4-BE49-F238E27FC236}">
                <a16:creationId xmlns:a16="http://schemas.microsoft.com/office/drawing/2014/main" id="{1B088CCC-0A17-4FC1-9DF8-2E3EAC16818F}"/>
              </a:ext>
            </a:extLst>
          </p:cNvPr>
          <p:cNvSpPr/>
          <p:nvPr/>
        </p:nvSpPr>
        <p:spPr>
          <a:xfrm>
            <a:off x="1534696" y="877711"/>
            <a:ext cx="2551587" cy="690563"/>
          </a:xfrm>
          <a:prstGeom prst="roundRect">
            <a:avLst>
              <a:gd name="adj" fmla="val 20588"/>
            </a:avLst>
          </a:prstGeom>
          <a:solidFill>
            <a:srgbClr val="E7F7F6"/>
          </a:solidFill>
          <a:ln w="12700">
            <a:solidFill>
              <a:srgbClr val="E7F7F6"/>
            </a:solidFill>
            <a:prstDash val="solid"/>
          </a:ln>
        </p:spPr>
      </p:sp>
      <p:sp>
        <p:nvSpPr>
          <p:cNvPr id="7" name="Text 5">
            <a:extLst>
              <a:ext uri="{FF2B5EF4-FFF2-40B4-BE49-F238E27FC236}">
                <a16:creationId xmlns:a16="http://schemas.microsoft.com/office/drawing/2014/main" id="{945FE537-CBFD-4FCC-8B11-45873003063C}"/>
              </a:ext>
            </a:extLst>
          </p:cNvPr>
          <p:cNvSpPr/>
          <p:nvPr/>
        </p:nvSpPr>
        <p:spPr>
          <a:xfrm>
            <a:off x="1580416" y="950864"/>
            <a:ext cx="2443009" cy="304660"/>
          </a:xfrm>
          <a:prstGeom prst="rect">
            <a:avLst/>
          </a:prstGeom>
          <a:noFill/>
          <a:ln/>
        </p:spPr>
        <p:txBody>
          <a:bodyPr wrap="square" lIns="0" tIns="0" rIns="0" bIns="0" rtlCol="0" anchor="ctr"/>
          <a:lstStyle/>
          <a:p>
            <a:pPr marL="0" indent="0" algn="ctr">
              <a:buNone/>
            </a:pPr>
            <a:r>
              <a:rPr lang="en-US" sz="1600" b="1" dirty="0">
                <a:solidFill>
                  <a:srgbClr val="0F7F7A"/>
                </a:solidFill>
              </a:rPr>
              <a:t>DDL Processor</a:t>
            </a:r>
            <a:endParaRPr lang="en-US" sz="1600" dirty="0"/>
          </a:p>
        </p:txBody>
      </p:sp>
      <p:sp>
        <p:nvSpPr>
          <p:cNvPr id="8" name="Shape 7">
            <a:extLst>
              <a:ext uri="{FF2B5EF4-FFF2-40B4-BE49-F238E27FC236}">
                <a16:creationId xmlns:a16="http://schemas.microsoft.com/office/drawing/2014/main" id="{C5DE19CC-3F51-41EE-A90B-F4510CF2F60D}"/>
              </a:ext>
            </a:extLst>
          </p:cNvPr>
          <p:cNvSpPr/>
          <p:nvPr/>
        </p:nvSpPr>
        <p:spPr>
          <a:xfrm>
            <a:off x="1534696" y="1627519"/>
            <a:ext cx="2551587" cy="690563"/>
          </a:xfrm>
          <a:prstGeom prst="roundRect">
            <a:avLst>
              <a:gd name="adj" fmla="val 20588"/>
            </a:avLst>
          </a:prstGeom>
          <a:solidFill>
            <a:srgbClr val="EAF2FF"/>
          </a:solidFill>
          <a:ln w="12700">
            <a:solidFill>
              <a:srgbClr val="EAF2FF"/>
            </a:solidFill>
            <a:prstDash val="solid"/>
          </a:ln>
        </p:spPr>
      </p:sp>
      <p:sp>
        <p:nvSpPr>
          <p:cNvPr id="9" name="Text 8">
            <a:extLst>
              <a:ext uri="{FF2B5EF4-FFF2-40B4-BE49-F238E27FC236}">
                <a16:creationId xmlns:a16="http://schemas.microsoft.com/office/drawing/2014/main" id="{6D0FEDDA-249E-495C-BEC5-ED28A7742D7E}"/>
              </a:ext>
            </a:extLst>
          </p:cNvPr>
          <p:cNvSpPr/>
          <p:nvPr/>
        </p:nvSpPr>
        <p:spPr>
          <a:xfrm>
            <a:off x="1580416" y="1700672"/>
            <a:ext cx="2443009" cy="304660"/>
          </a:xfrm>
          <a:prstGeom prst="rect">
            <a:avLst/>
          </a:prstGeom>
          <a:noFill/>
          <a:ln/>
        </p:spPr>
        <p:txBody>
          <a:bodyPr wrap="square" lIns="0" tIns="0" rIns="0" bIns="0" rtlCol="0" anchor="ctr"/>
          <a:lstStyle/>
          <a:p>
            <a:pPr marL="0" indent="0" algn="ctr">
              <a:buNone/>
            </a:pPr>
            <a:r>
              <a:rPr lang="en-US" sz="1600" b="1" dirty="0">
                <a:solidFill>
                  <a:srgbClr val="2F6BFF"/>
                </a:solidFill>
              </a:rPr>
              <a:t>Query Processor</a:t>
            </a:r>
            <a:endParaRPr lang="en-US" sz="1600" dirty="0"/>
          </a:p>
        </p:txBody>
      </p:sp>
      <p:sp>
        <p:nvSpPr>
          <p:cNvPr id="10" name="Shape 10">
            <a:extLst>
              <a:ext uri="{FF2B5EF4-FFF2-40B4-BE49-F238E27FC236}">
                <a16:creationId xmlns:a16="http://schemas.microsoft.com/office/drawing/2014/main" id="{0C6DFB78-244F-4EA7-B444-14C68068BCA7}"/>
              </a:ext>
            </a:extLst>
          </p:cNvPr>
          <p:cNvSpPr/>
          <p:nvPr/>
        </p:nvSpPr>
        <p:spPr>
          <a:xfrm>
            <a:off x="1534696" y="2377327"/>
            <a:ext cx="2551587" cy="690563"/>
          </a:xfrm>
          <a:prstGeom prst="roundRect">
            <a:avLst>
              <a:gd name="adj" fmla="val 20588"/>
            </a:avLst>
          </a:prstGeom>
          <a:solidFill>
            <a:srgbClr val="E7F7F6"/>
          </a:solidFill>
          <a:ln w="12700">
            <a:solidFill>
              <a:srgbClr val="E7F7F6"/>
            </a:solidFill>
            <a:prstDash val="solid"/>
          </a:ln>
        </p:spPr>
      </p:sp>
      <p:sp>
        <p:nvSpPr>
          <p:cNvPr id="11" name="Text 11">
            <a:extLst>
              <a:ext uri="{FF2B5EF4-FFF2-40B4-BE49-F238E27FC236}">
                <a16:creationId xmlns:a16="http://schemas.microsoft.com/office/drawing/2014/main" id="{0DB9542D-3689-47D8-8E3F-08F97DD183A1}"/>
              </a:ext>
            </a:extLst>
          </p:cNvPr>
          <p:cNvSpPr/>
          <p:nvPr/>
        </p:nvSpPr>
        <p:spPr>
          <a:xfrm>
            <a:off x="1580416" y="2450480"/>
            <a:ext cx="2443009" cy="304660"/>
          </a:xfrm>
          <a:prstGeom prst="rect">
            <a:avLst/>
          </a:prstGeom>
          <a:noFill/>
          <a:ln/>
        </p:spPr>
        <p:txBody>
          <a:bodyPr wrap="square" lIns="0" tIns="0" rIns="0" bIns="0" rtlCol="0" anchor="ctr"/>
          <a:lstStyle/>
          <a:p>
            <a:pPr marL="0" indent="0" algn="ctr">
              <a:buNone/>
            </a:pPr>
            <a:r>
              <a:rPr lang="en-US" sz="1600" b="1" dirty="0">
                <a:solidFill>
                  <a:srgbClr val="0F7F7A"/>
                </a:solidFill>
              </a:rPr>
              <a:t>Execution Engine</a:t>
            </a:r>
            <a:endParaRPr lang="en-US" sz="1600" dirty="0"/>
          </a:p>
        </p:txBody>
      </p:sp>
      <p:sp>
        <p:nvSpPr>
          <p:cNvPr id="12" name="Shape 13">
            <a:extLst>
              <a:ext uri="{FF2B5EF4-FFF2-40B4-BE49-F238E27FC236}">
                <a16:creationId xmlns:a16="http://schemas.microsoft.com/office/drawing/2014/main" id="{AB52B5F9-BE55-4B82-A674-A250DCE6903B}"/>
              </a:ext>
            </a:extLst>
          </p:cNvPr>
          <p:cNvSpPr/>
          <p:nvPr/>
        </p:nvSpPr>
        <p:spPr>
          <a:xfrm>
            <a:off x="1534696" y="3127135"/>
            <a:ext cx="2551587" cy="690563"/>
          </a:xfrm>
          <a:prstGeom prst="roundRect">
            <a:avLst>
              <a:gd name="adj" fmla="val 20588"/>
            </a:avLst>
          </a:prstGeom>
          <a:solidFill>
            <a:srgbClr val="EAF2FF"/>
          </a:solidFill>
          <a:ln w="12700">
            <a:solidFill>
              <a:srgbClr val="EAF2FF"/>
            </a:solidFill>
            <a:prstDash val="solid"/>
          </a:ln>
        </p:spPr>
      </p:sp>
      <p:sp>
        <p:nvSpPr>
          <p:cNvPr id="13" name="Text 14">
            <a:extLst>
              <a:ext uri="{FF2B5EF4-FFF2-40B4-BE49-F238E27FC236}">
                <a16:creationId xmlns:a16="http://schemas.microsoft.com/office/drawing/2014/main" id="{3E5879EF-4435-4F46-B50D-3337E1679753}"/>
              </a:ext>
            </a:extLst>
          </p:cNvPr>
          <p:cNvSpPr/>
          <p:nvPr/>
        </p:nvSpPr>
        <p:spPr>
          <a:xfrm>
            <a:off x="1580416" y="3200288"/>
            <a:ext cx="2443009" cy="304660"/>
          </a:xfrm>
          <a:prstGeom prst="rect">
            <a:avLst/>
          </a:prstGeom>
          <a:noFill/>
          <a:ln/>
        </p:spPr>
        <p:txBody>
          <a:bodyPr wrap="square" lIns="0" tIns="0" rIns="0" bIns="0" rtlCol="0" anchor="ctr"/>
          <a:lstStyle/>
          <a:p>
            <a:pPr marL="0" indent="0" algn="ctr">
              <a:buNone/>
            </a:pPr>
            <a:r>
              <a:rPr lang="en-US" sz="1600" b="1" dirty="0">
                <a:solidFill>
                  <a:srgbClr val="2F6BFF"/>
                </a:solidFill>
              </a:rPr>
              <a:t>Buffer Manager</a:t>
            </a:r>
            <a:endParaRPr lang="en-US" sz="1600" dirty="0"/>
          </a:p>
        </p:txBody>
      </p:sp>
      <p:sp>
        <p:nvSpPr>
          <p:cNvPr id="14" name="Shape 16">
            <a:extLst>
              <a:ext uri="{FF2B5EF4-FFF2-40B4-BE49-F238E27FC236}">
                <a16:creationId xmlns:a16="http://schemas.microsoft.com/office/drawing/2014/main" id="{8018F377-87A1-4830-8EC1-08B943ED553E}"/>
              </a:ext>
            </a:extLst>
          </p:cNvPr>
          <p:cNvSpPr/>
          <p:nvPr/>
        </p:nvSpPr>
        <p:spPr>
          <a:xfrm>
            <a:off x="1534696" y="3876943"/>
            <a:ext cx="2551587" cy="690563"/>
          </a:xfrm>
          <a:prstGeom prst="roundRect">
            <a:avLst>
              <a:gd name="adj" fmla="val 20588"/>
            </a:avLst>
          </a:prstGeom>
          <a:solidFill>
            <a:srgbClr val="E7F7F6"/>
          </a:solidFill>
          <a:ln w="12700">
            <a:solidFill>
              <a:srgbClr val="E7F7F6"/>
            </a:solidFill>
            <a:prstDash val="solid"/>
          </a:ln>
        </p:spPr>
      </p:sp>
      <p:sp>
        <p:nvSpPr>
          <p:cNvPr id="15" name="Text 17">
            <a:extLst>
              <a:ext uri="{FF2B5EF4-FFF2-40B4-BE49-F238E27FC236}">
                <a16:creationId xmlns:a16="http://schemas.microsoft.com/office/drawing/2014/main" id="{D71353A0-2805-4136-9B81-CB555DEC99C1}"/>
              </a:ext>
            </a:extLst>
          </p:cNvPr>
          <p:cNvSpPr/>
          <p:nvPr/>
        </p:nvSpPr>
        <p:spPr>
          <a:xfrm>
            <a:off x="1580416" y="3950096"/>
            <a:ext cx="2443009" cy="304660"/>
          </a:xfrm>
          <a:prstGeom prst="rect">
            <a:avLst/>
          </a:prstGeom>
          <a:noFill/>
          <a:ln/>
        </p:spPr>
        <p:txBody>
          <a:bodyPr wrap="square" lIns="0" tIns="0" rIns="0" bIns="0" rtlCol="0" anchor="ctr"/>
          <a:lstStyle/>
          <a:p>
            <a:pPr marL="0" indent="0" algn="ctr">
              <a:buNone/>
            </a:pPr>
            <a:r>
              <a:rPr lang="en-US" sz="1600" b="1" dirty="0">
                <a:solidFill>
                  <a:srgbClr val="0F7F7A"/>
                </a:solidFill>
              </a:rPr>
              <a:t>Storage Manager</a:t>
            </a:r>
            <a:endParaRPr lang="en-US" sz="1600" dirty="0"/>
          </a:p>
        </p:txBody>
      </p:sp>
      <p:sp>
        <p:nvSpPr>
          <p:cNvPr id="16" name="Shape 19">
            <a:extLst>
              <a:ext uri="{FF2B5EF4-FFF2-40B4-BE49-F238E27FC236}">
                <a16:creationId xmlns:a16="http://schemas.microsoft.com/office/drawing/2014/main" id="{58F2CBB0-60EB-44CC-B668-02D259C82B21}"/>
              </a:ext>
            </a:extLst>
          </p:cNvPr>
          <p:cNvSpPr/>
          <p:nvPr/>
        </p:nvSpPr>
        <p:spPr>
          <a:xfrm>
            <a:off x="1534696" y="4626751"/>
            <a:ext cx="2551587" cy="690563"/>
          </a:xfrm>
          <a:prstGeom prst="roundRect">
            <a:avLst>
              <a:gd name="adj" fmla="val 20588"/>
            </a:avLst>
          </a:prstGeom>
          <a:solidFill>
            <a:srgbClr val="EAF2FF"/>
          </a:solidFill>
          <a:ln w="12700">
            <a:solidFill>
              <a:srgbClr val="EAF2FF"/>
            </a:solidFill>
            <a:prstDash val="solid"/>
          </a:ln>
        </p:spPr>
      </p:sp>
      <p:sp>
        <p:nvSpPr>
          <p:cNvPr id="17" name="Text 20">
            <a:extLst>
              <a:ext uri="{FF2B5EF4-FFF2-40B4-BE49-F238E27FC236}">
                <a16:creationId xmlns:a16="http://schemas.microsoft.com/office/drawing/2014/main" id="{A4B8E1DB-D75B-4330-AD89-E5E45EFB8EC9}"/>
              </a:ext>
            </a:extLst>
          </p:cNvPr>
          <p:cNvSpPr/>
          <p:nvPr/>
        </p:nvSpPr>
        <p:spPr>
          <a:xfrm>
            <a:off x="1580416" y="4699904"/>
            <a:ext cx="2443009" cy="304660"/>
          </a:xfrm>
          <a:prstGeom prst="rect">
            <a:avLst/>
          </a:prstGeom>
          <a:noFill/>
          <a:ln/>
        </p:spPr>
        <p:txBody>
          <a:bodyPr wrap="square" lIns="0" tIns="0" rIns="0" bIns="0" rtlCol="0" anchor="ctr"/>
          <a:lstStyle/>
          <a:p>
            <a:pPr marL="0" indent="0" algn="ctr">
              <a:buNone/>
            </a:pPr>
            <a:r>
              <a:rPr lang="en-US" sz="1600" b="1" dirty="0">
                <a:solidFill>
                  <a:srgbClr val="2F6BFF"/>
                </a:solidFill>
              </a:rPr>
              <a:t>Transaction Manager</a:t>
            </a:r>
            <a:endParaRPr lang="en-US" sz="1600" dirty="0"/>
          </a:p>
        </p:txBody>
      </p:sp>
      <p:sp>
        <p:nvSpPr>
          <p:cNvPr id="18" name="Text 6">
            <a:extLst>
              <a:ext uri="{FF2B5EF4-FFF2-40B4-BE49-F238E27FC236}">
                <a16:creationId xmlns:a16="http://schemas.microsoft.com/office/drawing/2014/main" id="{A27EFE82-0F10-4C5F-85C8-A8F215B8243C}"/>
              </a:ext>
            </a:extLst>
          </p:cNvPr>
          <p:cNvSpPr/>
          <p:nvPr/>
        </p:nvSpPr>
        <p:spPr>
          <a:xfrm>
            <a:off x="4223192" y="1118364"/>
            <a:ext cx="7589520" cy="274320"/>
          </a:xfrm>
          <a:prstGeom prst="rect">
            <a:avLst/>
          </a:prstGeom>
          <a:noFill/>
          <a:ln/>
        </p:spPr>
        <p:txBody>
          <a:bodyPr wrap="square" lIns="0" tIns="0" rIns="0" bIns="0" rtlCol="0" anchor="ctr"/>
          <a:lstStyle/>
          <a:p>
            <a:pPr marL="0" indent="0">
              <a:buNone/>
            </a:pPr>
            <a:r>
              <a:rPr lang="en-US" dirty="0">
                <a:solidFill>
                  <a:srgbClr val="172033"/>
                </a:solidFill>
              </a:rPr>
              <a:t>Book, Student and Borrowing tables/constraints already exist.</a:t>
            </a:r>
            <a:endParaRPr lang="en-US" dirty="0"/>
          </a:p>
        </p:txBody>
      </p:sp>
      <p:sp>
        <p:nvSpPr>
          <p:cNvPr id="19" name="Text 9">
            <a:extLst>
              <a:ext uri="{FF2B5EF4-FFF2-40B4-BE49-F238E27FC236}">
                <a16:creationId xmlns:a16="http://schemas.microsoft.com/office/drawing/2014/main" id="{D2109FC9-3AE2-4A6E-8E84-E5235CF6C81E}"/>
              </a:ext>
            </a:extLst>
          </p:cNvPr>
          <p:cNvSpPr/>
          <p:nvPr/>
        </p:nvSpPr>
        <p:spPr>
          <a:xfrm>
            <a:off x="4223192" y="1868172"/>
            <a:ext cx="7589520" cy="274320"/>
          </a:xfrm>
          <a:prstGeom prst="rect">
            <a:avLst/>
          </a:prstGeom>
          <a:noFill/>
          <a:ln/>
        </p:spPr>
        <p:txBody>
          <a:bodyPr wrap="square" lIns="0" tIns="0" rIns="0" bIns="0" rtlCol="0" anchor="ctr"/>
          <a:lstStyle/>
          <a:p>
            <a:pPr marL="0" indent="0">
              <a:buNone/>
            </a:pPr>
            <a:r>
              <a:rPr lang="en-US" dirty="0">
                <a:solidFill>
                  <a:srgbClr val="172033"/>
                </a:solidFill>
              </a:rPr>
              <a:t>Validates borrowing request and selects an execution plan.</a:t>
            </a:r>
            <a:endParaRPr lang="en-US" dirty="0"/>
          </a:p>
        </p:txBody>
      </p:sp>
      <p:sp>
        <p:nvSpPr>
          <p:cNvPr id="20" name="Text 12">
            <a:extLst>
              <a:ext uri="{FF2B5EF4-FFF2-40B4-BE49-F238E27FC236}">
                <a16:creationId xmlns:a16="http://schemas.microsoft.com/office/drawing/2014/main" id="{B7314998-CF8A-4BD4-915A-6916D9FC6398}"/>
              </a:ext>
            </a:extLst>
          </p:cNvPr>
          <p:cNvSpPr/>
          <p:nvPr/>
        </p:nvSpPr>
        <p:spPr>
          <a:xfrm>
            <a:off x="4223192" y="2617980"/>
            <a:ext cx="7589520" cy="274320"/>
          </a:xfrm>
          <a:prstGeom prst="rect">
            <a:avLst/>
          </a:prstGeom>
          <a:noFill/>
          <a:ln/>
        </p:spPr>
        <p:txBody>
          <a:bodyPr wrap="square" lIns="0" tIns="0" rIns="0" bIns="0" rtlCol="0" anchor="ctr"/>
          <a:lstStyle/>
          <a:p>
            <a:pPr marL="0" indent="0">
              <a:buNone/>
            </a:pPr>
            <a:r>
              <a:rPr lang="en-US" dirty="0">
                <a:solidFill>
                  <a:srgbClr val="172033"/>
                </a:solidFill>
              </a:rPr>
              <a:t>Checks eligibility and whether the book is available.</a:t>
            </a:r>
            <a:endParaRPr lang="en-US" dirty="0"/>
          </a:p>
        </p:txBody>
      </p:sp>
      <p:sp>
        <p:nvSpPr>
          <p:cNvPr id="21" name="Text 15">
            <a:extLst>
              <a:ext uri="{FF2B5EF4-FFF2-40B4-BE49-F238E27FC236}">
                <a16:creationId xmlns:a16="http://schemas.microsoft.com/office/drawing/2014/main" id="{6FAE773A-053B-4EF5-A79C-3D4E79859204}"/>
              </a:ext>
            </a:extLst>
          </p:cNvPr>
          <p:cNvSpPr/>
          <p:nvPr/>
        </p:nvSpPr>
        <p:spPr>
          <a:xfrm>
            <a:off x="4223192" y="3367788"/>
            <a:ext cx="7589520" cy="274320"/>
          </a:xfrm>
          <a:prstGeom prst="rect">
            <a:avLst/>
          </a:prstGeom>
          <a:noFill/>
          <a:ln/>
        </p:spPr>
        <p:txBody>
          <a:bodyPr wrap="square" lIns="0" tIns="0" rIns="0" bIns="0" rtlCol="0" anchor="ctr"/>
          <a:lstStyle/>
          <a:p>
            <a:pPr marL="0" indent="0">
              <a:buNone/>
            </a:pPr>
            <a:r>
              <a:rPr lang="en-US" dirty="0">
                <a:solidFill>
                  <a:srgbClr val="172033"/>
                </a:solidFill>
              </a:rPr>
              <a:t>Loads required Book and Student pages into memory.</a:t>
            </a:r>
            <a:endParaRPr lang="en-US" dirty="0"/>
          </a:p>
        </p:txBody>
      </p:sp>
      <p:sp>
        <p:nvSpPr>
          <p:cNvPr id="22" name="Text 18">
            <a:extLst>
              <a:ext uri="{FF2B5EF4-FFF2-40B4-BE49-F238E27FC236}">
                <a16:creationId xmlns:a16="http://schemas.microsoft.com/office/drawing/2014/main" id="{1FE45B19-E782-4326-A80D-45DF01A63991}"/>
              </a:ext>
            </a:extLst>
          </p:cNvPr>
          <p:cNvSpPr/>
          <p:nvPr/>
        </p:nvSpPr>
        <p:spPr>
          <a:xfrm>
            <a:off x="4223192" y="4117596"/>
            <a:ext cx="7589520" cy="274320"/>
          </a:xfrm>
          <a:prstGeom prst="rect">
            <a:avLst/>
          </a:prstGeom>
          <a:noFill/>
          <a:ln/>
        </p:spPr>
        <p:txBody>
          <a:bodyPr wrap="square" lIns="0" tIns="0" rIns="0" bIns="0" rtlCol="0" anchor="ctr"/>
          <a:lstStyle/>
          <a:p>
            <a:pPr marL="0" indent="0">
              <a:buNone/>
            </a:pPr>
            <a:r>
              <a:rPr lang="en-US" dirty="0">
                <a:solidFill>
                  <a:srgbClr val="172033"/>
                </a:solidFill>
              </a:rPr>
              <a:t>Reads the book record and stores the borrowing record.</a:t>
            </a:r>
            <a:endParaRPr lang="en-US" dirty="0"/>
          </a:p>
        </p:txBody>
      </p:sp>
      <p:sp>
        <p:nvSpPr>
          <p:cNvPr id="23" name="Text 21">
            <a:extLst>
              <a:ext uri="{FF2B5EF4-FFF2-40B4-BE49-F238E27FC236}">
                <a16:creationId xmlns:a16="http://schemas.microsoft.com/office/drawing/2014/main" id="{A9B6DA63-F1BB-46FA-9C86-17634A7A6A87}"/>
              </a:ext>
            </a:extLst>
          </p:cNvPr>
          <p:cNvSpPr/>
          <p:nvPr/>
        </p:nvSpPr>
        <p:spPr>
          <a:xfrm>
            <a:off x="4223192" y="4867404"/>
            <a:ext cx="7589520" cy="274320"/>
          </a:xfrm>
          <a:prstGeom prst="rect">
            <a:avLst/>
          </a:prstGeom>
          <a:noFill/>
          <a:ln/>
        </p:spPr>
        <p:txBody>
          <a:bodyPr wrap="square" lIns="0" tIns="0" rIns="0" bIns="0" rtlCol="0" anchor="ctr"/>
          <a:lstStyle/>
          <a:p>
            <a:pPr marL="0" indent="0">
              <a:buNone/>
            </a:pPr>
            <a:r>
              <a:rPr lang="en-US" dirty="0">
                <a:solidFill>
                  <a:srgbClr val="172033"/>
                </a:solidFill>
              </a:rPr>
              <a:t>Ensures only one borrowing transaction commits.</a:t>
            </a:r>
            <a:endParaRPr lang="en-US" dirty="0"/>
          </a:p>
        </p:txBody>
      </p:sp>
    </p:spTree>
    <p:extLst>
      <p:ext uri="{BB962C8B-B14F-4D97-AF65-F5344CB8AC3E}">
        <p14:creationId xmlns:p14="http://schemas.microsoft.com/office/powerpoint/2010/main" val="33226481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8">
                                            <p:bg/>
                                          </p:spTgt>
                                        </p:tgtEl>
                                        <p:attrNameLst>
                                          <p:attrName>style.visibility</p:attrName>
                                        </p:attrNameLst>
                                      </p:cBhvr>
                                      <p:to>
                                        <p:strVal val="visible"/>
                                      </p:to>
                                    </p:set>
                                    <p:animEffect transition="in" filter="fade">
                                      <p:cBhvr>
                                        <p:cTn id="7" dur="1000"/>
                                        <p:tgtEl>
                                          <p:spTgt spid="18">
                                            <p:bg/>
                                          </p:spTgt>
                                        </p:tgtEl>
                                      </p:cBhvr>
                                    </p:animEffect>
                                    <p:anim calcmode="lin" valueType="num">
                                      <p:cBhvr>
                                        <p:cTn id="8" dur="1000" fill="hold"/>
                                        <p:tgtEl>
                                          <p:spTgt spid="18">
                                            <p:bg/>
                                          </p:spTgt>
                                        </p:tgtEl>
                                        <p:attrNameLst>
                                          <p:attrName>ppt_x</p:attrName>
                                        </p:attrNameLst>
                                      </p:cBhvr>
                                      <p:tavLst>
                                        <p:tav tm="0">
                                          <p:val>
                                            <p:strVal val="#ppt_x"/>
                                          </p:val>
                                        </p:tav>
                                        <p:tav tm="100000">
                                          <p:val>
                                            <p:strVal val="#ppt_x"/>
                                          </p:val>
                                        </p:tav>
                                      </p:tavLst>
                                    </p:anim>
                                    <p:anim calcmode="lin" valueType="num">
                                      <p:cBhvr>
                                        <p:cTn id="9" dur="1000" fill="hold"/>
                                        <p:tgtEl>
                                          <p:spTgt spid="18">
                                            <p:bg/>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8">
                                            <p:txEl>
                                              <p:pRg st="0" end="0"/>
                                            </p:txEl>
                                          </p:spTgt>
                                        </p:tgtEl>
                                        <p:attrNameLst>
                                          <p:attrName>style.visibility</p:attrName>
                                        </p:attrNameLst>
                                      </p:cBhvr>
                                      <p:to>
                                        <p:strVal val="visible"/>
                                      </p:to>
                                    </p:set>
                                    <p:animEffect transition="in" filter="fade">
                                      <p:cBhvr>
                                        <p:cTn id="14" dur="1000"/>
                                        <p:tgtEl>
                                          <p:spTgt spid="18">
                                            <p:txEl>
                                              <p:pRg st="0" end="0"/>
                                            </p:txEl>
                                          </p:spTgt>
                                        </p:tgtEl>
                                      </p:cBhvr>
                                    </p:animEffect>
                                    <p:anim calcmode="lin" valueType="num">
                                      <p:cBhvr>
                                        <p:cTn id="15" dur="1000" fill="hold"/>
                                        <p:tgtEl>
                                          <p:spTgt spid="18">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18">
                                            <p:txEl>
                                              <p:pRg st="0" end="0"/>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19">
                                            <p:bg/>
                                          </p:spTgt>
                                        </p:tgtEl>
                                        <p:attrNameLst>
                                          <p:attrName>style.visibility</p:attrName>
                                        </p:attrNameLst>
                                      </p:cBhvr>
                                      <p:to>
                                        <p:strVal val="visible"/>
                                      </p:to>
                                    </p:set>
                                    <p:animEffect transition="in" filter="fade">
                                      <p:cBhvr>
                                        <p:cTn id="19" dur="1000"/>
                                        <p:tgtEl>
                                          <p:spTgt spid="19">
                                            <p:bg/>
                                          </p:spTgt>
                                        </p:tgtEl>
                                      </p:cBhvr>
                                    </p:animEffect>
                                    <p:anim calcmode="lin" valueType="num">
                                      <p:cBhvr>
                                        <p:cTn id="20" dur="1000" fill="hold"/>
                                        <p:tgtEl>
                                          <p:spTgt spid="19">
                                            <p:bg/>
                                          </p:spTgt>
                                        </p:tgtEl>
                                        <p:attrNameLst>
                                          <p:attrName>ppt_x</p:attrName>
                                        </p:attrNameLst>
                                      </p:cBhvr>
                                      <p:tavLst>
                                        <p:tav tm="0">
                                          <p:val>
                                            <p:strVal val="#ppt_x"/>
                                          </p:val>
                                        </p:tav>
                                        <p:tav tm="100000">
                                          <p:val>
                                            <p:strVal val="#ppt_x"/>
                                          </p:val>
                                        </p:tav>
                                      </p:tavLst>
                                    </p:anim>
                                    <p:anim calcmode="lin" valueType="num">
                                      <p:cBhvr>
                                        <p:cTn id="21" dur="1000" fill="hold"/>
                                        <p:tgtEl>
                                          <p:spTgt spid="19">
                                            <p:bg/>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19">
                                            <p:txEl>
                                              <p:pRg st="0" end="0"/>
                                            </p:txEl>
                                          </p:spTgt>
                                        </p:tgtEl>
                                        <p:attrNameLst>
                                          <p:attrName>style.visibility</p:attrName>
                                        </p:attrNameLst>
                                      </p:cBhvr>
                                      <p:to>
                                        <p:strVal val="visible"/>
                                      </p:to>
                                    </p:set>
                                    <p:animEffect transition="in" filter="fade">
                                      <p:cBhvr>
                                        <p:cTn id="26" dur="1000"/>
                                        <p:tgtEl>
                                          <p:spTgt spid="19">
                                            <p:txEl>
                                              <p:pRg st="0" end="0"/>
                                            </p:txEl>
                                          </p:spTgt>
                                        </p:tgtEl>
                                      </p:cBhvr>
                                    </p:animEffect>
                                    <p:anim calcmode="lin" valueType="num">
                                      <p:cBhvr>
                                        <p:cTn id="27" dur="1000" fill="hold"/>
                                        <p:tgtEl>
                                          <p:spTgt spid="19">
                                            <p:txEl>
                                              <p:pRg st="0" end="0"/>
                                            </p:txEl>
                                          </p:spTgt>
                                        </p:tgtEl>
                                        <p:attrNameLst>
                                          <p:attrName>ppt_x</p:attrName>
                                        </p:attrNameLst>
                                      </p:cBhvr>
                                      <p:tavLst>
                                        <p:tav tm="0">
                                          <p:val>
                                            <p:strVal val="#ppt_x"/>
                                          </p:val>
                                        </p:tav>
                                        <p:tav tm="100000">
                                          <p:val>
                                            <p:strVal val="#ppt_x"/>
                                          </p:val>
                                        </p:tav>
                                      </p:tavLst>
                                    </p:anim>
                                    <p:anim calcmode="lin" valueType="num">
                                      <p:cBhvr>
                                        <p:cTn id="28" dur="1000" fill="hold"/>
                                        <p:tgtEl>
                                          <p:spTgt spid="19">
                                            <p:txEl>
                                              <p:pRg st="0" end="0"/>
                                            </p:txEl>
                                          </p:spTgt>
                                        </p:tgtEl>
                                        <p:attrNameLst>
                                          <p:attrName>ppt_y</p:attrName>
                                        </p:attrNameLst>
                                      </p:cBhvr>
                                      <p:tavLst>
                                        <p:tav tm="0">
                                          <p:val>
                                            <p:strVal val="#ppt_y+.1"/>
                                          </p:val>
                                        </p:tav>
                                        <p:tav tm="100000">
                                          <p:val>
                                            <p:strVal val="#ppt_y"/>
                                          </p:val>
                                        </p:tav>
                                      </p:tavLst>
                                    </p:anim>
                                  </p:childTnLst>
                                </p:cTn>
                              </p:par>
                              <p:par>
                                <p:cTn id="29" presetID="42" presetClass="entr" presetSubtype="0" fill="hold" grpId="0" nodeType="withEffect">
                                  <p:stCondLst>
                                    <p:cond delay="0"/>
                                  </p:stCondLst>
                                  <p:childTnLst>
                                    <p:set>
                                      <p:cBhvr>
                                        <p:cTn id="30" dur="1" fill="hold">
                                          <p:stCondLst>
                                            <p:cond delay="0"/>
                                          </p:stCondLst>
                                        </p:cTn>
                                        <p:tgtEl>
                                          <p:spTgt spid="20">
                                            <p:bg/>
                                          </p:spTgt>
                                        </p:tgtEl>
                                        <p:attrNameLst>
                                          <p:attrName>style.visibility</p:attrName>
                                        </p:attrNameLst>
                                      </p:cBhvr>
                                      <p:to>
                                        <p:strVal val="visible"/>
                                      </p:to>
                                    </p:set>
                                    <p:animEffect transition="in" filter="fade">
                                      <p:cBhvr>
                                        <p:cTn id="31" dur="1000"/>
                                        <p:tgtEl>
                                          <p:spTgt spid="20">
                                            <p:bg/>
                                          </p:spTgt>
                                        </p:tgtEl>
                                      </p:cBhvr>
                                    </p:animEffect>
                                    <p:anim calcmode="lin" valueType="num">
                                      <p:cBhvr>
                                        <p:cTn id="32" dur="1000" fill="hold"/>
                                        <p:tgtEl>
                                          <p:spTgt spid="20">
                                            <p:bg/>
                                          </p:spTgt>
                                        </p:tgtEl>
                                        <p:attrNameLst>
                                          <p:attrName>ppt_x</p:attrName>
                                        </p:attrNameLst>
                                      </p:cBhvr>
                                      <p:tavLst>
                                        <p:tav tm="0">
                                          <p:val>
                                            <p:strVal val="#ppt_x"/>
                                          </p:val>
                                        </p:tav>
                                        <p:tav tm="100000">
                                          <p:val>
                                            <p:strVal val="#ppt_x"/>
                                          </p:val>
                                        </p:tav>
                                      </p:tavLst>
                                    </p:anim>
                                    <p:anim calcmode="lin" valueType="num">
                                      <p:cBhvr>
                                        <p:cTn id="33" dur="1000" fill="hold"/>
                                        <p:tgtEl>
                                          <p:spTgt spid="20">
                                            <p:bg/>
                                          </p:spTgt>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grpId="0" nodeType="clickEffect">
                                  <p:stCondLst>
                                    <p:cond delay="0"/>
                                  </p:stCondLst>
                                  <p:childTnLst>
                                    <p:set>
                                      <p:cBhvr>
                                        <p:cTn id="37" dur="1" fill="hold">
                                          <p:stCondLst>
                                            <p:cond delay="0"/>
                                          </p:stCondLst>
                                        </p:cTn>
                                        <p:tgtEl>
                                          <p:spTgt spid="20">
                                            <p:txEl>
                                              <p:pRg st="0" end="0"/>
                                            </p:txEl>
                                          </p:spTgt>
                                        </p:tgtEl>
                                        <p:attrNameLst>
                                          <p:attrName>style.visibility</p:attrName>
                                        </p:attrNameLst>
                                      </p:cBhvr>
                                      <p:to>
                                        <p:strVal val="visible"/>
                                      </p:to>
                                    </p:set>
                                    <p:animEffect transition="in" filter="fade">
                                      <p:cBhvr>
                                        <p:cTn id="38" dur="1000"/>
                                        <p:tgtEl>
                                          <p:spTgt spid="20">
                                            <p:txEl>
                                              <p:pRg st="0" end="0"/>
                                            </p:txEl>
                                          </p:spTgt>
                                        </p:tgtEl>
                                      </p:cBhvr>
                                    </p:animEffect>
                                    <p:anim calcmode="lin" valueType="num">
                                      <p:cBhvr>
                                        <p:cTn id="39" dur="1000" fill="hold"/>
                                        <p:tgtEl>
                                          <p:spTgt spid="20">
                                            <p:txEl>
                                              <p:pRg st="0" end="0"/>
                                            </p:txEl>
                                          </p:spTgt>
                                        </p:tgtEl>
                                        <p:attrNameLst>
                                          <p:attrName>ppt_x</p:attrName>
                                        </p:attrNameLst>
                                      </p:cBhvr>
                                      <p:tavLst>
                                        <p:tav tm="0">
                                          <p:val>
                                            <p:strVal val="#ppt_x"/>
                                          </p:val>
                                        </p:tav>
                                        <p:tav tm="100000">
                                          <p:val>
                                            <p:strVal val="#ppt_x"/>
                                          </p:val>
                                        </p:tav>
                                      </p:tavLst>
                                    </p:anim>
                                    <p:anim calcmode="lin" valueType="num">
                                      <p:cBhvr>
                                        <p:cTn id="40" dur="1000" fill="hold"/>
                                        <p:tgtEl>
                                          <p:spTgt spid="20">
                                            <p:txEl>
                                              <p:pRg st="0" end="0"/>
                                            </p:txEl>
                                          </p:spTgt>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21">
                                            <p:bg/>
                                          </p:spTgt>
                                        </p:tgtEl>
                                        <p:attrNameLst>
                                          <p:attrName>style.visibility</p:attrName>
                                        </p:attrNameLst>
                                      </p:cBhvr>
                                      <p:to>
                                        <p:strVal val="visible"/>
                                      </p:to>
                                    </p:set>
                                    <p:animEffect transition="in" filter="fade">
                                      <p:cBhvr>
                                        <p:cTn id="43" dur="1000"/>
                                        <p:tgtEl>
                                          <p:spTgt spid="21">
                                            <p:bg/>
                                          </p:spTgt>
                                        </p:tgtEl>
                                      </p:cBhvr>
                                    </p:animEffect>
                                    <p:anim calcmode="lin" valueType="num">
                                      <p:cBhvr>
                                        <p:cTn id="44" dur="1000" fill="hold"/>
                                        <p:tgtEl>
                                          <p:spTgt spid="21">
                                            <p:bg/>
                                          </p:spTgt>
                                        </p:tgtEl>
                                        <p:attrNameLst>
                                          <p:attrName>ppt_x</p:attrName>
                                        </p:attrNameLst>
                                      </p:cBhvr>
                                      <p:tavLst>
                                        <p:tav tm="0">
                                          <p:val>
                                            <p:strVal val="#ppt_x"/>
                                          </p:val>
                                        </p:tav>
                                        <p:tav tm="100000">
                                          <p:val>
                                            <p:strVal val="#ppt_x"/>
                                          </p:val>
                                        </p:tav>
                                      </p:tavLst>
                                    </p:anim>
                                    <p:anim calcmode="lin" valueType="num">
                                      <p:cBhvr>
                                        <p:cTn id="45" dur="1000" fill="hold"/>
                                        <p:tgtEl>
                                          <p:spTgt spid="21">
                                            <p:bg/>
                                          </p:spTgt>
                                        </p:tgtEl>
                                        <p:attrNameLst>
                                          <p:attrName>ppt_y</p:attrName>
                                        </p:attrNameLst>
                                      </p:cBhvr>
                                      <p:tavLst>
                                        <p:tav tm="0">
                                          <p:val>
                                            <p:strVal val="#ppt_y+.1"/>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42" presetClass="entr" presetSubtype="0" fill="hold" grpId="0" nodeType="clickEffect">
                                  <p:stCondLst>
                                    <p:cond delay="0"/>
                                  </p:stCondLst>
                                  <p:childTnLst>
                                    <p:set>
                                      <p:cBhvr>
                                        <p:cTn id="49" dur="1" fill="hold">
                                          <p:stCondLst>
                                            <p:cond delay="0"/>
                                          </p:stCondLst>
                                        </p:cTn>
                                        <p:tgtEl>
                                          <p:spTgt spid="21">
                                            <p:txEl>
                                              <p:pRg st="0" end="0"/>
                                            </p:txEl>
                                          </p:spTgt>
                                        </p:tgtEl>
                                        <p:attrNameLst>
                                          <p:attrName>style.visibility</p:attrName>
                                        </p:attrNameLst>
                                      </p:cBhvr>
                                      <p:to>
                                        <p:strVal val="visible"/>
                                      </p:to>
                                    </p:set>
                                    <p:animEffect transition="in" filter="fade">
                                      <p:cBhvr>
                                        <p:cTn id="50" dur="1000"/>
                                        <p:tgtEl>
                                          <p:spTgt spid="21">
                                            <p:txEl>
                                              <p:pRg st="0" end="0"/>
                                            </p:txEl>
                                          </p:spTgt>
                                        </p:tgtEl>
                                      </p:cBhvr>
                                    </p:animEffect>
                                    <p:anim calcmode="lin" valueType="num">
                                      <p:cBhvr>
                                        <p:cTn id="51" dur="1000" fill="hold"/>
                                        <p:tgtEl>
                                          <p:spTgt spid="21">
                                            <p:txEl>
                                              <p:pRg st="0" end="0"/>
                                            </p:txEl>
                                          </p:spTgt>
                                        </p:tgtEl>
                                        <p:attrNameLst>
                                          <p:attrName>ppt_x</p:attrName>
                                        </p:attrNameLst>
                                      </p:cBhvr>
                                      <p:tavLst>
                                        <p:tav tm="0">
                                          <p:val>
                                            <p:strVal val="#ppt_x"/>
                                          </p:val>
                                        </p:tav>
                                        <p:tav tm="100000">
                                          <p:val>
                                            <p:strVal val="#ppt_x"/>
                                          </p:val>
                                        </p:tav>
                                      </p:tavLst>
                                    </p:anim>
                                    <p:anim calcmode="lin" valueType="num">
                                      <p:cBhvr>
                                        <p:cTn id="52" dur="1000" fill="hold"/>
                                        <p:tgtEl>
                                          <p:spTgt spid="21">
                                            <p:txEl>
                                              <p:pRg st="0" end="0"/>
                                            </p:txEl>
                                          </p:spTgt>
                                        </p:tgtEl>
                                        <p:attrNameLst>
                                          <p:attrName>ppt_y</p:attrName>
                                        </p:attrNameLst>
                                      </p:cBhvr>
                                      <p:tavLst>
                                        <p:tav tm="0">
                                          <p:val>
                                            <p:strVal val="#ppt_y+.1"/>
                                          </p:val>
                                        </p:tav>
                                        <p:tav tm="100000">
                                          <p:val>
                                            <p:strVal val="#ppt_y"/>
                                          </p:val>
                                        </p:tav>
                                      </p:tavLst>
                                    </p:anim>
                                  </p:childTnLst>
                                </p:cTn>
                              </p:par>
                              <p:par>
                                <p:cTn id="53" presetID="42" presetClass="entr" presetSubtype="0" fill="hold" grpId="0" nodeType="withEffect">
                                  <p:stCondLst>
                                    <p:cond delay="0"/>
                                  </p:stCondLst>
                                  <p:childTnLst>
                                    <p:set>
                                      <p:cBhvr>
                                        <p:cTn id="54" dur="1" fill="hold">
                                          <p:stCondLst>
                                            <p:cond delay="0"/>
                                          </p:stCondLst>
                                        </p:cTn>
                                        <p:tgtEl>
                                          <p:spTgt spid="22">
                                            <p:bg/>
                                          </p:spTgt>
                                        </p:tgtEl>
                                        <p:attrNameLst>
                                          <p:attrName>style.visibility</p:attrName>
                                        </p:attrNameLst>
                                      </p:cBhvr>
                                      <p:to>
                                        <p:strVal val="visible"/>
                                      </p:to>
                                    </p:set>
                                    <p:animEffect transition="in" filter="fade">
                                      <p:cBhvr>
                                        <p:cTn id="55" dur="1000"/>
                                        <p:tgtEl>
                                          <p:spTgt spid="22">
                                            <p:bg/>
                                          </p:spTgt>
                                        </p:tgtEl>
                                      </p:cBhvr>
                                    </p:animEffect>
                                    <p:anim calcmode="lin" valueType="num">
                                      <p:cBhvr>
                                        <p:cTn id="56" dur="1000" fill="hold"/>
                                        <p:tgtEl>
                                          <p:spTgt spid="22">
                                            <p:bg/>
                                          </p:spTgt>
                                        </p:tgtEl>
                                        <p:attrNameLst>
                                          <p:attrName>ppt_x</p:attrName>
                                        </p:attrNameLst>
                                      </p:cBhvr>
                                      <p:tavLst>
                                        <p:tav tm="0">
                                          <p:val>
                                            <p:strVal val="#ppt_x"/>
                                          </p:val>
                                        </p:tav>
                                        <p:tav tm="100000">
                                          <p:val>
                                            <p:strVal val="#ppt_x"/>
                                          </p:val>
                                        </p:tav>
                                      </p:tavLst>
                                    </p:anim>
                                    <p:anim calcmode="lin" valueType="num">
                                      <p:cBhvr>
                                        <p:cTn id="57" dur="1000" fill="hold"/>
                                        <p:tgtEl>
                                          <p:spTgt spid="22">
                                            <p:bg/>
                                          </p:spTgt>
                                        </p:tgtEl>
                                        <p:attrNameLst>
                                          <p:attrName>ppt_y</p:attrName>
                                        </p:attrNameLst>
                                      </p:cBhvr>
                                      <p:tavLst>
                                        <p:tav tm="0">
                                          <p:val>
                                            <p:strVal val="#ppt_y+.1"/>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42" presetClass="entr" presetSubtype="0" fill="hold" grpId="0" nodeType="clickEffect">
                                  <p:stCondLst>
                                    <p:cond delay="0"/>
                                  </p:stCondLst>
                                  <p:childTnLst>
                                    <p:set>
                                      <p:cBhvr>
                                        <p:cTn id="61" dur="1" fill="hold">
                                          <p:stCondLst>
                                            <p:cond delay="0"/>
                                          </p:stCondLst>
                                        </p:cTn>
                                        <p:tgtEl>
                                          <p:spTgt spid="22">
                                            <p:txEl>
                                              <p:pRg st="0" end="0"/>
                                            </p:txEl>
                                          </p:spTgt>
                                        </p:tgtEl>
                                        <p:attrNameLst>
                                          <p:attrName>style.visibility</p:attrName>
                                        </p:attrNameLst>
                                      </p:cBhvr>
                                      <p:to>
                                        <p:strVal val="visible"/>
                                      </p:to>
                                    </p:set>
                                    <p:animEffect transition="in" filter="fade">
                                      <p:cBhvr>
                                        <p:cTn id="62" dur="1000"/>
                                        <p:tgtEl>
                                          <p:spTgt spid="22">
                                            <p:txEl>
                                              <p:pRg st="0" end="0"/>
                                            </p:txEl>
                                          </p:spTgt>
                                        </p:tgtEl>
                                      </p:cBhvr>
                                    </p:animEffect>
                                    <p:anim calcmode="lin" valueType="num">
                                      <p:cBhvr>
                                        <p:cTn id="63" dur="1000" fill="hold"/>
                                        <p:tgtEl>
                                          <p:spTgt spid="22">
                                            <p:txEl>
                                              <p:pRg st="0" end="0"/>
                                            </p:txEl>
                                          </p:spTgt>
                                        </p:tgtEl>
                                        <p:attrNameLst>
                                          <p:attrName>ppt_x</p:attrName>
                                        </p:attrNameLst>
                                      </p:cBhvr>
                                      <p:tavLst>
                                        <p:tav tm="0">
                                          <p:val>
                                            <p:strVal val="#ppt_x"/>
                                          </p:val>
                                        </p:tav>
                                        <p:tav tm="100000">
                                          <p:val>
                                            <p:strVal val="#ppt_x"/>
                                          </p:val>
                                        </p:tav>
                                      </p:tavLst>
                                    </p:anim>
                                    <p:anim calcmode="lin" valueType="num">
                                      <p:cBhvr>
                                        <p:cTn id="64" dur="1000" fill="hold"/>
                                        <p:tgtEl>
                                          <p:spTgt spid="22">
                                            <p:txEl>
                                              <p:pRg st="0" end="0"/>
                                            </p:txEl>
                                          </p:spTgt>
                                        </p:tgtEl>
                                        <p:attrNameLst>
                                          <p:attrName>ppt_y</p:attrName>
                                        </p:attrNameLst>
                                      </p:cBhvr>
                                      <p:tavLst>
                                        <p:tav tm="0">
                                          <p:val>
                                            <p:strVal val="#ppt_y+.1"/>
                                          </p:val>
                                        </p:tav>
                                        <p:tav tm="100000">
                                          <p:val>
                                            <p:strVal val="#ppt_y"/>
                                          </p:val>
                                        </p:tav>
                                      </p:tavLst>
                                    </p:anim>
                                  </p:childTnLst>
                                </p:cTn>
                              </p:par>
                              <p:par>
                                <p:cTn id="65" presetID="42" presetClass="entr" presetSubtype="0" fill="hold" grpId="0" nodeType="withEffect">
                                  <p:stCondLst>
                                    <p:cond delay="0"/>
                                  </p:stCondLst>
                                  <p:childTnLst>
                                    <p:set>
                                      <p:cBhvr>
                                        <p:cTn id="66" dur="1" fill="hold">
                                          <p:stCondLst>
                                            <p:cond delay="0"/>
                                          </p:stCondLst>
                                        </p:cTn>
                                        <p:tgtEl>
                                          <p:spTgt spid="23">
                                            <p:bg/>
                                          </p:spTgt>
                                        </p:tgtEl>
                                        <p:attrNameLst>
                                          <p:attrName>style.visibility</p:attrName>
                                        </p:attrNameLst>
                                      </p:cBhvr>
                                      <p:to>
                                        <p:strVal val="visible"/>
                                      </p:to>
                                    </p:set>
                                    <p:animEffect transition="in" filter="fade">
                                      <p:cBhvr>
                                        <p:cTn id="67" dur="1000"/>
                                        <p:tgtEl>
                                          <p:spTgt spid="23">
                                            <p:bg/>
                                          </p:spTgt>
                                        </p:tgtEl>
                                      </p:cBhvr>
                                    </p:animEffect>
                                    <p:anim calcmode="lin" valueType="num">
                                      <p:cBhvr>
                                        <p:cTn id="68" dur="1000" fill="hold"/>
                                        <p:tgtEl>
                                          <p:spTgt spid="23">
                                            <p:bg/>
                                          </p:spTgt>
                                        </p:tgtEl>
                                        <p:attrNameLst>
                                          <p:attrName>ppt_x</p:attrName>
                                        </p:attrNameLst>
                                      </p:cBhvr>
                                      <p:tavLst>
                                        <p:tav tm="0">
                                          <p:val>
                                            <p:strVal val="#ppt_x"/>
                                          </p:val>
                                        </p:tav>
                                        <p:tav tm="100000">
                                          <p:val>
                                            <p:strVal val="#ppt_x"/>
                                          </p:val>
                                        </p:tav>
                                      </p:tavLst>
                                    </p:anim>
                                    <p:anim calcmode="lin" valueType="num">
                                      <p:cBhvr>
                                        <p:cTn id="69" dur="1000" fill="hold"/>
                                        <p:tgtEl>
                                          <p:spTgt spid="23">
                                            <p:bg/>
                                          </p:spTgt>
                                        </p:tgtEl>
                                        <p:attrNameLst>
                                          <p:attrName>ppt_y</p:attrName>
                                        </p:attrNameLst>
                                      </p:cBhvr>
                                      <p:tavLst>
                                        <p:tav tm="0">
                                          <p:val>
                                            <p:strVal val="#ppt_y+.1"/>
                                          </p:val>
                                        </p:tav>
                                        <p:tav tm="100000">
                                          <p:val>
                                            <p:strVal val="#ppt_y"/>
                                          </p:val>
                                        </p:tav>
                                      </p:tavLst>
                                    </p:anim>
                                  </p:childTnLst>
                                </p:cTn>
                              </p:par>
                            </p:childTnLst>
                          </p:cTn>
                        </p:par>
                      </p:childTnLst>
                    </p:cTn>
                  </p:par>
                  <p:par>
                    <p:cTn id="70" fill="hold">
                      <p:stCondLst>
                        <p:cond delay="indefinite"/>
                      </p:stCondLst>
                      <p:childTnLst>
                        <p:par>
                          <p:cTn id="71" fill="hold">
                            <p:stCondLst>
                              <p:cond delay="0"/>
                            </p:stCondLst>
                            <p:childTnLst>
                              <p:par>
                                <p:cTn id="72" presetID="42" presetClass="entr" presetSubtype="0" fill="hold" grpId="0" nodeType="clickEffect">
                                  <p:stCondLst>
                                    <p:cond delay="0"/>
                                  </p:stCondLst>
                                  <p:childTnLst>
                                    <p:set>
                                      <p:cBhvr>
                                        <p:cTn id="73" dur="1" fill="hold">
                                          <p:stCondLst>
                                            <p:cond delay="0"/>
                                          </p:stCondLst>
                                        </p:cTn>
                                        <p:tgtEl>
                                          <p:spTgt spid="23">
                                            <p:txEl>
                                              <p:pRg st="0" end="0"/>
                                            </p:txEl>
                                          </p:spTgt>
                                        </p:tgtEl>
                                        <p:attrNameLst>
                                          <p:attrName>style.visibility</p:attrName>
                                        </p:attrNameLst>
                                      </p:cBhvr>
                                      <p:to>
                                        <p:strVal val="visible"/>
                                      </p:to>
                                    </p:set>
                                    <p:animEffect transition="in" filter="fade">
                                      <p:cBhvr>
                                        <p:cTn id="74" dur="1000"/>
                                        <p:tgtEl>
                                          <p:spTgt spid="23">
                                            <p:txEl>
                                              <p:pRg st="0" end="0"/>
                                            </p:txEl>
                                          </p:spTgt>
                                        </p:tgtEl>
                                      </p:cBhvr>
                                    </p:animEffect>
                                    <p:anim calcmode="lin" valueType="num">
                                      <p:cBhvr>
                                        <p:cTn id="75" dur="1000" fill="hold"/>
                                        <p:tgtEl>
                                          <p:spTgt spid="23">
                                            <p:txEl>
                                              <p:pRg st="0" end="0"/>
                                            </p:txEl>
                                          </p:spTgt>
                                        </p:tgtEl>
                                        <p:attrNameLst>
                                          <p:attrName>ppt_x</p:attrName>
                                        </p:attrNameLst>
                                      </p:cBhvr>
                                      <p:tavLst>
                                        <p:tav tm="0">
                                          <p:val>
                                            <p:strVal val="#ppt_x"/>
                                          </p:val>
                                        </p:tav>
                                        <p:tav tm="100000">
                                          <p:val>
                                            <p:strVal val="#ppt_x"/>
                                          </p:val>
                                        </p:tav>
                                      </p:tavLst>
                                    </p:anim>
                                    <p:anim calcmode="lin" valueType="num">
                                      <p:cBhvr>
                                        <p:cTn id="76" dur="1000" fill="hold"/>
                                        <p:tgtEl>
                                          <p:spTgt spid="2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uild="p" animBg="1"/>
      <p:bldP spid="19" grpId="0" build="p" animBg="1"/>
      <p:bldP spid="20" grpId="0" build="p" animBg="1"/>
      <p:bldP spid="21" grpId="0" build="p" animBg="1"/>
      <p:bldP spid="22" grpId="0" build="p" animBg="1"/>
      <p:bldP spid="23" grpId="0" build="p"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8ECFAB-ED38-4692-BAE1-4E54B67328B6}"/>
              </a:ext>
            </a:extLst>
          </p:cNvPr>
          <p:cNvSpPr>
            <a:spLocks noGrp="1"/>
          </p:cNvSpPr>
          <p:nvPr>
            <p:ph type="title"/>
          </p:nvPr>
        </p:nvSpPr>
        <p:spPr/>
        <p:txBody>
          <a:bodyPr/>
          <a:lstStyle/>
          <a:p>
            <a:r>
              <a:rPr lang="en-GB" dirty="0"/>
              <a:t>Questions?</a:t>
            </a:r>
            <a:endParaRPr lang="en-PK" dirty="0"/>
          </a:p>
        </p:txBody>
      </p:sp>
      <p:sp>
        <p:nvSpPr>
          <p:cNvPr id="3" name="Content Placeholder 2">
            <a:extLst>
              <a:ext uri="{FF2B5EF4-FFF2-40B4-BE49-F238E27FC236}">
                <a16:creationId xmlns:a16="http://schemas.microsoft.com/office/drawing/2014/main" id="{F050C383-07DE-49C5-A29D-868AFCC09F06}"/>
              </a:ext>
            </a:extLst>
          </p:cNvPr>
          <p:cNvSpPr>
            <a:spLocks noGrp="1"/>
          </p:cNvSpPr>
          <p:nvPr>
            <p:ph idx="1"/>
          </p:nvPr>
        </p:nvSpPr>
        <p:spPr/>
        <p:txBody>
          <a:bodyPr/>
          <a:lstStyle/>
          <a:p>
            <a:pPr marL="0" indent="0">
              <a:buNone/>
            </a:pPr>
            <a:r>
              <a:rPr lang="en-GB" b="1" dirty="0"/>
              <a:t>Student questions</a:t>
            </a:r>
          </a:p>
          <a:p>
            <a:pPr>
              <a:buFont typeface="+mj-lt"/>
              <a:buAutoNum type="arabicPeriod"/>
            </a:pPr>
            <a:r>
              <a:rPr lang="en-GB" dirty="0"/>
              <a:t>Which component checks whether the book is available? </a:t>
            </a:r>
          </a:p>
          <a:p>
            <a:pPr>
              <a:buFont typeface="+mj-lt"/>
              <a:buAutoNum type="arabicPeriod"/>
            </a:pPr>
            <a:r>
              <a:rPr lang="en-GB" dirty="0"/>
              <a:t>Where are the required records temporarily held? </a:t>
            </a:r>
          </a:p>
          <a:p>
            <a:pPr>
              <a:buFont typeface="+mj-lt"/>
              <a:buAutoNum type="arabicPeriod"/>
            </a:pPr>
            <a:r>
              <a:rPr lang="en-GB" dirty="0"/>
              <a:t>Who prevents both students from borrowing the same copy? </a:t>
            </a:r>
          </a:p>
          <a:p>
            <a:pPr>
              <a:buFont typeface="+mj-lt"/>
              <a:buAutoNum type="arabicPeriod"/>
            </a:pPr>
            <a:r>
              <a:rPr lang="en-GB" dirty="0"/>
              <a:t>What should happen to the unsuccessful request?</a:t>
            </a:r>
          </a:p>
          <a:p>
            <a:endParaRPr lang="en-PK" dirty="0"/>
          </a:p>
        </p:txBody>
      </p:sp>
      <p:sp>
        <p:nvSpPr>
          <p:cNvPr id="5" name="Text 8">
            <a:extLst>
              <a:ext uri="{FF2B5EF4-FFF2-40B4-BE49-F238E27FC236}">
                <a16:creationId xmlns:a16="http://schemas.microsoft.com/office/drawing/2014/main" id="{367C6C96-E0D6-476A-BA66-580D5381CF1D}"/>
              </a:ext>
            </a:extLst>
          </p:cNvPr>
          <p:cNvSpPr/>
          <p:nvPr/>
        </p:nvSpPr>
        <p:spPr>
          <a:xfrm>
            <a:off x="7808734" y="2497237"/>
            <a:ext cx="3246120" cy="445578"/>
          </a:xfrm>
          <a:prstGeom prst="rect">
            <a:avLst/>
          </a:prstGeom>
          <a:noFill/>
          <a:ln/>
        </p:spPr>
        <p:txBody>
          <a:bodyPr wrap="square" lIns="0" tIns="0" rIns="0" bIns="0" rtlCol="0" anchor="ctr"/>
          <a:lstStyle/>
          <a:p>
            <a:pPr marL="0" indent="0" algn="ctr">
              <a:buNone/>
            </a:pPr>
            <a:r>
              <a:rPr lang="en-US" sz="1600" b="1" dirty="0">
                <a:solidFill>
                  <a:srgbClr val="0F7F7A"/>
                </a:solidFill>
              </a:rPr>
              <a:t>Execution Engine</a:t>
            </a:r>
            <a:endParaRPr lang="en-US" sz="1600" b="1" dirty="0"/>
          </a:p>
        </p:txBody>
      </p:sp>
      <p:sp>
        <p:nvSpPr>
          <p:cNvPr id="9" name="TextBox 8">
            <a:extLst>
              <a:ext uri="{FF2B5EF4-FFF2-40B4-BE49-F238E27FC236}">
                <a16:creationId xmlns:a16="http://schemas.microsoft.com/office/drawing/2014/main" id="{2B707034-0FB1-43F0-9395-F8A5D2FD5A05}"/>
              </a:ext>
            </a:extLst>
          </p:cNvPr>
          <p:cNvSpPr txBox="1"/>
          <p:nvPr/>
        </p:nvSpPr>
        <p:spPr>
          <a:xfrm>
            <a:off x="6096000" y="3054988"/>
            <a:ext cx="6102848" cy="369332"/>
          </a:xfrm>
          <a:prstGeom prst="rect">
            <a:avLst/>
          </a:prstGeom>
          <a:noFill/>
        </p:spPr>
        <p:txBody>
          <a:bodyPr wrap="square">
            <a:spAutoFit/>
          </a:bodyPr>
          <a:lstStyle/>
          <a:p>
            <a:pPr marL="0" indent="0" algn="ctr">
              <a:buNone/>
            </a:pPr>
            <a:r>
              <a:rPr lang="en-US" sz="1800" b="1" dirty="0">
                <a:solidFill>
                  <a:srgbClr val="0F7F7A"/>
                </a:solidFill>
              </a:rPr>
              <a:t>Buffer pool in RAM</a:t>
            </a:r>
            <a:endParaRPr lang="en-US" sz="1800" dirty="0"/>
          </a:p>
        </p:txBody>
      </p:sp>
      <p:sp>
        <p:nvSpPr>
          <p:cNvPr id="11" name="TextBox 10">
            <a:extLst>
              <a:ext uri="{FF2B5EF4-FFF2-40B4-BE49-F238E27FC236}">
                <a16:creationId xmlns:a16="http://schemas.microsoft.com/office/drawing/2014/main" id="{92730AED-B341-44A9-B3AE-1368A69E85A3}"/>
              </a:ext>
            </a:extLst>
          </p:cNvPr>
          <p:cNvSpPr txBox="1"/>
          <p:nvPr/>
        </p:nvSpPr>
        <p:spPr>
          <a:xfrm>
            <a:off x="7099443" y="3594495"/>
            <a:ext cx="6102848" cy="369332"/>
          </a:xfrm>
          <a:prstGeom prst="rect">
            <a:avLst/>
          </a:prstGeom>
          <a:noFill/>
        </p:spPr>
        <p:txBody>
          <a:bodyPr wrap="square">
            <a:spAutoFit/>
          </a:bodyPr>
          <a:lstStyle/>
          <a:p>
            <a:pPr marL="0" indent="0" algn="ctr">
              <a:buNone/>
            </a:pPr>
            <a:r>
              <a:rPr lang="en-US" sz="1800" b="1" dirty="0">
                <a:solidFill>
                  <a:srgbClr val="0F7F7A"/>
                </a:solidFill>
              </a:rPr>
              <a:t>Transaction Manager</a:t>
            </a:r>
            <a:endParaRPr lang="en-US" sz="1800" dirty="0"/>
          </a:p>
        </p:txBody>
      </p:sp>
      <p:sp>
        <p:nvSpPr>
          <p:cNvPr id="13" name="TextBox 12">
            <a:extLst>
              <a:ext uri="{FF2B5EF4-FFF2-40B4-BE49-F238E27FC236}">
                <a16:creationId xmlns:a16="http://schemas.microsoft.com/office/drawing/2014/main" id="{84811407-1893-4AB7-88F4-B1F58C8DB11F}"/>
              </a:ext>
            </a:extLst>
          </p:cNvPr>
          <p:cNvSpPr txBox="1"/>
          <p:nvPr/>
        </p:nvSpPr>
        <p:spPr>
          <a:xfrm>
            <a:off x="6465014" y="4076000"/>
            <a:ext cx="6601146" cy="369332"/>
          </a:xfrm>
          <a:prstGeom prst="rect">
            <a:avLst/>
          </a:prstGeom>
          <a:noFill/>
        </p:spPr>
        <p:txBody>
          <a:bodyPr wrap="square">
            <a:spAutoFit/>
          </a:bodyPr>
          <a:lstStyle/>
          <a:p>
            <a:pPr marL="0" indent="0" algn="ctr">
              <a:buNone/>
            </a:pPr>
            <a:r>
              <a:rPr lang="en-US" sz="1800" b="1" dirty="0">
                <a:solidFill>
                  <a:srgbClr val="0F7F7A"/>
                </a:solidFill>
              </a:rPr>
              <a:t>Reject / roll back and inform the student</a:t>
            </a:r>
            <a:endParaRPr lang="en-US" sz="1800" dirty="0"/>
          </a:p>
        </p:txBody>
      </p:sp>
    </p:spTree>
    <p:extLst>
      <p:ext uri="{BB962C8B-B14F-4D97-AF65-F5344CB8AC3E}">
        <p14:creationId xmlns:p14="http://schemas.microsoft.com/office/powerpoint/2010/main" val="24297261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1000"/>
                                        <p:tgtEl>
                                          <p:spTgt spid="9"/>
                                        </p:tgtEl>
                                      </p:cBhvr>
                                    </p:animEffect>
                                    <p:anim calcmode="lin" valueType="num">
                                      <p:cBhvr>
                                        <p:cTn id="15" dur="1000" fill="hold"/>
                                        <p:tgtEl>
                                          <p:spTgt spid="9"/>
                                        </p:tgtEl>
                                        <p:attrNameLst>
                                          <p:attrName>ppt_x</p:attrName>
                                        </p:attrNameLst>
                                      </p:cBhvr>
                                      <p:tavLst>
                                        <p:tav tm="0">
                                          <p:val>
                                            <p:strVal val="#ppt_x"/>
                                          </p:val>
                                        </p:tav>
                                        <p:tav tm="100000">
                                          <p:val>
                                            <p:strVal val="#ppt_x"/>
                                          </p:val>
                                        </p:tav>
                                      </p:tavLst>
                                    </p:anim>
                                    <p:anim calcmode="lin" valueType="num">
                                      <p:cBhvr>
                                        <p:cTn id="16"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1000"/>
                                        <p:tgtEl>
                                          <p:spTgt spid="11"/>
                                        </p:tgtEl>
                                      </p:cBhvr>
                                    </p:animEffect>
                                    <p:anim calcmode="lin" valueType="num">
                                      <p:cBhvr>
                                        <p:cTn id="22" dur="1000" fill="hold"/>
                                        <p:tgtEl>
                                          <p:spTgt spid="11"/>
                                        </p:tgtEl>
                                        <p:attrNameLst>
                                          <p:attrName>ppt_x</p:attrName>
                                        </p:attrNameLst>
                                      </p:cBhvr>
                                      <p:tavLst>
                                        <p:tav tm="0">
                                          <p:val>
                                            <p:strVal val="#ppt_x"/>
                                          </p:val>
                                        </p:tav>
                                        <p:tav tm="100000">
                                          <p:val>
                                            <p:strVal val="#ppt_x"/>
                                          </p:val>
                                        </p:tav>
                                      </p:tavLst>
                                    </p:anim>
                                    <p:anim calcmode="lin" valueType="num">
                                      <p:cBhvr>
                                        <p:cTn id="23"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1000"/>
                                        <p:tgtEl>
                                          <p:spTgt spid="13"/>
                                        </p:tgtEl>
                                      </p:cBhvr>
                                    </p:animEffect>
                                    <p:anim calcmode="lin" valueType="num">
                                      <p:cBhvr>
                                        <p:cTn id="29" dur="1000" fill="hold"/>
                                        <p:tgtEl>
                                          <p:spTgt spid="13"/>
                                        </p:tgtEl>
                                        <p:attrNameLst>
                                          <p:attrName>ppt_x</p:attrName>
                                        </p:attrNameLst>
                                      </p:cBhvr>
                                      <p:tavLst>
                                        <p:tav tm="0">
                                          <p:val>
                                            <p:strVal val="#ppt_x"/>
                                          </p:val>
                                        </p:tav>
                                        <p:tav tm="100000">
                                          <p:val>
                                            <p:strVal val="#ppt_x"/>
                                          </p:val>
                                        </p:tav>
                                      </p:tavLst>
                                    </p:anim>
                                    <p:anim calcmode="lin" valueType="num">
                                      <p:cBhvr>
                                        <p:cTn id="30"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p:bldP spid="11" grpId="0"/>
      <p:bldP spid="13"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ED4A1-2B8B-4E1A-899C-E46CF3064C3B}"/>
              </a:ext>
            </a:extLst>
          </p:cNvPr>
          <p:cNvSpPr>
            <a:spLocks noGrp="1"/>
          </p:cNvSpPr>
          <p:nvPr>
            <p:ph type="title"/>
          </p:nvPr>
        </p:nvSpPr>
        <p:spPr/>
        <p:txBody>
          <a:bodyPr/>
          <a:lstStyle/>
          <a:p>
            <a:r>
              <a:rPr lang="en-GB" b="1" dirty="0"/>
              <a:t>From Real-World Data to Database Design</a:t>
            </a:r>
            <a:endParaRPr lang="en-PK" b="1" dirty="0"/>
          </a:p>
        </p:txBody>
      </p:sp>
      <p:graphicFrame>
        <p:nvGraphicFramePr>
          <p:cNvPr id="4" name="Content Placeholder 3">
            <a:extLst>
              <a:ext uri="{FF2B5EF4-FFF2-40B4-BE49-F238E27FC236}">
                <a16:creationId xmlns:a16="http://schemas.microsoft.com/office/drawing/2014/main" id="{279708B4-C483-40CB-A3BB-192CB8C1A85E}"/>
              </a:ext>
            </a:extLst>
          </p:cNvPr>
          <p:cNvGraphicFramePr>
            <a:graphicFrameLocks noGrp="1"/>
          </p:cNvGraphicFramePr>
          <p:nvPr>
            <p:ph idx="1"/>
            <p:extLst>
              <p:ext uri="{D42A27DB-BD31-4B8C-83A1-F6EECF244321}">
                <p14:modId xmlns:p14="http://schemas.microsoft.com/office/powerpoint/2010/main" val="3604432047"/>
              </p:ext>
            </p:extLst>
          </p:nvPr>
        </p:nvGraphicFramePr>
        <p:xfrm>
          <a:off x="1535113" y="2016125"/>
          <a:ext cx="9520237" cy="34496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9940091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C8A696-B499-4EE0-B4FB-200C34CF8279}"/>
              </a:ext>
            </a:extLst>
          </p:cNvPr>
          <p:cNvSpPr>
            <a:spLocks noGrp="1"/>
          </p:cNvSpPr>
          <p:nvPr>
            <p:ph type="title"/>
          </p:nvPr>
        </p:nvSpPr>
        <p:spPr/>
        <p:txBody>
          <a:bodyPr/>
          <a:lstStyle/>
          <a:p>
            <a:r>
              <a:rPr lang="en-GB" dirty="0"/>
              <a:t>Understanding Relation Model</a:t>
            </a:r>
            <a:endParaRPr lang="en-PK" dirty="0"/>
          </a:p>
        </p:txBody>
      </p:sp>
      <p:graphicFrame>
        <p:nvGraphicFramePr>
          <p:cNvPr id="5" name="Table 5">
            <a:extLst>
              <a:ext uri="{FF2B5EF4-FFF2-40B4-BE49-F238E27FC236}">
                <a16:creationId xmlns:a16="http://schemas.microsoft.com/office/drawing/2014/main" id="{146DC4F8-62A6-49F4-AD3D-0D4C5034DDD0}"/>
              </a:ext>
            </a:extLst>
          </p:cNvPr>
          <p:cNvGraphicFramePr>
            <a:graphicFrameLocks noGrp="1"/>
          </p:cNvGraphicFramePr>
          <p:nvPr>
            <p:ph idx="1"/>
          </p:nvPr>
        </p:nvGraphicFramePr>
        <p:xfrm>
          <a:off x="1535113" y="2016125"/>
          <a:ext cx="9520240" cy="2072640"/>
        </p:xfrm>
        <a:graphic>
          <a:graphicData uri="http://schemas.openxmlformats.org/drawingml/2006/table">
            <a:tbl>
              <a:tblPr firstRow="1" bandRow="1">
                <a:tableStyleId>{5C22544A-7EE6-4342-B048-85BDC9FD1C3A}</a:tableStyleId>
              </a:tblPr>
              <a:tblGrid>
                <a:gridCol w="2380060">
                  <a:extLst>
                    <a:ext uri="{9D8B030D-6E8A-4147-A177-3AD203B41FA5}">
                      <a16:colId xmlns:a16="http://schemas.microsoft.com/office/drawing/2014/main" val="2589434024"/>
                    </a:ext>
                  </a:extLst>
                </a:gridCol>
                <a:gridCol w="2380060">
                  <a:extLst>
                    <a:ext uri="{9D8B030D-6E8A-4147-A177-3AD203B41FA5}">
                      <a16:colId xmlns:a16="http://schemas.microsoft.com/office/drawing/2014/main" val="1573702915"/>
                    </a:ext>
                  </a:extLst>
                </a:gridCol>
                <a:gridCol w="2380060">
                  <a:extLst>
                    <a:ext uri="{9D8B030D-6E8A-4147-A177-3AD203B41FA5}">
                      <a16:colId xmlns:a16="http://schemas.microsoft.com/office/drawing/2014/main" val="299957345"/>
                    </a:ext>
                  </a:extLst>
                </a:gridCol>
                <a:gridCol w="2380060">
                  <a:extLst>
                    <a:ext uri="{9D8B030D-6E8A-4147-A177-3AD203B41FA5}">
                      <a16:colId xmlns:a16="http://schemas.microsoft.com/office/drawing/2014/main" val="3533532234"/>
                    </a:ext>
                  </a:extLst>
                </a:gridCol>
              </a:tblGrid>
              <a:tr h="370840">
                <a:tc>
                  <a:txBody>
                    <a:bodyPr/>
                    <a:lstStyle/>
                    <a:p>
                      <a:r>
                        <a:rPr lang="en-GB" sz="2800" dirty="0"/>
                        <a:t>Student ID</a:t>
                      </a:r>
                    </a:p>
                  </a:txBody>
                  <a:tcPr marL="82784" marR="82784" anchor="ctr"/>
                </a:tc>
                <a:tc>
                  <a:txBody>
                    <a:bodyPr/>
                    <a:lstStyle/>
                    <a:p>
                      <a:r>
                        <a:rPr lang="en-GB" sz="2800"/>
                        <a:t>Name</a:t>
                      </a:r>
                    </a:p>
                  </a:txBody>
                  <a:tcPr marL="82784" marR="82784" anchor="ctr"/>
                </a:tc>
                <a:tc>
                  <a:txBody>
                    <a:bodyPr/>
                    <a:lstStyle/>
                    <a:p>
                      <a:r>
                        <a:rPr lang="en-GB" sz="2800"/>
                        <a:t>Program</a:t>
                      </a:r>
                    </a:p>
                  </a:txBody>
                  <a:tcPr marL="82784" marR="82784" anchor="ctr"/>
                </a:tc>
                <a:tc>
                  <a:txBody>
                    <a:bodyPr/>
                    <a:lstStyle/>
                    <a:p>
                      <a:pPr algn="r"/>
                      <a:r>
                        <a:rPr lang="en-GB" sz="2800"/>
                        <a:t>Semester</a:t>
                      </a:r>
                    </a:p>
                  </a:txBody>
                  <a:tcPr marL="82784" marR="82784" anchor="ctr"/>
                </a:tc>
                <a:extLst>
                  <a:ext uri="{0D108BD9-81ED-4DB2-BD59-A6C34878D82A}">
                    <a16:rowId xmlns:a16="http://schemas.microsoft.com/office/drawing/2014/main" val="2655574230"/>
                  </a:ext>
                </a:extLst>
              </a:tr>
              <a:tr h="370840">
                <a:tc>
                  <a:txBody>
                    <a:bodyPr/>
                    <a:lstStyle/>
                    <a:p>
                      <a:r>
                        <a:rPr lang="en-GB" sz="2800"/>
                        <a:t>S101</a:t>
                      </a:r>
                    </a:p>
                  </a:txBody>
                  <a:tcPr marL="82784" marR="82784" anchor="ctr"/>
                </a:tc>
                <a:tc>
                  <a:txBody>
                    <a:bodyPr/>
                    <a:lstStyle/>
                    <a:p>
                      <a:r>
                        <a:rPr lang="en-GB" sz="2800"/>
                        <a:t>Ayesha</a:t>
                      </a:r>
                    </a:p>
                  </a:txBody>
                  <a:tcPr marL="82784" marR="82784" anchor="ctr"/>
                </a:tc>
                <a:tc>
                  <a:txBody>
                    <a:bodyPr/>
                    <a:lstStyle/>
                    <a:p>
                      <a:r>
                        <a:rPr lang="en-GB" sz="2800"/>
                        <a:t>BSCS</a:t>
                      </a:r>
                    </a:p>
                  </a:txBody>
                  <a:tcPr marL="82784" marR="82784" anchor="ctr"/>
                </a:tc>
                <a:tc>
                  <a:txBody>
                    <a:bodyPr/>
                    <a:lstStyle/>
                    <a:p>
                      <a:pPr algn="r"/>
                      <a:r>
                        <a:rPr lang="en-PK" sz="2800"/>
                        <a:t>2</a:t>
                      </a:r>
                    </a:p>
                  </a:txBody>
                  <a:tcPr marL="82784" marR="82784" anchor="ctr"/>
                </a:tc>
                <a:extLst>
                  <a:ext uri="{0D108BD9-81ED-4DB2-BD59-A6C34878D82A}">
                    <a16:rowId xmlns:a16="http://schemas.microsoft.com/office/drawing/2014/main" val="1386459945"/>
                  </a:ext>
                </a:extLst>
              </a:tr>
              <a:tr h="370840">
                <a:tc>
                  <a:txBody>
                    <a:bodyPr/>
                    <a:lstStyle/>
                    <a:p>
                      <a:r>
                        <a:rPr lang="en-GB" sz="2800"/>
                        <a:t>S102</a:t>
                      </a:r>
                    </a:p>
                  </a:txBody>
                  <a:tcPr marL="82784" marR="82784" anchor="ctr"/>
                </a:tc>
                <a:tc>
                  <a:txBody>
                    <a:bodyPr/>
                    <a:lstStyle/>
                    <a:p>
                      <a:r>
                        <a:rPr lang="en-GB" sz="2800"/>
                        <a:t>Hamza</a:t>
                      </a:r>
                    </a:p>
                  </a:txBody>
                  <a:tcPr marL="82784" marR="82784" anchor="ctr"/>
                </a:tc>
                <a:tc>
                  <a:txBody>
                    <a:bodyPr/>
                    <a:lstStyle/>
                    <a:p>
                      <a:r>
                        <a:rPr lang="en-GB" sz="2800"/>
                        <a:t>BSAI</a:t>
                      </a:r>
                    </a:p>
                  </a:txBody>
                  <a:tcPr marL="82784" marR="82784" anchor="ctr"/>
                </a:tc>
                <a:tc>
                  <a:txBody>
                    <a:bodyPr/>
                    <a:lstStyle/>
                    <a:p>
                      <a:pPr algn="r"/>
                      <a:r>
                        <a:rPr lang="en-PK" sz="2800"/>
                        <a:t>4</a:t>
                      </a:r>
                    </a:p>
                  </a:txBody>
                  <a:tcPr marL="82784" marR="82784" anchor="ctr"/>
                </a:tc>
                <a:extLst>
                  <a:ext uri="{0D108BD9-81ED-4DB2-BD59-A6C34878D82A}">
                    <a16:rowId xmlns:a16="http://schemas.microsoft.com/office/drawing/2014/main" val="4009188231"/>
                  </a:ext>
                </a:extLst>
              </a:tr>
              <a:tr h="370840">
                <a:tc>
                  <a:txBody>
                    <a:bodyPr/>
                    <a:lstStyle/>
                    <a:p>
                      <a:r>
                        <a:rPr lang="en-GB" sz="2800"/>
                        <a:t>S103</a:t>
                      </a:r>
                    </a:p>
                  </a:txBody>
                  <a:tcPr marL="82784" marR="82784" anchor="ctr"/>
                </a:tc>
                <a:tc>
                  <a:txBody>
                    <a:bodyPr/>
                    <a:lstStyle/>
                    <a:p>
                      <a:r>
                        <a:rPr lang="en-GB" sz="2800"/>
                        <a:t>Sara</a:t>
                      </a:r>
                    </a:p>
                  </a:txBody>
                  <a:tcPr marL="82784" marR="82784" anchor="ctr"/>
                </a:tc>
                <a:tc>
                  <a:txBody>
                    <a:bodyPr/>
                    <a:lstStyle/>
                    <a:p>
                      <a:r>
                        <a:rPr lang="en-GB" sz="2800"/>
                        <a:t>BSCS</a:t>
                      </a:r>
                    </a:p>
                  </a:txBody>
                  <a:tcPr marL="82784" marR="82784" anchor="ctr"/>
                </a:tc>
                <a:tc>
                  <a:txBody>
                    <a:bodyPr/>
                    <a:lstStyle/>
                    <a:p>
                      <a:pPr algn="r"/>
                      <a:r>
                        <a:rPr lang="en-PK" sz="2800" dirty="0"/>
                        <a:t>2</a:t>
                      </a:r>
                    </a:p>
                  </a:txBody>
                  <a:tcPr marL="82784" marR="82784" anchor="ctr"/>
                </a:tc>
                <a:extLst>
                  <a:ext uri="{0D108BD9-81ED-4DB2-BD59-A6C34878D82A}">
                    <a16:rowId xmlns:a16="http://schemas.microsoft.com/office/drawing/2014/main" val="429343999"/>
                  </a:ext>
                </a:extLst>
              </a:tr>
            </a:tbl>
          </a:graphicData>
        </a:graphic>
      </p:graphicFrame>
      <p:sp>
        <p:nvSpPr>
          <p:cNvPr id="8" name="TextBox 7">
            <a:extLst>
              <a:ext uri="{FF2B5EF4-FFF2-40B4-BE49-F238E27FC236}">
                <a16:creationId xmlns:a16="http://schemas.microsoft.com/office/drawing/2014/main" id="{43A984EB-17C0-440C-886D-8BC1765E8EE5}"/>
              </a:ext>
            </a:extLst>
          </p:cNvPr>
          <p:cNvSpPr txBox="1"/>
          <p:nvPr/>
        </p:nvSpPr>
        <p:spPr>
          <a:xfrm>
            <a:off x="838200" y="4153614"/>
            <a:ext cx="10515600" cy="1569660"/>
          </a:xfrm>
          <a:prstGeom prst="rect">
            <a:avLst/>
          </a:prstGeom>
          <a:noFill/>
        </p:spPr>
        <p:txBody>
          <a:bodyPr wrap="square">
            <a:spAutoFit/>
          </a:bodyPr>
          <a:lstStyle/>
          <a:p>
            <a:r>
              <a:rPr lang="en-GB" sz="3200" dirty="0"/>
              <a:t>What does each row represent? </a:t>
            </a:r>
          </a:p>
          <a:p>
            <a:r>
              <a:rPr lang="en-GB" sz="3200" dirty="0"/>
              <a:t>What does each column describe? </a:t>
            </a:r>
          </a:p>
          <a:p>
            <a:r>
              <a:rPr lang="en-GB" sz="3200" dirty="0"/>
              <a:t>Which column could uniquely identify a student?</a:t>
            </a:r>
          </a:p>
        </p:txBody>
      </p:sp>
    </p:spTree>
    <p:extLst>
      <p:ext uri="{BB962C8B-B14F-4D97-AF65-F5344CB8AC3E}">
        <p14:creationId xmlns:p14="http://schemas.microsoft.com/office/powerpoint/2010/main" val="110293222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192B25-9862-48BD-8EBE-7D3C63FAB7F1}"/>
              </a:ext>
            </a:extLst>
          </p:cNvPr>
          <p:cNvSpPr>
            <a:spLocks noGrp="1"/>
          </p:cNvSpPr>
          <p:nvPr>
            <p:ph type="title"/>
          </p:nvPr>
        </p:nvSpPr>
        <p:spPr/>
        <p:txBody>
          <a:bodyPr/>
          <a:lstStyle/>
          <a:p>
            <a:r>
              <a:rPr lang="en-GB" dirty="0"/>
              <a:t>Understanding Relation Model</a:t>
            </a:r>
            <a:endParaRPr lang="en-PK" dirty="0"/>
          </a:p>
        </p:txBody>
      </p:sp>
      <p:sp>
        <p:nvSpPr>
          <p:cNvPr id="3" name="Content Placeholder 2">
            <a:extLst>
              <a:ext uri="{FF2B5EF4-FFF2-40B4-BE49-F238E27FC236}">
                <a16:creationId xmlns:a16="http://schemas.microsoft.com/office/drawing/2014/main" id="{0B0E24DA-E104-488F-B7DD-FB6C928E74EF}"/>
              </a:ext>
            </a:extLst>
          </p:cNvPr>
          <p:cNvSpPr>
            <a:spLocks noGrp="1"/>
          </p:cNvSpPr>
          <p:nvPr>
            <p:ph idx="1"/>
          </p:nvPr>
        </p:nvSpPr>
        <p:spPr/>
        <p:txBody>
          <a:bodyPr>
            <a:normAutofit fontScale="85000" lnSpcReduction="20000"/>
          </a:bodyPr>
          <a:lstStyle/>
          <a:p>
            <a:r>
              <a:rPr lang="en-GB" dirty="0"/>
              <a:t>A </a:t>
            </a:r>
            <a:r>
              <a:rPr lang="en-GB" b="1" dirty="0"/>
              <a:t>relation</a:t>
            </a:r>
            <a:r>
              <a:rPr lang="en-GB" dirty="0"/>
              <a:t> is a named collection of related records represented mathematically as a set of tuples.</a:t>
            </a:r>
          </a:p>
          <a:p>
            <a:r>
              <a:rPr lang="en-GB" dirty="0"/>
              <a:t>The above table shows data relevant to student details </a:t>
            </a:r>
            <a:r>
              <a:rPr lang="en-GB" dirty="0">
                <a:sym typeface="Wingdings" panose="05000000000000000000" pitchFamily="2" charset="2"/>
              </a:rPr>
              <a:t> Relation name : </a:t>
            </a:r>
            <a:r>
              <a:rPr lang="en-GB" b="1" dirty="0">
                <a:sym typeface="Wingdings" panose="05000000000000000000" pitchFamily="2" charset="2"/>
              </a:rPr>
              <a:t>STUDENT</a:t>
            </a:r>
          </a:p>
          <a:p>
            <a:endParaRPr lang="en-GB" b="1" dirty="0">
              <a:sym typeface="Wingdings" panose="05000000000000000000" pitchFamily="2" charset="2"/>
            </a:endParaRPr>
          </a:p>
          <a:p>
            <a:r>
              <a:rPr lang="en-GB" b="1" dirty="0"/>
              <a:t>Relation: Complete table</a:t>
            </a:r>
          </a:p>
          <a:p>
            <a:r>
              <a:rPr lang="en-GB" b="1" dirty="0"/>
              <a:t>Attribute: Named column</a:t>
            </a:r>
          </a:p>
          <a:p>
            <a:r>
              <a:rPr lang="en-GB" b="1" dirty="0"/>
              <a:t>Tuple: Complete row</a:t>
            </a:r>
          </a:p>
          <a:p>
            <a:r>
              <a:rPr lang="en-GB" b="1" dirty="0"/>
              <a:t>Value: One individual data item</a:t>
            </a:r>
          </a:p>
          <a:p>
            <a:r>
              <a:rPr lang="en-GB" b="1" dirty="0"/>
              <a:t>Domain: Set of permitted values</a:t>
            </a:r>
            <a:endParaRPr lang="en-PK" b="1" dirty="0"/>
          </a:p>
        </p:txBody>
      </p:sp>
    </p:spTree>
    <p:extLst>
      <p:ext uri="{BB962C8B-B14F-4D97-AF65-F5344CB8AC3E}">
        <p14:creationId xmlns:p14="http://schemas.microsoft.com/office/powerpoint/2010/main" val="376204025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4EDBDD-28C7-4F94-917F-66E9640B05F9}"/>
              </a:ext>
            </a:extLst>
          </p:cNvPr>
          <p:cNvSpPr>
            <a:spLocks noGrp="1"/>
          </p:cNvSpPr>
          <p:nvPr>
            <p:ph type="title"/>
          </p:nvPr>
        </p:nvSpPr>
        <p:spPr/>
        <p:txBody>
          <a:bodyPr/>
          <a:lstStyle/>
          <a:p>
            <a:r>
              <a:rPr lang="en-GB" dirty="0"/>
              <a:t>Understanding Relation Model</a:t>
            </a:r>
            <a:endParaRPr lang="en-PK" dirty="0"/>
          </a:p>
        </p:txBody>
      </p:sp>
      <p:sp>
        <p:nvSpPr>
          <p:cNvPr id="3" name="Content Placeholder 2">
            <a:extLst>
              <a:ext uri="{FF2B5EF4-FFF2-40B4-BE49-F238E27FC236}">
                <a16:creationId xmlns:a16="http://schemas.microsoft.com/office/drawing/2014/main" id="{3BB8DAAD-AB5E-47BC-83A7-92D6DB07908C}"/>
              </a:ext>
            </a:extLst>
          </p:cNvPr>
          <p:cNvSpPr>
            <a:spLocks noGrp="1"/>
          </p:cNvSpPr>
          <p:nvPr>
            <p:ph idx="1"/>
          </p:nvPr>
        </p:nvSpPr>
        <p:spPr/>
        <p:txBody>
          <a:bodyPr/>
          <a:lstStyle/>
          <a:p>
            <a:r>
              <a:rPr lang="en-GB" dirty="0"/>
              <a:t>Suggest three attributes for an ATM_MACHINE relation.</a:t>
            </a:r>
          </a:p>
          <a:p>
            <a:pPr marL="0" indent="0">
              <a:buNone/>
            </a:pPr>
            <a:r>
              <a:rPr lang="en-GB" b="1" dirty="0"/>
              <a:t>Domains Control Permitted Values: </a:t>
            </a:r>
            <a:r>
              <a:rPr lang="en-GB" dirty="0"/>
              <a:t>A </a:t>
            </a:r>
            <a:r>
              <a:rPr lang="en-GB" b="1" dirty="0"/>
              <a:t>domain</a:t>
            </a:r>
            <a:r>
              <a:rPr lang="en-GB" dirty="0"/>
              <a:t> is the set of valid values that an attribute may contain.</a:t>
            </a:r>
          </a:p>
          <a:p>
            <a:pPr marL="0" indent="0">
              <a:buNone/>
            </a:pPr>
            <a:endParaRPr lang="en-GB" b="1" dirty="0"/>
          </a:p>
          <a:p>
            <a:pPr marL="0" indent="0">
              <a:buNone/>
            </a:pPr>
            <a:endParaRPr lang="en-PK" b="1" dirty="0"/>
          </a:p>
        </p:txBody>
      </p:sp>
      <p:graphicFrame>
        <p:nvGraphicFramePr>
          <p:cNvPr id="5" name="Table 4">
            <a:extLst>
              <a:ext uri="{FF2B5EF4-FFF2-40B4-BE49-F238E27FC236}">
                <a16:creationId xmlns:a16="http://schemas.microsoft.com/office/drawing/2014/main" id="{C86BE03C-8446-432E-9015-4DF655594A3C}"/>
              </a:ext>
            </a:extLst>
          </p:cNvPr>
          <p:cNvGraphicFramePr>
            <a:graphicFrameLocks noGrp="1"/>
          </p:cNvGraphicFramePr>
          <p:nvPr>
            <p:extLst>
              <p:ext uri="{D42A27DB-BD31-4B8C-83A1-F6EECF244321}">
                <p14:modId xmlns:p14="http://schemas.microsoft.com/office/powerpoint/2010/main" val="1228892117"/>
              </p:ext>
            </p:extLst>
          </p:nvPr>
        </p:nvGraphicFramePr>
        <p:xfrm>
          <a:off x="838200" y="3310281"/>
          <a:ext cx="10515600" cy="2743200"/>
        </p:xfrm>
        <a:graphic>
          <a:graphicData uri="http://schemas.openxmlformats.org/drawingml/2006/table">
            <a:tbl>
              <a:tblPr>
                <a:tableStyleId>{D7AC3CCA-C797-4891-BE02-D94E43425B78}</a:tableStyleId>
              </a:tblPr>
              <a:tblGrid>
                <a:gridCol w="5257800">
                  <a:extLst>
                    <a:ext uri="{9D8B030D-6E8A-4147-A177-3AD203B41FA5}">
                      <a16:colId xmlns:a16="http://schemas.microsoft.com/office/drawing/2014/main" val="1465393196"/>
                    </a:ext>
                  </a:extLst>
                </a:gridCol>
                <a:gridCol w="5257800">
                  <a:extLst>
                    <a:ext uri="{9D8B030D-6E8A-4147-A177-3AD203B41FA5}">
                      <a16:colId xmlns:a16="http://schemas.microsoft.com/office/drawing/2014/main" val="1183267829"/>
                    </a:ext>
                  </a:extLst>
                </a:gridCol>
              </a:tblGrid>
              <a:tr h="0">
                <a:tc>
                  <a:txBody>
                    <a:bodyPr/>
                    <a:lstStyle/>
                    <a:p>
                      <a:r>
                        <a:rPr lang="en-GB" sz="2400" b="1"/>
                        <a:t>Attribute</a:t>
                      </a:r>
                    </a:p>
                  </a:txBody>
                  <a:tcPr anchor="ctr"/>
                </a:tc>
                <a:tc>
                  <a:txBody>
                    <a:bodyPr/>
                    <a:lstStyle/>
                    <a:p>
                      <a:r>
                        <a:rPr lang="en-GB" sz="2400" b="1" dirty="0"/>
                        <a:t>Example domain</a:t>
                      </a:r>
                    </a:p>
                  </a:txBody>
                  <a:tcPr anchor="ctr"/>
                </a:tc>
                <a:extLst>
                  <a:ext uri="{0D108BD9-81ED-4DB2-BD59-A6C34878D82A}">
                    <a16:rowId xmlns:a16="http://schemas.microsoft.com/office/drawing/2014/main" val="997576021"/>
                  </a:ext>
                </a:extLst>
              </a:tr>
              <a:tr h="0">
                <a:tc>
                  <a:txBody>
                    <a:bodyPr/>
                    <a:lstStyle/>
                    <a:p>
                      <a:r>
                        <a:rPr lang="en-GB" sz="2400"/>
                        <a:t>student_id</a:t>
                      </a:r>
                    </a:p>
                  </a:txBody>
                  <a:tcPr anchor="ctr"/>
                </a:tc>
                <a:tc>
                  <a:txBody>
                    <a:bodyPr/>
                    <a:lstStyle/>
                    <a:p>
                      <a:r>
                        <a:rPr lang="en-GB" sz="2400"/>
                        <a:t>Valid university registration numbers</a:t>
                      </a:r>
                    </a:p>
                  </a:txBody>
                  <a:tcPr anchor="ctr"/>
                </a:tc>
                <a:extLst>
                  <a:ext uri="{0D108BD9-81ED-4DB2-BD59-A6C34878D82A}">
                    <a16:rowId xmlns:a16="http://schemas.microsoft.com/office/drawing/2014/main" val="3794013602"/>
                  </a:ext>
                </a:extLst>
              </a:tr>
              <a:tr h="0">
                <a:tc>
                  <a:txBody>
                    <a:bodyPr/>
                    <a:lstStyle/>
                    <a:p>
                      <a:r>
                        <a:rPr lang="en-GB" sz="2400"/>
                        <a:t>name</a:t>
                      </a:r>
                    </a:p>
                  </a:txBody>
                  <a:tcPr anchor="ctr"/>
                </a:tc>
                <a:tc>
                  <a:txBody>
                    <a:bodyPr/>
                    <a:lstStyle/>
                    <a:p>
                      <a:r>
                        <a:rPr lang="en-GB" sz="2400"/>
                        <a:t>Character strings</a:t>
                      </a:r>
                    </a:p>
                  </a:txBody>
                  <a:tcPr anchor="ctr"/>
                </a:tc>
                <a:extLst>
                  <a:ext uri="{0D108BD9-81ED-4DB2-BD59-A6C34878D82A}">
                    <a16:rowId xmlns:a16="http://schemas.microsoft.com/office/drawing/2014/main" val="1470810293"/>
                  </a:ext>
                </a:extLst>
              </a:tr>
              <a:tr h="0">
                <a:tc>
                  <a:txBody>
                    <a:bodyPr/>
                    <a:lstStyle/>
                    <a:p>
                      <a:r>
                        <a:rPr lang="en-GB" sz="2400"/>
                        <a:t>semester</a:t>
                      </a:r>
                    </a:p>
                  </a:txBody>
                  <a:tcPr anchor="ctr"/>
                </a:tc>
                <a:tc>
                  <a:txBody>
                    <a:bodyPr/>
                    <a:lstStyle/>
                    <a:p>
                      <a:r>
                        <a:rPr lang="en-GB" sz="2400"/>
                        <a:t>Integers from 1 to 8</a:t>
                      </a:r>
                    </a:p>
                  </a:txBody>
                  <a:tcPr anchor="ctr"/>
                </a:tc>
                <a:extLst>
                  <a:ext uri="{0D108BD9-81ED-4DB2-BD59-A6C34878D82A}">
                    <a16:rowId xmlns:a16="http://schemas.microsoft.com/office/drawing/2014/main" val="567861416"/>
                  </a:ext>
                </a:extLst>
              </a:tr>
              <a:tr h="0">
                <a:tc>
                  <a:txBody>
                    <a:bodyPr/>
                    <a:lstStyle/>
                    <a:p>
                      <a:r>
                        <a:rPr lang="en-GB" sz="2400"/>
                        <a:t>program</a:t>
                      </a:r>
                    </a:p>
                  </a:txBody>
                  <a:tcPr anchor="ctr"/>
                </a:tc>
                <a:tc>
                  <a:txBody>
                    <a:bodyPr/>
                    <a:lstStyle/>
                    <a:p>
                      <a:r>
                        <a:rPr lang="en-GB" sz="2400"/>
                        <a:t>BSCS, BSAI, BSSE</a:t>
                      </a:r>
                    </a:p>
                  </a:txBody>
                  <a:tcPr anchor="ctr"/>
                </a:tc>
                <a:extLst>
                  <a:ext uri="{0D108BD9-81ED-4DB2-BD59-A6C34878D82A}">
                    <a16:rowId xmlns:a16="http://schemas.microsoft.com/office/drawing/2014/main" val="2169331874"/>
                  </a:ext>
                </a:extLst>
              </a:tr>
              <a:tr h="0">
                <a:tc>
                  <a:txBody>
                    <a:bodyPr/>
                    <a:lstStyle/>
                    <a:p>
                      <a:r>
                        <a:rPr lang="en-GB" sz="2400"/>
                        <a:t>grade</a:t>
                      </a:r>
                    </a:p>
                  </a:txBody>
                  <a:tcPr anchor="ctr"/>
                </a:tc>
                <a:tc>
                  <a:txBody>
                    <a:bodyPr/>
                    <a:lstStyle/>
                    <a:p>
                      <a:r>
                        <a:rPr lang="en-GB" sz="2400" dirty="0"/>
                        <a:t>A, B+, B, C+, C, D, F</a:t>
                      </a:r>
                    </a:p>
                  </a:txBody>
                  <a:tcPr anchor="ctr"/>
                </a:tc>
                <a:extLst>
                  <a:ext uri="{0D108BD9-81ED-4DB2-BD59-A6C34878D82A}">
                    <a16:rowId xmlns:a16="http://schemas.microsoft.com/office/drawing/2014/main" val="2566640984"/>
                  </a:ext>
                </a:extLst>
              </a:tr>
            </a:tbl>
          </a:graphicData>
        </a:graphic>
      </p:graphicFrame>
      <p:sp>
        <p:nvSpPr>
          <p:cNvPr id="7" name="TextBox 6">
            <a:extLst>
              <a:ext uri="{FF2B5EF4-FFF2-40B4-BE49-F238E27FC236}">
                <a16:creationId xmlns:a16="http://schemas.microsoft.com/office/drawing/2014/main" id="{E6AD74F9-2E02-4552-9E47-F38E28051092}"/>
              </a:ext>
            </a:extLst>
          </p:cNvPr>
          <p:cNvSpPr txBox="1"/>
          <p:nvPr/>
        </p:nvSpPr>
        <p:spPr>
          <a:xfrm>
            <a:off x="838200" y="6355987"/>
            <a:ext cx="10079516" cy="523220"/>
          </a:xfrm>
          <a:prstGeom prst="rect">
            <a:avLst/>
          </a:prstGeom>
          <a:noFill/>
        </p:spPr>
        <p:txBody>
          <a:bodyPr wrap="square">
            <a:spAutoFit/>
          </a:bodyPr>
          <a:lstStyle/>
          <a:p>
            <a:r>
              <a:rPr lang="en-GB" sz="2800" dirty="0"/>
              <a:t>A domain provides meaning and restricts invalid values</a:t>
            </a:r>
            <a:endParaRPr lang="en-PK" sz="2800" dirty="0"/>
          </a:p>
        </p:txBody>
      </p:sp>
    </p:spTree>
    <p:extLst>
      <p:ext uri="{BB962C8B-B14F-4D97-AF65-F5344CB8AC3E}">
        <p14:creationId xmlns:p14="http://schemas.microsoft.com/office/powerpoint/2010/main" val="412947999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E26764-3A04-43AE-B60A-394D909242F5}"/>
              </a:ext>
            </a:extLst>
          </p:cNvPr>
          <p:cNvSpPr>
            <a:spLocks noGrp="1"/>
          </p:cNvSpPr>
          <p:nvPr>
            <p:ph type="title"/>
          </p:nvPr>
        </p:nvSpPr>
        <p:spPr/>
        <p:txBody>
          <a:bodyPr/>
          <a:lstStyle/>
          <a:p>
            <a:r>
              <a:rPr lang="en-GB" dirty="0"/>
              <a:t>Degree and Cardinality of a Relation</a:t>
            </a:r>
            <a:endParaRPr lang="en-PK" dirty="0"/>
          </a:p>
        </p:txBody>
      </p:sp>
      <p:sp>
        <p:nvSpPr>
          <p:cNvPr id="3" name="Content Placeholder 2">
            <a:extLst>
              <a:ext uri="{FF2B5EF4-FFF2-40B4-BE49-F238E27FC236}">
                <a16:creationId xmlns:a16="http://schemas.microsoft.com/office/drawing/2014/main" id="{55A7F4D5-D3DB-449B-8B18-DFDAE9FED9DE}"/>
              </a:ext>
            </a:extLst>
          </p:cNvPr>
          <p:cNvSpPr>
            <a:spLocks noGrp="1"/>
          </p:cNvSpPr>
          <p:nvPr>
            <p:ph idx="1"/>
          </p:nvPr>
        </p:nvSpPr>
        <p:spPr/>
        <p:txBody>
          <a:bodyPr>
            <a:normAutofit fontScale="92500" lnSpcReduction="20000"/>
          </a:bodyPr>
          <a:lstStyle/>
          <a:p>
            <a:r>
              <a:rPr lang="en-GB" dirty="0"/>
              <a:t>Two useful measurements describe a relation.</a:t>
            </a:r>
          </a:p>
          <a:p>
            <a:pPr lvl="1"/>
            <a:r>
              <a:rPr lang="en-GB" b="1" dirty="0"/>
              <a:t>Degree: </a:t>
            </a:r>
            <a:r>
              <a:rPr lang="en-GB" dirty="0"/>
              <a:t>The number of attributes or columns.</a:t>
            </a:r>
          </a:p>
          <a:p>
            <a:pPr lvl="1"/>
            <a:r>
              <a:rPr lang="en-GB" b="1" dirty="0"/>
              <a:t>Cardinality: </a:t>
            </a:r>
            <a:r>
              <a:rPr lang="en-GB" dirty="0"/>
              <a:t>The number of tuples or rows in the current relation instance.</a:t>
            </a:r>
          </a:p>
          <a:p>
            <a:pPr marL="457200" lvl="1" indent="0">
              <a:buNone/>
            </a:pPr>
            <a:endParaRPr lang="en-GB" dirty="0"/>
          </a:p>
          <a:p>
            <a:r>
              <a:rPr lang="en-GB" dirty="0"/>
              <a:t>STUDENT(</a:t>
            </a:r>
            <a:r>
              <a:rPr lang="en-GB" dirty="0" err="1"/>
              <a:t>student_id</a:t>
            </a:r>
            <a:r>
              <a:rPr lang="en-GB" dirty="0"/>
              <a:t>, name, program, semester)</a:t>
            </a:r>
          </a:p>
          <a:p>
            <a:pPr marL="0" indent="0">
              <a:buNone/>
            </a:pPr>
            <a:r>
              <a:rPr lang="en-GB" dirty="0"/>
              <a:t>Degree ? Cardinality ? </a:t>
            </a:r>
          </a:p>
          <a:p>
            <a:pPr marL="0" indent="0">
              <a:buNone/>
            </a:pPr>
            <a:r>
              <a:rPr lang="en-GB" dirty="0"/>
              <a:t>Degree = 4</a:t>
            </a:r>
          </a:p>
          <a:p>
            <a:pPr marL="0" indent="0">
              <a:buNone/>
            </a:pPr>
            <a:r>
              <a:rPr lang="en-GB" dirty="0"/>
              <a:t>If 300 student records exist, cardinality = 300</a:t>
            </a:r>
          </a:p>
          <a:p>
            <a:pPr marL="0" indent="0">
              <a:buNone/>
            </a:pPr>
            <a:r>
              <a:rPr lang="en-GB" b="1" dirty="0"/>
              <a:t>Key point</a:t>
            </a:r>
            <a:r>
              <a:rPr lang="en-GB" dirty="0"/>
              <a:t>: Here cardinality refers to Relation/Table cardinality</a:t>
            </a:r>
            <a:endParaRPr lang="en-PK" dirty="0"/>
          </a:p>
        </p:txBody>
      </p:sp>
    </p:spTree>
    <p:extLst>
      <p:ext uri="{BB962C8B-B14F-4D97-AF65-F5344CB8AC3E}">
        <p14:creationId xmlns:p14="http://schemas.microsoft.com/office/powerpoint/2010/main" val="22873454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Effect transition="in" filter="fade">
                                      <p:cBhvr>
                                        <p:cTn id="7" dur="1000"/>
                                        <p:tgtEl>
                                          <p:spTgt spid="3">
                                            <p:txEl>
                                              <p:pRg st="6" end="6"/>
                                            </p:txEl>
                                          </p:spTgt>
                                        </p:tgtEl>
                                      </p:cBhvr>
                                    </p:animEffect>
                                    <p:anim calcmode="lin" valueType="num">
                                      <p:cBhvr>
                                        <p:cTn id="8"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6" end="6"/>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7" end="7"/>
                                            </p:txEl>
                                          </p:spTgt>
                                        </p:tgtEl>
                                        <p:attrNameLst>
                                          <p:attrName>style.visibility</p:attrName>
                                        </p:attrNameLst>
                                      </p:cBhvr>
                                      <p:to>
                                        <p:strVal val="visible"/>
                                      </p:to>
                                    </p:set>
                                    <p:animEffect transition="in" filter="fade">
                                      <p:cBhvr>
                                        <p:cTn id="12" dur="1000"/>
                                        <p:tgtEl>
                                          <p:spTgt spid="3">
                                            <p:txEl>
                                              <p:pRg st="7" end="7"/>
                                            </p:txEl>
                                          </p:spTgt>
                                        </p:tgtEl>
                                      </p:cBhvr>
                                    </p:animEffect>
                                    <p:anim calcmode="lin" valueType="num">
                                      <p:cBhvr>
                                        <p:cTn id="13"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animEffect transition="in" filter="fade">
                                      <p:cBhvr>
                                        <p:cTn id="19" dur="1000"/>
                                        <p:tgtEl>
                                          <p:spTgt spid="3">
                                            <p:txEl>
                                              <p:pRg st="8" end="8"/>
                                            </p:txEl>
                                          </p:spTgt>
                                        </p:tgtEl>
                                      </p:cBhvr>
                                    </p:animEffect>
                                    <p:anim calcmode="lin" valueType="num">
                                      <p:cBhvr>
                                        <p:cTn id="20"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BB12F-DE4C-4B1E-825B-D673351C90EE}"/>
              </a:ext>
            </a:extLst>
          </p:cNvPr>
          <p:cNvSpPr>
            <a:spLocks noGrp="1"/>
          </p:cNvSpPr>
          <p:nvPr>
            <p:ph type="title"/>
          </p:nvPr>
        </p:nvSpPr>
        <p:spPr/>
        <p:txBody>
          <a:bodyPr/>
          <a:lstStyle/>
          <a:p>
            <a:r>
              <a:rPr lang="en-GB" dirty="0"/>
              <a:t>Properties of a Relation</a:t>
            </a:r>
            <a:endParaRPr lang="en-PK" dirty="0"/>
          </a:p>
        </p:txBody>
      </p:sp>
      <p:sp>
        <p:nvSpPr>
          <p:cNvPr id="3" name="Content Placeholder 2">
            <a:extLst>
              <a:ext uri="{FF2B5EF4-FFF2-40B4-BE49-F238E27FC236}">
                <a16:creationId xmlns:a16="http://schemas.microsoft.com/office/drawing/2014/main" id="{899D28C3-5262-42BD-9C7F-9D14F6A9A6EF}"/>
              </a:ext>
            </a:extLst>
          </p:cNvPr>
          <p:cNvSpPr>
            <a:spLocks noGrp="1"/>
          </p:cNvSpPr>
          <p:nvPr>
            <p:ph idx="1"/>
          </p:nvPr>
        </p:nvSpPr>
        <p:spPr/>
        <p:txBody>
          <a:bodyPr>
            <a:normAutofit fontScale="70000" lnSpcReduction="20000"/>
          </a:bodyPr>
          <a:lstStyle/>
          <a:p>
            <a:r>
              <a:rPr lang="en-GB" sz="3600" dirty="0"/>
              <a:t>In the theoretical relational model:</a:t>
            </a:r>
          </a:p>
          <a:p>
            <a:pPr lvl="1"/>
            <a:r>
              <a:rPr lang="en-GB" sz="3200" dirty="0"/>
              <a:t>Every relation has a </a:t>
            </a:r>
            <a:r>
              <a:rPr lang="en-GB" sz="3200" b="1" dirty="0"/>
              <a:t>unique name</a:t>
            </a:r>
            <a:r>
              <a:rPr lang="en-GB" sz="3200" dirty="0"/>
              <a:t>. </a:t>
            </a:r>
          </a:p>
          <a:p>
            <a:pPr lvl="1"/>
            <a:r>
              <a:rPr lang="en-GB" sz="3200" dirty="0"/>
              <a:t>Every </a:t>
            </a:r>
            <a:r>
              <a:rPr lang="en-GB" sz="3200" b="1" dirty="0"/>
              <a:t>attribute</a:t>
            </a:r>
            <a:r>
              <a:rPr lang="en-GB" sz="3200" dirty="0"/>
              <a:t> has a </a:t>
            </a:r>
            <a:r>
              <a:rPr lang="en-GB" sz="3200" b="1" dirty="0"/>
              <a:t>unique name </a:t>
            </a:r>
            <a:r>
              <a:rPr lang="en-GB" sz="3200" dirty="0"/>
              <a:t>within the relation. </a:t>
            </a:r>
          </a:p>
          <a:p>
            <a:pPr lvl="1"/>
            <a:r>
              <a:rPr lang="en-GB" sz="3200" dirty="0"/>
              <a:t>Each attribute draws values from a domain. </a:t>
            </a:r>
          </a:p>
          <a:p>
            <a:pPr lvl="1"/>
            <a:r>
              <a:rPr lang="en-GB" sz="3200" dirty="0"/>
              <a:t>Each cell contains one atomic value. </a:t>
            </a:r>
          </a:p>
          <a:p>
            <a:pPr lvl="1"/>
            <a:r>
              <a:rPr lang="en-GB" sz="3200" dirty="0"/>
              <a:t>Duplicate tuples are not allowed. </a:t>
            </a:r>
          </a:p>
          <a:p>
            <a:pPr lvl="1"/>
            <a:r>
              <a:rPr lang="en-GB" sz="3200" dirty="0"/>
              <a:t>Tuple order has no logical meaning. </a:t>
            </a:r>
          </a:p>
          <a:p>
            <a:pPr lvl="1"/>
            <a:r>
              <a:rPr lang="en-GB" sz="3200" dirty="0"/>
              <a:t>Attribute order has no logical meaning.</a:t>
            </a:r>
          </a:p>
          <a:p>
            <a:endParaRPr lang="en-PK" sz="3600" dirty="0"/>
          </a:p>
        </p:txBody>
      </p:sp>
    </p:spTree>
    <p:extLst>
      <p:ext uri="{BB962C8B-B14F-4D97-AF65-F5344CB8AC3E}">
        <p14:creationId xmlns:p14="http://schemas.microsoft.com/office/powerpoint/2010/main" val="237486681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4942BF-3A39-401B-B9B7-0075865D4C5C}"/>
              </a:ext>
            </a:extLst>
          </p:cNvPr>
          <p:cNvSpPr>
            <a:spLocks noGrp="1"/>
          </p:cNvSpPr>
          <p:nvPr>
            <p:ph type="title"/>
          </p:nvPr>
        </p:nvSpPr>
        <p:spPr/>
        <p:txBody>
          <a:bodyPr/>
          <a:lstStyle/>
          <a:p>
            <a:r>
              <a:rPr lang="en-GB" dirty="0"/>
              <a:t>Class Activity</a:t>
            </a:r>
            <a:endParaRPr lang="en-PK" dirty="0"/>
          </a:p>
        </p:txBody>
      </p:sp>
      <p:sp>
        <p:nvSpPr>
          <p:cNvPr id="3" name="Content Placeholder 2">
            <a:extLst>
              <a:ext uri="{FF2B5EF4-FFF2-40B4-BE49-F238E27FC236}">
                <a16:creationId xmlns:a16="http://schemas.microsoft.com/office/drawing/2014/main" id="{46156AEC-01F8-44A6-9212-0063933349E5}"/>
              </a:ext>
            </a:extLst>
          </p:cNvPr>
          <p:cNvSpPr>
            <a:spLocks noGrp="1"/>
          </p:cNvSpPr>
          <p:nvPr>
            <p:ph idx="1"/>
          </p:nvPr>
        </p:nvSpPr>
        <p:spPr/>
        <p:txBody>
          <a:bodyPr/>
          <a:lstStyle/>
          <a:p>
            <a:pPr marL="0" indent="0">
              <a:buNone/>
            </a:pPr>
            <a:r>
              <a:rPr lang="en-GB" dirty="0"/>
              <a:t>The university stores course registrations in the following relation:</a:t>
            </a:r>
          </a:p>
          <a:p>
            <a:pPr marL="0" indent="0">
              <a:buNone/>
            </a:pPr>
            <a:endParaRPr lang="en-PK" dirty="0"/>
          </a:p>
        </p:txBody>
      </p:sp>
      <p:graphicFrame>
        <p:nvGraphicFramePr>
          <p:cNvPr id="4" name="Table 3">
            <a:extLst>
              <a:ext uri="{FF2B5EF4-FFF2-40B4-BE49-F238E27FC236}">
                <a16:creationId xmlns:a16="http://schemas.microsoft.com/office/drawing/2014/main" id="{7D1A645A-AEA6-4BFE-A528-303F267FAFC4}"/>
              </a:ext>
            </a:extLst>
          </p:cNvPr>
          <p:cNvGraphicFramePr>
            <a:graphicFrameLocks noGrp="1"/>
          </p:cNvGraphicFramePr>
          <p:nvPr/>
        </p:nvGraphicFramePr>
        <p:xfrm>
          <a:off x="838197" y="2410460"/>
          <a:ext cx="10515603" cy="3901440"/>
        </p:xfrm>
        <a:graphic>
          <a:graphicData uri="http://schemas.openxmlformats.org/drawingml/2006/table">
            <a:tbl>
              <a:tblPr>
                <a:tableStyleId>{D7AC3CCA-C797-4891-BE02-D94E43425B78}</a:tableStyleId>
              </a:tblPr>
              <a:tblGrid>
                <a:gridCol w="1502229">
                  <a:extLst>
                    <a:ext uri="{9D8B030D-6E8A-4147-A177-3AD203B41FA5}">
                      <a16:colId xmlns:a16="http://schemas.microsoft.com/office/drawing/2014/main" val="4101505806"/>
                    </a:ext>
                  </a:extLst>
                </a:gridCol>
                <a:gridCol w="1502229">
                  <a:extLst>
                    <a:ext uri="{9D8B030D-6E8A-4147-A177-3AD203B41FA5}">
                      <a16:colId xmlns:a16="http://schemas.microsoft.com/office/drawing/2014/main" val="836346751"/>
                    </a:ext>
                  </a:extLst>
                </a:gridCol>
                <a:gridCol w="1502229">
                  <a:extLst>
                    <a:ext uri="{9D8B030D-6E8A-4147-A177-3AD203B41FA5}">
                      <a16:colId xmlns:a16="http://schemas.microsoft.com/office/drawing/2014/main" val="1142556074"/>
                    </a:ext>
                  </a:extLst>
                </a:gridCol>
                <a:gridCol w="1502229">
                  <a:extLst>
                    <a:ext uri="{9D8B030D-6E8A-4147-A177-3AD203B41FA5}">
                      <a16:colId xmlns:a16="http://schemas.microsoft.com/office/drawing/2014/main" val="2915812576"/>
                    </a:ext>
                  </a:extLst>
                </a:gridCol>
                <a:gridCol w="1502229">
                  <a:extLst>
                    <a:ext uri="{9D8B030D-6E8A-4147-A177-3AD203B41FA5}">
                      <a16:colId xmlns:a16="http://schemas.microsoft.com/office/drawing/2014/main" val="3456023793"/>
                    </a:ext>
                  </a:extLst>
                </a:gridCol>
                <a:gridCol w="1502229">
                  <a:extLst>
                    <a:ext uri="{9D8B030D-6E8A-4147-A177-3AD203B41FA5}">
                      <a16:colId xmlns:a16="http://schemas.microsoft.com/office/drawing/2014/main" val="652479919"/>
                    </a:ext>
                  </a:extLst>
                </a:gridCol>
                <a:gridCol w="1502229">
                  <a:extLst>
                    <a:ext uri="{9D8B030D-6E8A-4147-A177-3AD203B41FA5}">
                      <a16:colId xmlns:a16="http://schemas.microsoft.com/office/drawing/2014/main" val="2651718213"/>
                    </a:ext>
                  </a:extLst>
                </a:gridCol>
              </a:tblGrid>
              <a:tr h="640080">
                <a:tc>
                  <a:txBody>
                    <a:bodyPr/>
                    <a:lstStyle/>
                    <a:p>
                      <a:r>
                        <a:rPr lang="en-GB" sz="2000" b="1" dirty="0"/>
                        <a:t>Student ID</a:t>
                      </a:r>
                    </a:p>
                  </a:txBody>
                  <a:tcPr anchor="ctr"/>
                </a:tc>
                <a:tc>
                  <a:txBody>
                    <a:bodyPr/>
                    <a:lstStyle/>
                    <a:p>
                      <a:r>
                        <a:rPr lang="en-GB" sz="2000" b="1" dirty="0"/>
                        <a:t>Student Name</a:t>
                      </a:r>
                    </a:p>
                  </a:txBody>
                  <a:tcPr anchor="ctr"/>
                </a:tc>
                <a:tc>
                  <a:txBody>
                    <a:bodyPr/>
                    <a:lstStyle/>
                    <a:p>
                      <a:r>
                        <a:rPr lang="en-GB" sz="2000" b="1" dirty="0"/>
                        <a:t>Program</a:t>
                      </a:r>
                    </a:p>
                  </a:txBody>
                  <a:tcPr anchor="ctr"/>
                </a:tc>
                <a:tc>
                  <a:txBody>
                    <a:bodyPr/>
                    <a:lstStyle/>
                    <a:p>
                      <a:r>
                        <a:rPr lang="en-GB" sz="2000" b="1" dirty="0"/>
                        <a:t>Course ID</a:t>
                      </a:r>
                    </a:p>
                  </a:txBody>
                  <a:tcPr anchor="ctr"/>
                </a:tc>
                <a:tc>
                  <a:txBody>
                    <a:bodyPr/>
                    <a:lstStyle/>
                    <a:p>
                      <a:r>
                        <a:rPr lang="en-GB" sz="2000" b="1" dirty="0"/>
                        <a:t>Course Title</a:t>
                      </a:r>
                    </a:p>
                  </a:txBody>
                  <a:tcPr anchor="ctr"/>
                </a:tc>
                <a:tc>
                  <a:txBody>
                    <a:bodyPr/>
                    <a:lstStyle/>
                    <a:p>
                      <a:pPr algn="r"/>
                      <a:r>
                        <a:rPr lang="en-GB" sz="2000" b="1" dirty="0"/>
                        <a:t>Semester</a:t>
                      </a:r>
                    </a:p>
                  </a:txBody>
                  <a:tcPr anchor="ctr"/>
                </a:tc>
                <a:tc>
                  <a:txBody>
                    <a:bodyPr/>
                    <a:lstStyle/>
                    <a:p>
                      <a:r>
                        <a:rPr lang="en-GB" sz="2000" b="1" dirty="0"/>
                        <a:t>Grade</a:t>
                      </a:r>
                    </a:p>
                  </a:txBody>
                  <a:tcPr anchor="ctr"/>
                </a:tc>
                <a:extLst>
                  <a:ext uri="{0D108BD9-81ED-4DB2-BD59-A6C34878D82A}">
                    <a16:rowId xmlns:a16="http://schemas.microsoft.com/office/drawing/2014/main" val="545981009"/>
                  </a:ext>
                </a:extLst>
              </a:tr>
              <a:tr h="640080">
                <a:tc>
                  <a:txBody>
                    <a:bodyPr/>
                    <a:lstStyle/>
                    <a:p>
                      <a:r>
                        <a:rPr lang="en-GB" sz="1800"/>
                        <a:t>S101</a:t>
                      </a:r>
                    </a:p>
                  </a:txBody>
                  <a:tcPr anchor="ctr"/>
                </a:tc>
                <a:tc>
                  <a:txBody>
                    <a:bodyPr/>
                    <a:lstStyle/>
                    <a:p>
                      <a:r>
                        <a:rPr lang="en-GB" sz="1800"/>
                        <a:t>Ayesha</a:t>
                      </a:r>
                    </a:p>
                  </a:txBody>
                  <a:tcPr anchor="ctr"/>
                </a:tc>
                <a:tc>
                  <a:txBody>
                    <a:bodyPr/>
                    <a:lstStyle/>
                    <a:p>
                      <a:r>
                        <a:rPr lang="en-GB" sz="1800"/>
                        <a:t>BSCS</a:t>
                      </a:r>
                    </a:p>
                  </a:txBody>
                  <a:tcPr anchor="ctr"/>
                </a:tc>
                <a:tc>
                  <a:txBody>
                    <a:bodyPr/>
                    <a:lstStyle/>
                    <a:p>
                      <a:r>
                        <a:rPr lang="en-GB" sz="1800"/>
                        <a:t>CS201</a:t>
                      </a:r>
                    </a:p>
                  </a:txBody>
                  <a:tcPr anchor="ctr"/>
                </a:tc>
                <a:tc>
                  <a:txBody>
                    <a:bodyPr/>
                    <a:lstStyle/>
                    <a:p>
                      <a:r>
                        <a:rPr lang="en-GB" sz="1800"/>
                        <a:t>Database Systems</a:t>
                      </a:r>
                    </a:p>
                  </a:txBody>
                  <a:tcPr anchor="ctr"/>
                </a:tc>
                <a:tc>
                  <a:txBody>
                    <a:bodyPr/>
                    <a:lstStyle/>
                    <a:p>
                      <a:pPr algn="r"/>
                      <a:r>
                        <a:rPr lang="en-PK" sz="1800"/>
                        <a:t>3</a:t>
                      </a:r>
                    </a:p>
                  </a:txBody>
                  <a:tcPr anchor="ctr"/>
                </a:tc>
                <a:tc>
                  <a:txBody>
                    <a:bodyPr/>
                    <a:lstStyle/>
                    <a:p>
                      <a:r>
                        <a:rPr lang="en-GB" sz="1800"/>
                        <a:t>A</a:t>
                      </a:r>
                    </a:p>
                  </a:txBody>
                  <a:tcPr anchor="ctr"/>
                </a:tc>
                <a:extLst>
                  <a:ext uri="{0D108BD9-81ED-4DB2-BD59-A6C34878D82A}">
                    <a16:rowId xmlns:a16="http://schemas.microsoft.com/office/drawing/2014/main" val="4028760508"/>
                  </a:ext>
                </a:extLst>
              </a:tr>
              <a:tr h="640080">
                <a:tc>
                  <a:txBody>
                    <a:bodyPr/>
                    <a:lstStyle/>
                    <a:p>
                      <a:r>
                        <a:rPr lang="en-GB" sz="1800"/>
                        <a:t>S102</a:t>
                      </a:r>
                    </a:p>
                  </a:txBody>
                  <a:tcPr anchor="ctr"/>
                </a:tc>
                <a:tc>
                  <a:txBody>
                    <a:bodyPr/>
                    <a:lstStyle/>
                    <a:p>
                      <a:r>
                        <a:rPr lang="en-GB" sz="1800"/>
                        <a:t>Hamza</a:t>
                      </a:r>
                    </a:p>
                  </a:txBody>
                  <a:tcPr anchor="ctr"/>
                </a:tc>
                <a:tc>
                  <a:txBody>
                    <a:bodyPr/>
                    <a:lstStyle/>
                    <a:p>
                      <a:r>
                        <a:rPr lang="en-GB" sz="1800"/>
                        <a:t>BSAI</a:t>
                      </a:r>
                    </a:p>
                  </a:txBody>
                  <a:tcPr anchor="ctr"/>
                </a:tc>
                <a:tc>
                  <a:txBody>
                    <a:bodyPr/>
                    <a:lstStyle/>
                    <a:p>
                      <a:r>
                        <a:rPr lang="en-GB" sz="1800"/>
                        <a:t>CS201</a:t>
                      </a:r>
                    </a:p>
                  </a:txBody>
                  <a:tcPr anchor="ctr"/>
                </a:tc>
                <a:tc>
                  <a:txBody>
                    <a:bodyPr/>
                    <a:lstStyle/>
                    <a:p>
                      <a:r>
                        <a:rPr lang="en-GB" sz="1800"/>
                        <a:t>Database Systems</a:t>
                      </a:r>
                    </a:p>
                  </a:txBody>
                  <a:tcPr anchor="ctr"/>
                </a:tc>
                <a:tc>
                  <a:txBody>
                    <a:bodyPr/>
                    <a:lstStyle/>
                    <a:p>
                      <a:pPr algn="r"/>
                      <a:r>
                        <a:rPr lang="en-PK" sz="1800"/>
                        <a:t>3</a:t>
                      </a:r>
                    </a:p>
                  </a:txBody>
                  <a:tcPr anchor="ctr"/>
                </a:tc>
                <a:tc>
                  <a:txBody>
                    <a:bodyPr/>
                    <a:lstStyle/>
                    <a:p>
                      <a:r>
                        <a:rPr lang="en-GB" sz="1800"/>
                        <a:t>B+</a:t>
                      </a:r>
                    </a:p>
                  </a:txBody>
                  <a:tcPr anchor="ctr"/>
                </a:tc>
                <a:extLst>
                  <a:ext uri="{0D108BD9-81ED-4DB2-BD59-A6C34878D82A}">
                    <a16:rowId xmlns:a16="http://schemas.microsoft.com/office/drawing/2014/main" val="3285172390"/>
                  </a:ext>
                </a:extLst>
              </a:tr>
              <a:tr h="640080">
                <a:tc>
                  <a:txBody>
                    <a:bodyPr/>
                    <a:lstStyle/>
                    <a:p>
                      <a:r>
                        <a:rPr lang="en-GB" sz="1800"/>
                        <a:t>S101</a:t>
                      </a:r>
                    </a:p>
                  </a:txBody>
                  <a:tcPr anchor="ctr"/>
                </a:tc>
                <a:tc>
                  <a:txBody>
                    <a:bodyPr/>
                    <a:lstStyle/>
                    <a:p>
                      <a:r>
                        <a:rPr lang="en-GB" sz="1800"/>
                        <a:t>Ayesha</a:t>
                      </a:r>
                    </a:p>
                  </a:txBody>
                  <a:tcPr anchor="ctr"/>
                </a:tc>
                <a:tc>
                  <a:txBody>
                    <a:bodyPr/>
                    <a:lstStyle/>
                    <a:p>
                      <a:r>
                        <a:rPr lang="en-GB" sz="1800"/>
                        <a:t>BSCS</a:t>
                      </a:r>
                    </a:p>
                  </a:txBody>
                  <a:tcPr anchor="ctr"/>
                </a:tc>
                <a:tc>
                  <a:txBody>
                    <a:bodyPr/>
                    <a:lstStyle/>
                    <a:p>
                      <a:r>
                        <a:rPr lang="en-GB" sz="1800"/>
                        <a:t>CS205, CS207</a:t>
                      </a:r>
                    </a:p>
                  </a:txBody>
                  <a:tcPr anchor="ctr"/>
                </a:tc>
                <a:tc>
                  <a:txBody>
                    <a:bodyPr/>
                    <a:lstStyle/>
                    <a:p>
                      <a:r>
                        <a:rPr lang="en-GB" sz="1800"/>
                        <a:t>Data Structures</a:t>
                      </a:r>
                    </a:p>
                  </a:txBody>
                  <a:tcPr anchor="ctr"/>
                </a:tc>
                <a:tc>
                  <a:txBody>
                    <a:bodyPr/>
                    <a:lstStyle/>
                    <a:p>
                      <a:pPr algn="r"/>
                      <a:r>
                        <a:rPr lang="en-PK" sz="1800"/>
                        <a:t>3</a:t>
                      </a:r>
                    </a:p>
                  </a:txBody>
                  <a:tcPr anchor="ctr"/>
                </a:tc>
                <a:tc>
                  <a:txBody>
                    <a:bodyPr/>
                    <a:lstStyle/>
                    <a:p>
                      <a:r>
                        <a:rPr lang="en-GB" sz="1800"/>
                        <a:t>A</a:t>
                      </a:r>
                    </a:p>
                  </a:txBody>
                  <a:tcPr anchor="ctr"/>
                </a:tc>
                <a:extLst>
                  <a:ext uri="{0D108BD9-81ED-4DB2-BD59-A6C34878D82A}">
                    <a16:rowId xmlns:a16="http://schemas.microsoft.com/office/drawing/2014/main" val="486950981"/>
                  </a:ext>
                </a:extLst>
              </a:tr>
              <a:tr h="640080">
                <a:tc>
                  <a:txBody>
                    <a:bodyPr/>
                    <a:lstStyle/>
                    <a:p>
                      <a:r>
                        <a:rPr lang="en-GB" sz="1800"/>
                        <a:t>S103</a:t>
                      </a:r>
                    </a:p>
                  </a:txBody>
                  <a:tcPr anchor="ctr"/>
                </a:tc>
                <a:tc>
                  <a:txBody>
                    <a:bodyPr/>
                    <a:lstStyle/>
                    <a:p>
                      <a:r>
                        <a:rPr lang="en-GB" sz="1800"/>
                        <a:t>Sara</a:t>
                      </a:r>
                    </a:p>
                  </a:txBody>
                  <a:tcPr anchor="ctr"/>
                </a:tc>
                <a:tc>
                  <a:txBody>
                    <a:bodyPr/>
                    <a:lstStyle/>
                    <a:p>
                      <a:r>
                        <a:rPr lang="en-GB" sz="1800"/>
                        <a:t>BSSE</a:t>
                      </a:r>
                    </a:p>
                  </a:txBody>
                  <a:tcPr anchor="ctr"/>
                </a:tc>
                <a:tc>
                  <a:txBody>
                    <a:bodyPr/>
                    <a:lstStyle/>
                    <a:p>
                      <a:r>
                        <a:rPr lang="en-GB" sz="1800"/>
                        <a:t>CS201</a:t>
                      </a:r>
                    </a:p>
                  </a:txBody>
                  <a:tcPr anchor="ctr"/>
                </a:tc>
                <a:tc>
                  <a:txBody>
                    <a:bodyPr/>
                    <a:lstStyle/>
                    <a:p>
                      <a:r>
                        <a:rPr lang="en-GB" sz="1800"/>
                        <a:t>Database Systems</a:t>
                      </a:r>
                    </a:p>
                  </a:txBody>
                  <a:tcPr anchor="ctr"/>
                </a:tc>
                <a:tc>
                  <a:txBody>
                    <a:bodyPr/>
                    <a:lstStyle/>
                    <a:p>
                      <a:pPr algn="r"/>
                      <a:r>
                        <a:rPr lang="en-PK" sz="1800"/>
                        <a:t>12</a:t>
                      </a:r>
                    </a:p>
                  </a:txBody>
                  <a:tcPr anchor="ctr"/>
                </a:tc>
                <a:tc>
                  <a:txBody>
                    <a:bodyPr/>
                    <a:lstStyle/>
                    <a:p>
                      <a:r>
                        <a:rPr lang="en-GB" sz="1800"/>
                        <a:t>Excellent</a:t>
                      </a:r>
                    </a:p>
                  </a:txBody>
                  <a:tcPr anchor="ctr"/>
                </a:tc>
                <a:extLst>
                  <a:ext uri="{0D108BD9-81ED-4DB2-BD59-A6C34878D82A}">
                    <a16:rowId xmlns:a16="http://schemas.microsoft.com/office/drawing/2014/main" val="3266943372"/>
                  </a:ext>
                </a:extLst>
              </a:tr>
              <a:tr h="640080">
                <a:tc>
                  <a:txBody>
                    <a:bodyPr/>
                    <a:lstStyle/>
                    <a:p>
                      <a:r>
                        <a:rPr lang="en-GB" sz="1800"/>
                        <a:t>S102</a:t>
                      </a:r>
                    </a:p>
                  </a:txBody>
                  <a:tcPr anchor="ctr"/>
                </a:tc>
                <a:tc>
                  <a:txBody>
                    <a:bodyPr/>
                    <a:lstStyle/>
                    <a:p>
                      <a:r>
                        <a:rPr lang="en-GB" sz="1800" dirty="0"/>
                        <a:t>Hamza</a:t>
                      </a:r>
                    </a:p>
                  </a:txBody>
                  <a:tcPr anchor="ctr"/>
                </a:tc>
                <a:tc>
                  <a:txBody>
                    <a:bodyPr/>
                    <a:lstStyle/>
                    <a:p>
                      <a:r>
                        <a:rPr lang="en-GB" sz="1800" dirty="0"/>
                        <a:t>BSAI</a:t>
                      </a:r>
                    </a:p>
                  </a:txBody>
                  <a:tcPr anchor="ctr"/>
                </a:tc>
                <a:tc>
                  <a:txBody>
                    <a:bodyPr/>
                    <a:lstStyle/>
                    <a:p>
                      <a:r>
                        <a:rPr lang="en-GB" sz="1800"/>
                        <a:t>CS201</a:t>
                      </a:r>
                    </a:p>
                  </a:txBody>
                  <a:tcPr anchor="ctr"/>
                </a:tc>
                <a:tc>
                  <a:txBody>
                    <a:bodyPr/>
                    <a:lstStyle/>
                    <a:p>
                      <a:r>
                        <a:rPr lang="en-GB" sz="1800"/>
                        <a:t>Database Systems</a:t>
                      </a:r>
                    </a:p>
                  </a:txBody>
                  <a:tcPr anchor="ctr"/>
                </a:tc>
                <a:tc>
                  <a:txBody>
                    <a:bodyPr/>
                    <a:lstStyle/>
                    <a:p>
                      <a:pPr algn="r"/>
                      <a:r>
                        <a:rPr lang="en-PK" sz="1800"/>
                        <a:t>3</a:t>
                      </a:r>
                    </a:p>
                  </a:txBody>
                  <a:tcPr anchor="ctr"/>
                </a:tc>
                <a:tc>
                  <a:txBody>
                    <a:bodyPr/>
                    <a:lstStyle/>
                    <a:p>
                      <a:r>
                        <a:rPr lang="en-GB" sz="1800" dirty="0"/>
                        <a:t>B+</a:t>
                      </a:r>
                    </a:p>
                  </a:txBody>
                  <a:tcPr anchor="ctr"/>
                </a:tc>
                <a:extLst>
                  <a:ext uri="{0D108BD9-81ED-4DB2-BD59-A6C34878D82A}">
                    <a16:rowId xmlns:a16="http://schemas.microsoft.com/office/drawing/2014/main" val="1279762650"/>
                  </a:ext>
                </a:extLst>
              </a:tr>
            </a:tbl>
          </a:graphicData>
        </a:graphic>
      </p:graphicFrame>
    </p:spTree>
    <p:extLst>
      <p:ext uri="{BB962C8B-B14F-4D97-AF65-F5344CB8AC3E}">
        <p14:creationId xmlns:p14="http://schemas.microsoft.com/office/powerpoint/2010/main" val="226212422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D9F16-D5CC-4A96-9C35-620F71ABD44C}"/>
              </a:ext>
            </a:extLst>
          </p:cNvPr>
          <p:cNvSpPr>
            <a:spLocks noGrp="1"/>
          </p:cNvSpPr>
          <p:nvPr>
            <p:ph type="title"/>
          </p:nvPr>
        </p:nvSpPr>
        <p:spPr/>
        <p:txBody>
          <a:bodyPr/>
          <a:lstStyle/>
          <a:p>
            <a:r>
              <a:rPr lang="en-GB" dirty="0"/>
              <a:t>Class Activity</a:t>
            </a:r>
            <a:endParaRPr lang="en-PK" dirty="0"/>
          </a:p>
        </p:txBody>
      </p:sp>
      <p:sp>
        <p:nvSpPr>
          <p:cNvPr id="3" name="Content Placeholder 2">
            <a:extLst>
              <a:ext uri="{FF2B5EF4-FFF2-40B4-BE49-F238E27FC236}">
                <a16:creationId xmlns:a16="http://schemas.microsoft.com/office/drawing/2014/main" id="{373706C3-50CA-4618-88AF-8D4776F2326B}"/>
              </a:ext>
            </a:extLst>
          </p:cNvPr>
          <p:cNvSpPr>
            <a:spLocks noGrp="1"/>
          </p:cNvSpPr>
          <p:nvPr>
            <p:ph idx="1"/>
          </p:nvPr>
        </p:nvSpPr>
        <p:spPr>
          <a:xfrm>
            <a:off x="838200" y="2249371"/>
            <a:ext cx="4857520" cy="4351338"/>
          </a:xfrm>
        </p:spPr>
        <p:txBody>
          <a:bodyPr>
            <a:normAutofit/>
          </a:bodyPr>
          <a:lstStyle/>
          <a:p>
            <a:pPr marL="0" indent="0">
              <a:buNone/>
            </a:pPr>
            <a:r>
              <a:rPr lang="en-GB" dirty="0"/>
              <a:t>Identify the following:</a:t>
            </a:r>
          </a:p>
          <a:p>
            <a:pPr>
              <a:buFont typeface="+mj-lt"/>
              <a:buAutoNum type="arabicPeriod"/>
            </a:pPr>
            <a:r>
              <a:rPr lang="en-GB" dirty="0"/>
              <a:t>Relation name </a:t>
            </a:r>
          </a:p>
          <a:p>
            <a:pPr>
              <a:buFont typeface="+mj-lt"/>
              <a:buAutoNum type="arabicPeriod"/>
            </a:pPr>
            <a:r>
              <a:rPr lang="en-GB" dirty="0"/>
              <a:t>Attributes </a:t>
            </a:r>
          </a:p>
          <a:p>
            <a:pPr>
              <a:buFont typeface="+mj-lt"/>
              <a:buAutoNum type="arabicPeriod"/>
            </a:pPr>
            <a:r>
              <a:rPr lang="en-GB" dirty="0"/>
              <a:t>Degree and cardinality </a:t>
            </a:r>
          </a:p>
          <a:p>
            <a:pPr>
              <a:buFont typeface="+mj-lt"/>
              <a:buAutoNum type="arabicPeriod"/>
            </a:pPr>
            <a:r>
              <a:rPr lang="en-GB" dirty="0"/>
              <a:t>Possible domains </a:t>
            </a:r>
          </a:p>
          <a:p>
            <a:pPr>
              <a:buFont typeface="+mj-lt"/>
              <a:buAutoNum type="arabicPeriod"/>
            </a:pPr>
            <a:r>
              <a:rPr lang="en-GB" dirty="0"/>
              <a:t>Duplicate tuple </a:t>
            </a:r>
          </a:p>
          <a:p>
            <a:pPr>
              <a:buFont typeface="+mj-lt"/>
              <a:buAutoNum type="arabicPeriod"/>
            </a:pPr>
            <a:r>
              <a:rPr lang="en-GB" dirty="0"/>
              <a:t>Non-atomic value </a:t>
            </a:r>
          </a:p>
        </p:txBody>
      </p:sp>
      <p:sp>
        <p:nvSpPr>
          <p:cNvPr id="5" name="TextBox 4">
            <a:extLst>
              <a:ext uri="{FF2B5EF4-FFF2-40B4-BE49-F238E27FC236}">
                <a16:creationId xmlns:a16="http://schemas.microsoft.com/office/drawing/2014/main" id="{4E6F9214-1A5F-425E-B30E-C9E09A2D8AA6}"/>
              </a:ext>
            </a:extLst>
          </p:cNvPr>
          <p:cNvSpPr txBox="1"/>
          <p:nvPr/>
        </p:nvSpPr>
        <p:spPr>
          <a:xfrm>
            <a:off x="5274527" y="2362715"/>
            <a:ext cx="6367345" cy="3477875"/>
          </a:xfrm>
          <a:prstGeom prst="rect">
            <a:avLst/>
          </a:prstGeom>
          <a:noFill/>
        </p:spPr>
        <p:txBody>
          <a:bodyPr wrap="square" rtlCol="0">
            <a:spAutoFit/>
          </a:bodyPr>
          <a:lstStyle/>
          <a:p>
            <a:pPr algn="just"/>
            <a:r>
              <a:rPr lang="en-GB" sz="2200" b="1" dirty="0"/>
              <a:t>Problems students should discover</a:t>
            </a:r>
          </a:p>
          <a:p>
            <a:pPr marL="342900" indent="-342900" algn="just">
              <a:buFont typeface="Arial" panose="020B0604020202020204" pitchFamily="34" charset="0"/>
              <a:buChar char="•"/>
            </a:pPr>
            <a:endParaRPr lang="en-GB" sz="2200" dirty="0"/>
          </a:p>
          <a:p>
            <a:pPr marL="342900" indent="-342900" algn="just">
              <a:buFont typeface="Arial" panose="020B0604020202020204" pitchFamily="34" charset="0"/>
              <a:buChar char="•"/>
            </a:pPr>
            <a:r>
              <a:rPr lang="en-GB" sz="2200" dirty="0"/>
              <a:t>CS205, CS207 contains multiple values in one cell.</a:t>
            </a:r>
          </a:p>
          <a:p>
            <a:pPr marL="342900" indent="-342900" algn="just">
              <a:buFont typeface="Arial" panose="020B0604020202020204" pitchFamily="34" charset="0"/>
              <a:buChar char="•"/>
            </a:pPr>
            <a:r>
              <a:rPr lang="en-GB" sz="2200" dirty="0"/>
              <a:t>Semester 12 is outside the valid domain.</a:t>
            </a:r>
          </a:p>
          <a:p>
            <a:pPr marL="342900" indent="-342900" algn="just">
              <a:buFont typeface="Arial" panose="020B0604020202020204" pitchFamily="34" charset="0"/>
              <a:buChar char="•"/>
            </a:pPr>
            <a:r>
              <a:rPr lang="en-GB" sz="2200" dirty="0"/>
              <a:t>Grade Excellent violates the grade domain.</a:t>
            </a:r>
          </a:p>
          <a:p>
            <a:pPr marL="342900" indent="-342900" algn="just">
              <a:buFont typeface="Arial" panose="020B0604020202020204" pitchFamily="34" charset="0"/>
              <a:buChar char="•"/>
            </a:pPr>
            <a:r>
              <a:rPr lang="en-GB" sz="2200" dirty="0"/>
              <a:t>Hamza’s registration appears twice.</a:t>
            </a:r>
          </a:p>
          <a:p>
            <a:pPr marL="342900" indent="-342900" algn="just">
              <a:buFont typeface="Arial" panose="020B0604020202020204" pitchFamily="34" charset="0"/>
              <a:buChar char="•"/>
            </a:pPr>
            <a:r>
              <a:rPr lang="en-GB" sz="2200" dirty="0"/>
              <a:t>Course ID and Course Title do not match in one tuple.</a:t>
            </a:r>
          </a:p>
          <a:p>
            <a:pPr marL="342900" indent="-342900" algn="just">
              <a:buFont typeface="Arial" panose="020B0604020202020204" pitchFamily="34" charset="0"/>
              <a:buChar char="•"/>
            </a:pPr>
            <a:r>
              <a:rPr lang="en-GB" sz="2200" dirty="0"/>
              <a:t>Student and course data are repeatedly stored.</a:t>
            </a:r>
            <a:endParaRPr lang="en-PK" sz="2200" dirty="0"/>
          </a:p>
        </p:txBody>
      </p:sp>
    </p:spTree>
    <p:extLst>
      <p:ext uri="{BB962C8B-B14F-4D97-AF65-F5344CB8AC3E}">
        <p14:creationId xmlns:p14="http://schemas.microsoft.com/office/powerpoint/2010/main" val="38962126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B636E-2BF0-4A7E-AADB-13B7DF7F4E7C}"/>
              </a:ext>
            </a:extLst>
          </p:cNvPr>
          <p:cNvSpPr>
            <a:spLocks noGrp="1"/>
          </p:cNvSpPr>
          <p:nvPr>
            <p:ph type="title"/>
          </p:nvPr>
        </p:nvSpPr>
        <p:spPr/>
        <p:txBody>
          <a:bodyPr/>
          <a:lstStyle/>
          <a:p>
            <a:r>
              <a:rPr lang="en-GB" dirty="0"/>
              <a:t>Entity - Relational Model (ER Model)</a:t>
            </a:r>
            <a:endParaRPr lang="en-PK" dirty="0"/>
          </a:p>
        </p:txBody>
      </p:sp>
      <p:sp>
        <p:nvSpPr>
          <p:cNvPr id="3" name="Content Placeholder 2">
            <a:extLst>
              <a:ext uri="{FF2B5EF4-FFF2-40B4-BE49-F238E27FC236}">
                <a16:creationId xmlns:a16="http://schemas.microsoft.com/office/drawing/2014/main" id="{71B92EC6-B7BF-460C-BB33-3F603750ECA6}"/>
              </a:ext>
            </a:extLst>
          </p:cNvPr>
          <p:cNvSpPr>
            <a:spLocks noGrp="1"/>
          </p:cNvSpPr>
          <p:nvPr>
            <p:ph idx="1"/>
          </p:nvPr>
        </p:nvSpPr>
        <p:spPr/>
        <p:txBody>
          <a:bodyPr/>
          <a:lstStyle/>
          <a:p>
            <a:r>
              <a:rPr lang="en-GB" dirty="0"/>
              <a:t>To design a database </a:t>
            </a:r>
            <a:r>
              <a:rPr lang="en-GB" dirty="0">
                <a:sym typeface="Wingdings" panose="05000000000000000000" pitchFamily="2" charset="2"/>
              </a:rPr>
              <a:t> need to understand the basic components of Entity -Relational Data Model</a:t>
            </a:r>
          </a:p>
          <a:p>
            <a:r>
              <a:rPr lang="en-GB" dirty="0">
                <a:sym typeface="Wingdings" panose="05000000000000000000" pitchFamily="2" charset="2"/>
              </a:rPr>
              <a:t>Entity</a:t>
            </a:r>
          </a:p>
          <a:p>
            <a:r>
              <a:rPr lang="en-GB" dirty="0">
                <a:sym typeface="Wingdings" panose="05000000000000000000" pitchFamily="2" charset="2"/>
              </a:rPr>
              <a:t>Attributes</a:t>
            </a:r>
          </a:p>
          <a:p>
            <a:r>
              <a:rPr lang="en-GB" dirty="0">
                <a:sym typeface="Wingdings" panose="05000000000000000000" pitchFamily="2" charset="2"/>
              </a:rPr>
              <a:t>Relationship</a:t>
            </a:r>
          </a:p>
          <a:p>
            <a:r>
              <a:rPr lang="en-GB" dirty="0">
                <a:sym typeface="Wingdings" panose="05000000000000000000" pitchFamily="2" charset="2"/>
              </a:rPr>
              <a:t>Constraints</a:t>
            </a:r>
            <a:endParaRPr lang="en-PK" dirty="0"/>
          </a:p>
        </p:txBody>
      </p:sp>
    </p:spTree>
    <p:extLst>
      <p:ext uri="{BB962C8B-B14F-4D97-AF65-F5344CB8AC3E}">
        <p14:creationId xmlns:p14="http://schemas.microsoft.com/office/powerpoint/2010/main" val="321440590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449443-8BE7-4552-A1E2-CA40AD8BFE95}"/>
              </a:ext>
            </a:extLst>
          </p:cNvPr>
          <p:cNvSpPr>
            <a:spLocks noGrp="1"/>
          </p:cNvSpPr>
          <p:nvPr>
            <p:ph type="title"/>
          </p:nvPr>
        </p:nvSpPr>
        <p:spPr/>
        <p:txBody>
          <a:bodyPr/>
          <a:lstStyle/>
          <a:p>
            <a:r>
              <a:rPr lang="en-GB" dirty="0"/>
              <a:t>Entity </a:t>
            </a:r>
            <a:endParaRPr lang="en-PK" dirty="0"/>
          </a:p>
        </p:txBody>
      </p:sp>
      <p:sp>
        <p:nvSpPr>
          <p:cNvPr id="3" name="Content Placeholder 2">
            <a:extLst>
              <a:ext uri="{FF2B5EF4-FFF2-40B4-BE49-F238E27FC236}">
                <a16:creationId xmlns:a16="http://schemas.microsoft.com/office/drawing/2014/main" id="{B48863D8-4C36-4ED6-9AAB-6A4C71632A95}"/>
              </a:ext>
            </a:extLst>
          </p:cNvPr>
          <p:cNvSpPr>
            <a:spLocks noGrp="1"/>
          </p:cNvSpPr>
          <p:nvPr>
            <p:ph idx="1"/>
          </p:nvPr>
        </p:nvSpPr>
        <p:spPr/>
        <p:txBody>
          <a:bodyPr>
            <a:normAutofit lnSpcReduction="10000"/>
          </a:bodyPr>
          <a:lstStyle/>
          <a:p>
            <a:r>
              <a:rPr lang="en-GB" dirty="0"/>
              <a:t>A distinguishable real-world object.</a:t>
            </a:r>
          </a:p>
          <a:p>
            <a:r>
              <a:rPr lang="en-GB" dirty="0"/>
              <a:t>Examples:</a:t>
            </a:r>
          </a:p>
          <a:p>
            <a:pPr lvl="1"/>
            <a:r>
              <a:rPr lang="en-GB" dirty="0"/>
              <a:t>One student </a:t>
            </a:r>
          </a:p>
          <a:p>
            <a:pPr lvl="1"/>
            <a:r>
              <a:rPr lang="en-GB" dirty="0"/>
              <a:t>One course </a:t>
            </a:r>
          </a:p>
          <a:p>
            <a:pPr lvl="1"/>
            <a:r>
              <a:rPr lang="en-GB" dirty="0"/>
              <a:t>One instructor </a:t>
            </a:r>
          </a:p>
          <a:p>
            <a:pPr lvl="1"/>
            <a:r>
              <a:rPr lang="en-GB" dirty="0"/>
              <a:t>One department</a:t>
            </a:r>
          </a:p>
          <a:p>
            <a:r>
              <a:rPr lang="en-GB" dirty="0"/>
              <a:t>Entity set: Collection of same entities</a:t>
            </a:r>
          </a:p>
          <a:p>
            <a:r>
              <a:rPr lang="en-GB" dirty="0"/>
              <a:t>Represented by Rectangle </a:t>
            </a:r>
            <a:endParaRPr lang="en-PK" dirty="0"/>
          </a:p>
        </p:txBody>
      </p:sp>
    </p:spTree>
    <p:extLst>
      <p:ext uri="{BB962C8B-B14F-4D97-AF65-F5344CB8AC3E}">
        <p14:creationId xmlns:p14="http://schemas.microsoft.com/office/powerpoint/2010/main" val="306844923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18041-7827-4E5A-8BF6-5C9D0B371E32}"/>
              </a:ext>
            </a:extLst>
          </p:cNvPr>
          <p:cNvSpPr>
            <a:spLocks noGrp="1"/>
          </p:cNvSpPr>
          <p:nvPr>
            <p:ph type="title"/>
          </p:nvPr>
        </p:nvSpPr>
        <p:spPr/>
        <p:txBody>
          <a:bodyPr/>
          <a:lstStyle/>
          <a:p>
            <a:r>
              <a:rPr lang="en-GB" dirty="0"/>
              <a:t>Classification of Entities</a:t>
            </a:r>
            <a:endParaRPr lang="en-PK" dirty="0"/>
          </a:p>
        </p:txBody>
      </p:sp>
      <p:sp>
        <p:nvSpPr>
          <p:cNvPr id="3" name="Content Placeholder 2">
            <a:extLst>
              <a:ext uri="{FF2B5EF4-FFF2-40B4-BE49-F238E27FC236}">
                <a16:creationId xmlns:a16="http://schemas.microsoft.com/office/drawing/2014/main" id="{E8303395-9C3D-45EA-957E-BAF30BCB41A9}"/>
              </a:ext>
            </a:extLst>
          </p:cNvPr>
          <p:cNvSpPr>
            <a:spLocks noGrp="1"/>
          </p:cNvSpPr>
          <p:nvPr>
            <p:ph idx="1"/>
          </p:nvPr>
        </p:nvSpPr>
        <p:spPr/>
        <p:txBody>
          <a:bodyPr>
            <a:normAutofit fontScale="85000" lnSpcReduction="10000"/>
          </a:bodyPr>
          <a:lstStyle/>
          <a:p>
            <a:r>
              <a:rPr lang="en-GB" dirty="0"/>
              <a:t>Strong Entity (Independent)</a:t>
            </a:r>
          </a:p>
          <a:p>
            <a:pPr lvl="1"/>
            <a:r>
              <a:rPr lang="en-GB" dirty="0"/>
              <a:t>It possesses a key attributes to uniquely identify its records.</a:t>
            </a:r>
          </a:p>
          <a:p>
            <a:r>
              <a:rPr lang="en-GB" dirty="0"/>
              <a:t>Weak Entity (Dependent)</a:t>
            </a:r>
          </a:p>
          <a:p>
            <a:pPr lvl="1"/>
            <a:r>
              <a:rPr lang="en-GB" b="0" u="none" strike="noStrike" dirty="0">
                <a:effectLst/>
                <a:latin typeface="Google Sans"/>
              </a:rPr>
              <a:t>Depends entirely on a strong entity. It lacks key and uses a composite identifier instead. </a:t>
            </a:r>
          </a:p>
          <a:p>
            <a:pPr lvl="1"/>
            <a:endParaRPr lang="en-GB" dirty="0">
              <a:latin typeface="Google Sans"/>
            </a:endParaRPr>
          </a:p>
          <a:p>
            <a:pPr lvl="1"/>
            <a:endParaRPr lang="en-GB" b="0" u="none" strike="noStrike" dirty="0">
              <a:effectLst/>
              <a:latin typeface="Google Sans"/>
            </a:endParaRPr>
          </a:p>
          <a:p>
            <a:pPr marL="457200" lvl="1" indent="0">
              <a:buNone/>
            </a:pPr>
            <a:endParaRPr lang="en-GB" dirty="0">
              <a:latin typeface="Google Sans"/>
            </a:endParaRPr>
          </a:p>
          <a:p>
            <a:pPr lvl="1"/>
            <a:endParaRPr lang="en-GB" b="0" u="none" strike="noStrike" dirty="0">
              <a:effectLst/>
              <a:latin typeface="Google Sans"/>
            </a:endParaRPr>
          </a:p>
          <a:p>
            <a:pPr lvl="1"/>
            <a:endParaRPr lang="en-GB" b="0" u="none" strike="noStrike" dirty="0">
              <a:effectLst/>
              <a:latin typeface="Google Sans"/>
            </a:endParaRPr>
          </a:p>
          <a:p>
            <a:pPr marL="457200" lvl="1" indent="0">
              <a:buNone/>
            </a:pPr>
            <a:r>
              <a:rPr lang="en-GB" dirty="0">
                <a:latin typeface="Google Sans"/>
              </a:rPr>
              <a:t>Here Order (Strong Entity) and Order Item (Weak Entity) as it will be meaningless without order entity</a:t>
            </a:r>
            <a:endParaRPr lang="en-GB" b="0" u="none" strike="noStrike" dirty="0">
              <a:effectLst/>
              <a:latin typeface="Google Sans"/>
            </a:endParaRPr>
          </a:p>
          <a:p>
            <a:pPr marL="457200" lvl="1" indent="0">
              <a:buNone/>
            </a:pPr>
            <a:endParaRPr lang="en-GB" dirty="0">
              <a:latin typeface="Google Sans"/>
            </a:endParaRPr>
          </a:p>
        </p:txBody>
      </p:sp>
      <p:pic>
        <p:nvPicPr>
          <p:cNvPr id="5" name="Picture 4">
            <a:extLst>
              <a:ext uri="{FF2B5EF4-FFF2-40B4-BE49-F238E27FC236}">
                <a16:creationId xmlns:a16="http://schemas.microsoft.com/office/drawing/2014/main" id="{AE91BEFF-C1BE-4F56-AB4C-EDE51BDC949E}"/>
              </a:ext>
            </a:extLst>
          </p:cNvPr>
          <p:cNvPicPr>
            <a:picLocks noChangeAspect="1"/>
          </p:cNvPicPr>
          <p:nvPr/>
        </p:nvPicPr>
        <p:blipFill>
          <a:blip r:embed="rId2"/>
          <a:stretch>
            <a:fillRect/>
          </a:stretch>
        </p:blipFill>
        <p:spPr>
          <a:xfrm>
            <a:off x="3146754" y="3621579"/>
            <a:ext cx="4859764" cy="1291944"/>
          </a:xfrm>
          <a:prstGeom prst="rect">
            <a:avLst/>
          </a:prstGeom>
        </p:spPr>
      </p:pic>
    </p:spTree>
    <p:extLst>
      <p:ext uri="{BB962C8B-B14F-4D97-AF65-F5344CB8AC3E}">
        <p14:creationId xmlns:p14="http://schemas.microsoft.com/office/powerpoint/2010/main" val="410340786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D2E60B-7AF7-4A41-8B1F-A344C3D00833}"/>
              </a:ext>
            </a:extLst>
          </p:cNvPr>
          <p:cNvSpPr>
            <a:spLocks noGrp="1"/>
          </p:cNvSpPr>
          <p:nvPr>
            <p:ph type="title"/>
          </p:nvPr>
        </p:nvSpPr>
        <p:spPr/>
        <p:txBody>
          <a:bodyPr/>
          <a:lstStyle/>
          <a:p>
            <a:r>
              <a:rPr lang="en-GB" dirty="0"/>
              <a:t>Attributes</a:t>
            </a:r>
            <a:endParaRPr lang="en-PK" dirty="0"/>
          </a:p>
        </p:txBody>
      </p:sp>
      <p:sp>
        <p:nvSpPr>
          <p:cNvPr id="3" name="Content Placeholder 2">
            <a:extLst>
              <a:ext uri="{FF2B5EF4-FFF2-40B4-BE49-F238E27FC236}">
                <a16:creationId xmlns:a16="http://schemas.microsoft.com/office/drawing/2014/main" id="{E88B209C-C5F4-4BCD-AB7C-1EE4AB45DAA5}"/>
              </a:ext>
            </a:extLst>
          </p:cNvPr>
          <p:cNvSpPr>
            <a:spLocks noGrp="1"/>
          </p:cNvSpPr>
          <p:nvPr>
            <p:ph idx="1"/>
          </p:nvPr>
        </p:nvSpPr>
        <p:spPr/>
        <p:txBody>
          <a:bodyPr/>
          <a:lstStyle/>
          <a:p>
            <a:r>
              <a:rPr lang="en-GB" dirty="0"/>
              <a:t>Entities represented by their properties </a:t>
            </a:r>
            <a:r>
              <a:rPr lang="en-GB" dirty="0">
                <a:sym typeface="Wingdings" panose="05000000000000000000" pitchFamily="2" charset="2"/>
              </a:rPr>
              <a:t> Attributes</a:t>
            </a:r>
          </a:p>
          <a:p>
            <a:r>
              <a:rPr lang="en-GB" dirty="0">
                <a:sym typeface="Wingdings" panose="05000000000000000000" pitchFamily="2" charset="2"/>
              </a:rPr>
              <a:t>All attributes have value</a:t>
            </a:r>
          </a:p>
          <a:p>
            <a:r>
              <a:rPr lang="en-GB" dirty="0">
                <a:sym typeface="Wingdings" panose="05000000000000000000" pitchFamily="2" charset="2"/>
              </a:rPr>
              <a:t>Student Entity  name, age, </a:t>
            </a:r>
            <a:r>
              <a:rPr lang="en-GB" dirty="0" err="1">
                <a:sym typeface="Wingdings" panose="05000000000000000000" pitchFamily="2" charset="2"/>
              </a:rPr>
              <a:t>registration_number</a:t>
            </a:r>
            <a:r>
              <a:rPr lang="en-GB" dirty="0">
                <a:sym typeface="Wingdings" panose="05000000000000000000" pitchFamily="2" charset="2"/>
              </a:rPr>
              <a:t>, </a:t>
            </a:r>
            <a:r>
              <a:rPr lang="en-GB" dirty="0" err="1">
                <a:sym typeface="Wingdings" panose="05000000000000000000" pitchFamily="2" charset="2"/>
              </a:rPr>
              <a:t>course_id</a:t>
            </a:r>
            <a:endParaRPr lang="en-GB" dirty="0">
              <a:sym typeface="Wingdings" panose="05000000000000000000" pitchFamily="2" charset="2"/>
            </a:endParaRPr>
          </a:p>
          <a:p>
            <a:r>
              <a:rPr lang="en-GB" dirty="0">
                <a:sym typeface="Wingdings" panose="05000000000000000000" pitchFamily="2" charset="2"/>
              </a:rPr>
              <a:t>Each attributes assigned with specific domain/range</a:t>
            </a:r>
          </a:p>
          <a:p>
            <a:pPr lvl="1"/>
            <a:r>
              <a:rPr lang="en-GB" dirty="0">
                <a:sym typeface="Wingdings" panose="05000000000000000000" pitchFamily="2" charset="2"/>
              </a:rPr>
              <a:t>Student name should be alphabetic, age should be numeric and registration number should be alphanumeric / specific </a:t>
            </a:r>
            <a:r>
              <a:rPr lang="en-GB" dirty="0" err="1">
                <a:sym typeface="Wingdings" panose="05000000000000000000" pitchFamily="2" charset="2"/>
              </a:rPr>
              <a:t>regix</a:t>
            </a:r>
            <a:endParaRPr lang="en-GB" dirty="0">
              <a:sym typeface="Wingdings" panose="05000000000000000000" pitchFamily="2" charset="2"/>
            </a:endParaRPr>
          </a:p>
          <a:p>
            <a:r>
              <a:rPr lang="en-GB" dirty="0">
                <a:sym typeface="Wingdings" panose="05000000000000000000" pitchFamily="2" charset="2"/>
              </a:rPr>
              <a:t>Represented by Oval </a:t>
            </a:r>
            <a:endParaRPr lang="en-PK" dirty="0"/>
          </a:p>
        </p:txBody>
      </p:sp>
    </p:spTree>
    <p:extLst>
      <p:ext uri="{BB962C8B-B14F-4D97-AF65-F5344CB8AC3E}">
        <p14:creationId xmlns:p14="http://schemas.microsoft.com/office/powerpoint/2010/main" val="149740766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76CE15-1471-4AB7-8FB6-10AA7D7759A0}"/>
              </a:ext>
            </a:extLst>
          </p:cNvPr>
          <p:cNvSpPr>
            <a:spLocks noGrp="1"/>
          </p:cNvSpPr>
          <p:nvPr>
            <p:ph type="title"/>
          </p:nvPr>
        </p:nvSpPr>
        <p:spPr/>
        <p:txBody>
          <a:bodyPr/>
          <a:lstStyle/>
          <a:p>
            <a:r>
              <a:rPr lang="en-GB" dirty="0"/>
              <a:t>Types of attributes</a:t>
            </a:r>
            <a:endParaRPr lang="en-PK" dirty="0"/>
          </a:p>
        </p:txBody>
      </p:sp>
      <p:sp>
        <p:nvSpPr>
          <p:cNvPr id="3" name="Content Placeholder 2">
            <a:extLst>
              <a:ext uri="{FF2B5EF4-FFF2-40B4-BE49-F238E27FC236}">
                <a16:creationId xmlns:a16="http://schemas.microsoft.com/office/drawing/2014/main" id="{0F09C5ED-7AE0-4659-AAB2-0AF9784F9B01}"/>
              </a:ext>
            </a:extLst>
          </p:cNvPr>
          <p:cNvSpPr>
            <a:spLocks noGrp="1"/>
          </p:cNvSpPr>
          <p:nvPr>
            <p:ph idx="1"/>
          </p:nvPr>
        </p:nvSpPr>
        <p:spPr/>
        <p:txBody>
          <a:bodyPr/>
          <a:lstStyle/>
          <a:p>
            <a:r>
              <a:rPr lang="en-GB" b="1" dirty="0"/>
              <a:t>Simple attributes: </a:t>
            </a:r>
            <a:r>
              <a:rPr lang="en-GB" dirty="0"/>
              <a:t>Simple value attributes that can’t be divided into sub-attribute. </a:t>
            </a:r>
            <a:r>
              <a:rPr lang="en-GB" b="1" dirty="0"/>
              <a:t>Student Phone number/ Student Age</a:t>
            </a:r>
          </a:p>
          <a:p>
            <a:r>
              <a:rPr lang="en-GB" b="1" dirty="0"/>
              <a:t>Composite Attributes: </a:t>
            </a:r>
            <a:r>
              <a:rPr lang="en-GB" dirty="0"/>
              <a:t>Combination of more than one attributes. </a:t>
            </a:r>
            <a:r>
              <a:rPr lang="en-GB" b="1" dirty="0"/>
              <a:t>Student Full Name as Student first name and last name</a:t>
            </a:r>
          </a:p>
          <a:p>
            <a:r>
              <a:rPr lang="en-GB" b="1" dirty="0"/>
              <a:t>Derived Attributes: </a:t>
            </a:r>
            <a:r>
              <a:rPr lang="en-GB" dirty="0"/>
              <a:t>Not exist in database but can be derived from existing attributes. </a:t>
            </a:r>
            <a:r>
              <a:rPr lang="en-GB" b="1" dirty="0"/>
              <a:t>Age can be derived from DOB </a:t>
            </a:r>
            <a:r>
              <a:rPr lang="en-GB" dirty="0"/>
              <a:t>(represented by dashed oval) </a:t>
            </a:r>
          </a:p>
        </p:txBody>
      </p:sp>
    </p:spTree>
    <p:extLst>
      <p:ext uri="{BB962C8B-B14F-4D97-AF65-F5344CB8AC3E}">
        <p14:creationId xmlns:p14="http://schemas.microsoft.com/office/powerpoint/2010/main" val="80756238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76CE15-1471-4AB7-8FB6-10AA7D7759A0}"/>
              </a:ext>
            </a:extLst>
          </p:cNvPr>
          <p:cNvSpPr>
            <a:spLocks noGrp="1"/>
          </p:cNvSpPr>
          <p:nvPr>
            <p:ph type="title"/>
          </p:nvPr>
        </p:nvSpPr>
        <p:spPr/>
        <p:txBody>
          <a:bodyPr/>
          <a:lstStyle/>
          <a:p>
            <a:r>
              <a:rPr lang="en-GB" dirty="0"/>
              <a:t>Types of attributes</a:t>
            </a:r>
            <a:endParaRPr lang="en-PK" dirty="0"/>
          </a:p>
        </p:txBody>
      </p:sp>
      <p:sp>
        <p:nvSpPr>
          <p:cNvPr id="3" name="Content Placeholder 2">
            <a:extLst>
              <a:ext uri="{FF2B5EF4-FFF2-40B4-BE49-F238E27FC236}">
                <a16:creationId xmlns:a16="http://schemas.microsoft.com/office/drawing/2014/main" id="{0F09C5ED-7AE0-4659-AAB2-0AF9784F9B01}"/>
              </a:ext>
            </a:extLst>
          </p:cNvPr>
          <p:cNvSpPr>
            <a:spLocks noGrp="1"/>
          </p:cNvSpPr>
          <p:nvPr>
            <p:ph idx="1"/>
          </p:nvPr>
        </p:nvSpPr>
        <p:spPr/>
        <p:txBody>
          <a:bodyPr/>
          <a:lstStyle/>
          <a:p>
            <a:r>
              <a:rPr lang="en-GB" b="1" dirty="0"/>
              <a:t>Single-value Attributes: </a:t>
            </a:r>
            <a:r>
              <a:rPr lang="en-GB" dirty="0"/>
              <a:t>Contains single value. </a:t>
            </a:r>
            <a:r>
              <a:rPr lang="en-GB" b="1" dirty="0"/>
              <a:t>Registration number for each student</a:t>
            </a:r>
          </a:p>
          <a:p>
            <a:r>
              <a:rPr lang="en-GB" b="1" dirty="0"/>
              <a:t>Multi-value Attributes: Contains more than one values</a:t>
            </a:r>
            <a:r>
              <a:rPr lang="en-GB" dirty="0"/>
              <a:t>. Person can have more than one phone number / emails</a:t>
            </a:r>
          </a:p>
          <a:p>
            <a:r>
              <a:rPr lang="en-GB" dirty="0"/>
              <a:t>Teacher entity may have multiple subjects to teach in a semester</a:t>
            </a:r>
          </a:p>
          <a:p>
            <a:endParaRPr lang="en-GB" dirty="0"/>
          </a:p>
          <a:p>
            <a:pPr marL="0" indent="0">
              <a:buNone/>
            </a:pPr>
            <a:endParaRPr lang="en-GB" dirty="0"/>
          </a:p>
        </p:txBody>
      </p:sp>
      <p:pic>
        <p:nvPicPr>
          <p:cNvPr id="5" name="Picture 4">
            <a:extLst>
              <a:ext uri="{FF2B5EF4-FFF2-40B4-BE49-F238E27FC236}">
                <a16:creationId xmlns:a16="http://schemas.microsoft.com/office/drawing/2014/main" id="{0DFE89BF-6003-4D8A-B284-04410A92A200}"/>
              </a:ext>
            </a:extLst>
          </p:cNvPr>
          <p:cNvPicPr>
            <a:picLocks noChangeAspect="1"/>
          </p:cNvPicPr>
          <p:nvPr/>
        </p:nvPicPr>
        <p:blipFill>
          <a:blip r:embed="rId2"/>
          <a:stretch>
            <a:fillRect/>
          </a:stretch>
        </p:blipFill>
        <p:spPr>
          <a:xfrm>
            <a:off x="2716758" y="4377461"/>
            <a:ext cx="6259397" cy="1615714"/>
          </a:xfrm>
          <a:prstGeom prst="rect">
            <a:avLst/>
          </a:prstGeom>
        </p:spPr>
      </p:pic>
    </p:spTree>
    <p:extLst>
      <p:ext uri="{BB962C8B-B14F-4D97-AF65-F5344CB8AC3E}">
        <p14:creationId xmlns:p14="http://schemas.microsoft.com/office/powerpoint/2010/main" val="68888996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D3E7CC-F7CB-40BE-A5E6-6F032B159A8C}"/>
              </a:ext>
            </a:extLst>
          </p:cNvPr>
          <p:cNvSpPr>
            <a:spLocks noGrp="1"/>
          </p:cNvSpPr>
          <p:nvPr>
            <p:ph type="title"/>
          </p:nvPr>
        </p:nvSpPr>
        <p:spPr/>
        <p:txBody>
          <a:bodyPr/>
          <a:lstStyle/>
          <a:p>
            <a:r>
              <a:rPr lang="en-GB" dirty="0"/>
              <a:t>Relationship Cardinality</a:t>
            </a:r>
            <a:endParaRPr lang="en-PK" dirty="0"/>
          </a:p>
        </p:txBody>
      </p:sp>
      <p:sp>
        <p:nvSpPr>
          <p:cNvPr id="3" name="Content Placeholder 2">
            <a:extLst>
              <a:ext uri="{FF2B5EF4-FFF2-40B4-BE49-F238E27FC236}">
                <a16:creationId xmlns:a16="http://schemas.microsoft.com/office/drawing/2014/main" id="{8D06B274-D891-4B75-857F-5728763384A6}"/>
              </a:ext>
            </a:extLst>
          </p:cNvPr>
          <p:cNvSpPr>
            <a:spLocks noGrp="1"/>
          </p:cNvSpPr>
          <p:nvPr>
            <p:ph idx="1"/>
          </p:nvPr>
        </p:nvSpPr>
        <p:spPr/>
        <p:txBody>
          <a:bodyPr/>
          <a:lstStyle/>
          <a:p>
            <a:r>
              <a:rPr lang="en-GB" b="1" dirty="0"/>
              <a:t>Relationship cardinality</a:t>
            </a:r>
            <a:r>
              <a:rPr lang="en-GB" dirty="0"/>
              <a:t> defines the </a:t>
            </a:r>
            <a:r>
              <a:rPr lang="en-GB" b="1" dirty="0"/>
              <a:t>maximum number of entity instances</a:t>
            </a:r>
            <a:r>
              <a:rPr lang="en-GB" dirty="0"/>
              <a:t> that can participate in a relationship with another entity.</a:t>
            </a:r>
          </a:p>
          <a:p>
            <a:endParaRPr lang="en-PK" dirty="0"/>
          </a:p>
        </p:txBody>
      </p:sp>
      <p:graphicFrame>
        <p:nvGraphicFramePr>
          <p:cNvPr id="4" name="Table 3">
            <a:extLst>
              <a:ext uri="{FF2B5EF4-FFF2-40B4-BE49-F238E27FC236}">
                <a16:creationId xmlns:a16="http://schemas.microsoft.com/office/drawing/2014/main" id="{0303B383-6280-409F-983F-FFA89F19F09C}"/>
              </a:ext>
            </a:extLst>
          </p:cNvPr>
          <p:cNvGraphicFramePr>
            <a:graphicFrameLocks noGrp="1"/>
          </p:cNvGraphicFramePr>
          <p:nvPr>
            <p:extLst>
              <p:ext uri="{D42A27DB-BD31-4B8C-83A1-F6EECF244321}">
                <p14:modId xmlns:p14="http://schemas.microsoft.com/office/powerpoint/2010/main" val="817521286"/>
              </p:ext>
            </p:extLst>
          </p:nvPr>
        </p:nvGraphicFramePr>
        <p:xfrm>
          <a:off x="1534618" y="3184498"/>
          <a:ext cx="9520236" cy="2651760"/>
        </p:xfrm>
        <a:graphic>
          <a:graphicData uri="http://schemas.openxmlformats.org/drawingml/2006/table">
            <a:tbl>
              <a:tblPr>
                <a:tableStyleId>{616DA210-FB5B-4158-B5E0-FEB733F419BA}</a:tableStyleId>
              </a:tblPr>
              <a:tblGrid>
                <a:gridCol w="2334855">
                  <a:extLst>
                    <a:ext uri="{9D8B030D-6E8A-4147-A177-3AD203B41FA5}">
                      <a16:colId xmlns:a16="http://schemas.microsoft.com/office/drawing/2014/main" val="1356435320"/>
                    </a:ext>
                  </a:extLst>
                </a:gridCol>
                <a:gridCol w="7185381">
                  <a:extLst>
                    <a:ext uri="{9D8B030D-6E8A-4147-A177-3AD203B41FA5}">
                      <a16:colId xmlns:a16="http://schemas.microsoft.com/office/drawing/2014/main" val="478820830"/>
                    </a:ext>
                  </a:extLst>
                </a:gridCol>
              </a:tblGrid>
              <a:tr h="365760">
                <a:tc>
                  <a:txBody>
                    <a:bodyPr/>
                    <a:lstStyle/>
                    <a:p>
                      <a:r>
                        <a:rPr lang="en-GB" sz="1800" b="1"/>
                        <a:t>Cardinality</a:t>
                      </a:r>
                    </a:p>
                  </a:txBody>
                  <a:tcPr anchor="ctr"/>
                </a:tc>
                <a:tc>
                  <a:txBody>
                    <a:bodyPr/>
                    <a:lstStyle/>
                    <a:p>
                      <a:r>
                        <a:rPr lang="en-GB" sz="1800" b="1" dirty="0"/>
                        <a:t>Meaning</a:t>
                      </a:r>
                    </a:p>
                  </a:txBody>
                  <a:tcPr anchor="ctr"/>
                </a:tc>
                <a:extLst>
                  <a:ext uri="{0D108BD9-81ED-4DB2-BD59-A6C34878D82A}">
                    <a16:rowId xmlns:a16="http://schemas.microsoft.com/office/drawing/2014/main" val="2168629659"/>
                  </a:ext>
                </a:extLst>
              </a:tr>
              <a:tr h="640080">
                <a:tc>
                  <a:txBody>
                    <a:bodyPr/>
                    <a:lstStyle/>
                    <a:p>
                      <a:r>
                        <a:rPr lang="en-PK" sz="1800" b="1"/>
                        <a:t>1:1</a:t>
                      </a:r>
                      <a:endParaRPr lang="en-PK" sz="1800"/>
                    </a:p>
                  </a:txBody>
                  <a:tcPr anchor="ctr"/>
                </a:tc>
                <a:tc>
                  <a:txBody>
                    <a:bodyPr/>
                    <a:lstStyle/>
                    <a:p>
                      <a:r>
                        <a:rPr lang="en-GB" sz="1800"/>
                        <a:t>One entity instance relates to one instance of another entity</a:t>
                      </a:r>
                    </a:p>
                  </a:txBody>
                  <a:tcPr anchor="ctr"/>
                </a:tc>
                <a:extLst>
                  <a:ext uri="{0D108BD9-81ED-4DB2-BD59-A6C34878D82A}">
                    <a16:rowId xmlns:a16="http://schemas.microsoft.com/office/drawing/2014/main" val="2932380854"/>
                  </a:ext>
                </a:extLst>
              </a:tr>
              <a:tr h="640080">
                <a:tc>
                  <a:txBody>
                    <a:bodyPr/>
                    <a:lstStyle/>
                    <a:p>
                      <a:r>
                        <a:rPr lang="en-GB" sz="1800" b="1"/>
                        <a:t>1:N</a:t>
                      </a:r>
                      <a:endParaRPr lang="en-GB" sz="1800"/>
                    </a:p>
                  </a:txBody>
                  <a:tcPr anchor="ctr"/>
                </a:tc>
                <a:tc>
                  <a:txBody>
                    <a:bodyPr/>
                    <a:lstStyle/>
                    <a:p>
                      <a:r>
                        <a:rPr lang="en-GB" sz="1800"/>
                        <a:t>One entity instance relates to many instances of another entity</a:t>
                      </a:r>
                    </a:p>
                  </a:txBody>
                  <a:tcPr anchor="ctr"/>
                </a:tc>
                <a:extLst>
                  <a:ext uri="{0D108BD9-81ED-4DB2-BD59-A6C34878D82A}">
                    <a16:rowId xmlns:a16="http://schemas.microsoft.com/office/drawing/2014/main" val="4017229436"/>
                  </a:ext>
                </a:extLst>
              </a:tr>
              <a:tr h="640080">
                <a:tc>
                  <a:txBody>
                    <a:bodyPr/>
                    <a:lstStyle/>
                    <a:p>
                      <a:r>
                        <a:rPr lang="en-GB" sz="1800" b="1"/>
                        <a:t>N:1</a:t>
                      </a:r>
                      <a:endParaRPr lang="en-GB" sz="1800"/>
                    </a:p>
                  </a:txBody>
                  <a:tcPr anchor="ctr"/>
                </a:tc>
                <a:tc>
                  <a:txBody>
                    <a:bodyPr/>
                    <a:lstStyle/>
                    <a:p>
                      <a:r>
                        <a:rPr lang="en-GB" sz="1800"/>
                        <a:t>Many entity instances relate to one instance of another entity</a:t>
                      </a:r>
                    </a:p>
                  </a:txBody>
                  <a:tcPr anchor="ctr"/>
                </a:tc>
                <a:extLst>
                  <a:ext uri="{0D108BD9-81ED-4DB2-BD59-A6C34878D82A}">
                    <a16:rowId xmlns:a16="http://schemas.microsoft.com/office/drawing/2014/main" val="357786076"/>
                  </a:ext>
                </a:extLst>
              </a:tr>
              <a:tr h="365760">
                <a:tc>
                  <a:txBody>
                    <a:bodyPr/>
                    <a:lstStyle/>
                    <a:p>
                      <a:r>
                        <a:rPr lang="en-GB" sz="1800" b="1"/>
                        <a:t>M:N</a:t>
                      </a:r>
                      <a:endParaRPr lang="en-GB" sz="1800"/>
                    </a:p>
                  </a:txBody>
                  <a:tcPr anchor="ctr"/>
                </a:tc>
                <a:tc>
                  <a:txBody>
                    <a:bodyPr/>
                    <a:lstStyle/>
                    <a:p>
                      <a:r>
                        <a:rPr lang="en-GB" sz="1800" dirty="0"/>
                        <a:t>Many instances on both sides can be related</a:t>
                      </a:r>
                    </a:p>
                  </a:txBody>
                  <a:tcPr anchor="ctr"/>
                </a:tc>
                <a:extLst>
                  <a:ext uri="{0D108BD9-81ED-4DB2-BD59-A6C34878D82A}">
                    <a16:rowId xmlns:a16="http://schemas.microsoft.com/office/drawing/2014/main" val="1847618983"/>
                  </a:ext>
                </a:extLst>
              </a:tr>
            </a:tbl>
          </a:graphicData>
        </a:graphic>
      </p:graphicFrame>
    </p:spTree>
    <p:extLst>
      <p:ext uri="{BB962C8B-B14F-4D97-AF65-F5344CB8AC3E}">
        <p14:creationId xmlns:p14="http://schemas.microsoft.com/office/powerpoint/2010/main" val="389341044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B907FF-847D-4EFA-9594-F60C6F16A2A6}"/>
              </a:ext>
            </a:extLst>
          </p:cNvPr>
          <p:cNvSpPr>
            <a:spLocks noGrp="1"/>
          </p:cNvSpPr>
          <p:nvPr>
            <p:ph type="title"/>
          </p:nvPr>
        </p:nvSpPr>
        <p:spPr/>
        <p:txBody>
          <a:bodyPr/>
          <a:lstStyle/>
          <a:p>
            <a:r>
              <a:rPr lang="en-GB" dirty="0"/>
              <a:t>One-to-One Relationship (1:1)</a:t>
            </a:r>
            <a:endParaRPr lang="en-PK" dirty="0"/>
          </a:p>
        </p:txBody>
      </p:sp>
      <p:sp>
        <p:nvSpPr>
          <p:cNvPr id="3" name="Content Placeholder 2">
            <a:extLst>
              <a:ext uri="{FF2B5EF4-FFF2-40B4-BE49-F238E27FC236}">
                <a16:creationId xmlns:a16="http://schemas.microsoft.com/office/drawing/2014/main" id="{D2EE5EAE-71AB-4931-BC58-E0CDF3B25796}"/>
              </a:ext>
            </a:extLst>
          </p:cNvPr>
          <p:cNvSpPr>
            <a:spLocks noGrp="1"/>
          </p:cNvSpPr>
          <p:nvPr>
            <p:ph idx="1"/>
          </p:nvPr>
        </p:nvSpPr>
        <p:spPr>
          <a:xfrm>
            <a:off x="1534696" y="2015732"/>
            <a:ext cx="9520158" cy="3782902"/>
          </a:xfrm>
        </p:spPr>
        <p:txBody>
          <a:bodyPr>
            <a:normAutofit/>
          </a:bodyPr>
          <a:lstStyle/>
          <a:p>
            <a:r>
              <a:rPr lang="en-GB" dirty="0"/>
              <a:t>A </a:t>
            </a:r>
            <a:r>
              <a:rPr lang="en-GB" b="1" dirty="0"/>
              <a:t>one-to-one relationship</a:t>
            </a:r>
            <a:r>
              <a:rPr lang="en-GB" dirty="0"/>
              <a:t> exists when one instance of Entity A can be associated with </a:t>
            </a:r>
            <a:r>
              <a:rPr lang="en-GB" b="1" dirty="0"/>
              <a:t>at most one</a:t>
            </a:r>
            <a:r>
              <a:rPr lang="en-GB" dirty="0"/>
              <a:t> instance of Entity B, and vice versa.</a:t>
            </a:r>
          </a:p>
          <a:p>
            <a:r>
              <a:rPr lang="en-GB" dirty="0"/>
              <a:t>Student ↔ Student-Profile </a:t>
            </a:r>
          </a:p>
          <a:p>
            <a:r>
              <a:rPr lang="en-GB" dirty="0"/>
              <a:t>Employee ↔ Company ID Card</a:t>
            </a:r>
          </a:p>
          <a:p>
            <a:r>
              <a:rPr lang="en-GB" dirty="0"/>
              <a:t>Department ↔ Department Head </a:t>
            </a:r>
          </a:p>
          <a:p>
            <a:r>
              <a:rPr lang="en-GB" dirty="0"/>
              <a:t>To implement 1-1 relationship</a:t>
            </a:r>
          </a:p>
          <a:p>
            <a:pPr lvl="1"/>
            <a:r>
              <a:rPr lang="en-GB" dirty="0"/>
              <a:t>The </a:t>
            </a:r>
            <a:r>
              <a:rPr lang="en-GB" b="1" dirty="0"/>
              <a:t>UNIQUE foreign key </a:t>
            </a:r>
            <a:r>
              <a:rPr lang="en-GB" dirty="0"/>
              <a:t>prevents several profiles from referencing the same student.</a:t>
            </a:r>
            <a:endParaRPr lang="en-PK" dirty="0"/>
          </a:p>
        </p:txBody>
      </p:sp>
    </p:spTree>
    <p:extLst>
      <p:ext uri="{BB962C8B-B14F-4D97-AF65-F5344CB8AC3E}">
        <p14:creationId xmlns:p14="http://schemas.microsoft.com/office/powerpoint/2010/main" val="298683070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B907FF-847D-4EFA-9594-F60C6F16A2A6}"/>
              </a:ext>
            </a:extLst>
          </p:cNvPr>
          <p:cNvSpPr>
            <a:spLocks noGrp="1"/>
          </p:cNvSpPr>
          <p:nvPr>
            <p:ph type="title"/>
          </p:nvPr>
        </p:nvSpPr>
        <p:spPr/>
        <p:txBody>
          <a:bodyPr/>
          <a:lstStyle/>
          <a:p>
            <a:r>
              <a:rPr lang="en-GB" dirty="0"/>
              <a:t>One-to-Many Relationship (1:N)</a:t>
            </a:r>
            <a:endParaRPr lang="en-PK" dirty="0"/>
          </a:p>
        </p:txBody>
      </p:sp>
      <p:sp>
        <p:nvSpPr>
          <p:cNvPr id="3" name="Content Placeholder 2">
            <a:extLst>
              <a:ext uri="{FF2B5EF4-FFF2-40B4-BE49-F238E27FC236}">
                <a16:creationId xmlns:a16="http://schemas.microsoft.com/office/drawing/2014/main" id="{D2EE5EAE-71AB-4931-BC58-E0CDF3B25796}"/>
              </a:ext>
            </a:extLst>
          </p:cNvPr>
          <p:cNvSpPr>
            <a:spLocks noGrp="1"/>
          </p:cNvSpPr>
          <p:nvPr>
            <p:ph idx="1"/>
          </p:nvPr>
        </p:nvSpPr>
        <p:spPr>
          <a:xfrm>
            <a:off x="1534696" y="2015732"/>
            <a:ext cx="9520158" cy="3782902"/>
          </a:xfrm>
        </p:spPr>
        <p:txBody>
          <a:bodyPr>
            <a:normAutofit/>
          </a:bodyPr>
          <a:lstStyle/>
          <a:p>
            <a:r>
              <a:rPr lang="en-GB" dirty="0"/>
              <a:t>A </a:t>
            </a:r>
            <a:r>
              <a:rPr lang="en-GB" b="1" dirty="0"/>
              <a:t>one-to-many relationship</a:t>
            </a:r>
            <a:r>
              <a:rPr lang="en-GB" dirty="0"/>
              <a:t> exists when one record in Entity A may be associated with </a:t>
            </a:r>
            <a:r>
              <a:rPr lang="en-GB" b="1" dirty="0"/>
              <a:t>many records</a:t>
            </a:r>
            <a:r>
              <a:rPr lang="en-GB" dirty="0"/>
              <a:t> in Entity B, while each B record belongs to only one A record.</a:t>
            </a:r>
          </a:p>
          <a:p>
            <a:r>
              <a:rPr lang="en-GB" dirty="0"/>
              <a:t>Customer ↔ Car</a:t>
            </a:r>
          </a:p>
          <a:p>
            <a:r>
              <a:rPr lang="en-GB" dirty="0"/>
              <a:t>Department ↔ Employee</a:t>
            </a:r>
          </a:p>
          <a:p>
            <a:r>
              <a:rPr lang="en-GB" dirty="0"/>
              <a:t>Customer ↔ Order</a:t>
            </a:r>
          </a:p>
          <a:p>
            <a:r>
              <a:rPr lang="en-GB" dirty="0"/>
              <a:t>To implement 1-M relationship</a:t>
            </a:r>
          </a:p>
          <a:p>
            <a:pPr lvl="1"/>
            <a:r>
              <a:rPr lang="en-GB" dirty="0"/>
              <a:t>The foreign key is normally placed on the </a:t>
            </a:r>
            <a:r>
              <a:rPr lang="en-GB" b="1" dirty="0"/>
              <a:t>many side</a:t>
            </a:r>
            <a:r>
              <a:rPr lang="en-GB" dirty="0"/>
              <a:t>..</a:t>
            </a:r>
            <a:endParaRPr lang="en-PK" dirty="0"/>
          </a:p>
        </p:txBody>
      </p:sp>
    </p:spTree>
    <p:extLst>
      <p:ext uri="{BB962C8B-B14F-4D97-AF65-F5344CB8AC3E}">
        <p14:creationId xmlns:p14="http://schemas.microsoft.com/office/powerpoint/2010/main" val="120083243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B907FF-847D-4EFA-9594-F60C6F16A2A6}"/>
              </a:ext>
            </a:extLst>
          </p:cNvPr>
          <p:cNvSpPr>
            <a:spLocks noGrp="1"/>
          </p:cNvSpPr>
          <p:nvPr>
            <p:ph type="title"/>
          </p:nvPr>
        </p:nvSpPr>
        <p:spPr/>
        <p:txBody>
          <a:bodyPr/>
          <a:lstStyle/>
          <a:p>
            <a:r>
              <a:rPr lang="en-GB" dirty="0"/>
              <a:t>Many-to-Many Relationship (M:N)</a:t>
            </a:r>
            <a:endParaRPr lang="en-PK" dirty="0"/>
          </a:p>
        </p:txBody>
      </p:sp>
      <p:sp>
        <p:nvSpPr>
          <p:cNvPr id="3" name="Content Placeholder 2">
            <a:extLst>
              <a:ext uri="{FF2B5EF4-FFF2-40B4-BE49-F238E27FC236}">
                <a16:creationId xmlns:a16="http://schemas.microsoft.com/office/drawing/2014/main" id="{D2EE5EAE-71AB-4931-BC58-E0CDF3B25796}"/>
              </a:ext>
            </a:extLst>
          </p:cNvPr>
          <p:cNvSpPr>
            <a:spLocks noGrp="1"/>
          </p:cNvSpPr>
          <p:nvPr>
            <p:ph idx="1"/>
          </p:nvPr>
        </p:nvSpPr>
        <p:spPr>
          <a:xfrm>
            <a:off x="1534696" y="2015732"/>
            <a:ext cx="9520158" cy="3782902"/>
          </a:xfrm>
        </p:spPr>
        <p:txBody>
          <a:bodyPr>
            <a:normAutofit/>
          </a:bodyPr>
          <a:lstStyle/>
          <a:p>
            <a:r>
              <a:rPr lang="en-GB" dirty="0"/>
              <a:t>A </a:t>
            </a:r>
            <a:r>
              <a:rPr lang="en-GB" b="1" dirty="0"/>
              <a:t>many-to-many relationship</a:t>
            </a:r>
            <a:r>
              <a:rPr lang="en-GB" dirty="0"/>
              <a:t> exists when many instances of Entity A can relate to many instances of Entity B.</a:t>
            </a:r>
          </a:p>
          <a:p>
            <a:r>
              <a:rPr lang="en-GB" dirty="0"/>
              <a:t>Student ↔ (</a:t>
            </a:r>
            <a:r>
              <a:rPr lang="en-GB" dirty="0" err="1"/>
              <a:t>enroll</a:t>
            </a:r>
            <a:r>
              <a:rPr lang="en-GB" dirty="0"/>
              <a:t>) Course (</a:t>
            </a:r>
            <a:r>
              <a:rPr lang="en-GB" dirty="0" err="1"/>
              <a:t>Enrollment</a:t>
            </a:r>
            <a:r>
              <a:rPr lang="en-GB" dirty="0"/>
              <a:t>)</a:t>
            </a:r>
          </a:p>
          <a:p>
            <a:r>
              <a:rPr lang="en-GB" dirty="0"/>
              <a:t>Books  -- Author  (Published Books)</a:t>
            </a:r>
          </a:p>
          <a:p>
            <a:r>
              <a:rPr lang="en-GB" dirty="0"/>
              <a:t>Product and Order (Order Item)</a:t>
            </a:r>
          </a:p>
          <a:p>
            <a:r>
              <a:rPr lang="en-GB" dirty="0"/>
              <a:t>To implement M-N relationship</a:t>
            </a:r>
          </a:p>
          <a:p>
            <a:pPr lvl="1"/>
            <a:r>
              <a:rPr lang="en-GB" dirty="0"/>
              <a:t>Create a bridge Table to build relationship</a:t>
            </a:r>
            <a:endParaRPr lang="en-PK" dirty="0"/>
          </a:p>
        </p:txBody>
      </p:sp>
    </p:spTree>
    <p:extLst>
      <p:ext uri="{BB962C8B-B14F-4D97-AF65-F5344CB8AC3E}">
        <p14:creationId xmlns:p14="http://schemas.microsoft.com/office/powerpoint/2010/main" val="2151883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BD8E37-CA4C-4815-8A97-C5EACCAD18E3}"/>
              </a:ext>
            </a:extLst>
          </p:cNvPr>
          <p:cNvSpPr>
            <a:spLocks noGrp="1"/>
          </p:cNvSpPr>
          <p:nvPr>
            <p:ph type="title"/>
          </p:nvPr>
        </p:nvSpPr>
        <p:spPr/>
        <p:txBody>
          <a:bodyPr/>
          <a:lstStyle/>
          <a:p>
            <a:r>
              <a:rPr lang="en-GB" dirty="0"/>
              <a:t>Participation</a:t>
            </a:r>
            <a:endParaRPr lang="en-PK" dirty="0"/>
          </a:p>
        </p:txBody>
      </p:sp>
      <p:sp>
        <p:nvSpPr>
          <p:cNvPr id="3" name="Content Placeholder 2">
            <a:extLst>
              <a:ext uri="{FF2B5EF4-FFF2-40B4-BE49-F238E27FC236}">
                <a16:creationId xmlns:a16="http://schemas.microsoft.com/office/drawing/2014/main" id="{8E90BD9E-3640-49F4-A1C5-ACF8AB14B64F}"/>
              </a:ext>
            </a:extLst>
          </p:cNvPr>
          <p:cNvSpPr>
            <a:spLocks noGrp="1"/>
          </p:cNvSpPr>
          <p:nvPr>
            <p:ph idx="1"/>
          </p:nvPr>
        </p:nvSpPr>
        <p:spPr/>
        <p:txBody>
          <a:bodyPr>
            <a:normAutofit fontScale="92500" lnSpcReduction="10000"/>
          </a:bodyPr>
          <a:lstStyle/>
          <a:p>
            <a:r>
              <a:rPr lang="en-GB" dirty="0"/>
              <a:t>Cardinality: maximum number of related entities</a:t>
            </a:r>
          </a:p>
          <a:p>
            <a:r>
              <a:rPr lang="en-GB" dirty="0"/>
              <a:t>Participation: whether participation is require or optional (total / partial)</a:t>
            </a:r>
          </a:p>
          <a:p>
            <a:endParaRPr lang="en-GB" dirty="0"/>
          </a:p>
          <a:p>
            <a:r>
              <a:rPr lang="en-GB" dirty="0"/>
              <a:t>A customer may own a car ( 1 – N)  </a:t>
            </a:r>
          </a:p>
          <a:p>
            <a:pPr lvl="1"/>
            <a:r>
              <a:rPr lang="en-GB" dirty="0"/>
              <a:t>Car (total) Customer (total) </a:t>
            </a:r>
            <a:r>
              <a:rPr lang="en-GB" dirty="0">
                <a:sym typeface="Wingdings" panose="05000000000000000000" pitchFamily="2" charset="2"/>
              </a:rPr>
              <a:t> Customer (1:N) Car (1:1)</a:t>
            </a:r>
            <a:endParaRPr lang="en-GB" dirty="0"/>
          </a:p>
          <a:p>
            <a:r>
              <a:rPr lang="en-GB" dirty="0"/>
              <a:t>A car with Accident ?    </a:t>
            </a:r>
          </a:p>
          <a:p>
            <a:pPr lvl="1"/>
            <a:r>
              <a:rPr lang="en-GB" dirty="0"/>
              <a:t>Car (Partial) Accident (Total) </a:t>
            </a:r>
            <a:r>
              <a:rPr lang="en-GB" dirty="0">
                <a:sym typeface="Wingdings" panose="05000000000000000000" pitchFamily="2" charset="2"/>
              </a:rPr>
              <a:t> Car (0:N) Accident (1, 1) </a:t>
            </a:r>
            <a:endParaRPr lang="en-GB" dirty="0"/>
          </a:p>
          <a:p>
            <a:r>
              <a:rPr lang="en-GB" dirty="0"/>
              <a:t>Employee and Parking Space ?  </a:t>
            </a:r>
            <a:endParaRPr lang="en-PK" dirty="0"/>
          </a:p>
        </p:txBody>
      </p:sp>
    </p:spTree>
    <p:extLst>
      <p:ext uri="{BB962C8B-B14F-4D97-AF65-F5344CB8AC3E}">
        <p14:creationId xmlns:p14="http://schemas.microsoft.com/office/powerpoint/2010/main" val="55669345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BD8E37-CA4C-4815-8A97-C5EACCAD18E3}"/>
              </a:ext>
            </a:extLst>
          </p:cNvPr>
          <p:cNvSpPr>
            <a:spLocks noGrp="1"/>
          </p:cNvSpPr>
          <p:nvPr>
            <p:ph type="title"/>
          </p:nvPr>
        </p:nvSpPr>
        <p:spPr/>
        <p:txBody>
          <a:bodyPr/>
          <a:lstStyle/>
          <a:p>
            <a:r>
              <a:rPr lang="en-GB" dirty="0"/>
              <a:t>Participation</a:t>
            </a:r>
            <a:endParaRPr lang="en-PK" dirty="0"/>
          </a:p>
        </p:txBody>
      </p:sp>
      <p:sp>
        <p:nvSpPr>
          <p:cNvPr id="3" name="Content Placeholder 2">
            <a:extLst>
              <a:ext uri="{FF2B5EF4-FFF2-40B4-BE49-F238E27FC236}">
                <a16:creationId xmlns:a16="http://schemas.microsoft.com/office/drawing/2014/main" id="{8E90BD9E-3640-49F4-A1C5-ACF8AB14B64F}"/>
              </a:ext>
            </a:extLst>
          </p:cNvPr>
          <p:cNvSpPr>
            <a:spLocks noGrp="1"/>
          </p:cNvSpPr>
          <p:nvPr>
            <p:ph idx="1"/>
          </p:nvPr>
        </p:nvSpPr>
        <p:spPr/>
        <p:txBody>
          <a:bodyPr>
            <a:normAutofit/>
          </a:bodyPr>
          <a:lstStyle/>
          <a:p>
            <a:r>
              <a:rPr lang="en-GB" dirty="0"/>
              <a:t>Employee and Parking Space ?  </a:t>
            </a:r>
          </a:p>
          <a:p>
            <a:pPr lvl="1"/>
            <a:r>
              <a:rPr lang="en-GB" dirty="0"/>
              <a:t>Employee (Partial) Parking Space (total)  Emp (1:1) Partial (1:1)</a:t>
            </a:r>
          </a:p>
          <a:p>
            <a:r>
              <a:rPr lang="en-GB" dirty="0"/>
              <a:t>Employee and Department ? </a:t>
            </a:r>
          </a:p>
          <a:p>
            <a:pPr lvl="1"/>
            <a:r>
              <a:rPr lang="en-GB" dirty="0"/>
              <a:t>Employee (Total) Dept (Partial) , Employee(1, 1), Dept (0,N)</a:t>
            </a:r>
          </a:p>
          <a:p>
            <a:r>
              <a:rPr lang="en-GB" dirty="0"/>
              <a:t>Doctor and Appointment ? </a:t>
            </a:r>
          </a:p>
          <a:p>
            <a:pPr lvl="1"/>
            <a:r>
              <a:rPr lang="en-GB" dirty="0"/>
              <a:t>Doctor (Partial) Appointment (Total) , Doctor (0,N), Appointment (1:1)</a:t>
            </a:r>
          </a:p>
          <a:p>
            <a:pPr lvl="1"/>
            <a:endParaRPr lang="en-PK" dirty="0"/>
          </a:p>
        </p:txBody>
      </p:sp>
    </p:spTree>
    <p:extLst>
      <p:ext uri="{BB962C8B-B14F-4D97-AF65-F5344CB8AC3E}">
        <p14:creationId xmlns:p14="http://schemas.microsoft.com/office/powerpoint/2010/main" val="167603673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A5C9E61-E686-48D6-AD04-571AB44F1224}"/>
              </a:ext>
            </a:extLst>
          </p:cNvPr>
          <p:cNvPicPr>
            <a:picLocks noChangeAspect="1"/>
          </p:cNvPicPr>
          <p:nvPr/>
        </p:nvPicPr>
        <p:blipFill>
          <a:blip r:embed="rId2"/>
          <a:stretch>
            <a:fillRect/>
          </a:stretch>
        </p:blipFill>
        <p:spPr>
          <a:xfrm>
            <a:off x="855739" y="81080"/>
            <a:ext cx="10480521" cy="5926916"/>
          </a:xfrm>
          <a:prstGeom prst="rect">
            <a:avLst/>
          </a:prstGeom>
        </p:spPr>
      </p:pic>
    </p:spTree>
    <p:extLst>
      <p:ext uri="{BB962C8B-B14F-4D97-AF65-F5344CB8AC3E}">
        <p14:creationId xmlns:p14="http://schemas.microsoft.com/office/powerpoint/2010/main" val="190909909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FE69623-117A-4C25-8629-3945747A4D24}"/>
              </a:ext>
            </a:extLst>
          </p:cNvPr>
          <p:cNvSpPr>
            <a:spLocks noGrp="1"/>
          </p:cNvSpPr>
          <p:nvPr>
            <p:ph idx="1"/>
          </p:nvPr>
        </p:nvSpPr>
        <p:spPr>
          <a:xfrm>
            <a:off x="1403279" y="698642"/>
            <a:ext cx="10515600" cy="5270644"/>
          </a:xfrm>
        </p:spPr>
        <p:txBody>
          <a:bodyPr>
            <a:normAutofit/>
          </a:bodyPr>
          <a:lstStyle/>
          <a:p>
            <a:pPr marL="0" indent="0" algn="just">
              <a:buNone/>
            </a:pPr>
            <a:r>
              <a:rPr lang="en-GB" sz="2400" b="0" i="0" dirty="0">
                <a:solidFill>
                  <a:srgbClr val="000000"/>
                </a:solidFill>
                <a:effectLst/>
                <a:latin typeface="Inter"/>
              </a:rPr>
              <a:t>A university registrar’s office maintains data about the following entities:</a:t>
            </a:r>
          </a:p>
          <a:p>
            <a:pPr algn="just"/>
            <a:r>
              <a:rPr lang="en-GB" sz="2400" b="0" i="0" dirty="0">
                <a:solidFill>
                  <a:srgbClr val="000000"/>
                </a:solidFill>
                <a:effectLst/>
                <a:latin typeface="Inter"/>
              </a:rPr>
              <a:t>	courses, including number, title, credits, syllabus, and prerequisites;</a:t>
            </a:r>
          </a:p>
          <a:p>
            <a:pPr algn="just"/>
            <a:r>
              <a:rPr lang="en-GB" sz="2400" b="0" i="0" dirty="0">
                <a:solidFill>
                  <a:srgbClr val="000000"/>
                </a:solidFill>
                <a:effectLst/>
                <a:latin typeface="Inter"/>
              </a:rPr>
              <a:t>	course offerings, including course number, year, semester, section number, instructor(s), timings, and classroom; </a:t>
            </a:r>
          </a:p>
          <a:p>
            <a:pPr algn="just"/>
            <a:r>
              <a:rPr lang="en-GB" sz="2400" dirty="0">
                <a:solidFill>
                  <a:srgbClr val="000000"/>
                </a:solidFill>
                <a:latin typeface="Inter"/>
              </a:rPr>
              <a:t>	</a:t>
            </a:r>
            <a:r>
              <a:rPr lang="en-GB" sz="2400" b="0" i="0" dirty="0">
                <a:solidFill>
                  <a:srgbClr val="000000"/>
                </a:solidFill>
                <a:effectLst/>
                <a:latin typeface="Inter"/>
              </a:rPr>
              <a:t>students, including student-id, name, and program;</a:t>
            </a:r>
          </a:p>
          <a:p>
            <a:pPr algn="just"/>
            <a:r>
              <a:rPr lang="en-GB" sz="2400" dirty="0">
                <a:solidFill>
                  <a:srgbClr val="000000"/>
                </a:solidFill>
                <a:latin typeface="Inter"/>
              </a:rPr>
              <a:t>	</a:t>
            </a:r>
            <a:r>
              <a:rPr lang="en-GB" sz="2400" b="0" i="0" dirty="0">
                <a:solidFill>
                  <a:srgbClr val="000000"/>
                </a:solidFill>
                <a:effectLst/>
                <a:latin typeface="Inter"/>
              </a:rPr>
              <a:t>instructors, including </a:t>
            </a:r>
            <a:r>
              <a:rPr lang="en-GB" sz="2400" b="0" i="0" dirty="0" err="1">
                <a:solidFill>
                  <a:srgbClr val="000000"/>
                </a:solidFill>
                <a:effectLst/>
                <a:latin typeface="Inter"/>
              </a:rPr>
              <a:t>identi</a:t>
            </a:r>
            <a:r>
              <a:rPr lang="en-GB" sz="2400" b="0" i="0" dirty="0">
                <a:solidFill>
                  <a:srgbClr val="000000"/>
                </a:solidFill>
                <a:effectLst/>
                <a:latin typeface="Inter"/>
              </a:rPr>
              <a:t> cation number, name, department,‑ and title.</a:t>
            </a:r>
          </a:p>
          <a:p>
            <a:pPr marL="0" indent="0" algn="just">
              <a:buNone/>
            </a:pPr>
            <a:r>
              <a:rPr lang="en-GB" sz="2400" b="0" i="0" dirty="0">
                <a:solidFill>
                  <a:srgbClr val="000000"/>
                </a:solidFill>
                <a:effectLst/>
                <a:latin typeface="Inter"/>
              </a:rPr>
              <a:t>Further, the </a:t>
            </a:r>
            <a:r>
              <a:rPr lang="en-GB" sz="2400" b="0" i="0" dirty="0" err="1">
                <a:solidFill>
                  <a:srgbClr val="000000"/>
                </a:solidFill>
                <a:effectLst/>
                <a:latin typeface="Inter"/>
              </a:rPr>
              <a:t>enrollment</a:t>
            </a:r>
            <a:r>
              <a:rPr lang="en-GB" sz="2400" b="0" i="0" dirty="0">
                <a:solidFill>
                  <a:srgbClr val="000000"/>
                </a:solidFill>
                <a:effectLst/>
                <a:latin typeface="Inter"/>
              </a:rPr>
              <a:t> of students in courses and grades awarded to students in each course they are enrolled for must be appropriately modelled. Construct an E-R diagram for the registrar’s of </a:t>
            </a:r>
            <a:r>
              <a:rPr lang="en-GB" sz="2400" b="0" i="0" dirty="0" err="1">
                <a:solidFill>
                  <a:srgbClr val="000000"/>
                </a:solidFill>
                <a:effectLst/>
                <a:latin typeface="Inter"/>
              </a:rPr>
              <a:t>ce</a:t>
            </a:r>
            <a:r>
              <a:rPr lang="en-GB" sz="2400" b="0" i="0" dirty="0">
                <a:solidFill>
                  <a:srgbClr val="000000"/>
                </a:solidFill>
                <a:effectLst/>
                <a:latin typeface="Inter"/>
              </a:rPr>
              <a:t>.</a:t>
            </a:r>
          </a:p>
          <a:p>
            <a:pPr marL="0" indent="0" algn="just">
              <a:buNone/>
            </a:pPr>
            <a:r>
              <a:rPr lang="en-GB" sz="2400" b="0" i="0" dirty="0">
                <a:solidFill>
                  <a:srgbClr val="000000"/>
                </a:solidFill>
                <a:effectLst/>
                <a:latin typeface="Inter"/>
              </a:rPr>
              <a:t>Document all assumptions that you make about‑ the mapping constraints.</a:t>
            </a:r>
            <a:endParaRPr lang="en-PK" sz="2400" dirty="0"/>
          </a:p>
        </p:txBody>
      </p:sp>
    </p:spTree>
    <p:extLst>
      <p:ext uri="{BB962C8B-B14F-4D97-AF65-F5344CB8AC3E}">
        <p14:creationId xmlns:p14="http://schemas.microsoft.com/office/powerpoint/2010/main" val="40720838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0CD3618-C7CD-46B3-926B-2EE63C0229AF}"/>
              </a:ext>
            </a:extLst>
          </p:cNvPr>
          <p:cNvPicPr>
            <a:picLocks noChangeAspect="1"/>
          </p:cNvPicPr>
          <p:nvPr/>
        </p:nvPicPr>
        <p:blipFill>
          <a:blip r:embed="rId2"/>
          <a:stretch>
            <a:fillRect/>
          </a:stretch>
        </p:blipFill>
        <p:spPr>
          <a:xfrm>
            <a:off x="907548" y="267076"/>
            <a:ext cx="10376904" cy="5875507"/>
          </a:xfrm>
          <a:prstGeom prst="rect">
            <a:avLst/>
          </a:prstGeom>
        </p:spPr>
      </p:pic>
    </p:spTree>
    <p:extLst>
      <p:ext uri="{BB962C8B-B14F-4D97-AF65-F5344CB8AC3E}">
        <p14:creationId xmlns:p14="http://schemas.microsoft.com/office/powerpoint/2010/main" val="18275303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FF9ED7-E504-4137-9B8B-B403240D46E0}"/>
              </a:ext>
            </a:extLst>
          </p:cNvPr>
          <p:cNvSpPr>
            <a:spLocks noGrp="1"/>
          </p:cNvSpPr>
          <p:nvPr>
            <p:ph type="title"/>
          </p:nvPr>
        </p:nvSpPr>
        <p:spPr/>
        <p:txBody>
          <a:bodyPr/>
          <a:lstStyle/>
          <a:p>
            <a:r>
              <a:rPr lang="en-GB" dirty="0"/>
              <a:t>Activity-01</a:t>
            </a:r>
            <a:endParaRPr lang="en-PK" dirty="0"/>
          </a:p>
        </p:txBody>
      </p:sp>
      <p:sp>
        <p:nvSpPr>
          <p:cNvPr id="3" name="Content Placeholder 2">
            <a:extLst>
              <a:ext uri="{FF2B5EF4-FFF2-40B4-BE49-F238E27FC236}">
                <a16:creationId xmlns:a16="http://schemas.microsoft.com/office/drawing/2014/main" id="{BE1A139B-9186-4E48-993B-DDDFE279E9C0}"/>
              </a:ext>
            </a:extLst>
          </p:cNvPr>
          <p:cNvSpPr>
            <a:spLocks noGrp="1"/>
          </p:cNvSpPr>
          <p:nvPr>
            <p:ph idx="1"/>
          </p:nvPr>
        </p:nvSpPr>
        <p:spPr/>
        <p:txBody>
          <a:bodyPr/>
          <a:lstStyle/>
          <a:p>
            <a:r>
              <a:rPr lang="en-GB" b="0" i="0" dirty="0">
                <a:solidFill>
                  <a:srgbClr val="000000"/>
                </a:solidFill>
                <a:effectLst/>
                <a:latin typeface="Inter"/>
              </a:rPr>
              <a:t>In a University database we might have entities for Students, Modules and Lecturers. – </a:t>
            </a:r>
          </a:p>
          <a:p>
            <a:r>
              <a:rPr lang="en-GB" b="0" i="0" dirty="0">
                <a:solidFill>
                  <a:srgbClr val="000000"/>
                </a:solidFill>
                <a:effectLst/>
                <a:latin typeface="Inter"/>
              </a:rPr>
              <a:t>Students might have attributes such as their ID, Name, and Course whereas Lecturers might have attributes such as LID, Name, Rank and Modules might have attributes such as </a:t>
            </a:r>
            <a:r>
              <a:rPr lang="en-GB" b="0" i="0" dirty="0" err="1">
                <a:solidFill>
                  <a:srgbClr val="000000"/>
                </a:solidFill>
                <a:effectLst/>
                <a:latin typeface="Inter"/>
              </a:rPr>
              <a:t>ModuleNumber</a:t>
            </a:r>
            <a:r>
              <a:rPr lang="en-GB" b="0" i="0" dirty="0">
                <a:solidFill>
                  <a:srgbClr val="000000"/>
                </a:solidFill>
                <a:effectLst/>
                <a:latin typeface="Inter"/>
              </a:rPr>
              <a:t>, </a:t>
            </a:r>
            <a:r>
              <a:rPr lang="en-GB" b="0" i="0" dirty="0" err="1">
                <a:solidFill>
                  <a:srgbClr val="000000"/>
                </a:solidFill>
                <a:effectLst/>
                <a:latin typeface="Inter"/>
              </a:rPr>
              <a:t>ModuleName</a:t>
            </a:r>
            <a:r>
              <a:rPr lang="en-GB" b="0" i="0" dirty="0">
                <a:solidFill>
                  <a:srgbClr val="000000"/>
                </a:solidFill>
                <a:effectLst/>
                <a:latin typeface="Inter"/>
              </a:rPr>
              <a:t>, </a:t>
            </a:r>
            <a:r>
              <a:rPr lang="en-GB" b="0" i="0" dirty="0" err="1">
                <a:solidFill>
                  <a:srgbClr val="000000"/>
                </a:solidFill>
                <a:effectLst/>
                <a:latin typeface="Inter"/>
              </a:rPr>
              <a:t>CrHr</a:t>
            </a:r>
            <a:r>
              <a:rPr lang="en-GB" b="0" i="0" dirty="0">
                <a:solidFill>
                  <a:srgbClr val="000000"/>
                </a:solidFill>
                <a:effectLst/>
                <a:latin typeface="Inter"/>
              </a:rPr>
              <a:t> and could have relationships (studies) with Student and Modules and (tutor) with Lecturers and Modules. </a:t>
            </a:r>
            <a:endParaRPr lang="en-GB" dirty="0">
              <a:solidFill>
                <a:srgbClr val="000000"/>
              </a:solidFill>
              <a:latin typeface="Inter"/>
            </a:endParaRPr>
          </a:p>
          <a:p>
            <a:r>
              <a:rPr lang="en-GB" b="0" i="0" dirty="0">
                <a:solidFill>
                  <a:srgbClr val="000000"/>
                </a:solidFill>
                <a:effectLst/>
                <a:latin typeface="Inter"/>
              </a:rPr>
              <a:t>Identify entity, Attributes and relationship?</a:t>
            </a:r>
          </a:p>
          <a:p>
            <a:r>
              <a:rPr lang="en-GB" b="0" i="0" dirty="0">
                <a:solidFill>
                  <a:srgbClr val="000000"/>
                </a:solidFill>
                <a:effectLst/>
                <a:latin typeface="Inter"/>
              </a:rPr>
              <a:t> Draw the ER Diagram from the above requirement analysis?</a:t>
            </a:r>
            <a:endParaRPr lang="en-PK" dirty="0"/>
          </a:p>
        </p:txBody>
      </p:sp>
    </p:spTree>
    <p:extLst>
      <p:ext uri="{BB962C8B-B14F-4D97-AF65-F5344CB8AC3E}">
        <p14:creationId xmlns:p14="http://schemas.microsoft.com/office/powerpoint/2010/main" val="184020006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E45C98-A9C8-46A0-ADF4-A8632C3873B9}"/>
              </a:ext>
            </a:extLst>
          </p:cNvPr>
          <p:cNvSpPr>
            <a:spLocks noGrp="1"/>
          </p:cNvSpPr>
          <p:nvPr>
            <p:ph type="title"/>
          </p:nvPr>
        </p:nvSpPr>
        <p:spPr>
          <a:xfrm>
            <a:off x="838200" y="310041"/>
            <a:ext cx="10515600" cy="1325563"/>
          </a:xfrm>
        </p:spPr>
        <p:txBody>
          <a:bodyPr/>
          <a:lstStyle/>
          <a:p>
            <a:r>
              <a:rPr lang="en-GB" dirty="0"/>
              <a:t>	Activity-02 (Country Bus)</a:t>
            </a:r>
            <a:endParaRPr lang="en-PK" dirty="0"/>
          </a:p>
        </p:txBody>
      </p:sp>
      <p:sp>
        <p:nvSpPr>
          <p:cNvPr id="3" name="Content Placeholder 2">
            <a:extLst>
              <a:ext uri="{FF2B5EF4-FFF2-40B4-BE49-F238E27FC236}">
                <a16:creationId xmlns:a16="http://schemas.microsoft.com/office/drawing/2014/main" id="{F07256BF-36F8-436B-8BCE-337D6BE8F5C1}"/>
              </a:ext>
            </a:extLst>
          </p:cNvPr>
          <p:cNvSpPr>
            <a:spLocks noGrp="1"/>
          </p:cNvSpPr>
          <p:nvPr>
            <p:ph idx="1"/>
          </p:nvPr>
        </p:nvSpPr>
        <p:spPr>
          <a:xfrm>
            <a:off x="1534696" y="2015732"/>
            <a:ext cx="9520158" cy="3984376"/>
          </a:xfrm>
        </p:spPr>
        <p:txBody>
          <a:bodyPr>
            <a:normAutofit/>
          </a:bodyPr>
          <a:lstStyle/>
          <a:p>
            <a:r>
              <a:rPr lang="en-GB" sz="1600" b="0" i="0" dirty="0">
                <a:solidFill>
                  <a:srgbClr val="000000"/>
                </a:solidFill>
                <a:effectLst/>
                <a:latin typeface="Inter"/>
              </a:rPr>
              <a:t>A Country bus Company owns a number of buses.</a:t>
            </a:r>
          </a:p>
          <a:p>
            <a:r>
              <a:rPr lang="en-GB" sz="1600" b="0" i="0" dirty="0">
                <a:solidFill>
                  <a:srgbClr val="000000"/>
                </a:solidFill>
                <a:effectLst/>
                <a:latin typeface="Inter"/>
              </a:rPr>
              <a:t>Each bus is allocated to a particular route, although some routes may have several buses. Each route passes through a number of towns. </a:t>
            </a:r>
          </a:p>
          <a:p>
            <a:r>
              <a:rPr lang="en-GB" sz="1600" b="0" i="0" dirty="0">
                <a:solidFill>
                  <a:srgbClr val="000000"/>
                </a:solidFill>
                <a:effectLst/>
                <a:latin typeface="Inter"/>
              </a:rPr>
              <a:t>One or more drivers are allocated to each stage of a route, which corresponds to a journey through some or all of the towns on a route.</a:t>
            </a:r>
          </a:p>
          <a:p>
            <a:r>
              <a:rPr lang="en-GB" sz="1600" b="0" i="0" dirty="0">
                <a:solidFill>
                  <a:srgbClr val="000000"/>
                </a:solidFill>
                <a:effectLst/>
                <a:latin typeface="Inter"/>
              </a:rPr>
              <a:t>Some of the towns have a garage where buses are kept and each of the buses are identified by the registration number and can carry different numbers of passengers, since the vehicles vary in size and can be single or double-decked.</a:t>
            </a:r>
          </a:p>
          <a:p>
            <a:r>
              <a:rPr lang="en-GB" sz="1600" b="0" i="0" dirty="0">
                <a:solidFill>
                  <a:srgbClr val="000000"/>
                </a:solidFill>
                <a:effectLst/>
                <a:latin typeface="Inter"/>
              </a:rPr>
              <a:t>Each route is identified by a route number and information is available on the average number of passengers carried per day for each route. </a:t>
            </a:r>
          </a:p>
          <a:p>
            <a:r>
              <a:rPr lang="en-GB" sz="1600" b="0" i="0" dirty="0">
                <a:solidFill>
                  <a:srgbClr val="000000"/>
                </a:solidFill>
                <a:effectLst/>
                <a:latin typeface="Inter"/>
              </a:rPr>
              <a:t>Drivers have an employee number, name, address, and sometimes a telephone number.</a:t>
            </a:r>
            <a:endParaRPr lang="en-PK" sz="1600" dirty="0"/>
          </a:p>
        </p:txBody>
      </p:sp>
    </p:spTree>
    <p:extLst>
      <p:ext uri="{BB962C8B-B14F-4D97-AF65-F5344CB8AC3E}">
        <p14:creationId xmlns:p14="http://schemas.microsoft.com/office/powerpoint/2010/main" val="22237886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BE6776-99D6-4314-9E98-E4551D027427}"/>
              </a:ext>
            </a:extLst>
          </p:cNvPr>
          <p:cNvSpPr>
            <a:spLocks noGrp="1"/>
          </p:cNvSpPr>
          <p:nvPr>
            <p:ph type="title"/>
          </p:nvPr>
        </p:nvSpPr>
        <p:spPr/>
        <p:txBody>
          <a:bodyPr/>
          <a:lstStyle/>
          <a:p>
            <a:endParaRPr lang="en-PK"/>
          </a:p>
        </p:txBody>
      </p:sp>
      <p:sp>
        <p:nvSpPr>
          <p:cNvPr id="4" name="Rectangle 1">
            <a:extLst>
              <a:ext uri="{FF2B5EF4-FFF2-40B4-BE49-F238E27FC236}">
                <a16:creationId xmlns:a16="http://schemas.microsoft.com/office/drawing/2014/main" id="{ED728416-E8FE-48F9-BF68-152975FFE83B}"/>
              </a:ext>
            </a:extLst>
          </p:cNvPr>
          <p:cNvSpPr>
            <a:spLocks noGrp="1" noChangeArrowheads="1"/>
          </p:cNvSpPr>
          <p:nvPr>
            <p:ph idx="1"/>
          </p:nvPr>
        </p:nvSpPr>
        <p:spPr bwMode="auto">
          <a:xfrm>
            <a:off x="1534696" y="1757106"/>
            <a:ext cx="9984514" cy="1169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2800" b="1" i="0" u="none" strike="noStrike" cap="none" normalizeH="0" baseline="0" dirty="0">
                <a:ln>
                  <a:noFill/>
                </a:ln>
                <a:solidFill>
                  <a:schemeClr val="tx1"/>
                </a:solidFill>
                <a:effectLst/>
                <a:latin typeface="Arial" panose="020B0604020202020204" pitchFamily="34" charset="0"/>
              </a:rPr>
              <a:t>Entities:</a:t>
            </a:r>
            <a:r>
              <a:rPr kumimoji="0" lang="en-GB" altLang="en-PK" sz="2800" b="1" i="0" u="none" strike="noStrike" cap="none" normalizeH="0" baseline="0" dirty="0">
                <a:ln>
                  <a:noFill/>
                </a:ln>
                <a:solidFill>
                  <a:schemeClr val="tx1"/>
                </a:solidFill>
                <a:effectLst/>
                <a:latin typeface="Arial" panose="020B0604020202020204" pitchFamily="34" charset="0"/>
              </a:rPr>
              <a:t> </a:t>
            </a:r>
            <a:r>
              <a:rPr kumimoji="0" lang="en-PK" altLang="en-PK" sz="1800" b="0" i="0" u="none" strike="noStrike" cap="none" normalizeH="0" baseline="0" dirty="0">
                <a:ln>
                  <a:noFill/>
                </a:ln>
                <a:solidFill>
                  <a:schemeClr val="tx1"/>
                </a:solidFill>
                <a:effectLst/>
                <a:latin typeface="Arial Unicode MS"/>
              </a:rPr>
              <a:t>Bus, Route, Town, Driver, Stage, Garage</a:t>
            </a:r>
            <a:r>
              <a:rPr kumimoji="0" lang="en-PK" altLang="en-PK" sz="1400" b="0" i="0" u="none" strike="noStrike" cap="none" normalizeH="0" baseline="0" dirty="0">
                <a:ln>
                  <a:noFill/>
                </a:ln>
                <a:solidFill>
                  <a:schemeClr val="tx1"/>
                </a:solidFill>
                <a:effectLst/>
              </a:rPr>
              <a:t> and optionally </a:t>
            </a:r>
            <a:r>
              <a:rPr kumimoji="0" lang="en-PK" altLang="en-PK" sz="1800" b="0" i="0" u="none" strike="noStrike" cap="none" normalizeH="0" baseline="0" dirty="0">
                <a:ln>
                  <a:noFill/>
                </a:ln>
                <a:solidFill>
                  <a:schemeClr val="tx1"/>
                </a:solidFill>
                <a:effectLst/>
                <a:latin typeface="Arial Unicode MS"/>
              </a:rPr>
              <a:t>Company</a:t>
            </a:r>
            <a:r>
              <a:rPr kumimoji="0" lang="en-PK" altLang="en-PK" sz="1400" b="0" i="0" u="none" strike="noStrike" cap="none" normalizeH="0" baseline="0" dirty="0">
                <a:ln>
                  <a:noFill/>
                </a:ln>
                <a:solidFill>
                  <a:schemeClr val="tx1"/>
                </a:solidFill>
                <a:effectLst/>
              </a:rPr>
              <a:t>. </a:t>
            </a:r>
            <a:endParaRPr kumimoji="0" lang="en-GB" altLang="en-PK"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GB" altLang="en-PK"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PK" altLang="en-PK" sz="2800" b="0" i="0" u="none" strike="noStrike" cap="none" normalizeH="0" baseline="0" dirty="0">
              <a:ln>
                <a:noFill/>
              </a:ln>
              <a:solidFill>
                <a:schemeClr val="tx1"/>
              </a:solidFill>
              <a:effectLst/>
              <a:latin typeface="Arial" panose="020B0604020202020204" pitchFamily="34" charset="0"/>
            </a:endParaRPr>
          </a:p>
        </p:txBody>
      </p:sp>
      <p:pic>
        <p:nvPicPr>
          <p:cNvPr id="6" name="Picture 5">
            <a:extLst>
              <a:ext uri="{FF2B5EF4-FFF2-40B4-BE49-F238E27FC236}">
                <a16:creationId xmlns:a16="http://schemas.microsoft.com/office/drawing/2014/main" id="{DBEB9BAD-7343-4F50-9316-EE766953DEDB}"/>
              </a:ext>
            </a:extLst>
          </p:cNvPr>
          <p:cNvPicPr>
            <a:picLocks noChangeAspect="1"/>
          </p:cNvPicPr>
          <p:nvPr/>
        </p:nvPicPr>
        <p:blipFill>
          <a:blip r:embed="rId2"/>
          <a:stretch>
            <a:fillRect/>
          </a:stretch>
        </p:blipFill>
        <p:spPr>
          <a:xfrm>
            <a:off x="740001" y="0"/>
            <a:ext cx="10671033" cy="6053481"/>
          </a:xfrm>
          <a:prstGeom prst="rect">
            <a:avLst/>
          </a:prstGeom>
        </p:spPr>
      </p:pic>
    </p:spTree>
    <p:extLst>
      <p:ext uri="{BB962C8B-B14F-4D97-AF65-F5344CB8AC3E}">
        <p14:creationId xmlns:p14="http://schemas.microsoft.com/office/powerpoint/2010/main" val="213769527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EAEA51-B782-49FA-8A07-20467DA72B37}"/>
              </a:ext>
            </a:extLst>
          </p:cNvPr>
          <p:cNvSpPr>
            <a:spLocks noGrp="1"/>
          </p:cNvSpPr>
          <p:nvPr>
            <p:ph type="title"/>
          </p:nvPr>
        </p:nvSpPr>
        <p:spPr/>
        <p:txBody>
          <a:bodyPr/>
          <a:lstStyle/>
          <a:p>
            <a:r>
              <a:rPr lang="en-GB" dirty="0"/>
              <a:t>Class Activity</a:t>
            </a:r>
            <a:endParaRPr lang="en-PK" dirty="0"/>
          </a:p>
        </p:txBody>
      </p:sp>
      <p:sp>
        <p:nvSpPr>
          <p:cNvPr id="3" name="Content Placeholder 2">
            <a:extLst>
              <a:ext uri="{FF2B5EF4-FFF2-40B4-BE49-F238E27FC236}">
                <a16:creationId xmlns:a16="http://schemas.microsoft.com/office/drawing/2014/main" id="{EAF75723-88EA-4F43-8AC8-6AC40028ECC7}"/>
              </a:ext>
            </a:extLst>
          </p:cNvPr>
          <p:cNvSpPr>
            <a:spLocks noGrp="1"/>
          </p:cNvSpPr>
          <p:nvPr>
            <p:ph idx="1"/>
          </p:nvPr>
        </p:nvSpPr>
        <p:spPr/>
        <p:txBody>
          <a:bodyPr/>
          <a:lstStyle/>
          <a:p>
            <a:pPr marL="457200" indent="-457200">
              <a:buAutoNum type="alphaLcPeriod"/>
            </a:pPr>
            <a:r>
              <a:rPr lang="en-GB" b="0" i="0" dirty="0">
                <a:solidFill>
                  <a:srgbClr val="000000"/>
                </a:solidFill>
                <a:effectLst/>
                <a:latin typeface="Inter"/>
              </a:rPr>
              <a:t>Construct an E-R diagram for a car-insurance company whose customers own one or more cars each.  Each car has associated with it zero to any number of recorded accidents. </a:t>
            </a:r>
          </a:p>
          <a:p>
            <a:pPr marL="457200" indent="-457200">
              <a:buAutoNum type="alphaLcPeriod"/>
            </a:pPr>
            <a:r>
              <a:rPr lang="en-GB" b="0" i="0" dirty="0">
                <a:solidFill>
                  <a:srgbClr val="000000"/>
                </a:solidFill>
                <a:effectLst/>
                <a:latin typeface="Inter"/>
              </a:rPr>
              <a:t>Construct appropriate tables for the above ER Diagram ?</a:t>
            </a:r>
            <a:endParaRPr lang="en-PK" dirty="0"/>
          </a:p>
        </p:txBody>
      </p:sp>
    </p:spTree>
    <p:extLst>
      <p:ext uri="{BB962C8B-B14F-4D97-AF65-F5344CB8AC3E}">
        <p14:creationId xmlns:p14="http://schemas.microsoft.com/office/powerpoint/2010/main" val="167589513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AA6BBFA-AFEA-40A9-8B56-E66F7E0DDF34}"/>
              </a:ext>
            </a:extLst>
          </p:cNvPr>
          <p:cNvPicPr>
            <a:picLocks noChangeAspect="1"/>
          </p:cNvPicPr>
          <p:nvPr/>
        </p:nvPicPr>
        <p:blipFill>
          <a:blip r:embed="rId2"/>
          <a:stretch>
            <a:fillRect/>
          </a:stretch>
        </p:blipFill>
        <p:spPr>
          <a:xfrm>
            <a:off x="172687" y="1245955"/>
            <a:ext cx="11846626" cy="3883606"/>
          </a:xfrm>
          <a:prstGeom prst="rect">
            <a:avLst/>
          </a:prstGeom>
        </p:spPr>
      </p:pic>
    </p:spTree>
    <p:extLst>
      <p:ext uri="{BB962C8B-B14F-4D97-AF65-F5344CB8AC3E}">
        <p14:creationId xmlns:p14="http://schemas.microsoft.com/office/powerpoint/2010/main" val="2908161628"/>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EDEBE7"/>
      </a:lt2>
      <a:accent1>
        <a:srgbClr val="5FA534"/>
      </a:accent1>
      <a:accent2>
        <a:srgbClr val="DCAB34"/>
      </a:accent2>
      <a:accent3>
        <a:srgbClr val="D26D23"/>
      </a:accent3>
      <a:accent4>
        <a:srgbClr val="972323"/>
      </a:accent4>
      <a:accent5>
        <a:srgbClr val="236797"/>
      </a:accent5>
      <a:accent6>
        <a:srgbClr val="2FB6C6"/>
      </a:accent6>
      <a:hlink>
        <a:srgbClr val="8FC639"/>
      </a:hlink>
      <a:folHlink>
        <a:srgbClr val="E7C272"/>
      </a:folHlink>
    </a:clrScheme>
    <a:fontScheme name="Gallery">
      <a:majorFont>
        <a:latin typeface="Palatino Linotype" panose="020405020505050303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Palatino Linotype" panose="020405020505050303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AC464412-510E-4F2B-8947-A0DDBD02899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Gallery</Template>
  <TotalTime>532</TotalTime>
  <Words>3411</Words>
  <Application>Microsoft Office PowerPoint</Application>
  <PresentationFormat>Widescreen</PresentationFormat>
  <Paragraphs>605</Paragraphs>
  <Slides>64</Slides>
  <Notes>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64</vt:i4>
      </vt:variant>
    </vt:vector>
  </HeadingPairs>
  <TitlesOfParts>
    <vt:vector size="74" baseType="lpstr">
      <vt:lpstr>Aptos</vt:lpstr>
      <vt:lpstr>Aptos Display</vt:lpstr>
      <vt:lpstr>Arial</vt:lpstr>
      <vt:lpstr>Arial Unicode MS</vt:lpstr>
      <vt:lpstr>Calibri</vt:lpstr>
      <vt:lpstr>Consolas</vt:lpstr>
      <vt:lpstr>Google Sans</vt:lpstr>
      <vt:lpstr>Inter</vt:lpstr>
      <vt:lpstr>Palatino Linotype</vt:lpstr>
      <vt:lpstr>Gallery</vt:lpstr>
      <vt:lpstr>Database Management System </vt:lpstr>
      <vt:lpstr>Levels of Database Abstraction</vt:lpstr>
      <vt:lpstr>External or View Level</vt:lpstr>
      <vt:lpstr>Conceptual or Logical Level</vt:lpstr>
      <vt:lpstr>Internal or Physical Level  (The lowest level of abstraction)</vt:lpstr>
      <vt:lpstr>Data Independence</vt:lpstr>
      <vt:lpstr>Data Independence</vt:lpstr>
      <vt:lpstr>Data Independence</vt:lpstr>
      <vt:lpstr>PowerPoint Presentation</vt:lpstr>
      <vt:lpstr>Data Model</vt:lpstr>
      <vt:lpstr>PowerPoint Presentation</vt:lpstr>
      <vt:lpstr>Hierarchical Model</vt:lpstr>
      <vt:lpstr>Network Model</vt:lpstr>
      <vt:lpstr>Network Model</vt:lpstr>
      <vt:lpstr>Relational Model</vt:lpstr>
      <vt:lpstr>Relational Model</vt:lpstr>
      <vt:lpstr>Document Model</vt:lpstr>
      <vt:lpstr>Document Model</vt:lpstr>
      <vt:lpstr>Graph Model</vt:lpstr>
      <vt:lpstr>Graph Model</vt:lpstr>
      <vt:lpstr>Class activity</vt:lpstr>
      <vt:lpstr>How a DBMS Processes a Request</vt:lpstr>
      <vt:lpstr>DBMS Component</vt:lpstr>
      <vt:lpstr>DDL Processor</vt:lpstr>
      <vt:lpstr>The System Catalogue</vt:lpstr>
      <vt:lpstr>Query Processor: Understanding the Request</vt:lpstr>
      <vt:lpstr>Execution Engine: Running the Plan</vt:lpstr>
      <vt:lpstr>Query Processing</vt:lpstr>
      <vt:lpstr>Buffer Manager: Managing Main Memory</vt:lpstr>
      <vt:lpstr>Storage Manager: Organizing Persistent Data</vt:lpstr>
      <vt:lpstr>Buffer Manager vs. Storage Manager</vt:lpstr>
      <vt:lpstr>Transaction Manager: Protecting Correctness</vt:lpstr>
      <vt:lpstr>One Course Registration Request Through All Components</vt:lpstr>
      <vt:lpstr>Class Activity</vt:lpstr>
      <vt:lpstr>PowerPoint Presentation</vt:lpstr>
      <vt:lpstr>Questions?</vt:lpstr>
      <vt:lpstr>From Real-World Data to Database Design</vt:lpstr>
      <vt:lpstr>Understanding Relation Model</vt:lpstr>
      <vt:lpstr>Understanding Relation Model</vt:lpstr>
      <vt:lpstr>Understanding Relation Model</vt:lpstr>
      <vt:lpstr>Degree and Cardinality of a Relation</vt:lpstr>
      <vt:lpstr>Properties of a Relation</vt:lpstr>
      <vt:lpstr>Class Activity</vt:lpstr>
      <vt:lpstr>Class Activity</vt:lpstr>
      <vt:lpstr>Entity - Relational Model (ER Model)</vt:lpstr>
      <vt:lpstr>Entity </vt:lpstr>
      <vt:lpstr>Classification of Entities</vt:lpstr>
      <vt:lpstr>Attributes</vt:lpstr>
      <vt:lpstr>Types of attributes</vt:lpstr>
      <vt:lpstr>Types of attributes</vt:lpstr>
      <vt:lpstr>Relationship Cardinality</vt:lpstr>
      <vt:lpstr>One-to-One Relationship (1:1)</vt:lpstr>
      <vt:lpstr>One-to-Many Relationship (1:N)</vt:lpstr>
      <vt:lpstr>Many-to-Many Relationship (M:N)</vt:lpstr>
      <vt:lpstr>Participation</vt:lpstr>
      <vt:lpstr>Participation</vt:lpstr>
      <vt:lpstr>PowerPoint Presentation</vt:lpstr>
      <vt:lpstr>PowerPoint Presentation</vt:lpstr>
      <vt:lpstr>PowerPoint Presentation</vt:lpstr>
      <vt:lpstr>Activity-01</vt:lpstr>
      <vt:lpstr> Activity-02 (Country Bus)</vt:lpstr>
      <vt:lpstr>PowerPoint Presentation</vt:lpstr>
      <vt:lpstr>Class Activity</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Rabeeya</dc:creator>
  <cp:lastModifiedBy>Rabeeya</cp:lastModifiedBy>
  <cp:revision>36</cp:revision>
  <dcterms:created xsi:type="dcterms:W3CDTF">2026-09-18T11:41:55Z</dcterms:created>
  <dcterms:modified xsi:type="dcterms:W3CDTF">2026-09-18T20:47:20Z</dcterms:modified>
</cp:coreProperties>
</file>