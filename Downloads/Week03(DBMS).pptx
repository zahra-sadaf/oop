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33" r:id="rId11"/>
    <p:sldId id="33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8" r:id="rId35"/>
    <p:sldId id="289" r:id="rId36"/>
    <p:sldId id="335" r:id="rId37"/>
    <p:sldId id="290" r:id="rId38"/>
    <p:sldId id="291" r:id="rId39"/>
    <p:sldId id="292" r:id="rId40"/>
    <p:sldId id="336" r:id="rId41"/>
    <p:sldId id="337" r:id="rId42"/>
    <p:sldId id="294" r:id="rId43"/>
    <p:sldId id="295" r:id="rId44"/>
    <p:sldId id="296" r:id="rId45"/>
    <p:sldId id="338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39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03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Welcome. Set the tone: today we move from drawing ER diagrams to identifying rows with keys, richer modelling with EER, and finally querying relations with relational algebra.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Walk through the timeline bar. Emphasise that every part ends with a hands-on activity and that the break comes after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Read the outcomes aloud; tell students the exit ticket at the end checks outcomes 1, 3 and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 min] Signal that this is revision — students should answer, you should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Cold-call three students to read each diagram as a sentence in both directions, e.g. "One department employs many employees; each employee works for one department."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Stress the memory hook at the bottom: cardinality = maximum, participation = minimum. Ask: why is EMPLOYEE total here? (Company rule: every employee is assigned to a department.)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Let students answer before revealing the answer strip. Point out that two different relationships can exist between the same pair of entities, each with its own cardinality and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Pairs, 3 minutes. Each pair writes cardinality + participation for both sides. Collect answers with a show of hands before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Highlight the language clues in the tip strip — students often reverse which side is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0:19-0:21   These are deliberately worded the way exam questions are. Sentence 4 hides a total-participation rule in the last clause; sentence 5 is unary and only constrains one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0:21-0:22   These two mistakes account for most of the marks lost on ER questions. Say that out loud. Then move to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Show the duplicate rows problem. Ask: if ENROLLMENT stores "Ali takes CS201", which Ali? This motivates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 min] Part 1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Define key. Ask students for keys they already carry: CNIC, student card number, passport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Use the nested boxes as a map for the next slides: every candidate key is a superkey; the primary key is one chosen candidate key; alternate keys are the leftover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Every set on the left is a superkey. Point out that {student_id, email, name} works but carries extra baggage. Run the think-pair-share: 28 superkeys.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Two tests: unique and minimal. Demonstrate the minimality test by removing name from {student_id, name}.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Show of hands for each card (cover the answer strips first if you can). Card 3 is the common trap: unique but not minimal.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Introduce the entity integrity rule: primary key attributes can never be NULL. Underline is the standard notation for PK in schemas.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Discuss why each weak choice fails. National ID is unique but raises privacy concerns and may not exist for international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Alternate keys are still unique in reality, so we protect them with UNIQUE constraints. Example: many systems let you log in by email even though the PK is an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Walk through the rows: 1001 repeats, CS201 repeats, and even (1001, CS201) repeats because the course was retaken. Only the triple is unique.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Trace the arrow: every student_id in ENROLLMENT must exist in STUDENT. Show the violation: inserting 1009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These are referential actions. RESTRICT/NO ACTION is the default in most DBMSs. SET NULL cannot work here because student_id is part of ENROLLMENT’s primary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Common practice: use a surrogate as the PK and keep a UNIQUE constraint on the natural key so duplicates of the real-world thing are still blocked.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NULL handling differs: PostgreSQL/MySQL/Oracle allow many NULLs in a UNIQUE column; SQL Server allows only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Preview only — full SQL comes later. Map each colour-coded line to the key type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Summary before the activity. Students may keep this slide open while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Form groups of three. Give 2 minutes to read the schema and assumptions, then move to the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 min] 12 minutes of group work. Circulate; the most common error is forgetting that ORDER_ITEM needs a composite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Ask groups to justify choosing customer_id over cnic.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ORDER_ITEM has two foreign keys, and together they also form its primary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Close the activity. Any superkey that adds an attribute to a candidate key works for question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 min] Part 2 begins after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Basic ER was designed for simple record-keeping. Modern systems need hierarchies and higher-level abstractions.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1:16-1:18   Put the table up and let them find the nulls themselves. The third problem is the deepest one — 'type' is a value pretending to be a schema — and it is worth saying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Start with EMPLOYEE and ask "what kinds of employee exist, and what do they need to store that others do not?" FACULTY needs rank, STAFF needs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Start with two separate entities that repeat attributes. Lift the shared ones into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Both lead to the same kind of diagram — what differs is the direction of design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1:26-1:28   The teaching-assistant example is the one that lands, because most classes contain one. Overlapping is much rarer than students assume — make them justify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1:28-1:31   Make the link back to Part 1 explicitly. Students learn these as two separate topics and are relieved to find it is one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Pairs, 2 minutes. Ask each pair to draw the circle with d or o and choose single or double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Extend: where do attributes go? amount and date → PAYMENT; card_number → CARD; wallet_provider → WALLET.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Show why both naive designs lose information. The thing being monitored is not the employee or the project alone — it is the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1:36-1:38   Draw the dashed red line and let it sit there. Ask the class to fix it with the notation they already have — they will offer the three failed attempts on the left. Only then introduce the word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The key insight is step 3: the data (hours, deadline, task list) belongs to the assignment, so the manager must monitor the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Trace the dashed box: EMPLOYEE–WORKS_ON–PROJECT is treated as a single object that participates in MONITORS.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Students often ask why not just use a ternary. Use the test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 Groups discuss what goes wrong in each naive design, then redraw. Funding one course for one student in one semester cannot be expressed by either naive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FUNDS connects the organization to the whole enrollment, so we know exactly which student, which course and which semester is funded.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Link back to Part 1: FUNDING uses a composite foreign key (student_id, course_id, semester) that references ENROLLMENT’s composite primary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Groups of 3–4. Read the rules together; then show the task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 Circulate. Push groups to label roles on the unary relationship and to put dosage on PRESCRIBES, not on MEDICINE.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Discuss alternatives: APPOINTMENT can also be modelled as its own entity linking DOCTOR and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Role names are essential in unary relationships: without them the two lines to DOCTOR are indistinguishable.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2:06-2:08   Put this up beside a group's paper rather than instead of it. Ask each group to find one difference and say whether it is wrong or merely a different valid choice. Then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 min] Part 3 begins. Shift from design to querying.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Closure property: because every operator outputs a relation, operators can be nested like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Unary operators work on one relation, binary on two. Each maps to an SQL construct.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All examples and practice questions use these three relations. Students may want to copy them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Selection is horizontal filtering: whole rows are kept or removed; the columns stay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Example 2 answers the "??" question from the original slide: it returns every BSCS or BSAI student. Cascading selections can be merged with 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Projection is vertical filtering. Because a relation is a set, duplicate rows in the result are removed — see π Program. SQL keeps duplicates unless you add DISTINCT.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Filter first, then project. The mistake on the right is very common in exams.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Union, intersection and difference all require union compatibility. Cartesian product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Highlighted S102 appears in both inputs but only once in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Mention that intersection is not strictly necessary: it can be written using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Ask: what is REGISTERED − ELIGIBLE? (S104). This proves difference is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Product pairs every tuple of one relation with every tuple of the other. Union compatibility is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Of the 16 tuples in STUDENT × ENROLLMENT only 4 pair a student with their own enrollment. Selecting on matching SIDs keeps those — this σ(×) pattern is exactly what a join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The self-product example needs rename: without S1 and S2 we could not tell the two copies of STUDENT apart. S1.SID &lt; S2.SID avoids pairing a student with themselves and listing each pair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Read the tree bottom-up. Mention that database optimizers rewrite trees, e.g. pushing selections down so fewer tuples reach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 min] Keep this slide visible (or printed) while students write expressions.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 min] Pairs, 8 minutes. Ask volunteers to write answers on the board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 Check each result against the running example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Let pairs discuss for 2 minutes before revealing the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 For fast finishers or as homework. Q2 uses the fact that S104 has no enrollments.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8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3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7.png"/><Relationship Id="rId4" Type="http://schemas.openxmlformats.org/officeDocument/2006/relationships/image" Target="../media/image4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960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Keys, Enhanced ER</a:t>
            </a:r>
            <a:endParaRPr lang="en-US" sz="3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Relational Algebra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identifying one row to querying many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406640" y="1234440"/>
            <a:ext cx="457200" cy="0"/>
          </a:xfrm>
          <a:prstGeom prst="line">
            <a:avLst/>
          </a:prstGeom>
          <a:noFill/>
          <a:ln w="22225">
            <a:solidFill>
              <a:srgbClr val="F4A261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863840" y="1234440"/>
            <a:ext cx="0" cy="777240"/>
          </a:xfrm>
          <a:prstGeom prst="line">
            <a:avLst/>
          </a:prstGeom>
          <a:noFill/>
          <a:ln w="22225">
            <a:solidFill>
              <a:srgbClr val="F4A261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406640" y="4114800"/>
            <a:ext cx="365760" cy="0"/>
          </a:xfrm>
          <a:prstGeom prst="line">
            <a:avLst/>
          </a:prstGeom>
          <a:noFill/>
          <a:ln w="22225">
            <a:solidFill>
              <a:srgbClr val="F4A261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 flipV="1">
            <a:off x="7772400" y="3419856"/>
            <a:ext cx="0" cy="694944"/>
          </a:xfrm>
          <a:prstGeom prst="line">
            <a:avLst/>
          </a:prstGeom>
          <a:noFill/>
          <a:ln w="22225">
            <a:solidFill>
              <a:srgbClr val="F4A261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669280" y="731520"/>
            <a:ext cx="1737360" cy="310896"/>
          </a:xfrm>
          <a:prstGeom prst="rect">
            <a:avLst/>
          </a:prstGeom>
          <a:solidFill>
            <a:srgbClr val="1F8A7E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779008" y="731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669280" y="1042416"/>
            <a:ext cx="1737360" cy="850392"/>
          </a:xfrm>
          <a:prstGeom prst="rect">
            <a:avLst/>
          </a:prstGeom>
          <a:solidFill>
            <a:srgbClr val="2B316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143000"/>
            <a:ext cx="137160" cy="1371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998464" y="10972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5998464" y="1344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5998464" y="15910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949440" y="2011680"/>
            <a:ext cx="1783080" cy="310896"/>
          </a:xfrm>
          <a:prstGeom prst="rect">
            <a:avLst/>
          </a:prstGeom>
          <a:solidFill>
            <a:srgbClr val="1F8A7E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7059168" y="20116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949440" y="2322576"/>
            <a:ext cx="1783080" cy="1097280"/>
          </a:xfrm>
          <a:prstGeom prst="rect">
            <a:avLst/>
          </a:prstGeom>
          <a:solidFill>
            <a:srgbClr val="2B3160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423160"/>
            <a:ext cx="137160" cy="13716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278624" y="2377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670048"/>
            <a:ext cx="137160" cy="1371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78624" y="2624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course_id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7278624" y="28712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semester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7278624" y="31181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5760720" y="3566160"/>
            <a:ext cx="1645920" cy="310896"/>
          </a:xfrm>
          <a:prstGeom prst="rect">
            <a:avLst/>
          </a:prstGeom>
          <a:solidFill>
            <a:srgbClr val="1F8A7E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5870448" y="35661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760720" y="3877056"/>
            <a:ext cx="1645920" cy="850392"/>
          </a:xfrm>
          <a:prstGeom prst="rect">
            <a:avLst/>
          </a:prstGeom>
          <a:solidFill>
            <a:srgbClr val="2B3160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977640"/>
            <a:ext cx="137160" cy="13716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089904" y="3931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course_id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6089904" y="41788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6089904" y="442569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3-hour roadmap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82880" y="1170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1170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1170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1170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389888"/>
            <a:ext cx="914400" cy="502920"/>
          </a:xfrm>
          <a:prstGeom prst="rect">
            <a:avLst/>
          </a:prstGeom>
          <a:solidFill>
            <a:srgbClr val="E2F3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389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1920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371600" y="1389888"/>
            <a:ext cx="2514600" cy="502920"/>
          </a:xfrm>
          <a:prstGeom prst="rect">
            <a:avLst/>
          </a:prstGeom>
          <a:solidFill>
            <a:srgbClr val="1F8A7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71600" y="13898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19202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86200" y="1389888"/>
            <a:ext cx="457200" cy="502920"/>
          </a:xfrm>
          <a:prstGeom prst="rect">
            <a:avLst/>
          </a:prstGeom>
          <a:solidFill>
            <a:srgbClr val="F2F4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86200" y="1389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886200" y="1920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343400" y="1389888"/>
            <a:ext cx="1828800" cy="502920"/>
          </a:xfrm>
          <a:prstGeom prst="rect">
            <a:avLst/>
          </a:prstGeom>
          <a:solidFill>
            <a:srgbClr val="1B1F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4340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EER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343400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72200" y="1389888"/>
            <a:ext cx="2286000" cy="502920"/>
          </a:xfrm>
          <a:prstGeom prst="rect">
            <a:avLst/>
          </a:prstGeom>
          <a:solidFill>
            <a:srgbClr val="F4A2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72200" y="13898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172200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458200" y="1389888"/>
            <a:ext cx="228600" cy="502920"/>
          </a:xfrm>
          <a:prstGeom prst="rect">
            <a:avLst/>
          </a:prstGeom>
          <a:solidFill>
            <a:srgbClr val="D65A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1920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046720" y="2084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237744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</p:spPr>
      </p:sp>
      <p:sp>
        <p:nvSpPr>
          <p:cNvPr id="30" name="Shape 27"/>
          <p:cNvSpPr/>
          <p:nvPr/>
        </p:nvSpPr>
        <p:spPr>
          <a:xfrm>
            <a:off x="621792" y="2542032"/>
            <a:ext cx="457200" cy="45720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660904"/>
            <a:ext cx="219456" cy="21945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188720" y="2542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</a:t>
            </a:r>
            <a:endParaRPr lang="en-US" sz="1350" dirty="0"/>
          </a:p>
        </p:txBody>
      </p:sp>
      <p:sp>
        <p:nvSpPr>
          <p:cNvPr id="33" name="Text 29"/>
          <p:cNvSpPr txBox="1"/>
          <p:nvPr/>
        </p:nvSpPr>
        <p:spPr>
          <a:xfrm>
            <a:off x="621792" y="315468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1:1, 1:N, M:N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 partial participation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why keys?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2560320" y="237744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</p:spPr>
      </p:sp>
      <p:sp>
        <p:nvSpPr>
          <p:cNvPr id="35" name="Shape 31"/>
          <p:cNvSpPr/>
          <p:nvPr/>
        </p:nvSpPr>
        <p:spPr>
          <a:xfrm>
            <a:off x="2724912" y="2542032"/>
            <a:ext cx="457200" cy="45720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2660904"/>
            <a:ext cx="219456" cy="219456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3291840" y="2542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2724912" y="315468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Super, candidate, primary, alternate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Composite, foreign, unique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vs surrogate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online shop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4663440" y="237744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</p:spPr>
      </p:sp>
      <p:sp>
        <p:nvSpPr>
          <p:cNvPr id="40" name="Shape 35"/>
          <p:cNvSpPr/>
          <p:nvPr/>
        </p:nvSpPr>
        <p:spPr>
          <a:xfrm>
            <a:off x="4828032" y="2542032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660904"/>
            <a:ext cx="219456" cy="219456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5394960" y="2542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ER</a:t>
            </a:r>
            <a:endParaRPr 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4828032" y="315468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&amp; generalization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/ overlapping constraints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funding, hospital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766560" y="237744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</p:spPr>
      </p:sp>
      <p:sp>
        <p:nvSpPr>
          <p:cNvPr id="45" name="Shape 39"/>
          <p:cNvSpPr/>
          <p:nvPr/>
        </p:nvSpPr>
        <p:spPr>
          <a:xfrm>
            <a:off x="6931152" y="25420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4" y="2660904"/>
            <a:ext cx="219456" cy="219456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7498080" y="2542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</a:t>
            </a:r>
            <a:endParaRPr lang="en-US" sz="1350" dirty="0"/>
          </a:p>
        </p:txBody>
      </p:sp>
      <p:sp>
        <p:nvSpPr>
          <p:cNvPr id="48" name="Text 41"/>
          <p:cNvSpPr txBox="1"/>
          <p:nvPr/>
        </p:nvSpPr>
        <p:spPr>
          <a:xfrm>
            <a:off x="6931152" y="315468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σ, π, ρ (unary)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∪, ∩, −, × (binary)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trees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error spotting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to…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527048"/>
            <a:ext cx="512064" cy="512064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17" y="1660185"/>
            <a:ext cx="245791" cy="24579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1417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superkeys, candidate, primary and alternate keys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32588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846320" y="1527048"/>
            <a:ext cx="512064" cy="512064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457" y="1660185"/>
            <a:ext cx="245791" cy="24579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1417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composite, foreign, natural, surrogate and unique keys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42316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/>
        </p:spPr>
      </p:sp>
      <p:sp>
        <p:nvSpPr>
          <p:cNvPr id="16" name="Shape 11"/>
          <p:cNvSpPr/>
          <p:nvPr/>
        </p:nvSpPr>
        <p:spPr>
          <a:xfrm>
            <a:off x="640080" y="2624328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217" y="2757465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is-a hierarchies with specialization &amp; generalization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42316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/>
        </p:spPr>
      </p:sp>
      <p:sp>
        <p:nvSpPr>
          <p:cNvPr id="20" name="Shape 14"/>
          <p:cNvSpPr/>
          <p:nvPr/>
        </p:nvSpPr>
        <p:spPr>
          <a:xfrm>
            <a:off x="4846320" y="2624328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9457" y="2757465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532120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aggregation when a relationship joins a relationship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352044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/>
        </p:spPr>
      </p:sp>
      <p:sp>
        <p:nvSpPr>
          <p:cNvPr id="24" name="Shape 17"/>
          <p:cNvSpPr/>
          <p:nvPr/>
        </p:nvSpPr>
        <p:spPr>
          <a:xfrm>
            <a:off x="640080" y="3721608"/>
            <a:ext cx="512064" cy="512064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17" y="3854745"/>
            <a:ext cx="245791" cy="24579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2588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relational algebra with selection σ, projection π, rename ρ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663440" y="352044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/>
        </p:spPr>
      </p:sp>
      <p:sp>
        <p:nvSpPr>
          <p:cNvPr id="28" name="Shape 20"/>
          <p:cNvSpPr/>
          <p:nvPr/>
        </p:nvSpPr>
        <p:spPr>
          <a:xfrm>
            <a:off x="4846320" y="3721608"/>
            <a:ext cx="512064" cy="512064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9457" y="3854745"/>
            <a:ext cx="245791" cy="245791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53212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relations with union ∪, intersection ∩, difference −, product ×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1430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10000" dirty="0"/>
          </a:p>
        </p:txBody>
      </p:sp>
      <p:sp>
        <p:nvSpPr>
          <p:cNvPr id="4" name="Text 1"/>
          <p:cNvSpPr txBox="1"/>
          <p:nvPr/>
        </p:nvSpPr>
        <p:spPr>
          <a:xfrm>
            <a:off x="2834640" y="1234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Warm-up: Cardinality &amp; Participation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834640" y="23317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of last week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worked revision examples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Mini-quiz: read the business rules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today: why we need keys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834640" y="3931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B316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4023360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00400" y="3931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· CARDINALITY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Cardinality: the maximum number of matches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37160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1371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 1 : 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51560" y="1828800"/>
            <a:ext cx="13716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737360" y="2194560"/>
            <a:ext cx="0" cy="18288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3000" y="2377440"/>
            <a:ext cx="1188720" cy="54864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737360" y="2926080"/>
            <a:ext cx="0" cy="18288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51560" y="3108960"/>
            <a:ext cx="13716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156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PASSPORT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810512" y="21671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810512" y="289864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6118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holds at most one passport; a passport belongs to one person.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91840" y="123444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/>
        </p:spPr>
      </p:sp>
      <p:sp>
        <p:nvSpPr>
          <p:cNvPr id="22" name="Shape 19"/>
          <p:cNvSpPr/>
          <p:nvPr/>
        </p:nvSpPr>
        <p:spPr>
          <a:xfrm>
            <a:off x="3566160" y="137160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566160" y="1371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 1 : 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86200" y="1828800"/>
            <a:ext cx="13716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8620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0" y="2194560"/>
            <a:ext cx="0" cy="18288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77640" y="2377440"/>
            <a:ext cx="1188720" cy="54864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97764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572000" y="2926080"/>
            <a:ext cx="0" cy="18288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86200" y="3108960"/>
            <a:ext cx="13716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88620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645152" y="21671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645152" y="289864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3474720" y="36118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employs many employees; each employee works in one department.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126480" y="123444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/>
        </p:spPr>
      </p:sp>
      <p:sp>
        <p:nvSpPr>
          <p:cNvPr id="36" name="Shape 33"/>
          <p:cNvSpPr/>
          <p:nvPr/>
        </p:nvSpPr>
        <p:spPr>
          <a:xfrm>
            <a:off x="6400800" y="137160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400800" y="1371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 M : N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720840" y="1828800"/>
            <a:ext cx="13716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72084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406640" y="2194560"/>
            <a:ext cx="0" cy="18288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812280" y="2377440"/>
            <a:ext cx="1188720" cy="54864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81228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406640" y="2926080"/>
            <a:ext cx="0" cy="18288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20840" y="3108960"/>
            <a:ext cx="13716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72084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479792" y="21671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7479792" y="289864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309360" y="36118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takes many courses; a course has many students.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· PARTICIPATION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Participation: must every instance take part?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4630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011680" y="1842516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0" y="1906524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463040"/>
            <a:ext cx="1554480" cy="82296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60320" y="1463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WORKS_FOR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0" y="1874520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600200"/>
            <a:ext cx="15544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1600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103120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251960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51460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E2F3F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line = total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must work for a department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429000" y="251460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FDEFE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611880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line = partial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may have zero employees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361188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7E9F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361188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hook: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Cardinality = the MAXIMUM ("how many at most?").  Participation = the MINIMUM ("must it take part at all?").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92240" y="1325880"/>
            <a:ext cx="2194560" cy="1508760"/>
          </a:xfrm>
          <a:prstGeom prst="roundRect">
            <a:avLst>
              <a:gd name="adj" fmla="val 6061"/>
            </a:avLst>
          </a:prstGeom>
          <a:solidFill>
            <a:srgbClr val="F2F4F8"/>
          </a:solidFill>
          <a:ln/>
        </p:spPr>
      </p:sp>
      <p:sp>
        <p:nvSpPr>
          <p:cNvPr id="25" name="Shape 22"/>
          <p:cNvSpPr/>
          <p:nvPr/>
        </p:nvSpPr>
        <p:spPr>
          <a:xfrm>
            <a:off x="6656832" y="1490472"/>
            <a:ext cx="411480" cy="41148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817" y="1597457"/>
            <a:ext cx="197510" cy="19751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159752" y="1490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(mandatory)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6656832" y="19842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= 1. Every entity in the set participates in at least one relationship instance.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92240" y="3017520"/>
            <a:ext cx="2194560" cy="1508760"/>
          </a:xfrm>
          <a:prstGeom prst="roundRect">
            <a:avLst>
              <a:gd name="adj" fmla="val 6061"/>
            </a:avLst>
          </a:prstGeom>
          <a:solidFill>
            <a:srgbClr val="F2F4F8"/>
          </a:solidFill>
          <a:ln/>
        </p:spPr>
      </p:sp>
      <p:sp>
        <p:nvSpPr>
          <p:cNvPr id="30" name="Shape 26"/>
          <p:cNvSpPr/>
          <p:nvPr/>
        </p:nvSpPr>
        <p:spPr>
          <a:xfrm>
            <a:off x="6656832" y="3182112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817" y="3289097"/>
            <a:ext cx="197510" cy="19751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159752" y="31821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(optional)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6656832" y="367588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= 0. Some entities may not participate at all.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EXAMPLE 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diagram: university departments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3716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46304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463040"/>
            <a:ext cx="14173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14630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68880" y="1508760"/>
            <a:ext cx="1463040" cy="73152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68880" y="1508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WORKS_IN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68880" y="2514600"/>
            <a:ext cx="1463040" cy="73152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68880" y="2514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920240" y="1842516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20240" y="1906524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31920" y="1874520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20240" y="2880360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931920" y="2848356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931920" y="2912364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057400" y="1572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069080" y="1572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057400" y="2578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2578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4290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══  total participation      ──  partial participation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93192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E2F3F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</a:t>
            </a: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No (N:1)   2 Yes   3 No — total participation   4 No — partial participation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17920" y="132588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F2F4F8"/>
          </a:solidFill>
          <a:ln/>
        </p:spPr>
      </p:sp>
      <p:sp>
        <p:nvSpPr>
          <p:cNvPr id="29" name="Shape 26"/>
          <p:cNvSpPr/>
          <p:nvPr/>
        </p:nvSpPr>
        <p:spPr>
          <a:xfrm>
            <a:off x="6400800" y="1481328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785" y="1588313"/>
            <a:ext cx="197510" cy="19751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6903720" y="14813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class</a:t>
            </a:r>
            <a:endParaRPr lang="en-US" sz="1350" dirty="0"/>
          </a:p>
        </p:txBody>
      </p:sp>
      <p:sp>
        <p:nvSpPr>
          <p:cNvPr id="32" name="Text 28"/>
          <p:cNvSpPr txBox="1"/>
          <p:nvPr/>
        </p:nvSpPr>
        <p:spPr>
          <a:xfrm>
            <a:off x="6400800" y="205740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professor work in two departments?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department have many professors?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department exist without a head?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every professor head a department?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QUIZ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business rules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465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840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30568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5 min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14813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citizen may hold one passport; every passport is issued to exactly one citizen.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2344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Cardinality?  ·  Participation of each side?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2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4846320" y="1508760"/>
            <a:ext cx="411480" cy="411480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8463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440680" y="14813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can place many orders; every order is placed by exactly one customer.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4068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Cardinality?  ·  Participation of each side?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2F4F8"/>
          </a:solidFill>
          <a:ln/>
        </p:spPr>
      </p:sp>
      <p:sp>
        <p:nvSpPr>
          <p:cNvPr id="21" name="Shape 17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234440" y="31729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must register for at least one course; a new course may have no students yet. Students take many courses.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23444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Cardinality?  ·  Participation of each side?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2F4F8"/>
          </a:solidFill>
          <a:ln/>
        </p:spPr>
      </p:sp>
      <p:sp>
        <p:nvSpPr>
          <p:cNvPr id="26" name="Shape 22"/>
          <p:cNvSpPr/>
          <p:nvPr/>
        </p:nvSpPr>
        <p:spPr>
          <a:xfrm>
            <a:off x="4846320" y="3200400"/>
            <a:ext cx="411480" cy="411480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8463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5440680" y="31729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must have players; a player plays for at most one team, and some players are free agents.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544068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Cardinality?  ·  Participation of each side?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QUIZ · ANSWERS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answers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286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— HOLDS — PASSPORT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partial  ·  Passport 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— PLACES —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partial  ·  Order 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— REGISTERS — COURSE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total  ·  Course 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— HAS — PLAYER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total  ·  Player 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DEFE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clues: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"must", "every", "exactly" → total participation.   "may", "can", "some" → partial participation.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6012" cy="5143500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493776" y="205740"/>
            <a:ext cx="581125" cy="5829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09191" y="205740"/>
            <a:ext cx="1598094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2741575" y="205740"/>
            <a:ext cx="726407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3502272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4117688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4733102" y="205740"/>
            <a:ext cx="1452813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6323077" y="144019"/>
            <a:ext cx="2326919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88">
                <a:solidFill>
                  <a:srgbClr val="6E7E91"/>
                </a:solidFill>
                <a:latin typeface="Corbel"/>
              </a:rPr>
              <a:t>Revision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7" y="370333"/>
            <a:ext cx="8156219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788" b="1">
                <a:solidFill>
                  <a:srgbClr val="0E9C8A"/>
                </a:solidFill>
                <a:latin typeface="Corbel"/>
              </a:rPr>
              <a:t>Drill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7" y="562356"/>
            <a:ext cx="815621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50" b="1">
                <a:solidFill>
                  <a:srgbClr val="0B2545"/>
                </a:solidFill>
                <a:latin typeface="Corbel"/>
              </a:rPr>
              <a:t>Turn the sentence into notation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1008126"/>
            <a:ext cx="562356" cy="30861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493777" y="1104138"/>
            <a:ext cx="7881899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88">
                <a:solidFill>
                  <a:srgbClr val="6E7E91"/>
                </a:solidFill>
                <a:latin typeface="Corbel"/>
              </a:rPr>
              <a:t>Five business rules. For each one, write the cardinality and mark which side is total.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035" y="4786885"/>
            <a:ext cx="822960" cy="127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>
                <a:solidFill>
                  <a:srgbClr val="6E7E91"/>
                </a:solidFill>
                <a:latin typeface="Corbel"/>
              </a:rPr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7" y="1433321"/>
            <a:ext cx="8156219" cy="534924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493776" y="1433321"/>
            <a:ext cx="34290" cy="53492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685800" y="1597914"/>
            <a:ext cx="274320" cy="1776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0A7A6C"/>
                </a:solidFill>
                <a:latin typeface="Consola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1543051"/>
            <a:ext cx="5417820" cy="163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75">
                <a:solidFill>
                  <a:srgbClr val="111827"/>
                </a:solidFill>
                <a:latin typeface="Corbel"/>
              </a:rPr>
              <a:t>Every book in the library belongs to exactly one category. A category may have no books in it yet.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7396" y="1570482"/>
            <a:ext cx="82296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7523226" y="1570482"/>
            <a:ext cx="106299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1" name="Rectangle 20"/>
          <p:cNvSpPr/>
          <p:nvPr/>
        </p:nvSpPr>
        <p:spPr>
          <a:xfrm>
            <a:off x="493777" y="2009393"/>
            <a:ext cx="815621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2" name="Rectangle 21"/>
          <p:cNvSpPr/>
          <p:nvPr/>
        </p:nvSpPr>
        <p:spPr>
          <a:xfrm>
            <a:off x="493776" y="2009393"/>
            <a:ext cx="34290" cy="53492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685800" y="2173986"/>
            <a:ext cx="274320" cy="1776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0A7A6C"/>
                </a:solidFill>
                <a:latin typeface="Consola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2119123"/>
            <a:ext cx="5417820" cy="163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75">
                <a:solidFill>
                  <a:srgbClr val="111827"/>
                </a:solidFill>
                <a:latin typeface="Corbel"/>
              </a:rPr>
              <a:t>A passenger may hold several tickets. Every ticket belongs to one passenger.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97396" y="2146554"/>
            <a:ext cx="82296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6" name="Rectangle 25"/>
          <p:cNvSpPr/>
          <p:nvPr/>
        </p:nvSpPr>
        <p:spPr>
          <a:xfrm>
            <a:off x="7523226" y="2146554"/>
            <a:ext cx="106299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7" name="Rectangle 26"/>
          <p:cNvSpPr/>
          <p:nvPr/>
        </p:nvSpPr>
        <p:spPr>
          <a:xfrm>
            <a:off x="493777" y="2585465"/>
            <a:ext cx="8156219" cy="534924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8" name="Rectangle 27"/>
          <p:cNvSpPr/>
          <p:nvPr/>
        </p:nvSpPr>
        <p:spPr>
          <a:xfrm>
            <a:off x="493776" y="2585465"/>
            <a:ext cx="34290" cy="53492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9" name="TextBox 28"/>
          <p:cNvSpPr txBox="1"/>
          <p:nvPr/>
        </p:nvSpPr>
        <p:spPr>
          <a:xfrm>
            <a:off x="685800" y="2750058"/>
            <a:ext cx="274320" cy="1776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0A7A6C"/>
                </a:solidFill>
                <a:latin typeface="Consola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2695194"/>
            <a:ext cx="5417820" cy="163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75">
                <a:solidFill>
                  <a:srgbClr val="111827"/>
                </a:solidFill>
                <a:latin typeface="Corbel"/>
              </a:rPr>
              <a:t>Each lecturer teaches at least one course, and each course is taught by exactly one lecturer.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97396" y="2722626"/>
            <a:ext cx="82296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2" name="Rectangle 31"/>
          <p:cNvSpPr/>
          <p:nvPr/>
        </p:nvSpPr>
        <p:spPr>
          <a:xfrm>
            <a:off x="7523226" y="2722626"/>
            <a:ext cx="106299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3" name="Rectangle 32"/>
          <p:cNvSpPr/>
          <p:nvPr/>
        </p:nvSpPr>
        <p:spPr>
          <a:xfrm>
            <a:off x="493777" y="3161537"/>
            <a:ext cx="8156219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4" name="Rectangle 33"/>
          <p:cNvSpPr/>
          <p:nvPr/>
        </p:nvSpPr>
        <p:spPr>
          <a:xfrm>
            <a:off x="493776" y="3161537"/>
            <a:ext cx="34290" cy="53492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5" name="TextBox 34"/>
          <p:cNvSpPr txBox="1"/>
          <p:nvPr/>
        </p:nvSpPr>
        <p:spPr>
          <a:xfrm>
            <a:off x="685800" y="3326130"/>
            <a:ext cx="274320" cy="1776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0A7A6C"/>
                </a:solidFill>
                <a:latin typeface="Consola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271266"/>
            <a:ext cx="5417820" cy="33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75">
                <a:solidFill>
                  <a:srgbClr val="111827"/>
                </a:solidFill>
                <a:latin typeface="Corbel"/>
              </a:rPr>
              <a:t>A student may join any number of societies, and a society may have any number of students. A society must have at least one member to exist.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97396" y="3298698"/>
            <a:ext cx="82296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8" name="Rectangle 37"/>
          <p:cNvSpPr/>
          <p:nvPr/>
        </p:nvSpPr>
        <p:spPr>
          <a:xfrm>
            <a:off x="7523226" y="3298698"/>
            <a:ext cx="106299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9" name="Rectangle 38"/>
          <p:cNvSpPr/>
          <p:nvPr/>
        </p:nvSpPr>
        <p:spPr>
          <a:xfrm>
            <a:off x="493777" y="3737609"/>
            <a:ext cx="8156219" cy="534924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0" name="Rectangle 39"/>
          <p:cNvSpPr/>
          <p:nvPr/>
        </p:nvSpPr>
        <p:spPr>
          <a:xfrm>
            <a:off x="493776" y="3737609"/>
            <a:ext cx="34290" cy="534924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1" name="TextBox 40"/>
          <p:cNvSpPr txBox="1"/>
          <p:nvPr/>
        </p:nvSpPr>
        <p:spPr>
          <a:xfrm>
            <a:off x="685800" y="3902202"/>
            <a:ext cx="274320" cy="1776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0A7A6C"/>
                </a:solidFill>
                <a:latin typeface="Consola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3847338"/>
            <a:ext cx="5417820" cy="163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75">
                <a:solidFill>
                  <a:srgbClr val="111827"/>
                </a:solidFill>
                <a:latin typeface="Corbel"/>
              </a:rPr>
              <a:t>Some staff members mentor other staff members. Nobody is mentored by more than one person.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97396" y="3874769"/>
            <a:ext cx="82296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4" name="Rectangle 43"/>
          <p:cNvSpPr/>
          <p:nvPr/>
        </p:nvSpPr>
        <p:spPr>
          <a:xfrm>
            <a:off x="7523226" y="3874769"/>
            <a:ext cx="106299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5" name="TextBox 44"/>
          <p:cNvSpPr txBox="1"/>
          <p:nvPr/>
        </p:nvSpPr>
        <p:spPr>
          <a:xfrm>
            <a:off x="6597396" y="1323594"/>
            <a:ext cx="822960" cy="127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>
                <a:solidFill>
                  <a:srgbClr val="6E7E91"/>
                </a:solidFill>
                <a:latin typeface="Corbel"/>
              </a:rPr>
              <a:t>cardinality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3226" y="1323594"/>
            <a:ext cx="1062990" cy="127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>
                <a:solidFill>
                  <a:srgbClr val="6E7E91"/>
                </a:solidFill>
                <a:latin typeface="Corbel"/>
              </a:rPr>
              <a:t>total side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" y="4437126"/>
            <a:ext cx="1748790" cy="233172"/>
          </a:xfrm>
          <a:prstGeom prst="roundRect">
            <a:avLst>
              <a:gd name="adj" fmla="val 45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1148" tIns="0" rIns="41148" bIns="0" rtlCol="0" anchor="ctr"/>
          <a:lstStyle/>
          <a:p>
            <a:pPr algn="ctr">
              <a:buNone/>
            </a:pPr>
            <a:r>
              <a:rPr sz="900" b="1">
                <a:solidFill>
                  <a:srgbClr val="0A7A6C"/>
                </a:solidFill>
                <a:latin typeface="Consolas"/>
              </a:rPr>
              <a:t>2</a:t>
            </a:r>
            <a:r>
              <a:rPr sz="900" b="1">
                <a:solidFill>
                  <a:srgbClr val="0A7A6C"/>
                </a:solidFill>
                <a:latin typeface="Corbel"/>
              </a:rPr>
              <a:t> min, in pairs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4016" y="4437127"/>
            <a:ext cx="6235979" cy="159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38">
                <a:solidFill>
                  <a:srgbClr val="6E7E91"/>
                </a:solidFill>
                <a:latin typeface="Corbel"/>
              </a:rPr>
              <a:t>Sentence 5 has a trap in it. Say what the trap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6012" cy="514350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493776" y="205740"/>
            <a:ext cx="581125" cy="5829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09191" y="205740"/>
            <a:ext cx="1598094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2741575" y="205740"/>
            <a:ext cx="726407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3502272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4117688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4733102" y="205740"/>
            <a:ext cx="1452813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6323077" y="144019"/>
            <a:ext cx="2326919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88">
                <a:solidFill>
                  <a:srgbClr val="6E7E91"/>
                </a:solidFill>
                <a:latin typeface="Corbel"/>
              </a:rPr>
              <a:t>Revision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7" y="370333"/>
            <a:ext cx="8156219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788" b="1">
                <a:solidFill>
                  <a:srgbClr val="1769E0"/>
                </a:solidFill>
                <a:latin typeface="Corbel"/>
              </a:rPr>
              <a:t>Drill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7" y="562356"/>
            <a:ext cx="815621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50" b="1">
                <a:solidFill>
                  <a:srgbClr val="0B2545"/>
                </a:solidFill>
                <a:latin typeface="Corbel"/>
              </a:rPr>
              <a:t>Turn the sentence into notation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1008126"/>
            <a:ext cx="562356" cy="30861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493777" y="1104138"/>
            <a:ext cx="7881899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88">
                <a:solidFill>
                  <a:srgbClr val="6E7E91"/>
                </a:solidFill>
                <a:latin typeface="Corbel"/>
              </a:rPr>
              <a:t>The phrase that decides participation is underlined in each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035" y="4786885"/>
            <a:ext cx="822960" cy="127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>
                <a:solidFill>
                  <a:srgbClr val="6E7E91"/>
                </a:solidFill>
                <a:latin typeface="Corbel"/>
              </a:rPr>
              <a:t>12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93777" y="1405889"/>
          <a:ext cx="8156219" cy="1913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1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endParaRPr sz="1400"/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orbel"/>
                        </a:rPr>
                        <a:t>Cardinality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orbel"/>
                        </a:rPr>
                        <a:t>Total side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orbel"/>
                        </a:rPr>
                        <a:t>The phrase that decided it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111827"/>
                          </a:solidFill>
                          <a:latin typeface="Corbel"/>
                        </a:rPr>
                        <a:t>1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1:N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rbel"/>
                        </a:rPr>
                        <a:t>BOOK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rbel"/>
                        </a:rPr>
                        <a:t>"belongs to exactly one category"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111827"/>
                          </a:solidFill>
                          <a:latin typeface="Corbel"/>
                        </a:rPr>
                        <a:t>2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1:N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rbel"/>
                        </a:rPr>
                        <a:t>TICKET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rbel"/>
                        </a:rPr>
                        <a:t>"every ticket belongs to one passenger"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111827"/>
                          </a:solidFill>
                          <a:latin typeface="Corbel"/>
                        </a:rPr>
                        <a:t>3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1:N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rbel"/>
                        </a:rPr>
                        <a:t>both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rbel"/>
                        </a:rPr>
                        <a:t>"at least one course" and "exactly one lecturer"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111827"/>
                          </a:solidFill>
                          <a:latin typeface="Corbel"/>
                        </a:rPr>
                        <a:t>4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M:N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rbel"/>
                        </a:rPr>
                        <a:t>SOCIETY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rbel"/>
                        </a:rPr>
                        <a:t>"must have at least one member to exist"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111827"/>
                          </a:solidFill>
                          <a:latin typeface="Corbel"/>
                        </a:rPr>
                        <a:t>5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1:N unary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rbel"/>
                        </a:rPr>
                        <a:t>neither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rbel"/>
                        </a:rPr>
                        <a:t>"some staff" makes both roles optional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93777" y="3326130"/>
            <a:ext cx="3995813" cy="918972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7" name="Rectangle 16"/>
          <p:cNvSpPr/>
          <p:nvPr/>
        </p:nvSpPr>
        <p:spPr>
          <a:xfrm>
            <a:off x="493776" y="3326130"/>
            <a:ext cx="34290" cy="918972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9" name="Rounded Rectangle 18"/>
          <p:cNvSpPr/>
          <p:nvPr/>
        </p:nvSpPr>
        <p:spPr>
          <a:xfrm>
            <a:off x="4654182" y="3326130"/>
            <a:ext cx="3995813" cy="918972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4654181" y="3326130"/>
            <a:ext cx="34290" cy="918972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Cardinality says how many. Keys say which one.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(no key)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291840" cy="13167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10896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BE6E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3108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says: "Ali takes CS201". Which Ali?</a:t>
            </a:r>
            <a:endParaRPr lang="en-US" sz="1200" dirty="0"/>
          </a:p>
        </p:txBody>
      </p:sp>
      <p:sp>
        <p:nvSpPr>
          <p:cNvPr id="2" name="Shape 7"/>
          <p:cNvSpPr/>
          <p:nvPr/>
        </p:nvSpPr>
        <p:spPr>
          <a:xfrm>
            <a:off x="4343400" y="1554480"/>
            <a:ext cx="1005840" cy="10058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18" y="1815998"/>
            <a:ext cx="482803" cy="482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77840" y="14630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 diagram tells us a student </a:t>
            </a: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in many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courses.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 store rows and link tables, we must point to </a:t>
            </a: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student.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rows cannot be told apart, updated safely, or referenced.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343400" y="3840480"/>
            <a:ext cx="4343400" cy="640080"/>
          </a:xfrm>
          <a:prstGeom prst="roundRect">
            <a:avLst>
              <a:gd name="adj" fmla="val 11429"/>
            </a:avLst>
          </a:prstGeom>
          <a:solidFill>
            <a:srgbClr val="1F8A7E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526280" y="384048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job of a KEY  →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1430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Text 1"/>
          <p:cNvSpPr txBox="1"/>
          <p:nvPr/>
        </p:nvSpPr>
        <p:spPr>
          <a:xfrm>
            <a:off x="2834640" y="1234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Keys: identifying every tuple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834640" y="23317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· Candidate · Primary · Alternate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· Foreign · Referential integrity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· Surrogate · Unique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online shopping database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834640" y="3931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B316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4023360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00400" y="3931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key?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480560" cy="1234440"/>
          </a:xfrm>
          <a:prstGeom prst="roundRect">
            <a:avLst>
              <a:gd name="adj" fmla="val 7407"/>
            </a:avLst>
          </a:prstGeom>
          <a:solidFill>
            <a:srgbClr val="E7E9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716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attribute, or a collection of attributes, that </a:t>
            </a: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entity among an entity set.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9718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971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Registration_number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42900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429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Employee_Id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97764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FBE6E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3977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keys, a user is unable to distinguish one record from another.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purposes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03520" y="1572768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F2F4F8"/>
          </a:solidFill>
          <a:ln/>
        </p:spPr>
      </p:sp>
      <p:sp>
        <p:nvSpPr>
          <p:cNvPr id="20" name="Shape 17"/>
          <p:cNvSpPr/>
          <p:nvPr/>
        </p:nvSpPr>
        <p:spPr>
          <a:xfrm>
            <a:off x="5468112" y="1755648"/>
            <a:ext cx="502920" cy="50292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871" y="1886407"/>
            <a:ext cx="241402" cy="24140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126480" y="168249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exactly one row among thousands.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303520" y="2596896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F2F4F8"/>
          </a:solidFill>
          <a:ln/>
        </p:spPr>
      </p:sp>
      <p:sp>
        <p:nvSpPr>
          <p:cNvPr id="24" name="Shape 20"/>
          <p:cNvSpPr/>
          <p:nvPr/>
        </p:nvSpPr>
        <p:spPr>
          <a:xfrm>
            <a:off x="5468112" y="2779776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871" y="2910535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26480" y="270662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duplicate and invalid data.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303520" y="3621024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F2F4F8"/>
          </a:solidFill>
          <a:ln/>
        </p:spPr>
      </p:sp>
      <p:sp>
        <p:nvSpPr>
          <p:cNvPr id="28" name="Shape 23"/>
          <p:cNvSpPr/>
          <p:nvPr/>
        </p:nvSpPr>
        <p:spPr>
          <a:xfrm>
            <a:off x="5468112" y="3803904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8871" y="3934663"/>
            <a:ext cx="241402" cy="24140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126480" y="37307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creation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tables through matching key values.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family at a glance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846320" cy="3383280"/>
          </a:xfrm>
          <a:prstGeom prst="roundRect">
            <a:avLst>
              <a:gd name="adj" fmla="val 3243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kern="0" spc="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 SETS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4389120" cy="2788920"/>
          </a:xfrm>
          <a:prstGeom prst="roundRect">
            <a:avLst>
              <a:gd name="adj" fmla="val 3934"/>
            </a:avLst>
          </a:prstGeom>
          <a:solidFill>
            <a:srgbClr val="E7E9F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1755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SUPERKEYS  —  unique (may contain extras)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2130552"/>
            <a:ext cx="3931920" cy="2148840"/>
          </a:xfrm>
          <a:prstGeom prst="roundRect">
            <a:avLst>
              <a:gd name="adj" fmla="val 5106"/>
            </a:avLst>
          </a:prstGeom>
          <a:solidFill>
            <a:srgbClr val="E2F3F0"/>
          </a:solidFill>
          <a:ln w="12700">
            <a:solidFill>
              <a:srgbClr val="1F8A7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 —  unique &amp; minimal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143000" y="260604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F8A7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34440" y="26974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we choose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17520" y="260604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FDEFE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26974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KEYS</a:t>
            </a:r>
            <a:endParaRPr lang="en-US" sz="1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ones left over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62356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with special roles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23560" y="1691640"/>
            <a:ext cx="420624" cy="420624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922" y="1801002"/>
            <a:ext cx="201900" cy="2019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172200" y="164592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 2 + attributes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623560" y="2295144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922" y="2404506"/>
            <a:ext cx="201900" cy="2019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172200" y="224942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a key in another relation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623560" y="2898648"/>
            <a:ext cx="420624" cy="420624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922" y="3008010"/>
            <a:ext cx="201900" cy="2019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172200" y="285292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real-world meaning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623560" y="3502152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2922" y="3611514"/>
            <a:ext cx="201900" cy="2019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172200" y="345643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the system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5623560" y="4105656"/>
            <a:ext cx="420624" cy="420624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922" y="4215018"/>
            <a:ext cx="201900" cy="201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172200" y="405993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blocking duplicates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Superkey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superkey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any set of attributes that uniquely identifies a tuple.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5029200" cy="411480"/>
          </a:xfrm>
          <a:prstGeom prst="roundRect">
            <a:avLst>
              <a:gd name="adj" fmla="val 17778"/>
            </a:avLst>
          </a:prstGeom>
          <a:solidFill>
            <a:srgbClr val="1B1F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 student_id, national_id, email, name, program 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student_id, national_id and email are each unique.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superkeys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28803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{student_id}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892808" y="28803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92808" y="2880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{email}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916936" y="2880360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7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16936" y="28803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{student_id, name}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3375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7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337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{national_id, program}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852928" y="3337560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7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52928" y="33375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{student_id, email, name}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406908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FDEFE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40690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superkey may contain unnecessary attributes (e.g. name in {student_id, name}).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806440" y="128016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7E9F4"/>
          </a:solidFill>
          <a:ln/>
        </p:spPr>
      </p:sp>
      <p:sp>
        <p:nvSpPr>
          <p:cNvPr id="25" name="Shape 22"/>
          <p:cNvSpPr/>
          <p:nvPr/>
        </p:nvSpPr>
        <p:spPr>
          <a:xfrm>
            <a:off x="5989320" y="1435608"/>
            <a:ext cx="438912" cy="438912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437" y="1549725"/>
            <a:ext cx="210678" cy="21067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510528" y="14356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– Pair – Share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5989320" y="2011680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superkeys does STUDENT have?</a:t>
            </a:r>
            <a:endParaRPr lang="en-US" sz="12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any subset of the 5 attributes that contains at least one of </a:t>
            </a:r>
            <a:r>
              <a:rPr lang="en-US" sz="1100" dirty="0" err="1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national_id</a:t>
            </a: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email. 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2</a:t>
            </a:r>
            <a:r>
              <a:rPr lang="en-US" sz="1200" b="1" baseline="300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− 2</a:t>
            </a:r>
            <a:r>
              <a:rPr lang="en-US" sz="1200" b="1" baseline="300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32 − 4 = 28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key = minimal superkey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1481328"/>
            <a:ext cx="457200" cy="45720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60020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481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21792" y="20574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exactly one tuple.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971800" y="132588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2F4F8"/>
          </a:solidFill>
          <a:ln/>
        </p:spPr>
      </p:sp>
      <p:sp>
        <p:nvSpPr>
          <p:cNvPr id="13" name="Shape 9"/>
          <p:cNvSpPr/>
          <p:nvPr/>
        </p:nvSpPr>
        <p:spPr>
          <a:xfrm>
            <a:off x="3136392" y="1481328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160020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703320" y="1481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Minimality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3136392" y="20574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any attribute destroys uniqueness.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2926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of STUDENT( student_id, national_id, email, name, program 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2461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5720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{student_id}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057400" y="32461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05740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{national_id}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749040" y="32461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749040" y="3246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{email}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57200" y="384048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E7E9F4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40080" y="3840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Minimality test:</a:t>
            </a: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drop one attribute at a time. If what is left is still unique, the set was not minimal.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623560" y="1325880"/>
            <a:ext cx="3063240" cy="3291840"/>
          </a:xfrm>
          <a:prstGeom prst="roundRect">
            <a:avLst>
              <a:gd name="adj" fmla="val 2985"/>
            </a:avLst>
          </a:prstGeom>
          <a:solidFill>
            <a:srgbClr val="FBE6E0"/>
          </a:solidFill>
          <a:ln/>
        </p:spPr>
      </p:sp>
      <p:sp>
        <p:nvSpPr>
          <p:cNvPr id="27" name="Shape 22"/>
          <p:cNvSpPr/>
          <p:nvPr/>
        </p:nvSpPr>
        <p:spPr>
          <a:xfrm>
            <a:off x="5806440" y="1481328"/>
            <a:ext cx="438912" cy="438912"/>
          </a:xfrm>
          <a:prstGeom prst="ellipse">
            <a:avLst/>
          </a:prstGeom>
          <a:solidFill>
            <a:srgbClr val="D65A3C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557" y="1595445"/>
            <a:ext cx="210678" cy="21067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55080" y="14813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{student_id, name}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5806440" y="210312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Unique?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Yes.</a:t>
            </a:r>
            <a:endParaRPr lang="en-US" sz="1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Minimal?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— remove name and student_id alone is still unique.</a:t>
            </a:r>
            <a:endParaRPr lang="en-US" sz="12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is a superkey, but not a candidate key.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a candidate key?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465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840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30568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 · 3 min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STUDENT( student_id, national_id, email, name, program )  —  student_id, national_id, email are unique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1645920"/>
            <a:ext cx="1920240" cy="2971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94360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{email}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66928" y="324612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E2F3F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0080" y="331012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and a single attribute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560320" y="1645920"/>
            <a:ext cx="1920240" cy="2971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2697480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651760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{name, program}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2670048" y="324612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FBE6E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2743200" y="331012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can share name and program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663440" y="1645920"/>
            <a:ext cx="1920240" cy="2971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4800600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754880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{student_id, email}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4773168" y="324612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FBE6E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846320" y="331012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but not minimal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766560" y="1645920"/>
            <a:ext cx="1920240" cy="2971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6903720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858000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{national_id}</a:t>
            </a:r>
            <a:endParaRPr lang="en-US" sz="1450" dirty="0"/>
          </a:p>
        </p:txBody>
      </p:sp>
      <p:sp>
        <p:nvSpPr>
          <p:cNvPr id="29" name="Shape 25"/>
          <p:cNvSpPr/>
          <p:nvPr/>
        </p:nvSpPr>
        <p:spPr>
          <a:xfrm>
            <a:off x="6876288" y="324612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E2F3F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949440" y="331012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and a single attribute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key: the chosen identifier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candidate key selected as the main identifier of the relation.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— primary key: student_id (underlined)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4343400" cy="1170432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35202-1234567-1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ayesha@uni.edu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35202-7654321-3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hamza@uni.edu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61101-1112223-4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sara@uni.edu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840480"/>
            <a:ext cx="4343400" cy="731520"/>
          </a:xfrm>
          <a:prstGeom prst="roundRect">
            <a:avLst>
              <a:gd name="adj" fmla="val 10000"/>
            </a:avLst>
          </a:prstGeom>
          <a:solidFill>
            <a:srgbClr val="E7E9F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38404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 rule: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part of a primary key may be NULL.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2578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Primary-key properties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257800" y="1691640"/>
            <a:ext cx="3429000" cy="621792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14" name="Shape 10"/>
          <p:cNvSpPr/>
          <p:nvPr/>
        </p:nvSpPr>
        <p:spPr>
          <a:xfrm>
            <a:off x="5367528" y="1792224"/>
            <a:ext cx="420624" cy="420624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90" y="1901586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97880" y="172821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every tuple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257800" y="2423160"/>
            <a:ext cx="3429000" cy="621792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2" name="Shape 13"/>
          <p:cNvSpPr/>
          <p:nvPr/>
        </p:nvSpPr>
        <p:spPr>
          <a:xfrm>
            <a:off x="5367528" y="2523744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90" y="2633106"/>
            <a:ext cx="201900" cy="2019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97880" y="245973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NULL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must have a value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257800" y="3154680"/>
            <a:ext cx="3429000" cy="621792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22" name="Shape 16"/>
          <p:cNvSpPr/>
          <p:nvPr/>
        </p:nvSpPr>
        <p:spPr>
          <a:xfrm>
            <a:off x="5367528" y="3255264"/>
            <a:ext cx="420624" cy="420624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890" y="3364626"/>
            <a:ext cx="201900" cy="201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897880" y="319125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rarely or never changes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257800" y="3886200"/>
            <a:ext cx="3429000" cy="621792"/>
          </a:xfrm>
          <a:prstGeom prst="roundRect">
            <a:avLst>
              <a:gd name="adj" fmla="val 14706"/>
            </a:avLst>
          </a:prstGeom>
          <a:solidFill>
            <a:srgbClr val="F2F4F8"/>
          </a:solidFill>
          <a:ln/>
        </p:spPr>
      </p:sp>
      <p:sp>
        <p:nvSpPr>
          <p:cNvPr id="26" name="Shape 19"/>
          <p:cNvSpPr/>
          <p:nvPr/>
        </p:nvSpPr>
        <p:spPr>
          <a:xfrm>
            <a:off x="5367528" y="3986784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890" y="4096146"/>
            <a:ext cx="201900" cy="2019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897880" y="39227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&amp; simple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 one short column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good primary key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977640" cy="2697480"/>
          </a:xfrm>
          <a:prstGeom prst="roundRect">
            <a:avLst>
              <a:gd name="adj" fmla="val 3390"/>
            </a:avLst>
          </a:prstGeom>
          <a:solidFill>
            <a:srgbClr val="E2F3F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8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choice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1883664"/>
            <a:ext cx="292608" cy="292608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8" y="1959742"/>
            <a:ext cx="140452" cy="1404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student_id:  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2286000" y="1828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System-generated — never duplicated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85800" y="2404872"/>
            <a:ext cx="292608" cy="292608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8" y="2480950"/>
            <a:ext cx="140452" cy="1404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23500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097280" y="23500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changes during the student’s life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85800" y="2926080"/>
            <a:ext cx="292608" cy="292608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8" y="3002158"/>
            <a:ext cx="140452" cy="14045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7280" y="28712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097280" y="287121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integer — fast to index and join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85800" y="3447288"/>
            <a:ext cx="292608" cy="292608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8" y="3523366"/>
            <a:ext cx="140452" cy="14045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97280" y="339242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1097280" y="339242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present — never NULL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709160" y="1280160"/>
            <a:ext cx="3977640" cy="2697480"/>
          </a:xfrm>
          <a:prstGeom prst="roundRect">
            <a:avLst>
              <a:gd name="adj" fmla="val 3390"/>
            </a:avLst>
          </a:prstGeom>
          <a:solidFill>
            <a:srgbClr val="FBE6E0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493776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6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choices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937760" y="1883664"/>
            <a:ext cx="292608" cy="292608"/>
          </a:xfrm>
          <a:prstGeom prst="ellipse">
            <a:avLst/>
          </a:prstGeom>
          <a:solidFill>
            <a:srgbClr val="D65A3C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838" y="1959742"/>
            <a:ext cx="140452" cy="14045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4924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</a:t>
            </a:r>
            <a:endParaRPr lang="en-US" sz="1150" dirty="0"/>
          </a:p>
        </p:txBody>
      </p:sp>
      <p:sp>
        <p:nvSpPr>
          <p:cNvPr id="30" name="Text 22"/>
          <p:cNvSpPr txBox="1"/>
          <p:nvPr/>
        </p:nvSpPr>
        <p:spPr>
          <a:xfrm>
            <a:off x="6537960" y="18288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two students named Muhammad Ali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4937760" y="2404872"/>
            <a:ext cx="292608" cy="292608"/>
          </a:xfrm>
          <a:prstGeom prst="ellipse">
            <a:avLst/>
          </a:prstGeom>
          <a:solidFill>
            <a:srgbClr val="D65A3C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838" y="2480950"/>
            <a:ext cx="140452" cy="14045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349240" y="23500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 </a:t>
            </a:r>
            <a:endParaRPr lang="en-US" sz="1150" dirty="0"/>
          </a:p>
        </p:txBody>
      </p:sp>
      <p:sp>
        <p:nvSpPr>
          <p:cNvPr id="34" name="Text 25"/>
          <p:cNvSpPr txBox="1"/>
          <p:nvPr/>
        </p:nvSpPr>
        <p:spPr>
          <a:xfrm>
            <a:off x="6537960" y="23500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family members; numbers change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4937760" y="2926080"/>
            <a:ext cx="292608" cy="292608"/>
          </a:xfrm>
          <a:prstGeom prst="ellipse">
            <a:avLst/>
          </a:prstGeom>
          <a:solidFill>
            <a:srgbClr val="D65A3C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838" y="3002158"/>
            <a:ext cx="140452" cy="14045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349240" y="28712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 </a:t>
            </a:r>
            <a:endParaRPr lang="en-US" sz="1150" dirty="0"/>
          </a:p>
        </p:txBody>
      </p:sp>
      <p:sp>
        <p:nvSpPr>
          <p:cNvPr id="38" name="Text 28"/>
          <p:cNvSpPr txBox="1"/>
          <p:nvPr/>
        </p:nvSpPr>
        <p:spPr>
          <a:xfrm>
            <a:off x="6537960" y="2871216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change or lose email addresses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4937760" y="3447288"/>
            <a:ext cx="292608" cy="292608"/>
          </a:xfrm>
          <a:prstGeom prst="ellipse">
            <a:avLst/>
          </a:prstGeom>
          <a:solidFill>
            <a:srgbClr val="D65A3C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838" y="3523366"/>
            <a:ext cx="140452" cy="14045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349240" y="339242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national_id:  </a:t>
            </a:r>
            <a:endParaRPr lang="en-US" sz="1150" dirty="0"/>
          </a:p>
        </p:txBody>
      </p:sp>
      <p:sp>
        <p:nvSpPr>
          <p:cNvPr id="42" name="Text 31"/>
          <p:cNvSpPr txBox="1"/>
          <p:nvPr/>
        </p:nvSpPr>
        <p:spPr>
          <a:xfrm>
            <a:off x="6537960" y="339242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data; may be missing for some students</a:t>
            </a:r>
            <a:endParaRPr lang="en-US" sz="1150" dirty="0"/>
          </a:p>
        </p:txBody>
      </p:sp>
      <p:sp>
        <p:nvSpPr>
          <p:cNvPr id="43" name="Shape 32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7E9F4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Unique?   ·   Never NULL?   ·   Stable?   ·   Small?   ·   Not sensitive?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key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7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{student_id}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7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{national_id}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3375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7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{email}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17520" y="13716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1F8A7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1752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017520" y="269748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DEFE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26974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KEYS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national_id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48840" y="1737360"/>
            <a:ext cx="868680" cy="0"/>
          </a:xfrm>
          <a:prstGeom prst="line">
            <a:avLst/>
          </a:prstGeom>
          <a:noFill/>
          <a:ln w="19050">
            <a:solidFill>
              <a:srgbClr val="1F8A7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148840" y="2651760"/>
            <a:ext cx="868680" cy="41148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 flipV="1">
            <a:off x="2148840" y="3474720"/>
            <a:ext cx="868680" cy="9144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5394960" y="137160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that are </a:t>
            </a: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selected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primary key are called </a:t>
            </a: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keys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2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remain unique in the real world, so we enforce them with </a:t>
            </a:r>
            <a:r>
              <a:rPr lang="en-US" sz="1250" b="1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r>
              <a:rPr lang="en-US" sz="12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(and usually </a:t>
            </a:r>
            <a:r>
              <a:rPr lang="en-US" sz="1250" b="1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r>
              <a:rPr lang="en-US" sz="12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2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still useful for searching — e.g. log in by email, look up by national_id.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key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contains two or more attributes.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4B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ENROLLMENT( student_id, course_id, semester, grade )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3474720" cy="1371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Spring-25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52044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57200" y="3520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  {student_id, course_id, semester}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0233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E7E9F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4023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"Composite" describes the </a:t>
            </a: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 key, not its role — a composite key can be the primary key.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 single attribute is enough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0" y="1691640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2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4892040" y="1874520"/>
            <a:ext cx="475488" cy="475488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667" y="1998147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04688" y="17647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takes several courses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student_id repeats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670048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2F4F8"/>
          </a:solidFill>
          <a:ln/>
        </p:spPr>
      </p:sp>
      <p:sp>
        <p:nvSpPr>
          <p:cNvPr id="20" name="Shape 15"/>
          <p:cNvSpPr/>
          <p:nvPr/>
        </p:nvSpPr>
        <p:spPr>
          <a:xfrm>
            <a:off x="4892040" y="2852928"/>
            <a:ext cx="475488" cy="47548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667" y="2976555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4688" y="27432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course contains several students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course_id repeats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754880" y="3648456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2F4F8"/>
          </a:solidFill>
          <a:ln/>
        </p:spPr>
      </p:sp>
      <p:sp>
        <p:nvSpPr>
          <p:cNvPr id="24" name="Shape 18"/>
          <p:cNvSpPr/>
          <p:nvPr/>
        </p:nvSpPr>
        <p:spPr>
          <a:xfrm>
            <a:off x="4892040" y="3831336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667" y="3954963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04688" y="372160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may repeat a course in another semester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even (student_id, course_id) repeats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key: linking relations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417320" y="129844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17320" y="12984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2423160" cy="10972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61188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00600" y="129844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800600" y="12984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5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1645920"/>
          <a:ext cx="2606040" cy="10972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Spring-25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 flipH="1">
            <a:off x="2880360" y="1783080"/>
            <a:ext cx="7315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2852928" y="1481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" y="3063240"/>
            <a:ext cx="5760720" cy="1554480"/>
          </a:xfrm>
          <a:prstGeom prst="roundRect">
            <a:avLst>
              <a:gd name="adj" fmla="val 5882"/>
            </a:avLst>
          </a:prstGeom>
          <a:solidFill>
            <a:srgbClr val="FBE6E0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D65A3C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300252"/>
            <a:ext cx="184343" cy="18434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3200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violation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ENROLLMENT VALUES (1009, 'CS201', 'Fall-24');</a:t>
            </a:r>
            <a:endParaRPr lang="en-US" sz="1050" dirty="0"/>
          </a:p>
        </p:txBody>
      </p:sp>
      <p:sp>
        <p:nvSpPr>
          <p:cNvPr id="2" name="Text 16"/>
          <p:cNvSpPr txBox="1"/>
          <p:nvPr/>
        </p:nvSpPr>
        <p:spPr>
          <a:xfrm>
            <a:off x="64008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student 1009 does not exist in STUDENT.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92240" y="128016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E7E9F4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629400" y="12801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attribute that refers to a key in another relation.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92240" y="2404872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F2F4F8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629400" y="240487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values must match an existing PK value (or be NULL, if allowed).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92240" y="3529584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F2F4F8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629400" y="3529584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relationships and </a:t>
            </a: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 referenced row is deleted?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7E9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DELETE student 1001 from STUDENT — but ENROLLMENT still holds two rows for 1001.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" y="2084832"/>
            <a:ext cx="457200" cy="457200"/>
          </a:xfrm>
          <a:prstGeom prst="ellipse">
            <a:avLst/>
          </a:prstGeom>
          <a:solidFill>
            <a:srgbClr val="D65A3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20370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" y="2633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/ NO ACTION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21792" y="3063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delete is refused while enrollments exist. Default in most DBMSs.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560320" y="192024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2724912" y="2084832"/>
            <a:ext cx="457200" cy="45720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220370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724912" y="2633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2724912" y="3063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1001's enrollment rows are deleted automatically too.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192024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</p:spPr>
      </p:sp>
      <p:sp>
        <p:nvSpPr>
          <p:cNvPr id="20" name="Shape 15"/>
          <p:cNvSpPr/>
          <p:nvPr/>
        </p:nvSpPr>
        <p:spPr>
          <a:xfrm>
            <a:off x="4828032" y="2084832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20370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828032" y="2633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NULL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828032" y="3063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ENROLLMENT.student_id becomes NULL — impossible here, because it is part of the PK.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766560" y="192024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F2F4F8"/>
          </a:solidFill>
          <a:ln/>
        </p:spPr>
      </p:sp>
      <p:sp>
        <p:nvSpPr>
          <p:cNvPr id="25" name="Shape 19"/>
          <p:cNvSpPr/>
          <p:nvPr/>
        </p:nvSpPr>
        <p:spPr>
          <a:xfrm>
            <a:off x="6931152" y="20848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4" y="220370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31152" y="2633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DEFAULT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931152" y="3063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FK is set to its declared default value.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40080" y="43891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(student_id) </a:t>
            </a:r>
            <a:r>
              <a:rPr lang="en-US" sz="11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STUDENT(student_id) </a:t>
            </a:r>
            <a:r>
              <a:rPr lang="en-US" sz="1100" b="1" dirty="0">
                <a:solidFill>
                  <a:srgbClr val="9ED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and surrogate keys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E2F3F0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417320"/>
            <a:ext cx="502920" cy="50292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154807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key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attribute with business meaning.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8368" y="2423160"/>
            <a:ext cx="146669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8368" y="2423160"/>
            <a:ext cx="14666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CNIC / national ID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216506" y="2423160"/>
            <a:ext cx="111008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216506" y="2423160"/>
            <a:ext cx="11100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address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58368" y="2807208"/>
            <a:ext cx="132405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8368" y="2807208"/>
            <a:ext cx="13240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ID (VIN)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073859" y="2807208"/>
            <a:ext cx="46817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2073859" y="2807208"/>
            <a:ext cx="4681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ISBN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58368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Meaningful; already exists in the business</a:t>
            </a:r>
            <a:endParaRPr lang="en-US" sz="11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May change; can be long, sensitive or inconsistent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709160" y="128016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E7E9F4"/>
          </a:solidFill>
          <a:ln/>
        </p:spPr>
      </p:sp>
      <p:sp>
        <p:nvSpPr>
          <p:cNvPr id="22" name="Shape 18"/>
          <p:cNvSpPr/>
          <p:nvPr/>
        </p:nvSpPr>
        <p:spPr>
          <a:xfrm>
            <a:off x="4910328" y="141732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087" y="154807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5321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Surrogate key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4910328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artificial identifier created by the database.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910328" y="2423160"/>
            <a:ext cx="139537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910328" y="2423160"/>
            <a:ext cx="1395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= 1001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397142" y="2423160"/>
            <a:ext cx="132405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397142" y="2423160"/>
            <a:ext cx="13240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= 50027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910328" y="2807208"/>
            <a:ext cx="182331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910328" y="2807208"/>
            <a:ext cx="1823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transaction_id = 900145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4910328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Stable, short, fast joins, never changes</a:t>
            </a:r>
            <a:endParaRPr lang="en-US" sz="11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No business meaning; still need UNIQUE on natural key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key (unique constraint)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prevents duplicate values in an attribute or attribute combination.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240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2240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670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2670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26700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09981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30998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057400" y="3099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national_id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61188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E7E9F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657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can have:</a:t>
            </a:r>
            <a:endParaRPr lang="en-US" sz="1100" dirty="0"/>
          </a:p>
          <a:p>
            <a:pPr marL="177800" indent="-177800" algn="l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declared primary key</a:t>
            </a:r>
            <a:endParaRPr lang="en-US" sz="1100" dirty="0"/>
          </a:p>
          <a:p>
            <a:pPr marL="177800" indent="-177800" algn="l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unique constraints</a:t>
            </a:r>
            <a:endParaRPr lang="en-US" sz="1100" dirty="0"/>
          </a:p>
          <a:p>
            <a:pPr marL="177800" indent="-177800" algn="l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 that </a:t>
            </a: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contain NULLs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3931920" cy="30175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per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allowed?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(DBMS-specific)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duplicates in other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Referenced by FK?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created?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automatically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automatically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keys in SQL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212080" cy="3429000"/>
          </a:xfrm>
          <a:prstGeom prst="roundRect">
            <a:avLst>
              <a:gd name="adj" fmla="val 2133"/>
            </a:avLst>
          </a:prstGeom>
          <a:solidFill>
            <a:srgbClr val="1B1F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7160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 (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student_id   INT          </a:t>
            </a:r>
            <a:r>
              <a:rPr lang="en-US" sz="10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national_id  CHAR(15)     </a:t>
            </a:r>
            <a:r>
              <a:rPr lang="en-US" sz="1050" b="1" dirty="0">
                <a:solidFill>
                  <a:srgbClr val="9ED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UNIQUE</a:t>
            </a: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   VARCHAR(100) </a:t>
            </a:r>
            <a:r>
              <a:rPr lang="en-US" sz="1050" b="1" dirty="0">
                <a:solidFill>
                  <a:srgbClr val="9ED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VARCHAR(60)  NOT NULL,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program      VARCHAR(10)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ENROLLMENT (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student_id INT,   course_id CHAR(5),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semester   VARCHAR(10), grade CHAR(2),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</a:t>
            </a: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(student_id, course_id, semester),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2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</a:t>
            </a: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(student_id)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2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REFERENCES</a:t>
            </a: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STUDENT(student_id)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0" y="128016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(entity integrity)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1956816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9ED9C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0" y="1956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UNIQUE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2494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/ alternate key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2633472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9ED9C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 (NULLs allowed)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3310128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(a, b, c)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3602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primary key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3986784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F2B8A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 … REFERENCES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4279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(referential integrity)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KEYS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at a glance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37413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one 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attribute set that uniquely identifies a tuple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{student_id, name}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minimal superkey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{student_id}, {national_id}, {email}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 chosen as main identifier; never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Alternate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keys not chosen as primary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national_id, email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made of two or more attributes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{student_id, course_id, semester}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referring to a key in another 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ENROLLMENT.student_id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/ Surrogate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meaning / generated by the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cnic, isbn  /  order_id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that blocks duplicate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UNIQUE(email)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shopping database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465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840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30568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20 min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280160"/>
            <a:ext cx="2240280" cy="329184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66928" y="1280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1609344"/>
            <a:ext cx="2240280" cy="1243584"/>
          </a:xfrm>
          <a:prstGeom prst="rect">
            <a:avLst/>
          </a:prstGeom>
          <a:solidFill>
            <a:srgbClr val="F2F4F8"/>
          </a:solidFill>
          <a:ln w="9525">
            <a:solidFill>
              <a:srgbClr val="CDD3D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94360" y="1664208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cnic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34640" y="1280160"/>
            <a:ext cx="2240280" cy="329184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944368" y="1280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834640" y="1609344"/>
            <a:ext cx="2240280" cy="1243584"/>
          </a:xfrm>
          <a:prstGeom prst="rect">
            <a:avLst/>
          </a:prstGeom>
          <a:solidFill>
            <a:srgbClr val="F2F4F8"/>
          </a:solidFill>
          <a:ln w="9525">
            <a:solidFill>
              <a:srgbClr val="CDD3D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971800" y="1664208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017520"/>
            <a:ext cx="2240280" cy="329184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66928" y="30175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CUSTOMER_ORDER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3346704"/>
            <a:ext cx="2240280" cy="1243584"/>
          </a:xfrm>
          <a:prstGeom prst="rect">
            <a:avLst/>
          </a:prstGeom>
          <a:solidFill>
            <a:srgbClr val="F2F4F8"/>
          </a:solidFill>
          <a:ln w="9525">
            <a:solidFill>
              <a:srgbClr val="CDD3D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94360" y="3401568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834640" y="3017520"/>
            <a:ext cx="2240280" cy="329184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944368" y="30175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2834640" y="3346704"/>
            <a:ext cx="2240280" cy="1243584"/>
          </a:xfrm>
          <a:prstGeom prst="rect">
            <a:avLst/>
          </a:prstGeom>
          <a:solidFill>
            <a:srgbClr val="F2F4F8"/>
          </a:solidFill>
          <a:ln w="9525">
            <a:solidFill>
              <a:srgbClr val="CDD3D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971800" y="3401568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10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sale_price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349240" y="1280160"/>
            <a:ext cx="3337560" cy="3337560"/>
          </a:xfrm>
          <a:prstGeom prst="roundRect">
            <a:avLst>
              <a:gd name="adj" fmla="val 2740"/>
            </a:avLst>
          </a:prstGeom>
          <a:solidFill>
            <a:srgbClr val="FDEFE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55321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350" dirty="0"/>
          </a:p>
        </p:txBody>
      </p:sp>
      <p:sp>
        <p:nvSpPr>
          <p:cNvPr id="28" name="Text 24"/>
          <p:cNvSpPr txBox="1"/>
          <p:nvPr/>
        </p:nvSpPr>
        <p:spPr>
          <a:xfrm>
            <a:off x="5532120" y="173736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is system-generated and unique.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has a unique cnic and a unique email.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is system-generated and unique; sku is also unique.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can contain several products, and a product can appear in several orders.</a:t>
            </a:r>
            <a:endParaRPr lang="en-US" sz="110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product appears only once in a particular order.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 (groups of 3)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465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840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30568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20 min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3258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1453896"/>
            <a:ext cx="429768" cy="429768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94360" y="14538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1325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possible candidate keys.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214884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594360" y="2276856"/>
            <a:ext cx="429768" cy="429768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94360" y="22768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188720" y="21488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suitable primary key for each relation.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57200" y="2971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19" name="Shape 15"/>
          <p:cNvSpPr/>
          <p:nvPr/>
        </p:nvSpPr>
        <p:spPr>
          <a:xfrm>
            <a:off x="594360" y="3099816"/>
            <a:ext cx="429768" cy="429768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94360" y="309981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188720" y="2971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alternate keys.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57200" y="379476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23" name="Shape 19"/>
          <p:cNvSpPr/>
          <p:nvPr/>
        </p:nvSpPr>
        <p:spPr>
          <a:xfrm>
            <a:off x="594360" y="3922776"/>
            <a:ext cx="429768" cy="429768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94360" y="39227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188720" y="3794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foreign keys.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663440" y="13258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27" name="Shape 23"/>
          <p:cNvSpPr/>
          <p:nvPr/>
        </p:nvSpPr>
        <p:spPr>
          <a:xfrm>
            <a:off x="4800600" y="1453896"/>
            <a:ext cx="429768" cy="42976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00600" y="14538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394960" y="1325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composite key.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4663440" y="214884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31" name="Shape 27"/>
          <p:cNvSpPr/>
          <p:nvPr/>
        </p:nvSpPr>
        <p:spPr>
          <a:xfrm>
            <a:off x="4800600" y="2276856"/>
            <a:ext cx="429768" cy="42976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800600" y="22768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5394960" y="21488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natural and surrogate keys.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663440" y="2971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35" name="Shape 31"/>
          <p:cNvSpPr/>
          <p:nvPr/>
        </p:nvSpPr>
        <p:spPr>
          <a:xfrm>
            <a:off x="4800600" y="3099816"/>
            <a:ext cx="429768" cy="42976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4800600" y="309981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5394960" y="2971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superkeys that are not candidate keys.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4663440" y="379476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39" name="Shape 35"/>
          <p:cNvSpPr/>
          <p:nvPr/>
        </p:nvSpPr>
        <p:spPr>
          <a:xfrm>
            <a:off x="4800600" y="3922776"/>
            <a:ext cx="429768" cy="42976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800600" y="39227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5394960" y="3794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name and phone are unsuitable primary keys.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ANSWERS · 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keys and primary keys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977640" cy="2057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{customer_id}, {cnic}, {email}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{product_id}, {sku}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{order_id}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{order_id, product_id}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7091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endParaRPr lang="en-US" sz="12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600200"/>
          <a:ext cx="3977640" cy="2057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{order_id, product_id}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7E9F4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customer_id instead of cnic?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is system-generated, short, stable and not sensitive personal data.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ANSWERS · 2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keys and foreign keys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keys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977640" cy="2057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Alternate keys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cnic, email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(under the given assumptions)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7091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09160" y="160020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2F4F8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81965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63677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CUSTOMER_ORDER.customer_id</a:t>
            </a:r>
            <a:endParaRPr lang="en-US" sz="11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CUSTOMER.customer_id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709160" y="237744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2F4F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9689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12080" y="241401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ORDER_ITEM.order_id</a:t>
            </a:r>
            <a:endParaRPr lang="en-US" sz="11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CUSTOMER_ORDER.order_id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709160" y="315468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2F4F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37413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12080" y="319125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ORDER_ITEM.product_id</a:t>
            </a:r>
            <a:endParaRPr lang="en-US" sz="11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PRODUCT.product_id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DEFE2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ORDER_ITEM’s two foreign keys </a:t>
            </a: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 its composite primary key.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ANSWERS · 3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Composite, natural, surrogate &amp; superkeys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1444752"/>
            <a:ext cx="438912" cy="438912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09" y="1558869"/>
            <a:ext cx="210678" cy="21067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4447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8836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4B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 {order_id, product_id}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63440" y="12801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</p:spPr>
      </p:sp>
      <p:sp>
        <p:nvSpPr>
          <p:cNvPr id="13" name="Shape 9"/>
          <p:cNvSpPr/>
          <p:nvPr/>
        </p:nvSpPr>
        <p:spPr>
          <a:xfrm>
            <a:off x="4828032" y="1444752"/>
            <a:ext cx="438912" cy="438912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149" y="1558869"/>
            <a:ext cx="210678" cy="21067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4960" y="14447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keys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18836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4B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CUSTOMER.cnic,  CUSTOMER.email,  PRODUCT.sku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57200" y="25603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</p:spPr>
      </p:sp>
      <p:sp>
        <p:nvSpPr>
          <p:cNvPr id="18" name="Shape 13"/>
          <p:cNvSpPr/>
          <p:nvPr/>
        </p:nvSpPr>
        <p:spPr>
          <a:xfrm>
            <a:off x="621792" y="2724912"/>
            <a:ext cx="438912" cy="438912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09" y="2839029"/>
            <a:ext cx="210678" cy="21067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27249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31638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4B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CUSTOMER.customer_id,  PRODUCT.product_id,  CUSTOMER_ORDER.order_id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663440" y="25603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</p:spPr>
      </p:sp>
      <p:sp>
        <p:nvSpPr>
          <p:cNvPr id="23" name="Shape 17"/>
          <p:cNvSpPr/>
          <p:nvPr/>
        </p:nvSpPr>
        <p:spPr>
          <a:xfrm>
            <a:off x="4828032" y="2724912"/>
            <a:ext cx="438912" cy="438912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2149" y="2839029"/>
            <a:ext cx="210678" cy="21067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94960" y="27249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Superkeys, not candidate keys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4846320" y="31638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4B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{customer_id, name},  {email, phone},  {product_id, product_name},  {order_id, order_date}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BE6E0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640080" y="385876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name or phone?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customers may have the same name.   Family members may share one phone number — and numbers change.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1430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1"/>
          <p:cNvSpPr txBox="1"/>
          <p:nvPr/>
        </p:nvSpPr>
        <p:spPr>
          <a:xfrm>
            <a:off x="2834640" y="1234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ER (EER) concepts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834640" y="23317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basic ER is not enough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&amp; generalization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disjoint / overlapping, total / partial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· Activities: funding, hospital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834640" y="3931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B316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4023360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00400" y="3931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ENHANCED ER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Enhanced ER?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ER works for simple data. Real systems need three more ideas: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920240"/>
            <a:ext cx="594360" cy="59436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4" y="20747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26060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Is-a hierarchies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154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FACULTY member is an EMPLOYEE. Basic ER has no way to say "is-a".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91840" y="173736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/>
        </p:spPr>
      </p:sp>
      <p:sp>
        <p:nvSpPr>
          <p:cNvPr id="14" name="Shape 10"/>
          <p:cNvSpPr/>
          <p:nvPr/>
        </p:nvSpPr>
        <p:spPr>
          <a:xfrm>
            <a:off x="3520440" y="1920240"/>
            <a:ext cx="594360" cy="5943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974" y="20747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20440" y="26060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3520440" y="3154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Subtypes automatically receive the supertype's attributes and relationships — no repetition.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26480" y="173736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/>
        </p:spPr>
      </p:sp>
      <p:sp>
        <p:nvSpPr>
          <p:cNvPr id="19" name="Shape 14"/>
          <p:cNvSpPr/>
          <p:nvPr/>
        </p:nvSpPr>
        <p:spPr>
          <a:xfrm>
            <a:off x="6355080" y="192024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614" y="20747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26060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on relationships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6355080" y="3154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monitors an employee's work on a project — one relationship must join another.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43891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E7E9F4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40080" y="43891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ER  +  subclasses / superclasses  +  specialization / generalization  +  aggregation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3776" y="205740"/>
            <a:ext cx="581125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09191" y="205740"/>
            <a:ext cx="1598094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2741575" y="205740"/>
            <a:ext cx="726407" cy="5829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3502272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4117688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4733102" y="205740"/>
            <a:ext cx="1452813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323077" y="144019"/>
            <a:ext cx="2326919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88">
                <a:solidFill>
                  <a:srgbClr val="6E7E91"/>
                </a:solidFill>
                <a:latin typeface="Corbel"/>
              </a:rPr>
              <a:t>Generalization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7" y="384048"/>
            <a:ext cx="815621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50" b="1">
                <a:solidFill>
                  <a:srgbClr val="0B2545"/>
                </a:solidFill>
                <a:latin typeface="Corbel"/>
              </a:rPr>
              <a:t>The problem: one table, two kinds of thing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829818"/>
            <a:ext cx="562356" cy="30861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493777" y="925830"/>
            <a:ext cx="7881899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88">
                <a:solidFill>
                  <a:srgbClr val="6E7E91"/>
                </a:solidFill>
                <a:latin typeface="Corbel"/>
              </a:rPr>
              <a:t>A university stores faculty and administrative staff. Both are employees. Most of their attributes are not shared.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93777" y="1419605"/>
          <a:ext cx="8156219" cy="13578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0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93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onsolas"/>
                        </a:rPr>
                        <a:t>employee_id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onsolas"/>
                        </a:rPr>
                        <a:t>type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onsolas"/>
                        </a:rPr>
                        <a:t>office_hrs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onsolas"/>
                        </a:rPr>
                        <a:t>courses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onsolas"/>
                        </a:rPr>
                        <a:t>shift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onsolas"/>
                        </a:rPr>
                        <a:t>desk_no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E101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Ayesha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faculty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Mon 2-4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B3261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B3261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E102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Hamza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staff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B3261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B3261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evening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D-14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E103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Sara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faculty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Tue 10-12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B3261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B3261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E104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Bilal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staff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B3261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B3261E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morning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900" b="0" i="0">
                          <a:solidFill>
                            <a:srgbClr val="111827"/>
                          </a:solidFill>
                          <a:latin typeface="Consolas"/>
                        </a:rPr>
                        <a:t>D-22</a:t>
                      </a:r>
                    </a:p>
                  </a:txBody>
                  <a:tcPr marL="48006" marR="48006" marT="24003" marB="24003" anchor="ctr">
                    <a:lnL w="9525" cap="flat" cmpd="sng" algn="ctr">
                      <a:solidFill>
                        <a:srgbClr val="DEE3EA"/>
                      </a:solidFill>
                    </a:lnL>
                    <a:lnR w="9525" cap="flat" cmpd="sng" algn="ctr">
                      <a:solidFill>
                        <a:srgbClr val="DEE3EA"/>
                      </a:solidFill>
                    </a:lnR>
                    <a:lnT w="9525" cap="flat" cmpd="sng" algn="ctr">
                      <a:solidFill>
                        <a:srgbClr val="DEE3EA"/>
                      </a:solidFill>
                    </a:lnT>
                    <a:lnB w="9525" cap="flat" cmpd="sng" algn="ctr">
                      <a:solidFill>
                        <a:srgbClr val="DEE3EA"/>
                      </a:solidFill>
                    </a:lnB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93777" y="1213867"/>
            <a:ext cx="8156219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825">
                <a:solidFill>
                  <a:srgbClr val="6E7E91"/>
                </a:solidFill>
                <a:latin typeface="Corbel"/>
              </a:rPr>
              <a:t>EMPLOYEE — one table for both kinds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7" y="2873501"/>
            <a:ext cx="3975239" cy="630936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493776" y="2873501"/>
            <a:ext cx="34290" cy="63093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685801" y="2969514"/>
            <a:ext cx="3618623" cy="172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13" b="1">
                <a:solidFill>
                  <a:srgbClr val="0B2545"/>
                </a:solidFill>
                <a:latin typeface="Corbel"/>
              </a:rPr>
              <a:t>Half the table is empty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1" y="3175255"/>
            <a:ext cx="3618623" cy="155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938">
                <a:solidFill>
                  <a:srgbClr val="111827"/>
                </a:solidFill>
                <a:latin typeface="Corbel"/>
              </a:rPr>
              <a:t>Every faculty row is null in the staff columns, and the other way round.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74756" y="2873501"/>
            <a:ext cx="3975239" cy="630936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4674755" y="2873501"/>
            <a:ext cx="34290" cy="63093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4866780" y="2969514"/>
            <a:ext cx="3618623" cy="172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13" b="1">
                <a:solidFill>
                  <a:srgbClr val="0B2545"/>
                </a:solidFill>
                <a:latin typeface="Corbel"/>
              </a:rPr>
              <a:t>No constraint can be written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6780" y="3175255"/>
            <a:ext cx="3618623" cy="155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938">
                <a:solidFill>
                  <a:srgbClr val="111827"/>
                </a:solidFill>
                <a:latin typeface="Corbel"/>
              </a:rPr>
              <a:t>"Courses must be at least 1" is true for faculty and wrong for staff.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7" y="3573017"/>
            <a:ext cx="3975239" cy="630936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4" name="Rectangle 23"/>
          <p:cNvSpPr/>
          <p:nvPr/>
        </p:nvSpPr>
        <p:spPr>
          <a:xfrm>
            <a:off x="493776" y="3573017"/>
            <a:ext cx="34290" cy="63093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5" name="TextBox 24"/>
          <p:cNvSpPr txBox="1"/>
          <p:nvPr/>
        </p:nvSpPr>
        <p:spPr>
          <a:xfrm>
            <a:off x="685801" y="3669030"/>
            <a:ext cx="3618623" cy="172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13" b="1">
                <a:solidFill>
                  <a:srgbClr val="0B2545"/>
                </a:solidFill>
                <a:latin typeface="Corbel"/>
              </a:rPr>
              <a:t>The type column is doing the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1" y="3874770"/>
            <a:ext cx="3618623" cy="319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938">
                <a:solidFill>
                  <a:srgbClr val="111827"/>
                </a:solidFill>
                <a:latin typeface="Corbel"/>
              </a:rPr>
              <a:t>Meaning has moved out of the schema and into a value, where the database cannot enforce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4756" y="3573017"/>
            <a:ext cx="3975239" cy="630936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8" name="Rectangle 27"/>
          <p:cNvSpPr/>
          <p:nvPr/>
        </p:nvSpPr>
        <p:spPr>
          <a:xfrm>
            <a:off x="4674755" y="3573017"/>
            <a:ext cx="34290" cy="63093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9" name="TextBox 28"/>
          <p:cNvSpPr txBox="1"/>
          <p:nvPr/>
        </p:nvSpPr>
        <p:spPr>
          <a:xfrm>
            <a:off x="4866780" y="3669030"/>
            <a:ext cx="3618623" cy="172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13" b="1">
                <a:solidFill>
                  <a:srgbClr val="0B2545"/>
                </a:solidFill>
                <a:latin typeface="Corbel"/>
              </a:rPr>
              <a:t>It only gets worse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6780" y="3874770"/>
            <a:ext cx="3618623" cy="155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938">
                <a:solidFill>
                  <a:srgbClr val="111827"/>
                </a:solidFill>
                <a:latin typeface="Corbel"/>
              </a:rPr>
              <a:t>Add contract staff or visiting faculty and the table grows sideways again.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ENHANCED ER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(top-down)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divides a general entity into more specific </a:t>
            </a: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subtypes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attributes &amp; relationships of the superclass.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subclass adds its 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attributes (rank, shift).</a:t>
            </a:r>
            <a:endParaRPr lang="en-US" sz="14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a circle joins the lines; 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disjoint, 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overlapping.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1148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TOP-DOWN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1280160"/>
            <a:ext cx="16459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60520" y="1143000"/>
            <a:ext cx="100584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60520" y="1143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66360" y="1316736"/>
            <a:ext cx="411480" cy="100584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0520" y="1645920"/>
            <a:ext cx="100584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60520" y="1645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 flipV="1">
            <a:off x="5166360" y="1645920"/>
            <a:ext cx="411480" cy="173736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89520" y="1335024"/>
            <a:ext cx="100584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89520" y="13350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223760" y="1508760"/>
            <a:ext cx="365760" cy="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1737360"/>
            <a:ext cx="0" cy="41148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72200" y="21488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 flipH="1">
            <a:off x="5257800" y="2560320"/>
            <a:ext cx="1005840" cy="45720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37960" y="2560320"/>
            <a:ext cx="1188720" cy="45720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53212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⊂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08660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80560" y="3017520"/>
            <a:ext cx="1554480" cy="457200"/>
          </a:xfrm>
          <a:prstGeom prst="rect">
            <a:avLst/>
          </a:prstGeom>
          <a:solidFill>
            <a:srgbClr val="E2F3F0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8056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949440" y="3017520"/>
            <a:ext cx="1554480" cy="457200"/>
          </a:xfrm>
          <a:prstGeom prst="rect">
            <a:avLst/>
          </a:prstGeom>
          <a:solidFill>
            <a:srgbClr val="E2F3F0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94944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069080" y="3840480"/>
            <a:ext cx="86868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069080" y="38404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 flipV="1">
            <a:off x="4503420" y="3474720"/>
            <a:ext cx="754380" cy="36576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29200" y="3840480"/>
            <a:ext cx="123444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0" y="3840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research_area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 flipH="1" flipV="1">
            <a:off x="5257800" y="3474720"/>
            <a:ext cx="388620" cy="36576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812280" y="3840480"/>
            <a:ext cx="82296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12280" y="3840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 flipV="1">
            <a:off x="7223760" y="3474720"/>
            <a:ext cx="502920" cy="36576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72400" y="3840480"/>
            <a:ext cx="82296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0" y="3840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 flipH="1" flipV="1">
            <a:off x="7726680" y="3474720"/>
            <a:ext cx="457200" cy="36576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069080" y="4343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and STAFF also have emp_id, name and salary — inherited.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ENHANCED ER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(bottom-up)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920240" y="1280160"/>
            <a:ext cx="16459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202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109728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554480" y="1316736"/>
            <a:ext cx="365760" cy="100584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45920"/>
            <a:ext cx="109728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16459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 flipV="1">
            <a:off x="1554480" y="1645920"/>
            <a:ext cx="365760" cy="173736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31920" y="1335024"/>
            <a:ext cx="82296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31920" y="1335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566160" y="1508760"/>
            <a:ext cx="365760" cy="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0" y="1737360"/>
            <a:ext cx="0" cy="41148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14600" y="21488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514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 flipH="1">
            <a:off x="1508760" y="2560320"/>
            <a:ext cx="1097280" cy="45720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80360" y="2560320"/>
            <a:ext cx="1097280" cy="45720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" y="3017520"/>
            <a:ext cx="1554480" cy="457200"/>
          </a:xfrm>
          <a:prstGeom prst="rect">
            <a:avLst/>
          </a:prstGeom>
          <a:solidFill>
            <a:srgbClr val="FDEFE2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00400" y="3017520"/>
            <a:ext cx="1554480" cy="457200"/>
          </a:xfrm>
          <a:prstGeom prst="rect">
            <a:avLst/>
          </a:prstGeom>
          <a:solidFill>
            <a:srgbClr val="FDEFE2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20040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3840480"/>
            <a:ext cx="82296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840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 flipV="1">
            <a:off x="868680" y="3474720"/>
            <a:ext cx="640080" cy="36576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371600" y="3840480"/>
            <a:ext cx="96012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371600" y="38404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 flipH="1" flipV="1">
            <a:off x="1508760" y="3474720"/>
            <a:ext cx="342900" cy="36576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017520" y="3840480"/>
            <a:ext cx="86868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017520" y="38404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 flipV="1">
            <a:off x="3451860" y="3474720"/>
            <a:ext cx="525780" cy="36576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977640" y="3840480"/>
            <a:ext cx="1005840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977640" y="3840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hire_date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 flipH="1" flipV="1">
            <a:off x="3977640" y="3474720"/>
            <a:ext cx="502920" cy="36576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303520" y="12801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similar lower-level entities into a common </a:t>
            </a: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supertype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generalizing: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5303520" y="237744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2F4F8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394960" y="24231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STUDENT(person_id, name, dob, cgpa, program)</a:t>
            </a:r>
            <a:endParaRPr lang="en-US" sz="95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9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EMPLOYEE(person_id, name, dob, salary, hire_date)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530352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person_id, name, dob  →  lifted into PERSON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303520" y="41148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30352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BOTTOM-UP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ENHANCED ER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vs generalization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743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from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general entity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specific entities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asked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kinds of X exist?"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do X and Y have in common?"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subclasses with extra attributes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superclass with shared attributes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→ FACULTY, STAFF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STUDENT, EMPLOYEE → PERSON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7E9F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produce the same kind of diagram — the difference is the </a:t>
            </a: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design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3776" y="205740"/>
            <a:ext cx="581125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09191" y="205740"/>
            <a:ext cx="1598094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2741575" y="205740"/>
            <a:ext cx="726407" cy="5829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3502272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4117688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4733102" y="205740"/>
            <a:ext cx="1452813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323077" y="144019"/>
            <a:ext cx="2326919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88">
                <a:solidFill>
                  <a:srgbClr val="6E7E91"/>
                </a:solidFill>
                <a:latin typeface="Corbel"/>
              </a:rPr>
              <a:t>Generalization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7" y="384048"/>
            <a:ext cx="815621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50" b="1">
                <a:solidFill>
                  <a:srgbClr val="0B2545"/>
                </a:solidFill>
                <a:latin typeface="Corbel"/>
              </a:rPr>
              <a:t>Constraint one: disjoint or overlapping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829818"/>
            <a:ext cx="562356" cy="30861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493777" y="925830"/>
            <a:ext cx="7881899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88">
                <a:solidFill>
                  <a:srgbClr val="6E7E91"/>
                </a:solidFill>
                <a:latin typeface="Corbel"/>
              </a:rPr>
              <a:t>May one instance belong to more than one subtype? You must answer this on every hierarchy you draw.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035" y="4786885"/>
            <a:ext cx="822960" cy="127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>
                <a:solidFill>
                  <a:srgbClr val="6E7E91"/>
                </a:solidFill>
                <a:latin typeface="Corbel"/>
              </a:rPr>
              <a:t>39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7" y="1213866"/>
            <a:ext cx="3975239" cy="2935224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4" name="Rectangle 13"/>
          <p:cNvSpPr/>
          <p:nvPr/>
        </p:nvSpPr>
        <p:spPr>
          <a:xfrm>
            <a:off x="493777" y="1213866"/>
            <a:ext cx="3975239" cy="3429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672085" y="1337310"/>
            <a:ext cx="3358019" cy="191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25" b="1">
                <a:solidFill>
                  <a:srgbClr val="0B2545"/>
                </a:solidFill>
                <a:latin typeface="Corbel"/>
              </a:rPr>
              <a:t>Disjoint</a:t>
            </a:r>
            <a:r>
              <a:rPr sz="825">
                <a:solidFill>
                  <a:srgbClr val="6E7E91"/>
                </a:solidFill>
                <a:latin typeface="Corbel"/>
              </a:rPr>
              <a:t>   notation </a:t>
            </a:r>
            <a:r>
              <a:rPr sz="975" b="1">
                <a:solidFill>
                  <a:srgbClr val="1769E0"/>
                </a:solidFill>
                <a:latin typeface="Consolas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5" y="1611631"/>
            <a:ext cx="3618623" cy="159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38">
                <a:solidFill>
                  <a:srgbClr val="111827"/>
                </a:solidFill>
                <a:latin typeface="Corbel"/>
              </a:rPr>
              <a:t>An instance belongs to at most one subtype.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7000" y="1831086"/>
            <a:ext cx="174879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0B2545"/>
                </a:solidFill>
                <a:latin typeface="Corbel"/>
              </a:rPr>
              <a:t>VEHICLE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2172785" y="2407158"/>
            <a:ext cx="617220" cy="329184"/>
          </a:xfrm>
          <a:prstGeom prst="triangle">
            <a:avLst/>
          </a:prstGeom>
          <a:solidFill>
            <a:srgbClr val="EAF3FF"/>
          </a:solidFill>
          <a:ln w="2032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68580" rIns="0" bIns="0" rtlCol="0" anchor="b"/>
          <a:lstStyle/>
          <a:p>
            <a:pPr algn="ctr">
              <a:buNone/>
            </a:pPr>
            <a:r>
              <a:rPr sz="675" b="1">
                <a:solidFill>
                  <a:srgbClr val="0F4FA8"/>
                </a:solidFill>
                <a:latin typeface="Corbel"/>
              </a:rPr>
              <a:t>ISA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81395" y="2160270"/>
            <a:ext cx="0" cy="246888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20157" y="2969514"/>
            <a:ext cx="1522476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81395" y="2736342"/>
            <a:ext cx="0" cy="233172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20157" y="2969514"/>
            <a:ext cx="0" cy="28803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68647" y="3257550"/>
            <a:ext cx="130302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CAR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42633" y="2969514"/>
            <a:ext cx="0" cy="28803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91123" y="3257550"/>
            <a:ext cx="130302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TRUCK</a:t>
            </a:r>
          </a:p>
        </p:txBody>
      </p:sp>
      <p:sp>
        <p:nvSpPr>
          <p:cNvPr id="26" name="Oval 25"/>
          <p:cNvSpPr/>
          <p:nvPr/>
        </p:nvSpPr>
        <p:spPr>
          <a:xfrm>
            <a:off x="2378525" y="2743200"/>
            <a:ext cx="205740" cy="205740"/>
          </a:xfrm>
          <a:prstGeom prst="ellipse">
            <a:avLst/>
          </a:prstGeom>
          <a:solidFill>
            <a:srgbClr val="FFFFFF"/>
          </a:solidFill>
          <a:ln w="14604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2378525" y="2772685"/>
            <a:ext cx="205740" cy="1467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63" b="1">
                <a:solidFill>
                  <a:srgbClr val="0F4FA8"/>
                </a:solidFill>
                <a:latin typeface="Corbel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5" y="3682747"/>
            <a:ext cx="3618623" cy="148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900" i="1">
                <a:solidFill>
                  <a:srgbClr val="6E7E91"/>
                </a:solidFill>
                <a:latin typeface="Corbel"/>
              </a:rPr>
              <a:t>A vehicle is a car or a truck, never both.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74756" y="1213866"/>
            <a:ext cx="3975239" cy="2935224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0" name="Rectangle 29"/>
          <p:cNvSpPr/>
          <p:nvPr/>
        </p:nvSpPr>
        <p:spPr>
          <a:xfrm>
            <a:off x="4674756" y="1213866"/>
            <a:ext cx="3975239" cy="34290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4853064" y="1337310"/>
            <a:ext cx="3358019" cy="191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25" b="1">
                <a:solidFill>
                  <a:srgbClr val="0B2545"/>
                </a:solidFill>
                <a:latin typeface="Corbel"/>
              </a:rPr>
              <a:t>Overlapping</a:t>
            </a:r>
            <a:r>
              <a:rPr sz="825">
                <a:solidFill>
                  <a:srgbClr val="6E7E91"/>
                </a:solidFill>
                <a:latin typeface="Corbel"/>
              </a:rPr>
              <a:t>   notation </a:t>
            </a:r>
            <a:r>
              <a:rPr sz="975" b="1">
                <a:solidFill>
                  <a:srgbClr val="0E9C8A"/>
                </a:solidFill>
                <a:latin typeface="Consolas"/>
              </a:rPr>
              <a:t>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3064" y="1611631"/>
            <a:ext cx="3618623" cy="159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38">
                <a:solidFill>
                  <a:srgbClr val="111827"/>
                </a:solidFill>
                <a:latin typeface="Corbel"/>
              </a:rPr>
              <a:t>An instance may belong to several subtypes at once.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87980" y="1831086"/>
            <a:ext cx="174879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0B2545"/>
                </a:solidFill>
                <a:latin typeface="Corbel"/>
              </a:rPr>
              <a:t>PERSON</a:t>
            </a:r>
          </a:p>
        </p:txBody>
      </p:sp>
      <p:sp>
        <p:nvSpPr>
          <p:cNvPr id="34" name="Isosceles Triangle 33"/>
          <p:cNvSpPr/>
          <p:nvPr/>
        </p:nvSpPr>
        <p:spPr>
          <a:xfrm>
            <a:off x="6353765" y="2407158"/>
            <a:ext cx="617220" cy="329184"/>
          </a:xfrm>
          <a:prstGeom prst="triangle">
            <a:avLst/>
          </a:prstGeom>
          <a:solidFill>
            <a:srgbClr val="EAF3FF"/>
          </a:solidFill>
          <a:ln w="2032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68580" rIns="0" bIns="0" rtlCol="0" anchor="b"/>
          <a:lstStyle/>
          <a:p>
            <a:pPr algn="ctr">
              <a:buNone/>
            </a:pPr>
            <a:r>
              <a:rPr sz="675" b="1">
                <a:solidFill>
                  <a:srgbClr val="0F4FA8"/>
                </a:solidFill>
                <a:latin typeface="Corbel"/>
              </a:rPr>
              <a:t>ISA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662375" y="2160270"/>
            <a:ext cx="0" cy="246888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901137" y="2969514"/>
            <a:ext cx="1522476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62375" y="2736342"/>
            <a:ext cx="0" cy="233172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01137" y="2969514"/>
            <a:ext cx="0" cy="28803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249627" y="3257550"/>
            <a:ext cx="130302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STUDENT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23613" y="2969514"/>
            <a:ext cx="0" cy="28803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72103" y="3257550"/>
            <a:ext cx="130302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EMPLOYEE</a:t>
            </a:r>
          </a:p>
        </p:txBody>
      </p:sp>
      <p:sp>
        <p:nvSpPr>
          <p:cNvPr id="42" name="Oval 41"/>
          <p:cNvSpPr/>
          <p:nvPr/>
        </p:nvSpPr>
        <p:spPr>
          <a:xfrm>
            <a:off x="6559505" y="2743200"/>
            <a:ext cx="205740" cy="205740"/>
          </a:xfrm>
          <a:prstGeom prst="ellipse">
            <a:avLst/>
          </a:prstGeom>
          <a:solidFill>
            <a:srgbClr val="FFFFFF"/>
          </a:solidFill>
          <a:ln w="14604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3" name="TextBox 42"/>
          <p:cNvSpPr txBox="1"/>
          <p:nvPr/>
        </p:nvSpPr>
        <p:spPr>
          <a:xfrm>
            <a:off x="6559505" y="2772685"/>
            <a:ext cx="205740" cy="1467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63" b="1">
                <a:solidFill>
                  <a:srgbClr val="0F4FA8"/>
                </a:solidFill>
                <a:latin typeface="Corbel"/>
              </a:rPr>
              <a:t>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3064" y="3682747"/>
            <a:ext cx="3618623" cy="148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900" i="1">
                <a:solidFill>
                  <a:srgbClr val="6E7E91"/>
                </a:solidFill>
                <a:latin typeface="Corbel"/>
              </a:rPr>
              <a:t>A teaching assistant is a student and an employee.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3777" y="4231386"/>
            <a:ext cx="8156219" cy="495967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6" name="Rectangle 45"/>
          <p:cNvSpPr/>
          <p:nvPr/>
        </p:nvSpPr>
        <p:spPr>
          <a:xfrm>
            <a:off x="493776" y="4231386"/>
            <a:ext cx="34290" cy="495967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3776" y="205740"/>
            <a:ext cx="581125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09191" y="205740"/>
            <a:ext cx="1598094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2741575" y="205740"/>
            <a:ext cx="726407" cy="5829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3502272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4117688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4733102" y="205740"/>
            <a:ext cx="1452813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323077" y="144019"/>
            <a:ext cx="2326919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88">
                <a:solidFill>
                  <a:srgbClr val="6E7E91"/>
                </a:solidFill>
                <a:latin typeface="Corbel"/>
              </a:rPr>
              <a:t>Generalization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7" y="384048"/>
            <a:ext cx="815621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50" b="1">
                <a:solidFill>
                  <a:srgbClr val="0B2545"/>
                </a:solidFill>
                <a:latin typeface="Corbel"/>
              </a:rPr>
              <a:t>Constraint two: total or partial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829818"/>
            <a:ext cx="562356" cy="30861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493777" y="925830"/>
            <a:ext cx="7881899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88">
                <a:solidFill>
                  <a:srgbClr val="6E7E91"/>
                </a:solidFill>
                <a:latin typeface="Corbel"/>
              </a:rPr>
              <a:t>Must every instance of the supertype belong to some subtype? Same double line as Part 1, same meaning.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035" y="4786885"/>
            <a:ext cx="822960" cy="127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>
                <a:solidFill>
                  <a:srgbClr val="6E7E91"/>
                </a:solidFill>
                <a:latin typeface="Corbel"/>
              </a:rPr>
              <a:t>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7" y="1213866"/>
            <a:ext cx="3975239" cy="2935224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4" name="Rectangle 13"/>
          <p:cNvSpPr/>
          <p:nvPr/>
        </p:nvSpPr>
        <p:spPr>
          <a:xfrm>
            <a:off x="493777" y="1213866"/>
            <a:ext cx="3975239" cy="3429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672085" y="1337310"/>
            <a:ext cx="3358019" cy="191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25" b="1">
                <a:solidFill>
                  <a:srgbClr val="0B2545"/>
                </a:solidFill>
                <a:latin typeface="Corbel"/>
              </a:rPr>
              <a:t>Total specialization</a:t>
            </a:r>
            <a:r>
              <a:rPr sz="825">
                <a:solidFill>
                  <a:srgbClr val="6E7E91"/>
                </a:solidFill>
                <a:latin typeface="Corbel"/>
              </a:rPr>
              <a:t>   double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5" y="1611631"/>
            <a:ext cx="3618623" cy="159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38">
                <a:solidFill>
                  <a:srgbClr val="111827"/>
                </a:solidFill>
                <a:latin typeface="Corbel"/>
              </a:rPr>
              <a:t>Every supertype instance is in at least one subtype.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7000" y="1831086"/>
            <a:ext cx="174879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0B2545"/>
                </a:solidFill>
                <a:latin typeface="Corbel"/>
              </a:rPr>
              <a:t>EMPLOYEE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2172785" y="2407158"/>
            <a:ext cx="617220" cy="329184"/>
          </a:xfrm>
          <a:prstGeom prst="triangle">
            <a:avLst/>
          </a:prstGeom>
          <a:solidFill>
            <a:srgbClr val="EAF3FF"/>
          </a:solidFill>
          <a:ln w="2032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68580" rIns="0" bIns="0" rtlCol="0" anchor="b"/>
          <a:lstStyle/>
          <a:p>
            <a:pPr algn="ctr">
              <a:buNone/>
            </a:pPr>
            <a:r>
              <a:rPr sz="675" b="1">
                <a:solidFill>
                  <a:srgbClr val="0F4FA8"/>
                </a:solidFill>
                <a:latin typeface="Corbel"/>
              </a:rPr>
              <a:t>ISA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9450" y="2160270"/>
            <a:ext cx="0" cy="246888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03341" y="2160270"/>
            <a:ext cx="0" cy="246888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720157" y="2804922"/>
            <a:ext cx="1522476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81395" y="2736342"/>
            <a:ext cx="0" cy="6858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20157" y="2804922"/>
            <a:ext cx="0" cy="28803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068647" y="3092958"/>
            <a:ext cx="130302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FACULTY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2633" y="2804922"/>
            <a:ext cx="0" cy="28803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591123" y="3092958"/>
            <a:ext cx="130302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STAFF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5" y="3518155"/>
            <a:ext cx="3618623" cy="148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900" i="1">
                <a:solidFill>
                  <a:srgbClr val="6E7E91"/>
                </a:solidFill>
                <a:latin typeface="Corbel"/>
              </a:rPr>
              <a:t>Every employee is either faculty or staff. There is no third kind.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74756" y="1213866"/>
            <a:ext cx="3975239" cy="2935224"/>
          </a:xfrm>
          <a:prstGeom prst="rect">
            <a:avLst/>
          </a:prstGeom>
          <a:solidFill>
            <a:srgbClr val="FAFCFE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29" name="Rectangle 28"/>
          <p:cNvSpPr/>
          <p:nvPr/>
        </p:nvSpPr>
        <p:spPr>
          <a:xfrm>
            <a:off x="4674756" y="1213866"/>
            <a:ext cx="3975239" cy="34290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0" name="TextBox 29"/>
          <p:cNvSpPr txBox="1"/>
          <p:nvPr/>
        </p:nvSpPr>
        <p:spPr>
          <a:xfrm>
            <a:off x="4853064" y="1337310"/>
            <a:ext cx="3358019" cy="191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25" b="1">
                <a:solidFill>
                  <a:srgbClr val="0B2545"/>
                </a:solidFill>
                <a:latin typeface="Corbel"/>
              </a:rPr>
              <a:t>Partial specialization</a:t>
            </a:r>
            <a:r>
              <a:rPr sz="825">
                <a:solidFill>
                  <a:srgbClr val="6E7E91"/>
                </a:solidFill>
                <a:latin typeface="Corbel"/>
              </a:rPr>
              <a:t>   single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3064" y="1611631"/>
            <a:ext cx="3618623" cy="159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38">
                <a:solidFill>
                  <a:srgbClr val="111827"/>
                </a:solidFill>
                <a:latin typeface="Corbel"/>
              </a:rPr>
              <a:t>Some supertype instances belong to no subtype at 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87980" y="1831086"/>
            <a:ext cx="174879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0B2545"/>
                </a:solidFill>
                <a:latin typeface="Corbel"/>
              </a:rPr>
              <a:t>PERSON</a:t>
            </a:r>
          </a:p>
        </p:txBody>
      </p:sp>
      <p:sp>
        <p:nvSpPr>
          <p:cNvPr id="33" name="Isosceles Triangle 32"/>
          <p:cNvSpPr/>
          <p:nvPr/>
        </p:nvSpPr>
        <p:spPr>
          <a:xfrm>
            <a:off x="6353765" y="2407158"/>
            <a:ext cx="617220" cy="329184"/>
          </a:xfrm>
          <a:prstGeom prst="triangle">
            <a:avLst/>
          </a:prstGeom>
          <a:solidFill>
            <a:srgbClr val="EAF3FF"/>
          </a:solidFill>
          <a:ln w="2032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68580" rIns="0" bIns="0" rtlCol="0" anchor="b"/>
          <a:lstStyle/>
          <a:p>
            <a:pPr algn="ctr">
              <a:buNone/>
            </a:pPr>
            <a:r>
              <a:rPr sz="675" b="1">
                <a:solidFill>
                  <a:srgbClr val="0F4FA8"/>
                </a:solidFill>
                <a:latin typeface="Corbel"/>
              </a:rPr>
              <a:t>ISA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62375" y="2160270"/>
            <a:ext cx="0" cy="246888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901137" y="2804922"/>
            <a:ext cx="1522476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62375" y="2736342"/>
            <a:ext cx="0" cy="6858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01137" y="2804922"/>
            <a:ext cx="0" cy="28803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249627" y="3092958"/>
            <a:ext cx="130302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STUDENT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23613" y="2804922"/>
            <a:ext cx="0" cy="28803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772103" y="3092958"/>
            <a:ext cx="1303020" cy="329184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EMPLOYEE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3064" y="3518155"/>
            <a:ext cx="3618623" cy="148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900" i="1">
                <a:solidFill>
                  <a:srgbClr val="6E7E91"/>
                </a:solidFill>
                <a:latin typeface="Corbel"/>
              </a:rPr>
              <a:t>A visitor is a person, but neither a student nor an employee.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7" y="4231386"/>
            <a:ext cx="8156219" cy="495967"/>
          </a:xfrm>
          <a:prstGeom prst="roundRect">
            <a:avLst>
              <a:gd name="adj" fmla="val 6000"/>
            </a:avLst>
          </a:prstGeom>
          <a:solidFill>
            <a:srgbClr val="E6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3" name="Rectangle 42"/>
          <p:cNvSpPr/>
          <p:nvPr/>
        </p:nvSpPr>
        <p:spPr>
          <a:xfrm>
            <a:off x="493776" y="4231386"/>
            <a:ext cx="34290" cy="495967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the hierarchy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465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840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30568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3 min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28016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CASH · CARD · WALLET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2377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uses exactly one method.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or overlapping?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 partial?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91840" y="128016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2F4F8"/>
          </a:solidFill>
          <a:ln/>
        </p:spPr>
      </p:sp>
      <p:sp>
        <p:nvSpPr>
          <p:cNvPr id="18" name="Shape 14"/>
          <p:cNvSpPr/>
          <p:nvPr/>
        </p:nvSpPr>
        <p:spPr>
          <a:xfrm>
            <a:off x="3474720" y="14173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4747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0233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LIBRARY_ITEM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347472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BOOK · MAGAZINE · DVD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3474720" y="2377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is one type; maps and posters belong to none of these.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347472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or overlapping?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 partial?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26480" y="128016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2F4F8"/>
          </a:solidFill>
          <a:ln/>
        </p:spPr>
      </p:sp>
      <p:sp>
        <p:nvSpPr>
          <p:cNvPr id="25" name="Shape 21"/>
          <p:cNvSpPr/>
          <p:nvPr/>
        </p:nvSpPr>
        <p:spPr>
          <a:xfrm>
            <a:off x="6309360" y="14173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309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858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UNIVERSITY_MEMBER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63093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STUDENT · EMPLOYEE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6309360" y="2377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is a student or an employee; a teaching assistant is both.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309360" y="3383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or overlapping?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 partial?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7E9F4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it: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 d or o in the circle, and use a double line from the superclass for total.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ANSWERS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Hierarchy answers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4173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1417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Disjoint · Total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097280" y="2011680"/>
            <a:ext cx="137160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751076" y="2304288"/>
            <a:ext cx="0" cy="210312"/>
          </a:xfrm>
          <a:prstGeom prst="line">
            <a:avLst/>
          </a:prstGeom>
          <a:noFill/>
          <a:ln w="15240">
            <a:solidFill>
              <a:srgbClr val="1B1F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15084" y="2304288"/>
            <a:ext cx="0" cy="210312"/>
          </a:xfrm>
          <a:prstGeom prst="line">
            <a:avLst/>
          </a:prstGeom>
          <a:noFill/>
          <a:ln w="15240">
            <a:solidFill>
              <a:srgbClr val="1B1F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45920" y="251460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B1F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4592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 flipH="1">
            <a:off x="996696" y="2788920"/>
            <a:ext cx="786384" cy="210312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2999232"/>
            <a:ext cx="713232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29992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783080" y="2788920"/>
            <a:ext cx="0" cy="210312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26464" y="2999232"/>
            <a:ext cx="713232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426464" y="29992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783080" y="2788920"/>
            <a:ext cx="786384" cy="210312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12848" y="2999232"/>
            <a:ext cx="713232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212848" y="29992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291840" y="128016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3474720" y="14173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474720" y="1417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Disjoint · Partial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931920" y="2011680"/>
            <a:ext cx="137160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93192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LIBRARY_ITEM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617720" y="2304288"/>
            <a:ext cx="0" cy="210312"/>
          </a:xfrm>
          <a:prstGeom prst="line">
            <a:avLst/>
          </a:prstGeom>
          <a:noFill/>
          <a:ln w="15240">
            <a:solidFill>
              <a:srgbClr val="1B1F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80560" y="251460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B1F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48056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 flipH="1">
            <a:off x="3831336" y="2788920"/>
            <a:ext cx="786384" cy="210312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474720" y="2999232"/>
            <a:ext cx="713232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74720" y="29992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617720" y="2788920"/>
            <a:ext cx="0" cy="210312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61104" y="2999232"/>
            <a:ext cx="713232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261104" y="29992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MAGAZINE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617720" y="2788920"/>
            <a:ext cx="786384" cy="210312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47488" y="2999232"/>
            <a:ext cx="713232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047488" y="29992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DVD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126480" y="128016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/>
        </p:spPr>
      </p:sp>
      <p:sp>
        <p:nvSpPr>
          <p:cNvPr id="43" name="Shape 40"/>
          <p:cNvSpPr/>
          <p:nvPr/>
        </p:nvSpPr>
        <p:spPr>
          <a:xfrm>
            <a:off x="6309360" y="14173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309360" y="1417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Overlapping · Total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766560" y="2011680"/>
            <a:ext cx="137160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76656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UNIV_MEMBER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7420356" y="2304288"/>
            <a:ext cx="0" cy="210312"/>
          </a:xfrm>
          <a:prstGeom prst="line">
            <a:avLst/>
          </a:prstGeom>
          <a:noFill/>
          <a:ln w="15240">
            <a:solidFill>
              <a:srgbClr val="1B1F3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484364" y="2304288"/>
            <a:ext cx="0" cy="210312"/>
          </a:xfrm>
          <a:prstGeom prst="line">
            <a:avLst/>
          </a:prstGeom>
          <a:noFill/>
          <a:ln w="15240">
            <a:solidFill>
              <a:srgbClr val="1B1F3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315200" y="251460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B1F3B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31520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 flipH="1">
            <a:off x="6981444" y="2788920"/>
            <a:ext cx="470916" cy="210312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547104" y="2999232"/>
            <a:ext cx="86868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547104" y="29992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452360" y="2788920"/>
            <a:ext cx="470916" cy="210312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488936" y="2999232"/>
            <a:ext cx="86868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488936" y="29992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EFE2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— where do attributes go?</a:t>
            </a: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amount, date → PAYMENT (shared)   ·   card_number → CARD   ·   wallet_provider → WALLET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AGGREGATION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Aggregation: a relationship joins a relationship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7E9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treats a relationship, together with its participating entities, as </a:t>
            </a: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higher-level object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used when another entity must relate to an existing relationship.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3977640" cy="256032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697480"/>
            <a:ext cx="10972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697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737360" y="2907792"/>
            <a:ext cx="18288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20240" y="2606040"/>
            <a:ext cx="1143000" cy="59436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920240" y="26060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WORKS_ON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063240" y="2907792"/>
            <a:ext cx="13716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0" y="2697480"/>
            <a:ext cx="105156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00400" y="26974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need:</a:t>
            </a:r>
            <a:endParaRPr lang="en-US" sz="1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monitors 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E101 working on Project P20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21031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BE6E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28032" y="2267712"/>
            <a:ext cx="365760" cy="365760"/>
          </a:xfrm>
          <a:prstGeom prst="ellipse">
            <a:avLst/>
          </a:prstGeom>
          <a:solidFill>
            <a:srgbClr val="D65A3C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130" y="2362810"/>
            <a:ext cx="175565" cy="17556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303520" y="2240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— MONITORS — EMPLOYEE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84632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which project is being monitored.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BE6E0"/>
          </a:solidFill>
          <a:ln/>
        </p:spPr>
      </p:sp>
      <p:sp>
        <p:nvSpPr>
          <p:cNvPr id="26" name="Shape 22"/>
          <p:cNvSpPr/>
          <p:nvPr/>
        </p:nvSpPr>
        <p:spPr>
          <a:xfrm>
            <a:off x="4828032" y="3593592"/>
            <a:ext cx="365760" cy="365760"/>
          </a:xfrm>
          <a:prstGeom prst="ellipse">
            <a:avLst/>
          </a:prstGeom>
          <a:solidFill>
            <a:srgbClr val="D65A3C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130" y="3688690"/>
            <a:ext cx="175565" cy="17556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303520" y="3566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— MONITORS — PROJECT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484632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whose work is being monitored.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3776" y="205740"/>
            <a:ext cx="581125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09191" y="205740"/>
            <a:ext cx="1598094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2741575" y="205740"/>
            <a:ext cx="726407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3502272" y="205740"/>
            <a:ext cx="581125" cy="5829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4117688" y="205740"/>
            <a:ext cx="581125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4733102" y="205740"/>
            <a:ext cx="1452813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6323077" y="144019"/>
            <a:ext cx="2326919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88">
                <a:solidFill>
                  <a:srgbClr val="6E7E91"/>
                </a:solidFill>
                <a:latin typeface="Corbel"/>
              </a:rPr>
              <a:t>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7" y="384048"/>
            <a:ext cx="815621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50" b="1">
                <a:solidFill>
                  <a:srgbClr val="0B2545"/>
                </a:solidFill>
                <a:latin typeface="Corbel"/>
              </a:rPr>
              <a:t>The problem aggregation solves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829818"/>
            <a:ext cx="562356" cy="30861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493777" y="925830"/>
            <a:ext cx="7881899" cy="181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88">
                <a:solidFill>
                  <a:srgbClr val="6E7E91"/>
                </a:solidFill>
                <a:latin typeface="Corbel"/>
              </a:rPr>
              <a:t>A manager does not monitor an employee, and does not monitor a project. A manager monitors one employee's work on one project.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035" y="4786885"/>
            <a:ext cx="822960" cy="127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>
                <a:solidFill>
                  <a:srgbClr val="6E7E91"/>
                </a:solidFill>
                <a:latin typeface="Corbel"/>
              </a:rP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1227583"/>
            <a:ext cx="3840480" cy="172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13" b="1">
                <a:solidFill>
                  <a:srgbClr val="0B2545"/>
                </a:solidFill>
                <a:latin typeface="Corbel"/>
              </a:rPr>
              <a:t>What you have already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791" y="1529333"/>
            <a:ext cx="1611630" cy="384048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0B2545"/>
                </a:solidFill>
                <a:latin typeface="Corbel"/>
              </a:rPr>
              <a:t>EMPLOYEE</a:t>
            </a:r>
          </a:p>
        </p:txBody>
      </p:sp>
      <p:sp>
        <p:nvSpPr>
          <p:cNvPr id="15" name="Diamond 14"/>
          <p:cNvSpPr/>
          <p:nvPr/>
        </p:nvSpPr>
        <p:spPr>
          <a:xfrm>
            <a:off x="2516886" y="1433321"/>
            <a:ext cx="1371600" cy="576072"/>
          </a:xfrm>
          <a:prstGeom prst="diamond">
            <a:avLst/>
          </a:prstGeom>
          <a:solidFill>
            <a:srgbClr val="E6F6F3"/>
          </a:solidFill>
          <a:ln w="2222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825" b="1">
                <a:solidFill>
                  <a:srgbClr val="0A7A6C"/>
                </a:solidFill>
                <a:latin typeface="Corbel"/>
              </a:rPr>
              <a:t>works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1386" y="1529333"/>
            <a:ext cx="1508760" cy="384048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0B2545"/>
                </a:solidFill>
                <a:latin typeface="Corbel"/>
              </a:rPr>
              <a:t>PROJECT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28850" y="1721358"/>
            <a:ext cx="288036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282" y="1515618"/>
            <a:ext cx="233172" cy="13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25" b="1">
                <a:solidFill>
                  <a:srgbClr val="0F4FA8"/>
                </a:solidFill>
                <a:latin typeface="Consolas"/>
              </a:rPr>
              <a:t>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88486" y="1721358"/>
            <a:ext cx="342900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43350" y="1515618"/>
            <a:ext cx="233172" cy="13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25" b="1">
                <a:solidFill>
                  <a:srgbClr val="0F4FA8"/>
                </a:solidFill>
                <a:latin typeface="Consolas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791" y="2544318"/>
            <a:ext cx="1611630" cy="384048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0B2545"/>
                </a:solidFill>
                <a:latin typeface="Corbel"/>
              </a:rPr>
              <a:t>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2091691"/>
            <a:ext cx="2331720" cy="172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13" b="1">
                <a:solidFill>
                  <a:srgbClr val="0B2545"/>
                </a:solidFill>
                <a:latin typeface="Corbel"/>
              </a:rPr>
              <a:t>What you need to say</a:t>
            </a:r>
          </a:p>
        </p:txBody>
      </p:sp>
      <p:sp>
        <p:nvSpPr>
          <p:cNvPr id="23" name="Diamond 22"/>
          <p:cNvSpPr/>
          <p:nvPr/>
        </p:nvSpPr>
        <p:spPr>
          <a:xfrm>
            <a:off x="2516886" y="2448306"/>
            <a:ext cx="1371600" cy="576072"/>
          </a:xfrm>
          <a:prstGeom prst="diamond">
            <a:avLst/>
          </a:prstGeom>
          <a:solidFill>
            <a:srgbClr val="E6F6F3"/>
          </a:solidFill>
          <a:ln w="2222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825" b="1">
                <a:solidFill>
                  <a:srgbClr val="0A7A6C"/>
                </a:solidFill>
                <a:latin typeface="Corbel"/>
              </a:rPr>
              <a:t>monitors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28850" y="2736342"/>
            <a:ext cx="288036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888486" y="2023110"/>
            <a:ext cx="0" cy="713232"/>
          </a:xfrm>
          <a:prstGeom prst="line">
            <a:avLst/>
          </a:prstGeom>
          <a:ln w="22225">
            <a:solidFill>
              <a:srgbClr val="B3261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771900" y="2263140"/>
            <a:ext cx="233172" cy="233172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cxnSp>
        <p:nvCxnSpPr>
          <p:cNvPr id="27" name="Connector 26"/>
          <p:cNvCxnSpPr/>
          <p:nvPr/>
        </p:nvCxnSpPr>
        <p:spPr>
          <a:xfrm>
            <a:off x="3834856" y="2326096"/>
            <a:ext cx="107260" cy="107260"/>
          </a:xfrm>
          <a:prstGeom prst="line">
            <a:avLst/>
          </a:prstGeom>
          <a:ln w="28575">
            <a:solidFill>
              <a:srgbClr val="B326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834856" y="2326096"/>
            <a:ext cx="107260" cy="107260"/>
          </a:xfrm>
          <a:prstGeom prst="line">
            <a:avLst/>
          </a:prstGeom>
          <a:ln w="28575">
            <a:solidFill>
              <a:srgbClr val="B326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55948" y="2585466"/>
            <a:ext cx="2647188" cy="311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>
                <a:solidFill>
                  <a:srgbClr val="B3261E"/>
                </a:solidFill>
                <a:latin typeface="Corbel"/>
              </a:rPr>
              <a:t>A relationship may not connect to another relationship. There is no such line in the ER model.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" y="3353562"/>
            <a:ext cx="3840480" cy="54864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1" name="Rectangle 30"/>
          <p:cNvSpPr/>
          <p:nvPr/>
        </p:nvSpPr>
        <p:spPr>
          <a:xfrm>
            <a:off x="493776" y="3353562"/>
            <a:ext cx="34290" cy="54864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2" name="TextBox 31"/>
          <p:cNvSpPr txBox="1"/>
          <p:nvPr/>
        </p:nvSpPr>
        <p:spPr>
          <a:xfrm>
            <a:off x="672084" y="3422143"/>
            <a:ext cx="3497580" cy="159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38" b="1">
                <a:solidFill>
                  <a:srgbClr val="0B2545"/>
                </a:solidFill>
                <a:latin typeface="Corbel"/>
              </a:rPr>
              <a:t>Manager monitors EMPLOYEE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" y="3600450"/>
            <a:ext cx="3497580" cy="294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863">
                <a:solidFill>
                  <a:srgbClr val="111827"/>
                </a:solidFill>
                <a:latin typeface="Corbel"/>
              </a:rPr>
              <a:t>Says the manager oversees everything that employee does, on every project. Too broad.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" y="3943350"/>
            <a:ext cx="3840480" cy="54864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5" name="Rectangle 34"/>
          <p:cNvSpPr/>
          <p:nvPr/>
        </p:nvSpPr>
        <p:spPr>
          <a:xfrm>
            <a:off x="493776" y="3943350"/>
            <a:ext cx="34290" cy="54864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6" name="TextBox 35"/>
          <p:cNvSpPr txBox="1"/>
          <p:nvPr/>
        </p:nvSpPr>
        <p:spPr>
          <a:xfrm>
            <a:off x="672084" y="4011931"/>
            <a:ext cx="3497580" cy="159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38" b="1">
                <a:solidFill>
                  <a:srgbClr val="0B2545"/>
                </a:solidFill>
                <a:latin typeface="Corbel"/>
              </a:rPr>
              <a:t>Manager monitors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" y="4190238"/>
            <a:ext cx="3497580" cy="294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863">
                <a:solidFill>
                  <a:srgbClr val="111827"/>
                </a:solidFill>
                <a:latin typeface="Corbel"/>
              </a:rPr>
              <a:t>Says the manager oversees the whole project, whoever is on it. Also too broad.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" y="4533138"/>
            <a:ext cx="3840480" cy="548640"/>
          </a:xfrm>
          <a:prstGeom prst="rect">
            <a:avLst/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9" name="Rectangle 38"/>
          <p:cNvSpPr/>
          <p:nvPr/>
        </p:nvSpPr>
        <p:spPr>
          <a:xfrm>
            <a:off x="493776" y="4533138"/>
            <a:ext cx="34290" cy="54864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0" name="TextBox 39"/>
          <p:cNvSpPr txBox="1"/>
          <p:nvPr/>
        </p:nvSpPr>
        <p:spPr>
          <a:xfrm>
            <a:off x="672084" y="4601719"/>
            <a:ext cx="3497580" cy="159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38" b="1">
                <a:solidFill>
                  <a:srgbClr val="0B2545"/>
                </a:solidFill>
                <a:latin typeface="Corbel"/>
              </a:rPr>
              <a:t>Both of the above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" y="4780026"/>
            <a:ext cx="3497580" cy="294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sz="863">
                <a:solidFill>
                  <a:srgbClr val="111827"/>
                </a:solidFill>
                <a:latin typeface="Corbel"/>
              </a:rPr>
              <a:t>Two separate facts. Neither of them records which employee on which project.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08577" y="3353562"/>
            <a:ext cx="4041419" cy="1536192"/>
          </a:xfrm>
          <a:prstGeom prst="roundRect">
            <a:avLst>
              <a:gd name="adj" fmla="val 6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3" name="Rectangle 42"/>
          <p:cNvSpPr/>
          <p:nvPr/>
        </p:nvSpPr>
        <p:spPr>
          <a:xfrm>
            <a:off x="4608576" y="3353562"/>
            <a:ext cx="34290" cy="15361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4" name="TextBox 43"/>
          <p:cNvSpPr txBox="1"/>
          <p:nvPr/>
        </p:nvSpPr>
        <p:spPr>
          <a:xfrm>
            <a:off x="4773169" y="3429000"/>
            <a:ext cx="3732809" cy="1170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788" b="1">
                <a:solidFill>
                  <a:srgbClr val="0B2545"/>
                </a:solidFill>
                <a:latin typeface="Corbel"/>
              </a:rPr>
              <a:t>The sentence you actually need to model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13">
                <a:solidFill>
                  <a:srgbClr val="111827"/>
                </a:solidFill>
                <a:latin typeface="Corbel"/>
              </a:rPr>
              <a:t>Hamza manages Ayesha's 15-hour-a-week assignment on the Student Portal. He does not manage Ayesha, and he does not manage the Student Portal. He manages that pairing.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300"/>
              </a:spcAft>
            </a:pPr>
            <a:r>
              <a:rPr sz="1013">
                <a:solidFill>
                  <a:srgbClr val="111827"/>
                </a:solidFill>
                <a:latin typeface="Corbel"/>
              </a:rPr>
              <a:t>The thing being monitored is the relationship itself, together with its own attributes. Aggregation is how the ER model lets you point at it.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AGGREGATION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aggregation? A real scenario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DEFE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(Manager) monitors Ayesha’s (Employee) 15-hour-per-week assignment on the Student Portal (Project).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7E9F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manager monitors many work assignments (1 : N); each work assignment is monitored by one manager.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4E13B7-29B0-4671-97A2-78A426B4F40C}"/>
              </a:ext>
            </a:extLst>
          </p:cNvPr>
          <p:cNvSpPr txBox="1"/>
          <p:nvPr/>
        </p:nvSpPr>
        <p:spPr>
          <a:xfrm>
            <a:off x="1851660" y="1950680"/>
            <a:ext cx="3840480" cy="172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13" b="1">
                <a:solidFill>
                  <a:srgbClr val="0B2545"/>
                </a:solidFill>
                <a:latin typeface="Corbel"/>
              </a:rPr>
              <a:t>What you have already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1F15C5-2A27-417D-874F-D8C700EEE878}"/>
              </a:ext>
            </a:extLst>
          </p:cNvPr>
          <p:cNvSpPr/>
          <p:nvPr/>
        </p:nvSpPr>
        <p:spPr>
          <a:xfrm>
            <a:off x="1971675" y="2252430"/>
            <a:ext cx="1611630" cy="384048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0B2545"/>
                </a:solidFill>
                <a:latin typeface="Corbel"/>
              </a:rPr>
              <a:t>EMPLOYEE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C7003685-AFB1-43FC-9582-6259C5ED437A}"/>
              </a:ext>
            </a:extLst>
          </p:cNvPr>
          <p:cNvSpPr/>
          <p:nvPr/>
        </p:nvSpPr>
        <p:spPr>
          <a:xfrm>
            <a:off x="3874770" y="2156418"/>
            <a:ext cx="1371600" cy="576072"/>
          </a:xfrm>
          <a:prstGeom prst="diamond">
            <a:avLst/>
          </a:prstGeom>
          <a:solidFill>
            <a:srgbClr val="E6F6F3"/>
          </a:solidFill>
          <a:ln w="2222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825" b="1">
                <a:solidFill>
                  <a:srgbClr val="0A7A6C"/>
                </a:solidFill>
                <a:latin typeface="Corbel"/>
              </a:rPr>
              <a:t>works 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8D58DA-9BB7-4A97-882D-8C56F5B0C495}"/>
              </a:ext>
            </a:extLst>
          </p:cNvPr>
          <p:cNvSpPr/>
          <p:nvPr/>
        </p:nvSpPr>
        <p:spPr>
          <a:xfrm>
            <a:off x="5589270" y="2252430"/>
            <a:ext cx="1508760" cy="384048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0B2545"/>
                </a:solidFill>
                <a:latin typeface="Corbel"/>
              </a:rPr>
              <a:t>PROJECT</a:t>
            </a:r>
          </a:p>
        </p:txBody>
      </p:sp>
      <p:cxnSp>
        <p:nvCxnSpPr>
          <p:cNvPr id="35" name="Connector 16">
            <a:extLst>
              <a:ext uri="{FF2B5EF4-FFF2-40B4-BE49-F238E27FC236}">
                <a16:creationId xmlns:a16="http://schemas.microsoft.com/office/drawing/2014/main" id="{29540EDB-2A33-4C78-9C60-A1B38FFF553F}"/>
              </a:ext>
            </a:extLst>
          </p:cNvPr>
          <p:cNvCxnSpPr/>
          <p:nvPr/>
        </p:nvCxnSpPr>
        <p:spPr>
          <a:xfrm>
            <a:off x="3586734" y="2444455"/>
            <a:ext cx="288036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468C418-664B-47FA-B1EF-5B328C560374}"/>
              </a:ext>
            </a:extLst>
          </p:cNvPr>
          <p:cNvSpPr txBox="1"/>
          <p:nvPr/>
        </p:nvSpPr>
        <p:spPr>
          <a:xfrm>
            <a:off x="3614166" y="2238715"/>
            <a:ext cx="233172" cy="13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25" b="1">
                <a:solidFill>
                  <a:srgbClr val="0F4FA8"/>
                </a:solidFill>
                <a:latin typeface="Consolas"/>
              </a:rPr>
              <a:t>M</a:t>
            </a:r>
          </a:p>
        </p:txBody>
      </p:sp>
      <p:cxnSp>
        <p:nvCxnSpPr>
          <p:cNvPr id="37" name="Connector 18">
            <a:extLst>
              <a:ext uri="{FF2B5EF4-FFF2-40B4-BE49-F238E27FC236}">
                <a16:creationId xmlns:a16="http://schemas.microsoft.com/office/drawing/2014/main" id="{C926B528-8723-4246-B1CA-0912125E51C5}"/>
              </a:ext>
            </a:extLst>
          </p:cNvPr>
          <p:cNvCxnSpPr/>
          <p:nvPr/>
        </p:nvCxnSpPr>
        <p:spPr>
          <a:xfrm>
            <a:off x="5246370" y="2444455"/>
            <a:ext cx="342900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77D1AD8-FC9B-4AB6-B441-048EA3458438}"/>
              </a:ext>
            </a:extLst>
          </p:cNvPr>
          <p:cNvSpPr txBox="1"/>
          <p:nvPr/>
        </p:nvSpPr>
        <p:spPr>
          <a:xfrm>
            <a:off x="5301234" y="2238715"/>
            <a:ext cx="233172" cy="13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25" b="1">
                <a:solidFill>
                  <a:srgbClr val="0F4FA8"/>
                </a:solidFill>
                <a:latin typeface="Consolas"/>
              </a:rPr>
              <a:t>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F25738-1C5F-4ACF-8BDA-B1F43C0AB4CC}"/>
              </a:ext>
            </a:extLst>
          </p:cNvPr>
          <p:cNvSpPr/>
          <p:nvPr/>
        </p:nvSpPr>
        <p:spPr>
          <a:xfrm>
            <a:off x="1971675" y="3267415"/>
            <a:ext cx="1611630" cy="384048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0B2545"/>
                </a:solidFill>
                <a:latin typeface="Corbel"/>
              </a:rPr>
              <a:t>MANAGER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2861BA-4829-47B5-AFFE-5F406D563F63}"/>
              </a:ext>
            </a:extLst>
          </p:cNvPr>
          <p:cNvSpPr txBox="1"/>
          <p:nvPr/>
        </p:nvSpPr>
        <p:spPr>
          <a:xfrm>
            <a:off x="1851660" y="2814788"/>
            <a:ext cx="2331720" cy="172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13" b="1">
                <a:solidFill>
                  <a:srgbClr val="0B2545"/>
                </a:solidFill>
                <a:latin typeface="Corbel"/>
              </a:rPr>
              <a:t>What you need to say</a:t>
            </a: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028F7E14-9DBB-4BA9-88B4-0A818A9796D9}"/>
              </a:ext>
            </a:extLst>
          </p:cNvPr>
          <p:cNvSpPr/>
          <p:nvPr/>
        </p:nvSpPr>
        <p:spPr>
          <a:xfrm>
            <a:off x="3874770" y="3171403"/>
            <a:ext cx="1371600" cy="576072"/>
          </a:xfrm>
          <a:prstGeom prst="diamond">
            <a:avLst/>
          </a:prstGeom>
          <a:solidFill>
            <a:srgbClr val="E6F6F3"/>
          </a:solidFill>
          <a:ln w="2222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825" b="1">
                <a:solidFill>
                  <a:srgbClr val="0A7A6C"/>
                </a:solidFill>
                <a:latin typeface="Corbel"/>
              </a:rPr>
              <a:t>monitors</a:t>
            </a:r>
          </a:p>
        </p:txBody>
      </p:sp>
      <p:cxnSp>
        <p:nvCxnSpPr>
          <p:cNvPr id="42" name="Connector 23">
            <a:extLst>
              <a:ext uri="{FF2B5EF4-FFF2-40B4-BE49-F238E27FC236}">
                <a16:creationId xmlns:a16="http://schemas.microsoft.com/office/drawing/2014/main" id="{60893814-4667-42B6-8FF7-728F599BCFC7}"/>
              </a:ext>
            </a:extLst>
          </p:cNvPr>
          <p:cNvCxnSpPr/>
          <p:nvPr/>
        </p:nvCxnSpPr>
        <p:spPr>
          <a:xfrm>
            <a:off x="3586734" y="3459439"/>
            <a:ext cx="288036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4">
            <a:extLst>
              <a:ext uri="{FF2B5EF4-FFF2-40B4-BE49-F238E27FC236}">
                <a16:creationId xmlns:a16="http://schemas.microsoft.com/office/drawing/2014/main" id="{A291A269-9976-4C84-B3C7-CACC86937479}"/>
              </a:ext>
            </a:extLst>
          </p:cNvPr>
          <p:cNvCxnSpPr/>
          <p:nvPr/>
        </p:nvCxnSpPr>
        <p:spPr>
          <a:xfrm flipV="1">
            <a:off x="5246370" y="2746207"/>
            <a:ext cx="0" cy="713232"/>
          </a:xfrm>
          <a:prstGeom prst="line">
            <a:avLst/>
          </a:prstGeom>
          <a:ln w="22225">
            <a:solidFill>
              <a:srgbClr val="B3261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1081180A-16DD-4EE5-AAA6-9CD3A4A163B8}"/>
              </a:ext>
            </a:extLst>
          </p:cNvPr>
          <p:cNvSpPr/>
          <p:nvPr/>
        </p:nvSpPr>
        <p:spPr>
          <a:xfrm>
            <a:off x="5129784" y="2986237"/>
            <a:ext cx="233172" cy="233172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cxnSp>
        <p:nvCxnSpPr>
          <p:cNvPr id="45" name="Connector 26">
            <a:extLst>
              <a:ext uri="{FF2B5EF4-FFF2-40B4-BE49-F238E27FC236}">
                <a16:creationId xmlns:a16="http://schemas.microsoft.com/office/drawing/2014/main" id="{66B5CC9F-50AB-45EE-B64C-90D52F21CB4E}"/>
              </a:ext>
            </a:extLst>
          </p:cNvPr>
          <p:cNvCxnSpPr/>
          <p:nvPr/>
        </p:nvCxnSpPr>
        <p:spPr>
          <a:xfrm>
            <a:off x="5192740" y="3049193"/>
            <a:ext cx="107260" cy="107260"/>
          </a:xfrm>
          <a:prstGeom prst="line">
            <a:avLst/>
          </a:prstGeom>
          <a:ln w="28575">
            <a:solidFill>
              <a:srgbClr val="B326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27">
            <a:extLst>
              <a:ext uri="{FF2B5EF4-FFF2-40B4-BE49-F238E27FC236}">
                <a16:creationId xmlns:a16="http://schemas.microsoft.com/office/drawing/2014/main" id="{2199A193-5B93-4A7A-B3F7-4B1ED2150E76}"/>
              </a:ext>
            </a:extLst>
          </p:cNvPr>
          <p:cNvCxnSpPr/>
          <p:nvPr/>
        </p:nvCxnSpPr>
        <p:spPr>
          <a:xfrm flipH="1">
            <a:off x="5192740" y="3049193"/>
            <a:ext cx="107260" cy="107260"/>
          </a:xfrm>
          <a:prstGeom prst="line">
            <a:avLst/>
          </a:prstGeom>
          <a:ln w="28575">
            <a:solidFill>
              <a:srgbClr val="B326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ECAB284-914C-4433-97BC-397C21917E11}"/>
              </a:ext>
            </a:extLst>
          </p:cNvPr>
          <p:cNvSpPr txBox="1"/>
          <p:nvPr/>
        </p:nvSpPr>
        <p:spPr>
          <a:xfrm>
            <a:off x="5513832" y="3308563"/>
            <a:ext cx="2647188" cy="311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</a:pPr>
            <a:r>
              <a:rPr sz="900">
                <a:solidFill>
                  <a:srgbClr val="B3261E"/>
                </a:solidFill>
                <a:latin typeface="Corbel"/>
              </a:rPr>
              <a:t>A relationship may not connect to another relationship. There is no such line in the ER model.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AGGREGATION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relationship becomes a higher-level object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11880" y="1188720"/>
            <a:ext cx="16459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188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645920"/>
            <a:ext cx="0" cy="22860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98848" y="1627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03320" y="1874520"/>
            <a:ext cx="1463040" cy="64008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03320" y="1874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20240" y="2011680"/>
            <a:ext cx="13258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920240" y="2011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review_date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46120" y="2194560"/>
            <a:ext cx="457200" cy="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3560" y="2011680"/>
            <a:ext cx="160020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2356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performance_rating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166360" y="2194560"/>
            <a:ext cx="457200" cy="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34840" y="2514600"/>
            <a:ext cx="0" cy="27432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98848" y="25420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2788920"/>
            <a:ext cx="7223760" cy="1783080"/>
          </a:xfrm>
          <a:prstGeom prst="roundRect">
            <a:avLst>
              <a:gd name="adj" fmla="val 5128"/>
            </a:avLst>
          </a:prstGeom>
          <a:solidFill>
            <a:srgbClr val="E2F3F0">
              <a:alpha val="60000"/>
            </a:srgbClr>
          </a:solidFill>
          <a:ln w="19050">
            <a:solidFill>
              <a:srgbClr val="1F8A7E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960120" y="286207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7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0120" y="2862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WORK ASSIGNMENT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234440" y="3310128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23444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697480" y="3538728"/>
            <a:ext cx="10058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03320" y="3218688"/>
            <a:ext cx="1463040" cy="64008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703320" y="32186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WORKS_ON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166360" y="3538728"/>
            <a:ext cx="10058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72200" y="3310128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7220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2926080" y="32918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0" y="32918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788920" y="4114800"/>
            <a:ext cx="10515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788920" y="41148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 flipH="1">
            <a:off x="3314700" y="3858768"/>
            <a:ext cx="1120140" cy="256032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931920" y="4114800"/>
            <a:ext cx="10515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931920" y="41148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434840" y="3858768"/>
            <a:ext cx="22860" cy="256032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74920" y="4114800"/>
            <a:ext cx="10515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074920" y="41148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task_list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434840" y="3858768"/>
            <a:ext cx="1165860" cy="256032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" y="1170432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E7E9F4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40080" y="11704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one manager monitors many work assignments.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669280" y="117043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DEFE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585216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links MANAGER to the whole dashed box.</a:t>
            </a:r>
            <a:endParaRPr lang="en-US" sz="10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F9272C-3CA9-4886-A517-EFBAD1529EB5}"/>
              </a:ext>
            </a:extLst>
          </p:cNvPr>
          <p:cNvSpPr txBox="1"/>
          <p:nvPr/>
        </p:nvSpPr>
        <p:spPr>
          <a:xfrm>
            <a:off x="544068" y="4585312"/>
            <a:ext cx="8138160" cy="507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>
                <a:solidFill>
                  <a:srgbClr val="0B2545"/>
                </a:solidFill>
                <a:latin typeface="Corbel"/>
              </a:rPr>
              <a:t>Aggregation is an abstraction in which a relationship, together with its participating entities, is treated as one higher-level object that can itself take part in relationships.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AGGREGATION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or ternary relationship?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977640" cy="2697480"/>
          </a:xfrm>
          <a:prstGeom prst="roundRect">
            <a:avLst>
              <a:gd name="adj" fmla="val 3390"/>
            </a:avLst>
          </a:prstGeom>
          <a:solidFill>
            <a:srgbClr val="E2F3F0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5361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aggregation when…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01168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relationship exists on its own (an enrollment exists with or without funding).</a:t>
            </a:r>
            <a:endParaRPr lang="en-US" sz="115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entity is optional for each inner instance.</a:t>
            </a:r>
            <a:endParaRPr lang="en-US" sz="115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relationship has its own attributes.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520440"/>
            <a:ext cx="3611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35204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FUNDS( ORG, [STUDENT–ENROLLS–COURSE] 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1280160"/>
            <a:ext cx="3977640" cy="2697480"/>
          </a:xfrm>
          <a:prstGeom prst="roundRect">
            <a:avLst>
              <a:gd name="adj" fmla="val 3390"/>
            </a:avLst>
          </a:prstGeom>
          <a:solidFill>
            <a:srgbClr val="E7E9F4"/>
          </a:solidFill>
          <a:ln/>
        </p:spPr>
      </p:sp>
      <p:sp>
        <p:nvSpPr>
          <p:cNvPr id="15" name="Shape 11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3619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8640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ternary relationship when…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201168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entities are always needed together at the same moment.</a:t>
            </a:r>
            <a:endParaRPr lang="en-US" sz="115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two-entity relationship exists by itself.</a:t>
            </a:r>
            <a:endParaRPr lang="en-US" sz="1150" dirty="0"/>
          </a:p>
          <a:p>
            <a:pPr marL="177800" indent="-177800" algn="l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 only makes sense with all three.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92040" y="3520440"/>
            <a:ext cx="3611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892040" y="35204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PRESCRIBES( DOCTOR, PATIENT, MEDICINE 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DEFE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the pair exist without the third entity?   Yes → aggregation.   No → ternary relationship.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 funding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465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840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30568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8 min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DEFE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1887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enrols in a course. A scholarship organization may fund </a:t>
            </a: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particular course enrollment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128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7200" y="22128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1755648" y="22128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755648" y="22128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62656" y="221284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2962656" y="2212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SCHOLARSHIP_ORG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relationship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30358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─── ENROLLS ─── COURSE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(naive) designs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38130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ScholarshipOrg ─ FUNDS ─ Course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ScholarshipOrg ─ FUNDS ─ Student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029200" y="1920240"/>
            <a:ext cx="3657600" cy="2697480"/>
          </a:xfrm>
          <a:prstGeom prst="roundRect">
            <a:avLst>
              <a:gd name="adj" fmla="val 3390"/>
            </a:avLst>
          </a:prstGeom>
          <a:solidFill>
            <a:srgbClr val="E7E9F4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2120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in your group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212080" y="242316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does each naive design lose?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funding_amount be stored?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 the model using aggregation.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resulting relations with keys.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SOLUTION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a specific course enrollment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11880" y="1188720"/>
            <a:ext cx="16459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188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SCHOLARSHIP_ORG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1645920"/>
            <a:ext cx="0" cy="22860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98848" y="1627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03320" y="1874520"/>
            <a:ext cx="1463040" cy="64008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03320" y="1874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20240" y="2011680"/>
            <a:ext cx="13258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920240" y="2011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funding_amount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46120" y="2194560"/>
            <a:ext cx="457200" cy="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3560" y="2011680"/>
            <a:ext cx="160020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2356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approval_date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166360" y="2194560"/>
            <a:ext cx="457200" cy="0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34840" y="2514600"/>
            <a:ext cx="0" cy="27432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98848" y="25420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2788920"/>
            <a:ext cx="7223760" cy="1783080"/>
          </a:xfrm>
          <a:prstGeom prst="roundRect">
            <a:avLst>
              <a:gd name="adj" fmla="val 5128"/>
            </a:avLst>
          </a:prstGeom>
          <a:solidFill>
            <a:srgbClr val="E2F3F0">
              <a:alpha val="60000"/>
            </a:srgbClr>
          </a:solidFill>
          <a:ln w="19050">
            <a:solidFill>
              <a:srgbClr val="1F8A7E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960120" y="2862072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7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0120" y="2862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COURSE ENROLLMENT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234440" y="3310128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23444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697480" y="3538728"/>
            <a:ext cx="10058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03320" y="3218688"/>
            <a:ext cx="1463040" cy="64008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703320" y="32186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166360" y="3538728"/>
            <a:ext cx="10058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72200" y="3310128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7220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2926080" y="32918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0" y="32918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788920" y="4114800"/>
            <a:ext cx="10515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788920" y="41148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 flipH="1">
            <a:off x="3314700" y="3858768"/>
            <a:ext cx="1120140" cy="256032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931920" y="4114800"/>
            <a:ext cx="10515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931920" y="41148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enrollment_date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434840" y="3858768"/>
            <a:ext cx="22860" cy="256032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74920" y="4114800"/>
            <a:ext cx="10515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556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074920" y="41148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434840" y="3858768"/>
            <a:ext cx="1165860" cy="256032"/>
          </a:xfrm>
          <a:prstGeom prst="line">
            <a:avLst/>
          </a:prstGeom>
          <a:noFill/>
          <a:ln w="12700">
            <a:solidFill>
              <a:srgbClr val="4B556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" y="1170432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E7E9F4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40080" y="11704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funds one specific student–course enrollment.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669280" y="117043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DEFE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585216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links to the whole STUDENT–ENROLLS–COURSE box.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SOLUTION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diagram to relations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attributes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ENROLLS( semester, enrollment_date, grade )   ·   FUNDS( funding_amount, approval_date, funding_status 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440680" cy="58521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200" dirty="0"/>
          </a:p>
        </p:txBody>
      </p:sp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58521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funding_amount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approval_date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funding_status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DEFE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(student_id, course_id, semester) in FUNDING is a 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foreign key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ENROLLMENT’s composite primary key.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database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465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840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30568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12 min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stores information about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1572768"/>
            <a:ext cx="1783080" cy="896112"/>
          </a:xfrm>
          <a:prstGeom prst="roundRect">
            <a:avLst>
              <a:gd name="adj" fmla="val 10204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594360" y="1755648"/>
            <a:ext cx="512064" cy="512064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97" y="1888785"/>
            <a:ext cx="245791" cy="24579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1572768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377440" y="1572768"/>
            <a:ext cx="1783080" cy="896112"/>
          </a:xfrm>
          <a:prstGeom prst="roundRect">
            <a:avLst>
              <a:gd name="adj" fmla="val 10204"/>
            </a:avLst>
          </a:prstGeom>
          <a:solidFill>
            <a:srgbClr val="F2F4F8"/>
          </a:solidFill>
          <a:ln/>
        </p:spPr>
      </p:sp>
      <p:sp>
        <p:nvSpPr>
          <p:cNvPr id="16" name="Shape 11"/>
          <p:cNvSpPr/>
          <p:nvPr/>
        </p:nvSpPr>
        <p:spPr>
          <a:xfrm>
            <a:off x="2514600" y="1755648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7737" y="1888785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108960" y="1572768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2596896"/>
            <a:ext cx="1783080" cy="896112"/>
          </a:xfrm>
          <a:prstGeom prst="roundRect">
            <a:avLst>
              <a:gd name="adj" fmla="val 10204"/>
            </a:avLst>
          </a:prstGeom>
          <a:solidFill>
            <a:srgbClr val="F2F4F8"/>
          </a:solidFill>
          <a:ln/>
        </p:spPr>
      </p:sp>
      <p:sp>
        <p:nvSpPr>
          <p:cNvPr id="20" name="Shape 14"/>
          <p:cNvSpPr/>
          <p:nvPr/>
        </p:nvSpPr>
        <p:spPr>
          <a:xfrm>
            <a:off x="594360" y="2779776"/>
            <a:ext cx="512064" cy="512064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497" y="2912913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2596896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377440" y="2596896"/>
            <a:ext cx="1783080" cy="896112"/>
          </a:xfrm>
          <a:prstGeom prst="roundRect">
            <a:avLst>
              <a:gd name="adj" fmla="val 10204"/>
            </a:avLst>
          </a:prstGeom>
          <a:solidFill>
            <a:srgbClr val="F2F4F8"/>
          </a:solidFill>
          <a:ln/>
        </p:spPr>
      </p:sp>
      <p:sp>
        <p:nvSpPr>
          <p:cNvPr id="24" name="Shape 17"/>
          <p:cNvSpPr/>
          <p:nvPr/>
        </p:nvSpPr>
        <p:spPr>
          <a:xfrm>
            <a:off x="2514600" y="2779776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7737" y="2912913"/>
            <a:ext cx="245791" cy="24579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108960" y="2596896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57200" y="3621024"/>
            <a:ext cx="1783080" cy="896112"/>
          </a:xfrm>
          <a:prstGeom prst="roundRect">
            <a:avLst>
              <a:gd name="adj" fmla="val 10204"/>
            </a:avLst>
          </a:prstGeom>
          <a:solidFill>
            <a:srgbClr val="F2F4F8"/>
          </a:solidFill>
          <a:ln/>
        </p:spPr>
      </p:sp>
      <p:sp>
        <p:nvSpPr>
          <p:cNvPr id="28" name="Shape 20"/>
          <p:cNvSpPr/>
          <p:nvPr/>
        </p:nvSpPr>
        <p:spPr>
          <a:xfrm>
            <a:off x="594360" y="3803904"/>
            <a:ext cx="512064" cy="512064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497" y="3937041"/>
            <a:ext cx="245791" cy="245791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188720" y="3621024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2377440" y="3621024"/>
            <a:ext cx="1783080" cy="896112"/>
          </a:xfrm>
          <a:prstGeom prst="roundRect">
            <a:avLst>
              <a:gd name="adj" fmla="val 10204"/>
            </a:avLst>
          </a:prstGeom>
          <a:solidFill>
            <a:srgbClr val="F2F4F8"/>
          </a:solidFill>
          <a:ln/>
        </p:spPr>
      </p:sp>
      <p:sp>
        <p:nvSpPr>
          <p:cNvPr id="32" name="Shape 23"/>
          <p:cNvSpPr/>
          <p:nvPr/>
        </p:nvSpPr>
        <p:spPr>
          <a:xfrm>
            <a:off x="2514600" y="3803904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7737" y="3937041"/>
            <a:ext cx="245791" cy="245791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3108960" y="3621024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4434840" y="1234440"/>
            <a:ext cx="4251960" cy="3383280"/>
          </a:xfrm>
          <a:prstGeom prst="roundRect">
            <a:avLst>
              <a:gd name="adj" fmla="val 2703"/>
            </a:avLst>
          </a:prstGeom>
          <a:solidFill>
            <a:srgbClr val="FDEFE2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46177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</a:t>
            </a:r>
            <a:endParaRPr lang="en-US" sz="1350" dirty="0"/>
          </a:p>
        </p:txBody>
      </p:sp>
      <p:sp>
        <p:nvSpPr>
          <p:cNvPr id="37" name="Text 27"/>
          <p:cNvSpPr txBox="1"/>
          <p:nvPr/>
        </p:nvSpPr>
        <p:spPr>
          <a:xfrm>
            <a:off x="4617720" y="1737360"/>
            <a:ext cx="3931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has one medical record.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 employs many doctors.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can treat many patients.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can be treated by many doctors.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treatment occurs through an appointment.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can prescribe several medicines to a patient.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doctors supervise other doctors.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the ER diagram and identify…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465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840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30568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12 min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3258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6276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Unary, binary and ternary relationships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91840" y="13258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2F4F8"/>
          </a:solidFill>
          <a:ln/>
        </p:spPr>
      </p:sp>
      <p:sp>
        <p:nvSpPr>
          <p:cNvPr id="16" name="Shape 11"/>
          <p:cNvSpPr/>
          <p:nvPr/>
        </p:nvSpPr>
        <p:spPr>
          <a:xfrm>
            <a:off x="3474720" y="150876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162763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06908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1:N and M:N relationships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26480" y="13258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2F4F8"/>
          </a:solidFill>
          <a:ln/>
        </p:spPr>
      </p:sp>
      <p:sp>
        <p:nvSpPr>
          <p:cNvPr id="21" name="Shape 15"/>
          <p:cNvSpPr/>
          <p:nvPr/>
        </p:nvSpPr>
        <p:spPr>
          <a:xfrm>
            <a:off x="6309360" y="150876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16276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0372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30936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and partial participation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1874520" y="26974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2F4F8"/>
          </a:solidFill>
          <a:ln/>
        </p:spPr>
      </p:sp>
      <p:sp>
        <p:nvSpPr>
          <p:cNvPr id="26" name="Shape 19"/>
          <p:cNvSpPr/>
          <p:nvPr/>
        </p:nvSpPr>
        <p:spPr>
          <a:xfrm>
            <a:off x="2057400" y="2880360"/>
            <a:ext cx="457200" cy="45720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6272" y="299923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265176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attributes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205740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belongs to the relationship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709160" y="26974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2F4F8"/>
          </a:solidFill>
          <a:ln/>
        </p:spPr>
      </p:sp>
      <p:sp>
        <p:nvSpPr>
          <p:cNvPr id="31" name="Shape 23"/>
          <p:cNvSpPr/>
          <p:nvPr/>
        </p:nvSpPr>
        <p:spPr>
          <a:xfrm>
            <a:off x="4892040" y="288036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2999232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48640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names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489204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for recursive relationships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7E9F4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"Some doctors supervise other doctors" — how many entity types take part? What roles do they play?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ANSWERS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Degree, cardinality and participation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2374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has MEDICAL_RECORD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employs DOCTOR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total · Department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treats PATIENT (via appointment)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supervises DOCTOR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roles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prescribes MEDICINE to 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 : 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DEFE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appointment must belong to one patient and one doctor → 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 of APPOINTMENT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modelled as an entity.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ANSWERS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attributes and role names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325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doctor must belong to a department (total). A department may temporarily have no doctors (partial).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F2F4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468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attributes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/ APPOINTMENT: date, time, reason   ·   PRESCRIBES: dosage, frequency, duration   ·   EMPLOYS: join_date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56616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E2F3F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3611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names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SUPERVISES: supervisor (1) and supervisee (N) — both played by DOCTOR.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1417320"/>
            <a:ext cx="1645920" cy="731520"/>
          </a:xfrm>
          <a:prstGeom prst="diamond">
            <a:avLst/>
          </a:prstGeom>
          <a:solidFill>
            <a:srgbClr val="E2F3F0"/>
          </a:solidFill>
          <a:ln w="19050">
            <a:solidFill>
              <a:srgbClr val="1F8A7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1417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 flipH="1">
            <a:off x="5532120" y="1783080"/>
            <a:ext cx="50292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32120" y="1783080"/>
            <a:ext cx="0" cy="173736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32120" y="3520440"/>
            <a:ext cx="50292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0" y="1783080"/>
            <a:ext cx="50292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83880" y="1783080"/>
            <a:ext cx="0" cy="173736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>
            <a:off x="7680960" y="3520440"/>
            <a:ext cx="50292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3291840"/>
            <a:ext cx="16459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F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3504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623560" y="2377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623560" y="2651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086600" y="2377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18120" y="2651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(recursive) relationship with role names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6012" cy="514350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493776" y="205740"/>
            <a:ext cx="581125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1109191" y="205740"/>
            <a:ext cx="1598094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2741575" y="205740"/>
            <a:ext cx="726407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3502272" y="205740"/>
            <a:ext cx="581125" cy="58293"/>
          </a:xfrm>
          <a:prstGeom prst="rect">
            <a:avLst/>
          </a:prstGeom>
          <a:solidFill>
            <a:srgbClr val="A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4117688" y="205740"/>
            <a:ext cx="581125" cy="5829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4733102" y="205740"/>
            <a:ext cx="1452813" cy="58293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6323077" y="144019"/>
            <a:ext cx="2326919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88">
                <a:solidFill>
                  <a:srgbClr val="6E7E91"/>
                </a:solidFill>
                <a:latin typeface="Corbel"/>
              </a:rPr>
              <a:t>ER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7" y="370333"/>
            <a:ext cx="8156219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788" b="1">
                <a:solidFill>
                  <a:srgbClr val="1769E0"/>
                </a:solidFill>
                <a:latin typeface="Corbel"/>
              </a:rPr>
              <a:t>Answer 3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7" y="562356"/>
            <a:ext cx="815621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50" b="1">
                <a:solidFill>
                  <a:srgbClr val="0B2545"/>
                </a:solidFill>
                <a:latin typeface="Corbel"/>
              </a:rPr>
              <a:t>The complete diagram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1008126"/>
            <a:ext cx="562356" cy="30861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7827035" y="4786885"/>
            <a:ext cx="822960" cy="127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>
                <a:solidFill>
                  <a:srgbClr val="6E7E91"/>
                </a:solidFill>
                <a:latin typeface="Corbel"/>
              </a:rPr>
              <a:t>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510" y="1268730"/>
            <a:ext cx="1371600" cy="342900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DEPARTMENT</a:t>
            </a:r>
          </a:p>
        </p:txBody>
      </p:sp>
      <p:sp>
        <p:nvSpPr>
          <p:cNvPr id="15" name="Diamond 14"/>
          <p:cNvSpPr/>
          <p:nvPr/>
        </p:nvSpPr>
        <p:spPr>
          <a:xfrm>
            <a:off x="685800" y="1831086"/>
            <a:ext cx="1303020" cy="521208"/>
          </a:xfrm>
          <a:prstGeom prst="diamond">
            <a:avLst/>
          </a:prstGeom>
          <a:solidFill>
            <a:srgbClr val="E6F6F3"/>
          </a:solidFill>
          <a:ln w="2222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788" b="1">
                <a:solidFill>
                  <a:srgbClr val="0A7A6C"/>
                </a:solidFill>
                <a:latin typeface="Corbel"/>
              </a:rPr>
              <a:t>employs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510" y="2674620"/>
            <a:ext cx="1371600" cy="342900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DOCTOR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37310" y="1611630"/>
            <a:ext cx="0" cy="21945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1600" y="1584197"/>
            <a:ext cx="233172" cy="126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0F4FA8"/>
                </a:solidFill>
                <a:latin typeface="Consolas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15364" y="2352294"/>
            <a:ext cx="0" cy="322327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59255" y="2352294"/>
            <a:ext cx="0" cy="322327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71600" y="2307717"/>
            <a:ext cx="233172" cy="126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0F4FA8"/>
                </a:solidFill>
                <a:latin typeface="Consolas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268730"/>
            <a:ext cx="1508760" cy="342900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25" b="1">
                <a:solidFill>
                  <a:srgbClr val="0B2545"/>
                </a:solidFill>
                <a:latin typeface="Corbel"/>
              </a:rPr>
              <a:t>MEDICAL_RECORD</a:t>
            </a:r>
          </a:p>
        </p:txBody>
      </p:sp>
      <p:sp>
        <p:nvSpPr>
          <p:cNvPr id="23" name="Diamond 22"/>
          <p:cNvSpPr/>
          <p:nvPr/>
        </p:nvSpPr>
        <p:spPr>
          <a:xfrm>
            <a:off x="6755130" y="1831086"/>
            <a:ext cx="1165860" cy="521208"/>
          </a:xfrm>
          <a:prstGeom prst="diamond">
            <a:avLst/>
          </a:prstGeom>
          <a:solidFill>
            <a:srgbClr val="E6F6F3"/>
          </a:solidFill>
          <a:ln w="2222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788" b="1">
                <a:solidFill>
                  <a:srgbClr val="0A7A6C"/>
                </a:solidFill>
                <a:latin typeface="Corbel"/>
              </a:rPr>
              <a:t>has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2260" y="2674620"/>
            <a:ext cx="1371600" cy="342900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PATIENT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6114" y="1611630"/>
            <a:ext cx="0" cy="21945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60005" y="1611630"/>
            <a:ext cx="0" cy="219456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86066" y="1584197"/>
            <a:ext cx="233172" cy="126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0F4FA8"/>
                </a:solidFill>
                <a:latin typeface="Consolas"/>
              </a:rP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6114" y="2352294"/>
            <a:ext cx="0" cy="322327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60005" y="2352294"/>
            <a:ext cx="0" cy="322327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86066" y="2307717"/>
            <a:ext cx="233172" cy="126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0F4FA8"/>
                </a:solidFill>
                <a:latin typeface="Consolas"/>
              </a:rPr>
              <a:t>1</a:t>
            </a:r>
          </a:p>
        </p:txBody>
      </p:sp>
      <p:sp>
        <p:nvSpPr>
          <p:cNvPr id="31" name="Diamond 30"/>
          <p:cNvSpPr/>
          <p:nvPr/>
        </p:nvSpPr>
        <p:spPr>
          <a:xfrm>
            <a:off x="3600450" y="2544318"/>
            <a:ext cx="1440180" cy="603504"/>
          </a:xfrm>
          <a:prstGeom prst="diamond">
            <a:avLst/>
          </a:prstGeom>
          <a:solidFill>
            <a:srgbClr val="E6F6F3"/>
          </a:solidFill>
          <a:ln w="2222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788" b="1">
                <a:solidFill>
                  <a:srgbClr val="0A7A6C"/>
                </a:solidFill>
                <a:latin typeface="Corbel"/>
              </a:rPr>
              <a:t>APPOINTMENT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023110" y="2846070"/>
            <a:ext cx="1577340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695193" y="2626614"/>
            <a:ext cx="233172" cy="126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0F4FA8"/>
                </a:solidFill>
                <a:latin typeface="Consolas"/>
              </a:rPr>
              <a:t>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40630" y="2846070"/>
            <a:ext cx="1611630" cy="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729858" y="2626614"/>
            <a:ext cx="233172" cy="126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0F4FA8"/>
                </a:solidFill>
                <a:latin typeface="Consolas"/>
              </a:rPr>
              <a:t>N</a:t>
            </a:r>
          </a:p>
        </p:txBody>
      </p:sp>
      <p:sp>
        <p:nvSpPr>
          <p:cNvPr id="36" name="Oval 35"/>
          <p:cNvSpPr/>
          <p:nvPr/>
        </p:nvSpPr>
        <p:spPr>
          <a:xfrm>
            <a:off x="3010662" y="2016252"/>
            <a:ext cx="1110996" cy="2880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713">
                <a:solidFill>
                  <a:srgbClr val="111827"/>
                </a:solidFill>
                <a:latin typeface="Consolas"/>
              </a:rPr>
              <a:t>appt_date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3566160" y="2304288"/>
            <a:ext cx="754380" cy="240030"/>
          </a:xfrm>
          <a:prstGeom prst="line">
            <a:avLst/>
          </a:prstGeom>
          <a:ln w="1270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533137" y="2016252"/>
            <a:ext cx="1110996" cy="2880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713">
                <a:solidFill>
                  <a:srgbClr val="111827"/>
                </a:solidFill>
                <a:latin typeface="Consolas"/>
              </a:rPr>
              <a:t>appt_time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4320540" y="2304288"/>
            <a:ext cx="768096" cy="240030"/>
          </a:xfrm>
          <a:prstGeom prst="line">
            <a:avLst/>
          </a:prstGeom>
          <a:ln w="1270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mond 39"/>
          <p:cNvSpPr/>
          <p:nvPr/>
        </p:nvSpPr>
        <p:spPr>
          <a:xfrm>
            <a:off x="685800" y="3511296"/>
            <a:ext cx="1303020" cy="521208"/>
          </a:xfrm>
          <a:prstGeom prst="diamond">
            <a:avLst/>
          </a:prstGeom>
          <a:solidFill>
            <a:srgbClr val="E6F6F3"/>
          </a:solidFill>
          <a:ln w="2222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788" b="1">
                <a:solidFill>
                  <a:srgbClr val="0A7A6C"/>
                </a:solidFill>
                <a:latin typeface="Corbel"/>
              </a:rPr>
              <a:t>supervises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85800" y="3017520"/>
            <a:ext cx="308610" cy="75438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680210" y="3017520"/>
            <a:ext cx="308610" cy="75438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7492" y="3305556"/>
            <a:ext cx="617220" cy="114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675">
                <a:solidFill>
                  <a:srgbClr val="6E7E91"/>
                </a:solidFill>
                <a:latin typeface="Corbel"/>
              </a:rPr>
              <a:t>supervisor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9968" y="3305556"/>
            <a:ext cx="685800" cy="114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675">
                <a:solidFill>
                  <a:srgbClr val="6E7E91"/>
                </a:solidFill>
                <a:latin typeface="Corbel"/>
              </a:rPr>
              <a:t>supervised</a:t>
            </a:r>
          </a:p>
        </p:txBody>
      </p:sp>
      <p:sp>
        <p:nvSpPr>
          <p:cNvPr id="45" name="Diamond 44"/>
          <p:cNvSpPr/>
          <p:nvPr/>
        </p:nvSpPr>
        <p:spPr>
          <a:xfrm>
            <a:off x="3600450" y="3429000"/>
            <a:ext cx="1440180" cy="521208"/>
          </a:xfrm>
          <a:prstGeom prst="diamond">
            <a:avLst/>
          </a:prstGeom>
          <a:solidFill>
            <a:srgbClr val="E6F6F3"/>
          </a:solidFill>
          <a:ln w="2222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" tIns="0" rIns="13716" bIns="0" rtlCol="0" anchor="ctr"/>
          <a:lstStyle/>
          <a:p>
            <a:pPr algn="ctr">
              <a:lnSpc>
                <a:spcPct val="95000"/>
              </a:lnSpc>
              <a:buNone/>
            </a:pPr>
            <a:r>
              <a:rPr sz="788" b="1">
                <a:solidFill>
                  <a:srgbClr val="0A7A6C"/>
                </a:solidFill>
                <a:latin typeface="Corbel"/>
              </a:rPr>
              <a:t>prescribes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023110" y="2935224"/>
            <a:ext cx="1577340" cy="75438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353665" y="2924251"/>
            <a:ext cx="233172" cy="126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0F4FA8"/>
                </a:solidFill>
                <a:latin typeface="Consolas"/>
              </a:rPr>
              <a:t>M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5040630" y="2935224"/>
            <a:ext cx="1611630" cy="754380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080303" y="2924251"/>
            <a:ext cx="233172" cy="126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0F4FA8"/>
                </a:solidFill>
                <a:latin typeface="Consolas"/>
              </a:rPr>
              <a:t>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34740" y="4149090"/>
            <a:ext cx="1371600" cy="342900"/>
          </a:xfrm>
          <a:prstGeom prst="rect">
            <a:avLst/>
          </a:prstGeom>
          <a:solidFill>
            <a:srgbClr val="EAF3FF"/>
          </a:solidFill>
          <a:ln w="222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0000"/>
              </a:lnSpc>
              <a:buNone/>
            </a:pPr>
            <a:r>
              <a:rPr sz="863" b="1">
                <a:solidFill>
                  <a:srgbClr val="0B2545"/>
                </a:solidFill>
                <a:latin typeface="Corbel"/>
              </a:rPr>
              <a:t>MEDICINE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320540" y="3950208"/>
            <a:ext cx="0" cy="198882"/>
          </a:xfrm>
          <a:prstGeom prst="line">
            <a:avLst/>
          </a:prstGeom>
          <a:ln w="19050">
            <a:solidFill>
              <a:srgbClr val="176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54830" y="3885056"/>
            <a:ext cx="233172" cy="126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0F4FA8"/>
                </a:solidFill>
                <a:latin typeface="Consolas"/>
              </a:rPr>
              <a:t>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" y="4588003"/>
            <a:ext cx="7132320" cy="134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788" b="1">
                <a:solidFill>
                  <a:srgbClr val="0F4FA8"/>
                </a:solidFill>
                <a:latin typeface="Corbel"/>
              </a:rPr>
              <a:t>double line</a:t>
            </a:r>
            <a:r>
              <a:rPr sz="788">
                <a:solidFill>
                  <a:srgbClr val="6E7E91"/>
                </a:solidFill>
                <a:latin typeface="Corbel"/>
              </a:rPr>
              <a:t>  total participation       </a:t>
            </a:r>
            <a:r>
              <a:rPr sz="788" b="1">
                <a:solidFill>
                  <a:srgbClr val="0A7A6C"/>
                </a:solidFill>
                <a:latin typeface="Corbel"/>
              </a:rPr>
              <a:t>named diamond</a:t>
            </a:r>
            <a:r>
              <a:rPr sz="788">
                <a:solidFill>
                  <a:srgbClr val="6E7E91"/>
                </a:solidFill>
                <a:latin typeface="Corbel"/>
              </a:rPr>
              <a:t>  the relationship carries its own facts       </a:t>
            </a:r>
            <a:r>
              <a:rPr sz="788" b="1">
                <a:solidFill>
                  <a:srgbClr val="6E7E91"/>
                </a:solidFill>
                <a:latin typeface="Corbel"/>
              </a:rPr>
              <a:t>role names</a:t>
            </a:r>
            <a:r>
              <a:rPr sz="788">
                <a:solidFill>
                  <a:srgbClr val="6E7E91"/>
                </a:solidFill>
                <a:latin typeface="Corbel"/>
              </a:rPr>
              <a:t>  one entity type, used twice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1430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0" dirty="0"/>
          </a:p>
        </p:txBody>
      </p:sp>
      <p:sp>
        <p:nvSpPr>
          <p:cNvPr id="4" name="Text 1"/>
          <p:cNvSpPr txBox="1"/>
          <p:nvPr/>
        </p:nvSpPr>
        <p:spPr>
          <a:xfrm>
            <a:off x="2834640" y="1234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834640" y="23317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why it matters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Unary: selection σ, projection π, rename ρ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union ∪, intersection ∩, difference −, product ×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9E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trees · Practice · Spot the error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834640" y="3931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B316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4023360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00400" y="3931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relational algebra?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procedural query language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relational model.</a:t>
            </a:r>
            <a:endParaRPr lang="en-US" sz="145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one or more relations as </a:t>
            </a: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an </a:t>
            </a: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another relation as </a:t>
            </a: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theoretical foundation for how SQL is processed.</a:t>
            </a:r>
            <a:endParaRPr lang="en-US" sz="145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express queries logically — step by step.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E7E9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3931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Closure: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output is always a relation, so operations can be nested — like (2 + 3) × 4.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123444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F2F4F8"/>
          </a:solidFill>
          <a:ln w="12700">
            <a:solidFill>
              <a:srgbClr val="CDD3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Relation(s)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95160" y="1965960"/>
            <a:ext cx="0" cy="320040"/>
          </a:xfrm>
          <a:prstGeom prst="line">
            <a:avLst/>
          </a:prstGeom>
          <a:noFill/>
          <a:ln w="19050">
            <a:solidFill>
              <a:srgbClr val="4B556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355080" y="2286000"/>
            <a:ext cx="1280160" cy="12801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55080" y="2286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5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π ρ</a:t>
            </a:r>
            <a:endParaRPr lang="en-US" sz="95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∪ ∩ − ×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95160" y="3566160"/>
            <a:ext cx="0" cy="320040"/>
          </a:xfrm>
          <a:prstGeom prst="line">
            <a:avLst/>
          </a:prstGeom>
          <a:noFill/>
          <a:ln w="19050">
            <a:solidFill>
              <a:srgbClr val="4B556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760720" y="388620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1F8A7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760720" y="3886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relation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4252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 toolkit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1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 —  one relation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6928" y="1554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F8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55448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35915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D3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23591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14600" y="1463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624328" y="1554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F8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155448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columns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624328" y="235915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D3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624328" y="23591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col-list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0" y="14630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81728" y="1554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F8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5257800" y="155448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relation / attributes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81728" y="235915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D3D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81728" y="23591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 —  two relations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32004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66928" y="32918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6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∪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2918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 or 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66928" y="409651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D3D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6928" y="40965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514600" y="32004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624328" y="32918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6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∩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3200400" y="32918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R and 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624328" y="409651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D3D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624328" y="40965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0" y="32004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681728" y="32918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6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000" dirty="0"/>
          </a:p>
        </p:txBody>
      </p:sp>
      <p:sp>
        <p:nvSpPr>
          <p:cNvPr id="36" name="Text 33"/>
          <p:cNvSpPr txBox="1"/>
          <p:nvPr/>
        </p:nvSpPr>
        <p:spPr>
          <a:xfrm>
            <a:off x="5257800" y="32918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R, not in S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4681728" y="409651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D3D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681728" y="40965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629400" y="32004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739128" y="32918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6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7315200" y="32918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739128" y="409651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D3D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39128" y="40965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JOIN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6766560" y="152412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running example database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246120" cy="13716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93192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50" dirty="0"/>
          </a:p>
        </p:txBody>
      </p:sp>
      <p:graphicFrame>
        <p:nvGraphicFramePr>
          <p:cNvPr id="1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63040"/>
          <a:ext cx="2971800" cy="10972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45720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150" dirty="0"/>
          </a:p>
        </p:txBody>
      </p:sp>
      <p:graphicFrame>
        <p:nvGraphicFramePr>
          <p:cNvPr id="16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3246120" cy="13258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3931920" y="274320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E7E9F4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4114800" y="283464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links</a:t>
            </a:r>
            <a:endParaRPr lang="en-US" sz="12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Underlined attributes form the primary key.</a:t>
            </a:r>
            <a:endParaRPr lang="en-US" sz="12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ENROLLMENT.SID → STUDENT.SID</a:t>
            </a:r>
            <a:endParaRPr lang="en-US" sz="12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ENROLLMENT.CID → COURSE.CID</a:t>
            </a:r>
            <a:endParaRPr lang="en-US" sz="12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S104 (Ali) has no enrollments — useful later!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(σ): filter rows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E7E9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280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20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r>
              <a:rPr lang="en-US" sz="2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(Relation)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chooses the tuples that satisfy a condition.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816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7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= 'BSCS'</a:t>
            </a:r>
            <a:r>
              <a:rPr lang="en-US" sz="17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291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tuples from STUDENT whose Program is BSCS — data is filtered </a:t>
            </a:r>
            <a:r>
              <a:rPr lang="en-US" sz="1150" b="1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</a:t>
            </a: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97764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B1F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1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Program = 'BSCS';</a:t>
            </a:r>
            <a:endParaRPr lang="en-US" sz="11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023360" cy="13258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675120" y="2697480"/>
            <a:ext cx="0" cy="36576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68122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keeps highlighted rows</a:t>
            </a:r>
            <a:endParaRPr lang="en-US" sz="1000" dirty="0"/>
          </a:p>
        </p:txBody>
      </p:sp>
      <p:graphicFrame>
        <p:nvGraphicFramePr>
          <p:cNvPr id="1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154680"/>
          <a:ext cx="4023360" cy="7955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conditions and rules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16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508760" y="1234440"/>
            <a:ext cx="411480" cy="347472"/>
          </a:xfrm>
          <a:prstGeom prst="roundRect">
            <a:avLst>
              <a:gd name="adj" fmla="val 50000"/>
            </a:avLst>
          </a:prstGeom>
          <a:solidFill>
            <a:srgbClr val="E2F3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508760" y="1234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011680" y="1234440"/>
            <a:ext cx="411480" cy="347472"/>
          </a:xfrm>
          <a:prstGeom prst="roundRect">
            <a:avLst>
              <a:gd name="adj" fmla="val 50000"/>
            </a:avLst>
          </a:prstGeom>
          <a:solidFill>
            <a:srgbClr val="E2F3F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011680" y="1234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14600" y="1234440"/>
            <a:ext cx="411480" cy="347472"/>
          </a:xfrm>
          <a:prstGeom prst="roundRect">
            <a:avLst>
              <a:gd name="adj" fmla="val 50000"/>
            </a:avLst>
          </a:prstGeom>
          <a:solidFill>
            <a:srgbClr val="E2F3F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514600" y="1234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017520" y="1234440"/>
            <a:ext cx="411480" cy="347472"/>
          </a:xfrm>
          <a:prstGeom prst="roundRect">
            <a:avLst>
              <a:gd name="adj" fmla="val 50000"/>
            </a:avLst>
          </a:prstGeom>
          <a:solidFill>
            <a:srgbClr val="E2F3F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17520" y="1234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520440" y="1234440"/>
            <a:ext cx="411480" cy="347472"/>
          </a:xfrm>
          <a:prstGeom prst="roundRect">
            <a:avLst>
              <a:gd name="adj" fmla="val 50000"/>
            </a:avLst>
          </a:prstGeom>
          <a:solidFill>
            <a:srgbClr val="E2F3F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520440" y="1234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023360" y="1234440"/>
            <a:ext cx="411480" cy="347472"/>
          </a:xfrm>
          <a:prstGeom prst="roundRect">
            <a:avLst>
              <a:gd name="adj" fmla="val 50000"/>
            </a:avLst>
          </a:prstGeom>
          <a:solidFill>
            <a:srgbClr val="E2F3F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023360" y="1234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12161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40680" y="1234440"/>
            <a:ext cx="987552" cy="347472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40680" y="12344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∧ AND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519672" y="1234440"/>
            <a:ext cx="987552" cy="347472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19672" y="12344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∨ OR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598664" y="1234440"/>
            <a:ext cx="987552" cy="347472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598664" y="123444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 NOT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182880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F2F4F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4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&gt; 2</a:t>
            </a: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22860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whose semester is greater than 2   →   S101, S102, S104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2770632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F2F4F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40080" y="28163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4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= 'BSCS' ∨ Program = 'BSAI'</a:t>
            </a: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32278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BSCS or BSAI   →   S101, S102, S103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3712464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F2F4F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40080" y="37581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4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= 'BSCS' ∧ Semester = 3</a:t>
            </a: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41696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BSCS students in semester 3   →   S101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760720" y="1828800"/>
            <a:ext cx="2926080" cy="2706624"/>
          </a:xfrm>
          <a:prstGeom prst="roundRect">
            <a:avLst>
              <a:gd name="adj" fmla="val 3378"/>
            </a:avLst>
          </a:prstGeom>
          <a:solidFill>
            <a:srgbClr val="E7E9F4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9436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rules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943600" y="228600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2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</a:t>
            </a:r>
            <a:r>
              <a:rPr lang="en-US" sz="12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(R)) = σ</a:t>
            </a:r>
            <a:r>
              <a:rPr lang="en-US" sz="12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 ∧ C2</a:t>
            </a: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(R)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Commutative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2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</a:t>
            </a:r>
            <a:r>
              <a:rPr lang="en-US" sz="12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(R)) = σ</a:t>
            </a:r>
            <a:r>
              <a:rPr lang="en-US" sz="12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</a:t>
            </a:r>
            <a:r>
              <a:rPr lang="en-US" sz="12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(R))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keeps all attributes; number of rows ≤ |R|.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 (π): pick columns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E7E9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280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20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attribute-list</a:t>
            </a:r>
            <a:r>
              <a:rPr lang="en-US" sz="2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(Relation)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selects particular attributes — columns are chosen </a:t>
            </a: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vertically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43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7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Name, Program</a:t>
            </a:r>
            <a:r>
              <a:rPr lang="en-US" sz="17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and program of every student.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56616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DEFE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611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disappear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100" baseline="-40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(STUDENT) returns 3 rows, not 4 — a relation is a set. SQL needs DISTINCT for this.</a:t>
            </a:r>
            <a:endParaRPr lang="en-US" sz="12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023360" cy="13258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5760720" y="2697480"/>
            <a:ext cx="0" cy="320040"/>
          </a:xfrm>
          <a:prstGeom prst="line">
            <a:avLst/>
          </a:prstGeom>
          <a:noFill/>
          <a:ln w="25400">
            <a:solidFill>
              <a:srgbClr val="1F8A7E"/>
            </a:solidFill>
            <a:prstDash val="solid"/>
            <a:tailEnd type="triangle"/>
          </a:ln>
        </p:spPr>
      </p:sp>
      <p:graphicFrame>
        <p:nvGraphicFramePr>
          <p:cNvPr id="1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108960"/>
          <a:ext cx="1828800" cy="12344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681228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200" b="1" baseline="-4000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</a:t>
            </a:r>
            <a:endParaRPr lang="en-US" sz="1200" dirty="0"/>
          </a:p>
        </p:txBody>
      </p:sp>
      <p:graphicFrame>
        <p:nvGraphicFramePr>
          <p:cNvPr id="17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3108960"/>
          <a:ext cx="1097280" cy="98755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selection and projection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Find the names of BSCS students.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31920" y="1188720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E7E9F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69080" y="1188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700" b="1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</a:t>
            </a:r>
            <a:r>
              <a:rPr lang="en-US" sz="1700" b="1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= 'BSCS'</a:t>
            </a: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57200" y="196596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F2F4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201168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tuples</a:t>
            </a:r>
            <a:endParaRPr lang="en-US" sz="11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SID, Name, Program, Semester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286000" y="237744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286000" y="23774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Program='BSCS'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703320" y="196596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F2F4F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813048" y="201168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11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tuples</a:t>
            </a:r>
            <a:endParaRPr lang="en-US" sz="11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S101 Ayesha · S103 Sara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532120" y="2377440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53212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Name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37960" y="1965960"/>
            <a:ext cx="2148840" cy="1280160"/>
          </a:xfrm>
          <a:prstGeom prst="roundRect">
            <a:avLst>
              <a:gd name="adj" fmla="val 7143"/>
            </a:avLst>
          </a:prstGeom>
          <a:solidFill>
            <a:srgbClr val="E2F3F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647688" y="201168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</a:t>
            </a:r>
            <a:endParaRPr lang="en-US" sz="11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4747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2F4F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↔ algebra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 FROM R WHERE C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  π</a:t>
            </a:r>
            <a:r>
              <a:rPr lang="en-US" sz="15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n-US" sz="15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</a:t>
            </a:r>
            <a:r>
              <a:rPr lang="en-US" sz="15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5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(R))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663440" y="34747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BE6E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3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= 'BSCS'</a:t>
            </a:r>
            <a:r>
              <a:rPr lang="en-US" sz="13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(π</a:t>
            </a:r>
            <a:r>
              <a:rPr lang="en-US" sz="13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r>
              <a:rPr lang="en-US" sz="13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(STUDENT))  ✗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projecting Name, Program no longer exists.</a:t>
            </a:r>
            <a:endParaRPr lang="en-US" sz="12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operations need union-compatible relations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7E9F4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141732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" y="154807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280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of attributes (same degree)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663440" y="12801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7E9F4"/>
          </a:solidFill>
          <a:ln/>
        </p:spPr>
      </p:sp>
      <p:sp>
        <p:nvSpPr>
          <p:cNvPr id="12" name="Shape 8"/>
          <p:cNvSpPr/>
          <p:nvPr/>
        </p:nvSpPr>
        <p:spPr>
          <a:xfrm>
            <a:off x="4828032" y="141732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791" y="154807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1280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attributes have compatible domains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2240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2F3F0"/>
          </a:solidFill>
          <a:ln/>
        </p:spPr>
      </p:sp>
      <p:sp>
        <p:nvSpPr>
          <p:cNvPr id="16" name="Shape 11"/>
          <p:cNvSpPr/>
          <p:nvPr/>
        </p:nvSpPr>
        <p:spPr>
          <a:xfrm>
            <a:off x="621792" y="2359152"/>
            <a:ext cx="365760" cy="36576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90" y="2454250"/>
            <a:ext cx="175565" cy="17556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4008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FALL_STUDENT(SID, Name)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SPRING_STUDENT(SID, Name)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2 attributes with matching domains.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663440" y="2240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BE6E0"/>
          </a:solidFill>
          <a:ln/>
        </p:spPr>
      </p:sp>
      <p:sp>
        <p:nvSpPr>
          <p:cNvPr id="22" name="Shape 16"/>
          <p:cNvSpPr/>
          <p:nvPr/>
        </p:nvSpPr>
        <p:spPr>
          <a:xfrm>
            <a:off x="4828032" y="2359152"/>
            <a:ext cx="365760" cy="365760"/>
          </a:xfrm>
          <a:prstGeom prst="ellipse">
            <a:avLst/>
          </a:prstGeom>
          <a:solidFill>
            <a:srgbClr val="D65A3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3130" y="2454250"/>
            <a:ext cx="175565" cy="17556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0352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compatible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84632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STUDENT(SID, Name)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COURSE(CID, Title, Credits)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484632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vs 3 attributes; SID and CID mean different things.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57200" y="393192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DEFE2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640080" y="393192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incompatible relations with projection first:  </a:t>
            </a:r>
            <a:endParaRPr lang="en-US" sz="12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4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</a:t>
            </a: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 − π</a:t>
            </a:r>
            <a:r>
              <a:rPr lang="en-US" sz="14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</a:t>
            </a: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(ENROLLMENT)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(∪)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7E9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returns tuples that appear in </a:t>
            </a: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relation (or both).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188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∪ S</a:t>
            </a:r>
            <a:endParaRPr lang="en-US" sz="16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463040" cy="90525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965960" y="20116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6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∪</a:t>
            </a:r>
            <a:endParaRPr lang="en-US" sz="3000" dirty="0"/>
          </a:p>
        </p:txBody>
      </p:sp>
      <p:graphicFrame>
        <p:nvGraphicFramePr>
          <p:cNvPr id="1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2011680"/>
          <a:ext cx="1463040" cy="90525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4069080" y="20116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4B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000" dirty="0"/>
          </a:p>
        </p:txBody>
      </p:sp>
      <p:graphicFrame>
        <p:nvGraphicFramePr>
          <p:cNvPr id="18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011680"/>
          <a:ext cx="1463040" cy="12070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6675120" y="2011680"/>
            <a:ext cx="1234440" cy="1234440"/>
          </a:xfrm>
          <a:prstGeom prst="ellipse">
            <a:avLst/>
          </a:prstGeom>
          <a:solidFill>
            <a:srgbClr val="1F8A7E">
              <a:alpha val="55000"/>
            </a:srgbClr>
          </a:solidFill>
          <a:ln w="15875">
            <a:solidFill>
              <a:srgbClr val="1F8A7E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406640" y="2011680"/>
            <a:ext cx="1234440" cy="1234440"/>
          </a:xfrm>
          <a:prstGeom prst="ellipse">
            <a:avLst/>
          </a:prstGeom>
          <a:solidFill>
            <a:srgbClr val="1F8A7E">
              <a:alpha val="55000"/>
            </a:srgbClr>
          </a:solidFill>
          <a:ln w="15875">
            <a:solidFill>
              <a:srgbClr val="1F8A7E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58368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FALL</a:t>
            </a:r>
            <a:endParaRPr lang="en-US" sz="850" dirty="0"/>
          </a:p>
        </p:txBody>
      </p:sp>
      <p:sp>
        <p:nvSpPr>
          <p:cNvPr id="18" name="Text 12"/>
          <p:cNvSpPr txBox="1"/>
          <p:nvPr/>
        </p:nvSpPr>
        <p:spPr>
          <a:xfrm>
            <a:off x="7543800" y="32918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8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SPRING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40080" y="37033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S102 appears 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result — relations are sets.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Commutative: R ∪ S = S ∪ R   ·   Associative   ·   SQL: UNION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 (∩)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7E9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returns tuples that appear in </a:t>
            </a: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relations.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188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∩ S</a:t>
            </a:r>
            <a:endParaRPr lang="en-US" sz="16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463040" cy="12070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965960" y="20116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6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∩</a:t>
            </a:r>
            <a:endParaRPr lang="en-US" sz="3000" dirty="0"/>
          </a:p>
        </p:txBody>
      </p:sp>
      <p:graphicFrame>
        <p:nvGraphicFramePr>
          <p:cNvPr id="1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2011680"/>
          <a:ext cx="1463040" cy="12070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4069080" y="20116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4B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000" dirty="0"/>
          </a:p>
        </p:txBody>
      </p:sp>
      <p:graphicFrame>
        <p:nvGraphicFramePr>
          <p:cNvPr id="18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011680"/>
          <a:ext cx="1463040" cy="90525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6675120" y="2011680"/>
            <a:ext cx="1234440" cy="1234440"/>
          </a:xfrm>
          <a:prstGeom prst="ellipse">
            <a:avLst/>
          </a:prstGeom>
          <a:solidFill>
            <a:srgbClr val="1F8A7E">
              <a:alpha val="28000"/>
            </a:srgbClr>
          </a:solidFill>
          <a:ln w="15875">
            <a:solidFill>
              <a:srgbClr val="1F8A7E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406640" y="2011680"/>
            <a:ext cx="1234440" cy="1234440"/>
          </a:xfrm>
          <a:prstGeom prst="ellipse">
            <a:avLst/>
          </a:prstGeom>
          <a:solidFill>
            <a:srgbClr val="1F8A7E">
              <a:alpha val="28000"/>
            </a:srgbClr>
          </a:solidFill>
          <a:ln w="15875">
            <a:solidFill>
              <a:srgbClr val="1F8A7E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58368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DATABASE</a:t>
            </a:r>
            <a:endParaRPr lang="en-US" sz="850" dirty="0"/>
          </a:p>
        </p:txBody>
      </p:sp>
      <p:sp>
        <p:nvSpPr>
          <p:cNvPr id="18" name="Text 12"/>
          <p:cNvSpPr txBox="1"/>
          <p:nvPr/>
        </p:nvSpPr>
        <p:spPr>
          <a:xfrm>
            <a:off x="7543800" y="32918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8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AI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40080" y="37033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contains students enrolled in 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course groups.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Commutative &amp; associative   ·   Can be derived: R ∩ S = R − (R − S)   ·   SQL: INTERSECT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(−)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7E9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returns tuples in the first relation that are </a:t>
            </a: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second.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188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− S</a:t>
            </a:r>
            <a:endParaRPr lang="en-US" sz="16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463040" cy="12070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965960" y="20116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6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000" dirty="0"/>
          </a:p>
        </p:txBody>
      </p:sp>
      <p:graphicFrame>
        <p:nvGraphicFramePr>
          <p:cNvPr id="1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2011680"/>
          <a:ext cx="1463040" cy="90525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4069080" y="20116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4B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000" dirty="0"/>
          </a:p>
        </p:txBody>
      </p:sp>
      <p:graphicFrame>
        <p:nvGraphicFramePr>
          <p:cNvPr id="19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011680"/>
          <a:ext cx="1463040" cy="90525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6675120" y="2011680"/>
            <a:ext cx="1234440" cy="1234440"/>
          </a:xfrm>
          <a:prstGeom prst="ellipse">
            <a:avLst/>
          </a:prstGeom>
          <a:solidFill>
            <a:srgbClr val="1F8A7E">
              <a:alpha val="65000"/>
            </a:srgbClr>
          </a:solidFill>
          <a:ln w="15875">
            <a:solidFill>
              <a:srgbClr val="1F8A7E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406640" y="201168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B5568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58368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ELIGIBLE</a:t>
            </a:r>
            <a:endParaRPr lang="en-US" sz="850" dirty="0"/>
          </a:p>
        </p:txBody>
      </p:sp>
      <p:sp>
        <p:nvSpPr>
          <p:cNvPr id="18" name="Text 12"/>
          <p:cNvSpPr txBox="1"/>
          <p:nvPr/>
        </p:nvSpPr>
        <p:spPr>
          <a:xfrm>
            <a:off x="7543800" y="32918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8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REGISTERED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40080" y="37033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S102 is removed because it appears in both.  S104 is ignored because it was never in ELIGIBLE.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Directional:</a:t>
            </a: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 − S ≠ S − R   ·   Not commutative, not associative   ·   SQL: EXCEPT (MINUS in Oracle)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Cartesian product (×): every pair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Cartesian product pairs </a:t>
            </a: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tuple of one relation with </a:t>
            </a: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tuple of another.</a:t>
            </a:r>
            <a:endParaRPr lang="en-US" sz="12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097280" cy="87782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645920" y="19202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65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graphicFrame>
        <p:nvGraphicFramePr>
          <p:cNvPr id="1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920240"/>
          <a:ext cx="1097280" cy="117043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457200" y="3154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(2 tuples)          COURSE (3 tuples)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457200" y="347472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E7E9F4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4008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degree(R × S) = degree(R) + degree(S)</a:t>
            </a:r>
            <a:endParaRPr lang="en-US" sz="12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|R × S| = |R| × |S| = 2 × 3 =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tuples</a:t>
            </a:r>
            <a:endParaRPr lang="en-US" sz="12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950" dirty="0">
                <a:solidFill>
                  <a:srgbClr val="4B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SQL: SELECT * FROM STUDENT CROSS JOIN COURSE;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470916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8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× COURSE</a:t>
            </a:r>
            <a:endParaRPr lang="en-US" sz="1300" dirty="0"/>
          </a:p>
        </p:txBody>
      </p:sp>
      <p:graphicFrame>
        <p:nvGraphicFramePr>
          <p:cNvPr id="19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508760"/>
          <a:ext cx="1737360" cy="204825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6675120" y="1508760"/>
            <a:ext cx="2011680" cy="2048256"/>
          </a:xfrm>
          <a:prstGeom prst="roundRect">
            <a:avLst>
              <a:gd name="adj" fmla="val 4545"/>
            </a:avLst>
          </a:prstGeom>
          <a:solidFill>
            <a:srgbClr val="FDEFE2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6812280" y="1554480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is the foundation for combining relations — later, </a:t>
            </a: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 only the meaningful pairs.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Taming the product: σ over ×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× ENROLLMENT  (first 6 of 16 tuples)</a:t>
            </a:r>
            <a:endParaRPr lang="en-US" sz="11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3886200" cy="19202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STUDENT.SID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ENROLL.SID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strike="sngStrike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pairs are meaningless: they pair a student with someone else’s enrollment.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18872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BE6E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937760" y="1188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6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4 = 16 tuples, only 4 are meaningful.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54880" y="23317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E2F3F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937760" y="233172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select matching IDs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2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STUDENT.SID = ENROLLMENT.SID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 × ENROLLMENT)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352044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2F4F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93776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the student ID: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1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STUDENT.SID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</a:t>
            </a:r>
            <a:r>
              <a:rPr lang="en-US" sz="11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STUDENT.SID = ENROLLMENT.SID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(…))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4160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57200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+ × = JOIN ⋈  — next week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(ρ)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changes the name of a relation or its attributes.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when…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1305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156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relations contain attributes with identical names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670048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7889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6243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 participates more than once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1F8A7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44728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51560" y="32826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products create ambiguous attributes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754880" y="12344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E7E9F4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4937760" y="1234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</a:t>
            </a:r>
            <a:r>
              <a:rPr lang="en-US" sz="1500" b="1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</a:t>
            </a:r>
            <a:endParaRPr lang="en-US" sz="15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relation to 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754880" y="21488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E7E9F4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4937760" y="2148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</a:t>
            </a:r>
            <a:r>
              <a:rPr lang="en-US" sz="1250" b="1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S(SID, StudentName, Program, Semester)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relation and attributes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DEFE2"/>
          </a:solidFill>
          <a:ln/>
        </p:spPr>
      </p:sp>
      <p:sp>
        <p:nvSpPr>
          <p:cNvPr id="23" name="Shape 17"/>
          <p:cNvSpPr/>
          <p:nvPr/>
        </p:nvSpPr>
        <p:spPr>
          <a:xfrm>
            <a:off x="4754880" y="306324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DEFE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4937760" y="3063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of students in the same program</a:t>
            </a:r>
            <a:endParaRPr lang="en-US" sz="11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(S101, S103) — Ayesha &amp; Sara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40233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4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S1.Program = S2.Program ∧ S1.SID &lt; S2.SID</a:t>
            </a: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(ρ</a:t>
            </a:r>
            <a:r>
              <a:rPr lang="en-US" sz="14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 × ρ</a:t>
            </a:r>
            <a:r>
              <a:rPr lang="en-US" sz="14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(STUDENT))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RELATIONAL ALGEBRA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trees: the order of operations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468880" y="1691640"/>
            <a:ext cx="0" cy="411480"/>
          </a:xfrm>
          <a:prstGeom prst="line">
            <a:avLst/>
          </a:prstGeom>
          <a:noFill/>
          <a:ln w="19050">
            <a:solidFill>
              <a:srgbClr val="4B556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68880" y="2606040"/>
            <a:ext cx="0" cy="365760"/>
          </a:xfrm>
          <a:prstGeom prst="line">
            <a:avLst/>
          </a:prstGeom>
          <a:noFill/>
          <a:ln w="19050">
            <a:solidFill>
              <a:srgbClr val="4B55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1508760" y="3429000"/>
            <a:ext cx="960120" cy="457200"/>
          </a:xfrm>
          <a:prstGeom prst="line">
            <a:avLst/>
          </a:prstGeom>
          <a:noFill/>
          <a:ln w="19050">
            <a:solidFill>
              <a:srgbClr val="4B55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68880" y="3429000"/>
            <a:ext cx="1051560" cy="457200"/>
          </a:xfrm>
          <a:prstGeom prst="line">
            <a:avLst/>
          </a:prstGeom>
          <a:noFill/>
          <a:ln w="19050">
            <a:solidFill>
              <a:srgbClr val="4B556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37360" y="12344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F8A7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73736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25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10312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250" b="1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STUDENT.SID = ENROLLMENT.SID ∧ CID = 'CS201'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057400" y="297180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D65A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057400" y="2971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7240" y="38862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3886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697480" y="3886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697480" y="3886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names of students enrolled in CS201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846320" y="173736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463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349240" y="169164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 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relations: STUDENT, ENROLLMENT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846320" y="2340864"/>
            <a:ext cx="384048" cy="384048"/>
          </a:xfrm>
          <a:prstGeom prst="ellipse">
            <a:avLst/>
          </a:prstGeom>
          <a:solidFill>
            <a:srgbClr val="D65A3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84632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229514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every student with every enrollment (16 tuples)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46320" y="2944368"/>
            <a:ext cx="384048" cy="38404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8463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349240" y="289864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matching IDs taking CS201 (2 tuples)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846320" y="3547872"/>
            <a:ext cx="384048" cy="384048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84632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349240" y="350215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 </a:t>
            </a:r>
            <a:endParaRPr lang="en-US" sz="11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names: Ayesha, Sara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846320" y="411480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E7E9F4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029200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tip:</a:t>
            </a: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push σ down — filter early so fewer tuples reach ×.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schema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1389888"/>
          <a:ext cx="4937760" cy="38404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214884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5720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graphicFrame>
        <p:nvGraphicFramePr>
          <p:cNvPr id="1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2167128"/>
          <a:ext cx="3703320" cy="38404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57200" y="2926080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457200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00" dirty="0"/>
          </a:p>
        </p:txBody>
      </p:sp>
      <p:graphicFrame>
        <p:nvGraphicFramePr>
          <p:cNvPr id="20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2944368"/>
          <a:ext cx="4937760" cy="38404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DEFE2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available (single attribute SID):</a:t>
            </a:r>
            <a:endParaRPr lang="en-US" sz="1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DATABASE_STUDENT  ·  AI_STUDENT  ·  ELIGIBLE_STUDENT  ·  REGISTERED_STUDENT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expressions for…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465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840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30568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· 10 min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3258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1453896"/>
            <a:ext cx="429768" cy="429768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94360" y="14538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1325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students in semester 3.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214884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594360" y="2276856"/>
            <a:ext cx="429768" cy="429768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94360" y="22768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188720" y="21488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student names.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57200" y="2971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19" name="Shape 15"/>
          <p:cNvSpPr/>
          <p:nvPr/>
        </p:nvSpPr>
        <p:spPr>
          <a:xfrm>
            <a:off x="594360" y="3099816"/>
            <a:ext cx="429768" cy="429768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94360" y="309981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188720" y="2971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names of BSCS students.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57200" y="379476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23" name="Shape 19"/>
          <p:cNvSpPr/>
          <p:nvPr/>
        </p:nvSpPr>
        <p:spPr>
          <a:xfrm>
            <a:off x="594360" y="3922776"/>
            <a:ext cx="429768" cy="429768"/>
          </a:xfrm>
          <a:prstGeom prst="ellipse">
            <a:avLst/>
          </a:prstGeom>
          <a:solidFill>
            <a:srgbClr val="1F8A7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94360" y="39227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188720" y="3794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courses with more than three credits.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663440" y="13258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27" name="Shape 23"/>
          <p:cNvSpPr/>
          <p:nvPr/>
        </p:nvSpPr>
        <p:spPr>
          <a:xfrm>
            <a:off x="4800600" y="1453896"/>
            <a:ext cx="429768" cy="42976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00600" y="14538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394960" y="1325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students in either the Database or AI student sets.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4663440" y="214884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31" name="Shape 27"/>
          <p:cNvSpPr/>
          <p:nvPr/>
        </p:nvSpPr>
        <p:spPr>
          <a:xfrm>
            <a:off x="4800600" y="2276856"/>
            <a:ext cx="429768" cy="42976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800600" y="22768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5394960" y="21488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eligible students who have not registered.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663440" y="29718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2F4F8"/>
          </a:solidFill>
          <a:ln/>
        </p:spPr>
      </p:sp>
      <p:sp>
        <p:nvSpPr>
          <p:cNvPr id="35" name="Shape 31"/>
          <p:cNvSpPr/>
          <p:nvPr/>
        </p:nvSpPr>
        <p:spPr>
          <a:xfrm>
            <a:off x="4800600" y="3099816"/>
            <a:ext cx="429768" cy="42976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4800600" y="309981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5394960" y="2971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every possible student–course pair.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4663440" y="379476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E7E9F4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846320" y="3794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endParaRPr lang="en-US" sz="1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how many tuples each result has.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ANSWERS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Expressions and results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38144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in semester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σ</a:t>
                      </a:r>
                      <a:r>
                        <a:rPr lang="en-US" sz="1150" baseline="-4000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Semester = 3</a:t>
                      </a: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(STUDENT)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S101, S104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student names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π</a:t>
                      </a:r>
                      <a:r>
                        <a:rPr lang="en-US" sz="1150" baseline="-4000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Name</a:t>
                      </a: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(STUDENT)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of BSCS students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π</a:t>
                      </a:r>
                      <a:r>
                        <a:rPr lang="en-US" sz="1150" baseline="-4000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Name</a:t>
                      </a: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(σ</a:t>
                      </a:r>
                      <a:r>
                        <a:rPr lang="en-US" sz="1150" baseline="-4000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Program = 'BSCS'</a:t>
                      </a: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(STUDENT))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Ayesha, Sara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 with &gt; 3 credits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σ</a:t>
                      </a:r>
                      <a:r>
                        <a:rPr lang="en-US" sz="1150" baseline="-4000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Credits &gt; 3</a:t>
                      </a: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(COURSE)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CS201, CS207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Database or AI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DATABASE_STUDENT ∪ AI_STUDENT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S101–S104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Eligible, not registered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ELIGIBLE_STUDENT − REGISTERED_STUDENT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S101, S103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student–course pair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STUDENT × COURSE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3 =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ERROR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wrong with each expression?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465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840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30568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ERROR · 3 min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40080" y="1371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∪ COURSE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94360" y="210312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BE6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03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union-compatible: 4 vs 3 attributes with different domains.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846320" y="1371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6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</a:t>
            </a:r>
            <a:r>
              <a:rPr lang="en-US" sz="16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Credits &gt; 3</a:t>
            </a: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(STUDENT))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800600" y="210312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BE6E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937760" y="2103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does not belong to STUDENT.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40080" y="3063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6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Name, Program</a:t>
            </a:r>
            <a:r>
              <a:rPr lang="en-US" sz="16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94360" y="379476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BE6E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794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needs a condition; to choose columns use π.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4846320" y="3063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ELIGIBLE − REGISTERED = REGISTERED − ELIGIBLE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4800600" y="379476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BE6E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937760" y="3794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is not commutative.</a:t>
            </a:r>
            <a:endParaRPr lang="en-US" sz="11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kern="0" spc="200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CHALLENGE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everything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·  Week 03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F2F4F8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3441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of students enrolled in CS201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0" y="1371600"/>
            <a:ext cx="2514600" cy="347472"/>
          </a:xfrm>
          <a:prstGeom prst="roundRect">
            <a:avLst>
              <a:gd name="adj" fmla="val 50000"/>
            </a:avLst>
          </a:prstGeom>
          <a:solidFill>
            <a:srgbClr val="E2F3F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5040" y="1371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Ayesha, Sara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7830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3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r>
              <a:rPr lang="en-US" sz="13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</a:t>
            </a:r>
            <a:r>
              <a:rPr lang="en-US" sz="13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STUDENT.SID = ENROLLMENT.SID ∧ CID = 'CS201'</a:t>
            </a:r>
            <a:r>
              <a:rPr lang="en-US" sz="13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 × ENROLLMENT))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395728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F2F4F8"/>
          </a:solidFill>
          <a:ln/>
        </p:spPr>
      </p:sp>
      <p:sp>
        <p:nvSpPr>
          <p:cNvPr id="15" name="Shape 12"/>
          <p:cNvSpPr/>
          <p:nvPr/>
        </p:nvSpPr>
        <p:spPr>
          <a:xfrm>
            <a:off x="594360" y="2532888"/>
            <a:ext cx="384048" cy="38404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250545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SIDs of students who never enrolled in any course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35040" y="2532888"/>
            <a:ext cx="2514600" cy="347472"/>
          </a:xfrm>
          <a:prstGeom prst="roundRect">
            <a:avLst>
              <a:gd name="adj" fmla="val 50000"/>
            </a:avLst>
          </a:prstGeom>
          <a:solidFill>
            <a:srgbClr val="E2F3F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35040" y="25328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S104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29443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3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</a:t>
            </a:r>
            <a:r>
              <a:rPr lang="en-US" sz="13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 − π</a:t>
            </a:r>
            <a:r>
              <a:rPr lang="en-US" sz="130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</a:t>
            </a:r>
            <a:r>
              <a:rPr lang="en-US" sz="13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(ENROLLMENT)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557016"/>
            <a:ext cx="8229600" cy="1024128"/>
          </a:xfrm>
          <a:prstGeom prst="roundRect">
            <a:avLst>
              <a:gd name="adj" fmla="val 8929"/>
            </a:avLst>
          </a:prstGeom>
          <a:solidFill>
            <a:srgbClr val="F2F4F8"/>
          </a:solidFill>
          <a:ln/>
        </p:spPr>
      </p:sp>
      <p:sp>
        <p:nvSpPr>
          <p:cNvPr id="22" name="Shape 19"/>
          <p:cNvSpPr/>
          <p:nvPr/>
        </p:nvSpPr>
        <p:spPr>
          <a:xfrm>
            <a:off x="594360" y="3694176"/>
            <a:ext cx="384048" cy="38404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436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36667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of courses taken by Ayesha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035040" y="3694176"/>
            <a:ext cx="2514600" cy="347472"/>
          </a:xfrm>
          <a:prstGeom prst="roundRect">
            <a:avLst>
              <a:gd name="adj" fmla="val 50000"/>
            </a:avLst>
          </a:prstGeom>
          <a:solidFill>
            <a:srgbClr val="E2F3F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035040" y="36941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Database Systems, Data Structures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410565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1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</a:t>
            </a:r>
            <a:r>
              <a:rPr lang="en-US" sz="11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S.SID = E.SID ∧ E.CID = C.CID ∧ S.Name = 'Ayesha'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(ρ</a:t>
            </a:r>
            <a:r>
              <a:rPr lang="en-US" sz="11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(STUDENT) × ρ</a:t>
            </a:r>
            <a:r>
              <a:rPr lang="en-US" sz="11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(ENROLLMENT) × ρ</a:t>
            </a:r>
            <a:r>
              <a:rPr lang="en-US" sz="1150" baseline="-400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(COURSE)))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9773</Words>
  <Application>Microsoft Office PowerPoint</Application>
  <PresentationFormat>On-screen Show (16:9)</PresentationFormat>
  <Paragraphs>1946</Paragraphs>
  <Slides>77</Slides>
  <Notes>77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4" baseType="lpstr">
      <vt:lpstr>Arial</vt:lpstr>
      <vt:lpstr>Calibri</vt:lpstr>
      <vt:lpstr>Cambria</vt:lpstr>
      <vt:lpstr>Consolas</vt:lpstr>
      <vt:lpstr>Corbel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03 — Keys, Enhanced ER &amp; Relational Algebra</dc:title>
  <dc:subject>PptxGenJS Presentation</dc:subject>
  <dc:creator>PptxGenJS</dc:creator>
  <cp:lastModifiedBy>Rabeeya</cp:lastModifiedBy>
  <cp:revision>12</cp:revision>
  <dcterms:created xsi:type="dcterms:W3CDTF">2026-09-26T15:39:24Z</dcterms:created>
  <dcterms:modified xsi:type="dcterms:W3CDTF">2026-09-30T09:39:02Z</dcterms:modified>
</cp:coreProperties>
</file>